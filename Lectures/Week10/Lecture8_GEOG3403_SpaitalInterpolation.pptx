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sldIdLst>
    <p:sldId id="602" r:id="rId2"/>
    <p:sldId id="262" r:id="rId3"/>
    <p:sldId id="774" r:id="rId4"/>
    <p:sldId id="776" r:id="rId5"/>
    <p:sldId id="777" r:id="rId6"/>
    <p:sldId id="758" r:id="rId7"/>
    <p:sldId id="779" r:id="rId8"/>
    <p:sldId id="275" r:id="rId9"/>
    <p:sldId id="780" r:id="rId10"/>
    <p:sldId id="767" r:id="rId11"/>
    <p:sldId id="781" r:id="rId12"/>
    <p:sldId id="782" r:id="rId13"/>
    <p:sldId id="264" r:id="rId14"/>
    <p:sldId id="766" r:id="rId15"/>
    <p:sldId id="277" r:id="rId16"/>
    <p:sldId id="783" r:id="rId17"/>
    <p:sldId id="265" r:id="rId18"/>
    <p:sldId id="768" r:id="rId19"/>
    <p:sldId id="785" r:id="rId20"/>
    <p:sldId id="775" r:id="rId21"/>
    <p:sldId id="778" r:id="rId22"/>
    <p:sldId id="684" r:id="rId23"/>
    <p:sldId id="685" r:id="rId24"/>
    <p:sldId id="784" r:id="rId25"/>
    <p:sldId id="342" r:id="rId26"/>
    <p:sldId id="765" r:id="rId27"/>
  </p:sldIdLst>
  <p:sldSz cx="8229600" cy="51435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85" autoAdjust="0"/>
  </p:normalViewPr>
  <p:slideViewPr>
    <p:cSldViewPr snapToGrid="0" snapToObjects="1">
      <p:cViewPr varScale="1">
        <p:scale>
          <a:sx n="121" d="100"/>
          <a:sy n="121" d="100"/>
        </p:scale>
        <p:origin x="1662"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3/9/2026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can’t measure everything</a:t>
            </a:r>
            <a:r>
              <a:rPr lang="en-US" baseline="0" dirty="0"/>
              <a:t> everywhere. </a:t>
            </a:r>
          </a:p>
          <a:p>
            <a:endParaRPr lang="en-US" baseline="0" dirty="0"/>
          </a:p>
          <a:p>
            <a:r>
              <a:rPr lang="en-US" baseline="0" dirty="0"/>
              <a:t>For example, it is common to collect measurements at point locations, such as collecting climate or weather data at weather stations. </a:t>
            </a:r>
          </a:p>
          <a:p>
            <a:endParaRPr lang="en-US" baseline="0" dirty="0"/>
          </a:p>
          <a:p>
            <a:r>
              <a:rPr lang="en-US" baseline="0" dirty="0"/>
              <a:t>If you would like to estimate values at locations that were not sampled, you will need to apply interpolation or extrapolation as a means to obtain a continuous surface from your discrete measurements. </a:t>
            </a:r>
          </a:p>
          <a:p>
            <a:endParaRPr lang="en-US" baseline="0" dirty="0"/>
          </a:p>
          <a:p>
            <a:r>
              <a:rPr lang="en-US" baseline="0" dirty="0"/>
              <a:t>Since these locations were not actually measured but estimated from nearby sample locations, there will be some error or uncertainty in the product. </a:t>
            </a:r>
          </a:p>
          <a:p>
            <a:endParaRPr lang="en-US" baseline="0" dirty="0"/>
          </a:p>
          <a:p>
            <a:r>
              <a:rPr lang="en-US" baseline="0" dirty="0"/>
              <a:t>Extrapolation is generally considered to be more uncertain than interpolation. </a:t>
            </a:r>
          </a:p>
          <a:p>
            <a:endParaRPr lang="en-US" baseline="0" dirty="0"/>
          </a:p>
          <a:p>
            <a:r>
              <a:rPr lang="en-US" baseline="0" dirty="0"/>
              <a:t>As an example, if you are trying to predict a variable y using a variable x with a line or linear relationship, estimates within the bounds of your sample data will likely be less uncertain that estimates outside of the bounds of your data. Maybe outside of the bounds the relationship is no longer linear, begins to increase exponentially, or levels off. Without data points or samples, this would be hard to determine. </a:t>
            </a:r>
          </a:p>
          <a:p>
            <a:endParaRPr lang="en-US" baseline="0" dirty="0"/>
          </a:p>
          <a:p>
            <a:r>
              <a:rPr lang="en-US" baseline="0" dirty="0"/>
              <a:t>In a spatial context, extrapolation would be making an estimate outside of the geographic bounds of your data, as represented by the yellow star. In contrast, interpolation would be making an estimate within the geographic bounds of your data, as represented by the orange star.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4236913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fairly</a:t>
            </a:r>
            <a:r>
              <a:rPr lang="en-US" baseline="0" dirty="0"/>
              <a:t> simple method to perform interpolation is Thiessen (</a:t>
            </a:r>
            <a:r>
              <a:rPr lang="en-US" baseline="0" dirty="0" err="1"/>
              <a:t>Voronoi</a:t>
            </a:r>
            <a:r>
              <a:rPr lang="en-US" baseline="0" dirty="0"/>
              <a:t>) Polygons. </a:t>
            </a:r>
            <a:endParaRPr lang="en-US" dirty="0"/>
          </a:p>
          <a:p>
            <a:endParaRPr lang="en-US" dirty="0"/>
          </a:p>
          <a:p>
            <a:r>
              <a:rPr lang="en-US" dirty="0"/>
              <a:t>Thiessen (</a:t>
            </a:r>
            <a:r>
              <a:rPr lang="en-US" dirty="0" err="1"/>
              <a:t>Voronoi</a:t>
            </a:r>
            <a:r>
              <a:rPr lang="en-US" dirty="0"/>
              <a:t>) Polygons represent</a:t>
            </a:r>
            <a:r>
              <a:rPr lang="en-US" baseline="0" dirty="0"/>
              <a:t> the area that is closer to one point than any other points in a dataset. </a:t>
            </a:r>
          </a:p>
          <a:p>
            <a:endParaRPr lang="en-US" baseline="0" dirty="0"/>
          </a:p>
          <a:p>
            <a:r>
              <a:rPr lang="en-US" baseline="0" dirty="0"/>
              <a:t>The polygon can be attributed with the attributes of the input point layer. </a:t>
            </a:r>
          </a:p>
          <a:p>
            <a:endParaRPr lang="en-US" baseline="0" dirty="0"/>
          </a:p>
          <a:p>
            <a:r>
              <a:rPr lang="en-US" baseline="0" dirty="0"/>
              <a:t>In the examples provided, Thiessen polygons and point measurements in Ontario that represent weather stations are being used to estimate mean annual temperature for the entire province. In the West Virginia example, the entire area of the state has been divided into regions that are closer to one city than any other provided city.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264798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482564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spatial interpolation</a:t>
            </a:r>
            <a:r>
              <a:rPr lang="en-US" baseline="0" dirty="0"/>
              <a:t> method is inverse distance weighting or IDW. </a:t>
            </a:r>
          </a:p>
          <a:p>
            <a:endParaRPr lang="en-US" baseline="0" dirty="0"/>
          </a:p>
          <a:p>
            <a:r>
              <a:rPr lang="en-US" baseline="0" dirty="0"/>
              <a:t>Using this method the value at a new location or cell is determined based on an inverse distance weighted average of nearby samples. </a:t>
            </a:r>
          </a:p>
          <a:p>
            <a:endParaRPr lang="en-US" baseline="0" dirty="0"/>
          </a:p>
          <a:p>
            <a:r>
              <a:rPr lang="en-US" baseline="0" dirty="0"/>
              <a:t>The power setting controls the significance of surrounding points. Using a higher power will cause the near points to have a higher weight than more distant points. </a:t>
            </a:r>
          </a:p>
          <a:p>
            <a:endParaRPr lang="en-US" baseline="0" dirty="0"/>
          </a:p>
          <a:p>
            <a:r>
              <a:rPr lang="en-US" baseline="0" dirty="0"/>
              <a:t>The radius setting specifies what samples will be used to estimate a value at a new location or cell. A variable radius is used to specify a number of samples as opposed to a fixed distance. For example, the nearest 12 points could be used. When using the variable method, you can also set a maximum distance. So, if 12 points are not available within the maximum distance then less points will be used. When using a fixed method, a fixed radius or distance is defined as opposed to a number of points. When using the fixed method, a minimum number of points can be set. So, if this minimum number of points do note exist within the search radius it will be expanded to include more samples. </a:t>
            </a:r>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3854452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shows an example output from IDW. </a:t>
            </a:r>
          </a:p>
          <a:p>
            <a:endParaRPr lang="en-US" baseline="0" dirty="0"/>
          </a:p>
          <a:p>
            <a:r>
              <a:rPr lang="en-US" baseline="0" dirty="0"/>
              <a:t>Here, bathymetric or water depth point measurements are being interpolated to a raster grid using a power of 2 and variable search radius with no maximum distance and 12 as the number of points. </a:t>
            </a:r>
          </a:p>
          <a:p>
            <a:endParaRPr lang="en-US" baseline="0" dirty="0"/>
          </a:p>
          <a:p>
            <a:r>
              <a:rPr lang="en-US" baseline="0" dirty="0"/>
              <a:t>If you are not sure what settings to use, I would recommend experimenting with the settings and visualizing the result. </a:t>
            </a:r>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1837705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shows an example output from IDW. </a:t>
            </a:r>
          </a:p>
          <a:p>
            <a:endParaRPr lang="en-US" baseline="0" dirty="0"/>
          </a:p>
          <a:p>
            <a:r>
              <a:rPr lang="en-US" baseline="0" dirty="0"/>
              <a:t>Here, bathymetric or water depth point measurements are being interpolated to a raster grid using a power of 2 and variable search radius with no maximum distance and 12 as the number of points. </a:t>
            </a:r>
          </a:p>
          <a:p>
            <a:endParaRPr lang="en-US" baseline="0" dirty="0"/>
          </a:p>
          <a:p>
            <a:r>
              <a:rPr lang="en-US" baseline="0" dirty="0"/>
              <a:t>If you are not sure what settings to use, I would recommend experimenting with the settings and visualizing the result. </a:t>
            </a:r>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797908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a:t>
            </a:r>
            <a:r>
              <a:rPr lang="en-US" baseline="0" dirty="0"/>
              <a:t> interpolation method is spline. </a:t>
            </a:r>
          </a:p>
          <a:p>
            <a:endParaRPr lang="en-US" baseline="0" dirty="0"/>
          </a:p>
          <a:p>
            <a:r>
              <a:rPr lang="en-US" baseline="0" dirty="0"/>
              <a:t>Conceptually, point samples are extruded to a height relative to the its magnitude for the attribute being interpolated. </a:t>
            </a:r>
            <a:r>
              <a:rPr lang="en-US" dirty="0"/>
              <a:t>Spline then bends a sheet of rubber that passes through the input points while minimizing total curvature of the surface. It fits a mathematical function to a specific number of near input points while passing through the sample points. The goal</a:t>
            </a:r>
            <a:r>
              <a:rPr lang="en-US" baseline="0" dirty="0"/>
              <a:t> is for the surface to pass through the sample points while minimizing the curvature of the surface. </a:t>
            </a:r>
          </a:p>
          <a:p>
            <a:endParaRPr lang="en-US" baseline="0" dirty="0"/>
          </a:p>
          <a:p>
            <a:r>
              <a:rPr lang="en-US" baseline="0" dirty="0"/>
              <a:t>Generally, this method is best for interpolating smooth surfaces that do not change abruptly. It generally is inappropriate for patterns or phenomena that can change abruptly.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26417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273354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be interested in obtaining</a:t>
            </a:r>
            <a:r>
              <a:rPr lang="en-US" baseline="0" dirty="0"/>
              <a:t> a raster-based measure of density for point or line features. This can be accomplished using the Point Density or Line Density tools. </a:t>
            </a:r>
          </a:p>
          <a:p>
            <a:endParaRPr lang="en-US" baseline="0" dirty="0"/>
          </a:p>
          <a:p>
            <a:r>
              <a:rPr lang="en-US" baseline="0" dirty="0"/>
              <a:t>These tool are yet another example of methods that make use of neighborhood analysis or moving windows.</a:t>
            </a:r>
          </a:p>
          <a:p>
            <a:endParaRPr lang="en-US" baseline="0" dirty="0"/>
          </a:p>
          <a:p>
            <a:r>
              <a:rPr lang="en-US" baseline="0" dirty="0"/>
              <a:t>The user must define the size and shape of the moving window. The tool then will calculate the number of points or length of lines within the window. </a:t>
            </a:r>
          </a:p>
          <a:p>
            <a:endParaRPr lang="en-US" baseline="0" dirty="0"/>
          </a:p>
          <a:p>
            <a:r>
              <a:rPr lang="en-US" baseline="0" dirty="0"/>
              <a:t>On the center cell for each window, the tool will return a measure of density. For points this will be the number of points per unit area. </a:t>
            </a:r>
          </a:p>
          <a:p>
            <a:endParaRPr lang="en-US" baseline="0" dirty="0"/>
          </a:p>
          <a:p>
            <a:r>
              <a:rPr lang="en-US" baseline="0" dirty="0"/>
              <a:t>For lines, this will be the length of lines per unit area. </a:t>
            </a:r>
          </a:p>
          <a:p>
            <a:endParaRPr lang="en-US" baseline="0" dirty="0"/>
          </a:p>
          <a:p>
            <a:r>
              <a:rPr lang="en-US" baseline="0" dirty="0"/>
              <a:t>The size and shape of the window can have a large impact on the output. More global or generalized patterns will be produced with larger windows whereas more local patterns will be observed if a smaller window is used. </a:t>
            </a:r>
          </a:p>
          <a:p>
            <a:endParaRPr lang="en-US" baseline="0" dirty="0"/>
          </a:p>
          <a:p>
            <a:r>
              <a:rPr lang="en-US" baseline="0" dirty="0"/>
              <a:t>There is not necessarily a correct window size, as this depends on the goals of the analysis. </a:t>
            </a:r>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4076714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a:t>
            </a:r>
            <a:r>
              <a:rPr lang="en-US" baseline="0" dirty="0"/>
              <a:t> density is similar to point or line density, accept that a different method is used to calculate density. </a:t>
            </a:r>
          </a:p>
          <a:p>
            <a:endParaRPr lang="en-US" baseline="0" dirty="0"/>
          </a:p>
          <a:p>
            <a:r>
              <a:rPr lang="en-US" baseline="0" dirty="0"/>
              <a:t>Specifically, this method makes use of a kernel function. The next slide provides and explanation of this method.</a:t>
            </a:r>
          </a:p>
          <a:p>
            <a:endParaRPr lang="en-US" baseline="0" dirty="0"/>
          </a:p>
          <a:p>
            <a:r>
              <a:rPr lang="en-US" baseline="0" dirty="0"/>
              <a:t>Please take the time to read through this explanation.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4100184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26</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t>Click to edit Master title style</a:t>
            </a:r>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969E0BC-9FB5-4E9C-A14D-3209C3F8A656}" type="datetime1">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459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E29A55-A69C-4C46-8970-32077FB29103}" type="datetime1">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2469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t>Click to edit Master title style</a:t>
            </a:r>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FB983-DEC8-4FD8-B107-5FE5B3E16FC8}" type="datetime1">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41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93F24DD-B5DC-46FB-8A07-ADB1FEDA9D24}" type="datetime1">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5204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D01416-810A-42B3-A9DF-6A375BC192E3}" type="datetime1">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32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25AA4A-31E4-40C9-9FA4-DDB36AAC0FA1}" type="datetime1">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442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95A9F-339F-4C9A-97DB-EAF47439EF75}" type="datetime1">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04835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0B2FB95E-1525-4D4E-A28D-D4522EA67CC4}" type="datetime1">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18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p:txBody>
          <a:bodyPr/>
          <a:lstStyle/>
          <a:p>
            <a:fld id="{81D58768-854C-4BA2-8FBB-BCE1044C0094}" type="datetime1">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603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65ED2D-D3C7-4029-9FFA-E58E9B27E457}" type="datetime1">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91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9364DF-9A4D-48B4-8002-02816B47F3F8}" type="datetime1">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6459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EC1BB800-957D-4213-BBA6-F611FDE9EE6F}" type="datetime1">
              <a:rPr lang="en-US" smtClean="0"/>
              <a:t>3/9/2026</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142839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ncei.noaa.gov/cdo-web/results"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prism.oregonstate.edu/explorer/?utm_source=chatgpt.com"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www.ncei.noaa.gov/access/past-weather/CONWAY%20A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cfbrasz.github.io/Voronoi.html?utm_source=chatgpt.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091" y="158778"/>
            <a:ext cx="8001000" cy="1549772"/>
          </a:xfrm>
        </p:spPr>
        <p:txBody>
          <a:bodyPr>
            <a:normAutofit/>
          </a:bodyPr>
          <a:lstStyle/>
          <a:p>
            <a:r>
              <a:rPr lang="en-US" sz="3600" dirty="0"/>
              <a:t>GEOG 3403: Geographic Information Systems II</a:t>
            </a:r>
          </a:p>
        </p:txBody>
      </p:sp>
      <p:sp>
        <p:nvSpPr>
          <p:cNvPr id="6" name="Subtitle 2"/>
          <p:cNvSpPr txBox="1">
            <a:spLocks/>
          </p:cNvSpPr>
          <p:nvPr/>
        </p:nvSpPr>
        <p:spPr>
          <a:xfrm>
            <a:off x="1257018" y="2967511"/>
            <a:ext cx="5760720" cy="1171497"/>
          </a:xfrm>
          <a:prstGeom prst="rect">
            <a:avLst/>
          </a:prstGeom>
        </p:spPr>
        <p:txBody>
          <a:bodyPr vert="horz" lIns="82296" tIns="41148" rIns="82296" bIns="41148"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8000" dirty="0">
                <a:solidFill>
                  <a:schemeClr val="tx1"/>
                </a:solidFill>
              </a:rPr>
              <a:t>Ya</a:t>
            </a:r>
            <a:r>
              <a:rPr lang="en-US" altLang="zh-CN" sz="8000" dirty="0">
                <a:solidFill>
                  <a:schemeClr val="tx1"/>
                </a:solidFill>
              </a:rPr>
              <a:t>nan </a:t>
            </a:r>
            <a:r>
              <a:rPr lang="en-US" sz="8000" dirty="0">
                <a:solidFill>
                  <a:schemeClr val="tx1"/>
                </a:solidFill>
              </a:rPr>
              <a:t> Wu, PhD</a:t>
            </a:r>
          </a:p>
          <a:p>
            <a:r>
              <a:rPr lang="en-US" sz="8000" dirty="0">
                <a:solidFill>
                  <a:schemeClr val="tx1"/>
                </a:solidFill>
              </a:rPr>
              <a:t>Assistant Professor</a:t>
            </a:r>
          </a:p>
          <a:p>
            <a:r>
              <a:rPr lang="en-US" sz="8000" dirty="0">
                <a:solidFill>
                  <a:schemeClr val="tx1"/>
                </a:solidFill>
              </a:rPr>
              <a:t>Department of Geography</a:t>
            </a:r>
          </a:p>
          <a:p>
            <a:endParaRPr lang="en-US" sz="2880" dirty="0"/>
          </a:p>
        </p:txBody>
      </p:sp>
      <p:cxnSp>
        <p:nvCxnSpPr>
          <p:cNvPr id="15" name="Straight Connector 14"/>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2072922" y="4416072"/>
            <a:ext cx="279753" cy="481132"/>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9C8852E4-0F7F-41A7-9B32-F40B4D3A753B}"/>
              </a:ext>
            </a:extLst>
          </p:cNvPr>
          <p:cNvSpPr txBox="1"/>
          <p:nvPr/>
        </p:nvSpPr>
        <p:spPr>
          <a:xfrm>
            <a:off x="-1" y="1708550"/>
            <a:ext cx="8196091" cy="646331"/>
          </a:xfrm>
          <a:prstGeom prst="rect">
            <a:avLst/>
          </a:prstGeom>
          <a:noFill/>
        </p:spPr>
        <p:txBody>
          <a:bodyPr wrap="square" rtlCol="0">
            <a:spAutoFit/>
          </a:bodyPr>
          <a:lstStyle/>
          <a:p>
            <a:pPr algn="ctr"/>
            <a:r>
              <a:rPr lang="en-US" sz="3600" dirty="0"/>
              <a:t>Lecture 08 Spatial Interpolation</a:t>
            </a:r>
          </a:p>
        </p:txBody>
      </p:sp>
      <p:pic>
        <p:nvPicPr>
          <p:cNvPr id="13" name="Picture 12">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152400" y="4275667"/>
            <a:ext cx="5915025" cy="75819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0082" y="2060972"/>
            <a:ext cx="6995160" cy="1021556"/>
          </a:xfrm>
        </p:spPr>
        <p:txBody>
          <a:bodyPr/>
          <a:lstStyle/>
          <a:p>
            <a:r>
              <a:rPr lang="en-US" dirty="0"/>
              <a:t>Spatial Interpolation Methods</a:t>
            </a:r>
          </a:p>
        </p:txBody>
      </p:sp>
      <p:sp>
        <p:nvSpPr>
          <p:cNvPr id="2" name="Slide Number Placeholder 1">
            <a:extLst>
              <a:ext uri="{FF2B5EF4-FFF2-40B4-BE49-F238E27FC236}">
                <a16:creationId xmlns:a16="http://schemas.microsoft.com/office/drawing/2014/main" id="{8A6464D2-0234-4D96-9E4C-3217D77DDB54}"/>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136905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38AA4-68A5-13F4-4BFA-5E665A79D980}"/>
              </a:ext>
            </a:extLst>
          </p:cNvPr>
          <p:cNvSpPr>
            <a:spLocks noGrp="1"/>
          </p:cNvSpPr>
          <p:nvPr>
            <p:ph type="title"/>
          </p:nvPr>
        </p:nvSpPr>
        <p:spPr>
          <a:xfrm>
            <a:off x="411480" y="0"/>
            <a:ext cx="7613168" cy="857250"/>
          </a:xfrm>
        </p:spPr>
        <p:txBody>
          <a:bodyPr>
            <a:normAutofit fontScale="90000"/>
          </a:bodyPr>
          <a:lstStyle/>
          <a:p>
            <a:r>
              <a:rPr lang="en-US" altLang="zh-CN" b="1" dirty="0"/>
              <a:t>Why Do We Need Spatial Interpolation?</a:t>
            </a:r>
            <a:endParaRPr lang="zh-CN" altLang="en-US" dirty="0"/>
          </a:p>
        </p:txBody>
      </p:sp>
      <p:sp>
        <p:nvSpPr>
          <p:cNvPr id="3" name="Content Placeholder 2">
            <a:extLst>
              <a:ext uri="{FF2B5EF4-FFF2-40B4-BE49-F238E27FC236}">
                <a16:creationId xmlns:a16="http://schemas.microsoft.com/office/drawing/2014/main" id="{F207815A-51D0-7A62-D4F7-8775B73A6218}"/>
              </a:ext>
            </a:extLst>
          </p:cNvPr>
          <p:cNvSpPr>
            <a:spLocks noGrp="1"/>
          </p:cNvSpPr>
          <p:nvPr>
            <p:ph idx="1"/>
          </p:nvPr>
        </p:nvSpPr>
        <p:spPr/>
        <p:txBody>
          <a:bodyPr>
            <a:normAutofit/>
          </a:bodyPr>
          <a:lstStyle/>
          <a:p>
            <a:pPr marL="0" indent="0">
              <a:buNone/>
            </a:pPr>
            <a:r>
              <a:rPr lang="en-US" altLang="zh-CN" sz="2400" b="1" dirty="0"/>
              <a:t>Example: Weather Stations and Temperature</a:t>
            </a:r>
          </a:p>
          <a:p>
            <a:pPr marL="0" indent="0">
              <a:buNone/>
            </a:pPr>
            <a:endParaRPr lang="en-US" altLang="zh-CN" sz="2400" dirty="0"/>
          </a:p>
          <a:p>
            <a:pPr marL="0" indent="0">
              <a:buNone/>
            </a:pPr>
            <a:r>
              <a:rPr lang="en-US" altLang="zh-CN" sz="2400" dirty="0"/>
              <a:t>Weather stations record temperature at specific locations.</a:t>
            </a:r>
            <a:br>
              <a:rPr lang="en-US" altLang="zh-CN" sz="2400" dirty="0"/>
            </a:br>
            <a:r>
              <a:rPr lang="en-US" altLang="zh-CN" sz="2400" dirty="0"/>
              <a:t>However, we often want to know the temperature everywhere across a region, not just at the stations.</a:t>
            </a:r>
          </a:p>
          <a:p>
            <a:pPr marL="0" indent="0">
              <a:buNone/>
            </a:pPr>
            <a:endParaRPr lang="en-US" altLang="zh-CN" sz="2400" dirty="0"/>
          </a:p>
          <a:p>
            <a:pPr marL="0" indent="0">
              <a:buNone/>
            </a:pPr>
            <a:r>
              <a:rPr lang="en-US" altLang="zh-CN" sz="2400" dirty="0"/>
              <a:t>Spatial interpolation helps us estimate temperature at locations where no measurements exist.</a:t>
            </a:r>
          </a:p>
          <a:p>
            <a:endParaRPr lang="zh-CN" altLang="en-US" sz="2400" dirty="0"/>
          </a:p>
        </p:txBody>
      </p:sp>
      <p:sp>
        <p:nvSpPr>
          <p:cNvPr id="4" name="Slide Number Placeholder 3">
            <a:extLst>
              <a:ext uri="{FF2B5EF4-FFF2-40B4-BE49-F238E27FC236}">
                <a16:creationId xmlns:a16="http://schemas.microsoft.com/office/drawing/2014/main" id="{EE173874-2C85-5304-2E57-852F66DAF814}"/>
              </a:ext>
            </a:extLst>
          </p:cNvPr>
          <p:cNvSpPr>
            <a:spLocks noGrp="1"/>
          </p:cNvSpPr>
          <p:nvPr>
            <p:ph type="sldNum" sz="quarter" idx="12"/>
          </p:nvPr>
        </p:nvSpPr>
        <p:spPr/>
        <p:txBody>
          <a:bodyPr/>
          <a:lstStyle/>
          <a:p>
            <a:fld id="{127DDC20-79C9-9647-820E-6D40A3D210C3}" type="slidenum">
              <a:rPr lang="en-US" smtClean="0"/>
              <a:pPr/>
              <a:t>3</a:t>
            </a:fld>
            <a:endParaRPr lang="en-US"/>
          </a:p>
        </p:txBody>
      </p:sp>
    </p:spTree>
    <p:extLst>
      <p:ext uri="{BB962C8B-B14F-4D97-AF65-F5344CB8AC3E}">
        <p14:creationId xmlns:p14="http://schemas.microsoft.com/office/powerpoint/2010/main" val="3974489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31B00-D952-629A-E30B-743D08401CC1}"/>
              </a:ext>
            </a:extLst>
          </p:cNvPr>
          <p:cNvSpPr>
            <a:spLocks noGrp="1"/>
          </p:cNvSpPr>
          <p:nvPr>
            <p:ph type="title"/>
          </p:nvPr>
        </p:nvSpPr>
        <p:spPr>
          <a:xfrm>
            <a:off x="411480" y="205978"/>
            <a:ext cx="7406640" cy="720245"/>
          </a:xfrm>
        </p:spPr>
        <p:txBody>
          <a:bodyPr>
            <a:normAutofit fontScale="90000"/>
          </a:bodyPr>
          <a:lstStyle/>
          <a:p>
            <a:r>
              <a:rPr lang="en-US" altLang="zh-CN" sz="2800" dirty="0"/>
              <a:t>Weather Data Represented as weather station and Continuous Surface</a:t>
            </a:r>
            <a:endParaRPr lang="zh-CN" altLang="en-US" sz="2800" dirty="0"/>
          </a:p>
        </p:txBody>
      </p:sp>
      <p:pic>
        <p:nvPicPr>
          <p:cNvPr id="6" name="Content Placeholder 5">
            <a:hlinkClick r:id="rId2"/>
            <a:extLst>
              <a:ext uri="{FF2B5EF4-FFF2-40B4-BE49-F238E27FC236}">
                <a16:creationId xmlns:a16="http://schemas.microsoft.com/office/drawing/2014/main" id="{844E0230-90C4-45A7-38B0-046BB844F261}"/>
              </a:ext>
            </a:extLst>
          </p:cNvPr>
          <p:cNvPicPr>
            <a:picLocks noGrp="1" noChangeAspect="1"/>
          </p:cNvPicPr>
          <p:nvPr>
            <p:ph idx="1"/>
          </p:nvPr>
        </p:nvPicPr>
        <p:blipFill>
          <a:blip r:embed="rId3"/>
          <a:stretch>
            <a:fillRect/>
          </a:stretch>
        </p:blipFill>
        <p:spPr>
          <a:xfrm>
            <a:off x="157655" y="1197176"/>
            <a:ext cx="3560117" cy="3020100"/>
          </a:xfrm>
          <a:prstGeom prst="rect">
            <a:avLst/>
          </a:prstGeom>
        </p:spPr>
      </p:pic>
      <p:sp>
        <p:nvSpPr>
          <p:cNvPr id="4" name="Slide Number Placeholder 3">
            <a:extLst>
              <a:ext uri="{FF2B5EF4-FFF2-40B4-BE49-F238E27FC236}">
                <a16:creationId xmlns:a16="http://schemas.microsoft.com/office/drawing/2014/main" id="{92E3E51E-46BA-E874-559F-53F8AAA73F87}"/>
              </a:ext>
            </a:extLst>
          </p:cNvPr>
          <p:cNvSpPr>
            <a:spLocks noGrp="1"/>
          </p:cNvSpPr>
          <p:nvPr>
            <p:ph type="sldNum" sz="quarter" idx="12"/>
          </p:nvPr>
        </p:nvSpPr>
        <p:spPr/>
        <p:txBody>
          <a:bodyPr/>
          <a:lstStyle/>
          <a:p>
            <a:fld id="{127DDC20-79C9-9647-820E-6D40A3D210C3}" type="slidenum">
              <a:rPr lang="en-US" smtClean="0"/>
              <a:pPr/>
              <a:t>4</a:t>
            </a:fld>
            <a:endParaRPr lang="en-US"/>
          </a:p>
        </p:txBody>
      </p:sp>
      <p:sp>
        <p:nvSpPr>
          <p:cNvPr id="8" name="TextBox 7">
            <a:extLst>
              <a:ext uri="{FF2B5EF4-FFF2-40B4-BE49-F238E27FC236}">
                <a16:creationId xmlns:a16="http://schemas.microsoft.com/office/drawing/2014/main" id="{2C03B072-9500-34D7-D706-BDBF63F48ECE}"/>
              </a:ext>
            </a:extLst>
          </p:cNvPr>
          <p:cNvSpPr txBox="1"/>
          <p:nvPr/>
        </p:nvSpPr>
        <p:spPr>
          <a:xfrm>
            <a:off x="307427" y="4488229"/>
            <a:ext cx="2561897" cy="369332"/>
          </a:xfrm>
          <a:prstGeom prst="rect">
            <a:avLst/>
          </a:prstGeom>
          <a:noFill/>
        </p:spPr>
        <p:txBody>
          <a:bodyPr wrap="square">
            <a:spAutoFit/>
          </a:bodyPr>
          <a:lstStyle/>
          <a:p>
            <a:pPr algn="ctr"/>
            <a:r>
              <a:rPr lang="en-US" altLang="zh-CN" dirty="0"/>
              <a:t>weather station points</a:t>
            </a:r>
            <a:endParaRPr lang="zh-CN" altLang="en-US" dirty="0"/>
          </a:p>
        </p:txBody>
      </p:sp>
      <p:pic>
        <p:nvPicPr>
          <p:cNvPr id="12" name="Picture 11">
            <a:hlinkClick r:id="rId4"/>
            <a:extLst>
              <a:ext uri="{FF2B5EF4-FFF2-40B4-BE49-F238E27FC236}">
                <a16:creationId xmlns:a16="http://schemas.microsoft.com/office/drawing/2014/main" id="{57F20904-3D01-C158-14F4-D4ED66310361}"/>
              </a:ext>
            </a:extLst>
          </p:cNvPr>
          <p:cNvPicPr>
            <a:picLocks noChangeAspect="1"/>
          </p:cNvPicPr>
          <p:nvPr/>
        </p:nvPicPr>
        <p:blipFill>
          <a:blip r:embed="rId5"/>
          <a:stretch>
            <a:fillRect/>
          </a:stretch>
        </p:blipFill>
        <p:spPr>
          <a:xfrm>
            <a:off x="4028090" y="1519012"/>
            <a:ext cx="3618186" cy="2105476"/>
          </a:xfrm>
          <a:prstGeom prst="rect">
            <a:avLst/>
          </a:prstGeom>
        </p:spPr>
      </p:pic>
      <p:sp>
        <p:nvSpPr>
          <p:cNvPr id="13" name="TextBox 12">
            <a:extLst>
              <a:ext uri="{FF2B5EF4-FFF2-40B4-BE49-F238E27FC236}">
                <a16:creationId xmlns:a16="http://schemas.microsoft.com/office/drawing/2014/main" id="{DACB8299-4C09-7C69-285F-0231239154D4}"/>
              </a:ext>
            </a:extLst>
          </p:cNvPr>
          <p:cNvSpPr txBox="1"/>
          <p:nvPr/>
        </p:nvSpPr>
        <p:spPr>
          <a:xfrm>
            <a:off x="4114800" y="4534853"/>
            <a:ext cx="3531476" cy="369332"/>
          </a:xfrm>
          <a:prstGeom prst="rect">
            <a:avLst/>
          </a:prstGeom>
          <a:noFill/>
        </p:spPr>
        <p:txBody>
          <a:bodyPr wrap="square">
            <a:spAutoFit/>
          </a:bodyPr>
          <a:lstStyle/>
          <a:p>
            <a:pPr algn="ctr"/>
            <a:r>
              <a:rPr lang="en-US" altLang="zh-CN" dirty="0"/>
              <a:t>Weather data in continuous surface</a:t>
            </a:r>
            <a:endParaRPr lang="zh-CN" altLang="en-US" dirty="0"/>
          </a:p>
        </p:txBody>
      </p:sp>
    </p:spTree>
    <p:extLst>
      <p:ext uri="{BB962C8B-B14F-4D97-AF65-F5344CB8AC3E}">
        <p14:creationId xmlns:p14="http://schemas.microsoft.com/office/powerpoint/2010/main" val="381703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AC2E-D531-04AE-D3E3-BC552FC89096}"/>
              </a:ext>
            </a:extLst>
          </p:cNvPr>
          <p:cNvSpPr>
            <a:spLocks noGrp="1"/>
          </p:cNvSpPr>
          <p:nvPr>
            <p:ph type="title"/>
          </p:nvPr>
        </p:nvSpPr>
        <p:spPr/>
        <p:txBody>
          <a:bodyPr/>
          <a:lstStyle/>
          <a:p>
            <a:r>
              <a:rPr lang="en-US" altLang="zh-CN" dirty="0"/>
              <a:t>Weather Data</a:t>
            </a:r>
            <a:endParaRPr lang="zh-CN" altLang="en-US" dirty="0"/>
          </a:p>
        </p:txBody>
      </p:sp>
      <p:sp>
        <p:nvSpPr>
          <p:cNvPr id="3" name="Content Placeholder 2">
            <a:extLst>
              <a:ext uri="{FF2B5EF4-FFF2-40B4-BE49-F238E27FC236}">
                <a16:creationId xmlns:a16="http://schemas.microsoft.com/office/drawing/2014/main" id="{E9EF3C8E-1C17-5314-FFCD-A1B0138D568B}"/>
              </a:ext>
            </a:extLst>
          </p:cNvPr>
          <p:cNvSpPr>
            <a:spLocks noGrp="1"/>
          </p:cNvSpPr>
          <p:nvPr>
            <p:ph idx="1"/>
          </p:nvPr>
        </p:nvSpPr>
        <p:spPr/>
        <p:txBody>
          <a:bodyPr/>
          <a:lstStyle/>
          <a:p>
            <a:r>
              <a:rPr lang="en-US" altLang="zh-CN" dirty="0">
                <a:hlinkClick r:id="rId2"/>
              </a:rPr>
              <a:t>https://www.ncei.noaa.gov/access/past-weather/CONWAY%20AR</a:t>
            </a:r>
            <a:endParaRPr lang="en-US" altLang="zh-CN" dirty="0"/>
          </a:p>
          <a:p>
            <a:endParaRPr lang="en-US" altLang="zh-CN" dirty="0"/>
          </a:p>
          <a:p>
            <a:r>
              <a:rPr lang="en-US" altLang="zh-CN" dirty="0"/>
              <a:t>https://www.ncei.noaa.gov/cdo-web/results</a:t>
            </a:r>
            <a:endParaRPr lang="zh-CN" altLang="en-US" dirty="0"/>
          </a:p>
        </p:txBody>
      </p:sp>
      <p:sp>
        <p:nvSpPr>
          <p:cNvPr id="4" name="Slide Number Placeholder 3">
            <a:extLst>
              <a:ext uri="{FF2B5EF4-FFF2-40B4-BE49-F238E27FC236}">
                <a16:creationId xmlns:a16="http://schemas.microsoft.com/office/drawing/2014/main" id="{B967715E-D764-61E6-9B5B-3067C372D9F0}"/>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561710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nterpolation example"/>
          <p:cNvPicPr/>
          <p:nvPr/>
        </p:nvPicPr>
        <p:blipFill>
          <a:blip r:embed="rId3"/>
          <a:stretch>
            <a:fillRect/>
          </a:stretch>
        </p:blipFill>
        <p:spPr>
          <a:xfrm>
            <a:off x="136552" y="2084124"/>
            <a:ext cx="3691208" cy="1928181"/>
          </a:xfrm>
          <a:prstGeom prst="rect">
            <a:avLst/>
          </a:prstGeom>
        </p:spPr>
      </p:pic>
      <p:sp>
        <p:nvSpPr>
          <p:cNvPr id="8" name="Oval 7" descr="Interpolation example"/>
          <p:cNvSpPr/>
          <p:nvPr/>
        </p:nvSpPr>
        <p:spPr>
          <a:xfrm>
            <a:off x="4217482" y="2089850"/>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9" name="Oval 8" descr="Interpolation example"/>
          <p:cNvSpPr/>
          <p:nvPr/>
        </p:nvSpPr>
        <p:spPr>
          <a:xfrm>
            <a:off x="3957132" y="2782689"/>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0" name="Oval 9" descr="Interpolation example"/>
          <p:cNvSpPr/>
          <p:nvPr/>
        </p:nvSpPr>
        <p:spPr>
          <a:xfrm>
            <a:off x="4325953" y="4012305"/>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1" name="Oval 10" descr="Interpolation example"/>
          <p:cNvSpPr/>
          <p:nvPr/>
        </p:nvSpPr>
        <p:spPr>
          <a:xfrm>
            <a:off x="4957482" y="2021252"/>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2" name="Oval 11" descr="Interpolation example"/>
          <p:cNvSpPr/>
          <p:nvPr/>
        </p:nvSpPr>
        <p:spPr>
          <a:xfrm>
            <a:off x="5323837" y="2314508"/>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3" name="Oval 12" descr="Interpolation example"/>
          <p:cNvSpPr/>
          <p:nvPr/>
        </p:nvSpPr>
        <p:spPr>
          <a:xfrm>
            <a:off x="4410414" y="3137682"/>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4" name="Oval 13" descr="Interpolation example"/>
          <p:cNvSpPr/>
          <p:nvPr/>
        </p:nvSpPr>
        <p:spPr>
          <a:xfrm>
            <a:off x="4925112" y="2494578"/>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5" name="Oval 14" descr="Interpolation example"/>
          <p:cNvSpPr/>
          <p:nvPr/>
        </p:nvSpPr>
        <p:spPr>
          <a:xfrm>
            <a:off x="5555355" y="2715806"/>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6" name="Oval 15" descr="Interpolation example"/>
          <p:cNvSpPr/>
          <p:nvPr/>
        </p:nvSpPr>
        <p:spPr>
          <a:xfrm>
            <a:off x="5812597" y="1892631"/>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7" name="Oval 16" descr="Interpolation example"/>
          <p:cNvSpPr/>
          <p:nvPr/>
        </p:nvSpPr>
        <p:spPr>
          <a:xfrm>
            <a:off x="5130691" y="3204565"/>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8" name="Oval 17" descr="Interpolation example"/>
          <p:cNvSpPr/>
          <p:nvPr/>
        </p:nvSpPr>
        <p:spPr>
          <a:xfrm>
            <a:off x="4803136" y="3785932"/>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9" name="Oval 18" descr="Interpolation example"/>
          <p:cNvSpPr/>
          <p:nvPr/>
        </p:nvSpPr>
        <p:spPr>
          <a:xfrm>
            <a:off x="5862973" y="3075944"/>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0" name="Oval 19" descr="Interpolation example"/>
          <p:cNvSpPr/>
          <p:nvPr/>
        </p:nvSpPr>
        <p:spPr>
          <a:xfrm>
            <a:off x="5168420" y="4025167"/>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1" name="Oval 20" descr="Interpolation example"/>
          <p:cNvSpPr/>
          <p:nvPr/>
        </p:nvSpPr>
        <p:spPr>
          <a:xfrm>
            <a:off x="6378530" y="2443129"/>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2" name="Oval 21" descr="Interpolation example"/>
          <p:cNvSpPr/>
          <p:nvPr/>
        </p:nvSpPr>
        <p:spPr>
          <a:xfrm>
            <a:off x="6673714" y="3027068"/>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3" name="Oval 22" descr="Interpolation example"/>
          <p:cNvSpPr/>
          <p:nvPr/>
        </p:nvSpPr>
        <p:spPr>
          <a:xfrm>
            <a:off x="5785801" y="3578424"/>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4" name="Oval 23" descr="Interpolation example"/>
          <p:cNvSpPr/>
          <p:nvPr/>
        </p:nvSpPr>
        <p:spPr>
          <a:xfrm>
            <a:off x="6829132" y="3760208"/>
            <a:ext cx="180069" cy="180069"/>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5" name="Oval 24" descr="Interpolation example"/>
          <p:cNvSpPr/>
          <p:nvPr/>
        </p:nvSpPr>
        <p:spPr>
          <a:xfrm>
            <a:off x="6069839" y="4012305"/>
            <a:ext cx="154345" cy="154345"/>
          </a:xfrm>
          <a:prstGeom prst="ellipse">
            <a:avLst/>
          </a:prstGeom>
          <a:solidFill>
            <a:srgbClr val="C000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7" name="5-Point Star 26" descr="Interpolation example"/>
          <p:cNvSpPr/>
          <p:nvPr/>
        </p:nvSpPr>
        <p:spPr>
          <a:xfrm>
            <a:off x="5103252" y="2763181"/>
            <a:ext cx="302473" cy="302473"/>
          </a:xfrm>
          <a:prstGeom prst="star5">
            <a:avLst/>
          </a:prstGeom>
          <a:solidFill>
            <a:schemeClr val="accent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8" name="5-Point Star 27" descr="Interpolation example"/>
          <p:cNvSpPr/>
          <p:nvPr/>
        </p:nvSpPr>
        <p:spPr>
          <a:xfrm>
            <a:off x="7510394" y="1439885"/>
            <a:ext cx="302473" cy="302473"/>
          </a:xfrm>
          <a:prstGeom prst="star5">
            <a:avLst/>
          </a:prstGeom>
          <a:solidFill>
            <a:srgbClr val="FFFF00"/>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6" name="Title 1">
            <a:extLst>
              <a:ext uri="{FF2B5EF4-FFF2-40B4-BE49-F238E27FC236}">
                <a16:creationId xmlns:a16="http://schemas.microsoft.com/office/drawing/2014/main" id="{5E215CF7-BF84-4613-8352-6E7C0FE2847E}"/>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What is Spatial Interpolation?</a:t>
            </a:r>
          </a:p>
        </p:txBody>
      </p:sp>
      <p:cxnSp>
        <p:nvCxnSpPr>
          <p:cNvPr id="29" name="Straight Connector 28">
            <a:extLst>
              <a:ext uri="{FF2B5EF4-FFF2-40B4-BE49-F238E27FC236}">
                <a16:creationId xmlns:a16="http://schemas.microsoft.com/office/drawing/2014/main" id="{E0AE50F6-1C49-4408-9BC2-E2F857D3BDE4}"/>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2E06542-A811-4B62-9B69-6C086B1EA600}"/>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4" name="TextBox 3">
            <a:extLst>
              <a:ext uri="{FF2B5EF4-FFF2-40B4-BE49-F238E27FC236}">
                <a16:creationId xmlns:a16="http://schemas.microsoft.com/office/drawing/2014/main" id="{64497F1C-305E-BA7F-FDAD-C3005013C1ED}"/>
              </a:ext>
            </a:extLst>
          </p:cNvPr>
          <p:cNvSpPr txBox="1"/>
          <p:nvPr/>
        </p:nvSpPr>
        <p:spPr>
          <a:xfrm>
            <a:off x="4288559" y="4353919"/>
            <a:ext cx="3328437" cy="584775"/>
          </a:xfrm>
          <a:prstGeom prst="rect">
            <a:avLst/>
          </a:prstGeom>
          <a:noFill/>
        </p:spPr>
        <p:txBody>
          <a:bodyPr wrap="square">
            <a:spAutoFit/>
          </a:bodyPr>
          <a:lstStyle/>
          <a:p>
            <a:r>
              <a:rPr lang="en-US" altLang="zh-CN" sz="1600" b="1" dirty="0">
                <a:solidFill>
                  <a:schemeClr val="bg1"/>
                </a:solidFill>
                <a:highlight>
                  <a:srgbClr val="800080"/>
                </a:highlight>
              </a:rPr>
              <a:t>A location within the area surrounded by existing data.</a:t>
            </a:r>
            <a:endParaRPr lang="zh-CN" altLang="en-US" sz="1600" b="1" dirty="0">
              <a:solidFill>
                <a:schemeClr val="bg1"/>
              </a:solidFill>
              <a:highlight>
                <a:srgbClr val="800080"/>
              </a:highlight>
            </a:endParaRPr>
          </a:p>
        </p:txBody>
      </p:sp>
      <p:sp>
        <p:nvSpPr>
          <p:cNvPr id="5" name="TextBox 4">
            <a:extLst>
              <a:ext uri="{FF2B5EF4-FFF2-40B4-BE49-F238E27FC236}">
                <a16:creationId xmlns:a16="http://schemas.microsoft.com/office/drawing/2014/main" id="{8700E2CF-ACC2-F103-D105-4D4EFDCFD378}"/>
              </a:ext>
            </a:extLst>
          </p:cNvPr>
          <p:cNvSpPr txBox="1"/>
          <p:nvPr/>
        </p:nvSpPr>
        <p:spPr>
          <a:xfrm>
            <a:off x="5002284" y="975644"/>
            <a:ext cx="3328437" cy="584775"/>
          </a:xfrm>
          <a:prstGeom prst="rect">
            <a:avLst/>
          </a:prstGeom>
          <a:noFill/>
        </p:spPr>
        <p:txBody>
          <a:bodyPr wrap="square">
            <a:spAutoFit/>
          </a:bodyPr>
          <a:lstStyle/>
          <a:p>
            <a:r>
              <a:rPr lang="en-US" altLang="zh-CN" sz="1600" b="1" dirty="0">
                <a:solidFill>
                  <a:schemeClr val="bg1"/>
                </a:solidFill>
                <a:highlight>
                  <a:srgbClr val="800080"/>
                </a:highlight>
              </a:rPr>
              <a:t>A location outside the region where measurements exist</a:t>
            </a:r>
            <a:endParaRPr lang="zh-CN" altLang="en-US" sz="1600" b="1" dirty="0">
              <a:solidFill>
                <a:schemeClr val="bg1"/>
              </a:solidFill>
              <a:highlight>
                <a:srgbClr val="800080"/>
              </a:highlight>
            </a:endParaRPr>
          </a:p>
        </p:txBody>
      </p:sp>
    </p:spTree>
    <p:extLst>
      <p:ext uri="{BB962C8B-B14F-4D97-AF65-F5344CB8AC3E}">
        <p14:creationId xmlns:p14="http://schemas.microsoft.com/office/powerpoint/2010/main" val="3664319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A34263-033C-BF98-4F4F-E48DD82C9E7B}"/>
              </a:ext>
            </a:extLst>
          </p:cNvPr>
          <p:cNvSpPr>
            <a:spLocks noGrp="1"/>
          </p:cNvSpPr>
          <p:nvPr>
            <p:ph idx="1"/>
          </p:nvPr>
        </p:nvSpPr>
        <p:spPr>
          <a:xfrm>
            <a:off x="411480" y="506469"/>
            <a:ext cx="7406640" cy="3394472"/>
          </a:xfrm>
        </p:spPr>
        <p:txBody>
          <a:bodyPr>
            <a:normAutofit fontScale="70000" lnSpcReduction="20000"/>
          </a:bodyPr>
          <a:lstStyle/>
          <a:p>
            <a:r>
              <a:rPr lang="en-US" altLang="zh-CN" b="1" dirty="0"/>
              <a:t>Question 1</a:t>
            </a:r>
          </a:p>
          <a:p>
            <a:pPr marL="0" indent="0">
              <a:buNone/>
            </a:pPr>
            <a:r>
              <a:rPr lang="en-US" altLang="zh-CN" dirty="0"/>
              <a:t>If we estimate temperature between two weather stations, is this:</a:t>
            </a:r>
          </a:p>
          <a:p>
            <a:pPr marL="0" indent="0">
              <a:buNone/>
            </a:pPr>
            <a:r>
              <a:rPr lang="en-US" altLang="zh-CN" dirty="0"/>
              <a:t>A Interpolation</a:t>
            </a:r>
            <a:br>
              <a:rPr lang="en-US" altLang="zh-CN" dirty="0"/>
            </a:br>
            <a:r>
              <a:rPr lang="en-US" altLang="zh-CN" dirty="0"/>
              <a:t>B Extrapolation</a:t>
            </a:r>
          </a:p>
          <a:p>
            <a:pPr marL="0" indent="0">
              <a:buNone/>
            </a:pPr>
            <a:br>
              <a:rPr lang="en-US" altLang="zh-CN" dirty="0"/>
            </a:br>
            <a:endParaRPr lang="en-US" altLang="zh-CN" dirty="0"/>
          </a:p>
          <a:p>
            <a:r>
              <a:rPr lang="en-US" altLang="zh-CN" b="1" dirty="0"/>
              <a:t>Question 2</a:t>
            </a:r>
          </a:p>
          <a:p>
            <a:pPr marL="0" indent="0">
              <a:buNone/>
            </a:pPr>
            <a:r>
              <a:rPr lang="en-US" altLang="zh-CN" dirty="0"/>
              <a:t>If we estimate temperature outside the region where we collected data, is this:</a:t>
            </a:r>
          </a:p>
          <a:p>
            <a:pPr marL="0" indent="0">
              <a:buNone/>
            </a:pPr>
            <a:r>
              <a:rPr lang="en-US" altLang="zh-CN" dirty="0"/>
              <a:t>A Interpolation</a:t>
            </a:r>
            <a:br>
              <a:rPr lang="en-US" altLang="zh-CN" dirty="0"/>
            </a:br>
            <a:r>
              <a:rPr lang="en-US" altLang="zh-CN" dirty="0"/>
              <a:t>B Extrapolation</a:t>
            </a:r>
          </a:p>
          <a:p>
            <a:endParaRPr lang="zh-CN" altLang="en-US" dirty="0"/>
          </a:p>
        </p:txBody>
      </p:sp>
      <p:sp>
        <p:nvSpPr>
          <p:cNvPr id="4" name="Slide Number Placeholder 3">
            <a:extLst>
              <a:ext uri="{FF2B5EF4-FFF2-40B4-BE49-F238E27FC236}">
                <a16:creationId xmlns:a16="http://schemas.microsoft.com/office/drawing/2014/main" id="{C0958B51-9F42-5C8F-5DD9-BF36FA8D4DDD}"/>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3548118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3692"/>
            <a:ext cx="7406640" cy="854423"/>
          </a:xfrm>
        </p:spPr>
        <p:txBody>
          <a:bodyPr>
            <a:normAutofit fontScale="62500" lnSpcReduction="20000"/>
          </a:bodyPr>
          <a:lstStyle/>
          <a:p>
            <a:pPr>
              <a:buFont typeface="Courier New" panose="02070309020205020404" pitchFamily="49" charset="0"/>
              <a:buChar char="o"/>
            </a:pPr>
            <a:r>
              <a:rPr lang="en-US" dirty="0"/>
              <a:t>Nearest neighbor interpolation</a:t>
            </a:r>
          </a:p>
          <a:p>
            <a:pPr>
              <a:buFont typeface="Courier New" panose="02070309020205020404" pitchFamily="49" charset="0"/>
              <a:buChar char="o"/>
            </a:pPr>
            <a:r>
              <a:rPr lang="en-US" dirty="0"/>
              <a:t>Defines the area that is closer to one point than any other points in a dataset</a:t>
            </a:r>
          </a:p>
        </p:txBody>
      </p:sp>
      <p:pic>
        <p:nvPicPr>
          <p:cNvPr id="4" name="Picture 3" descr="Thiessen polygons example"/>
          <p:cNvPicPr/>
          <p:nvPr/>
        </p:nvPicPr>
        <p:blipFill>
          <a:blip r:embed="rId3"/>
          <a:stretch>
            <a:fillRect/>
          </a:stretch>
        </p:blipFill>
        <p:spPr>
          <a:xfrm>
            <a:off x="2485564" y="2045536"/>
            <a:ext cx="3488516" cy="2890715"/>
          </a:xfrm>
          <a:prstGeom prst="rect">
            <a:avLst/>
          </a:prstGeom>
        </p:spPr>
      </p:pic>
      <p:sp>
        <p:nvSpPr>
          <p:cNvPr id="7" name="Title 1">
            <a:extLst>
              <a:ext uri="{FF2B5EF4-FFF2-40B4-BE49-F238E27FC236}">
                <a16:creationId xmlns:a16="http://schemas.microsoft.com/office/drawing/2014/main" id="{FA2F2F5E-F0C4-4E18-B7A2-599CA02DB47C}"/>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Thiessen polygons</a:t>
            </a:r>
          </a:p>
        </p:txBody>
      </p:sp>
      <p:cxnSp>
        <p:nvCxnSpPr>
          <p:cNvPr id="8" name="Straight Connector 7">
            <a:extLst>
              <a:ext uri="{FF2B5EF4-FFF2-40B4-BE49-F238E27FC236}">
                <a16:creationId xmlns:a16="http://schemas.microsoft.com/office/drawing/2014/main" id="{5EFCE1EE-F890-4177-AEA4-7AF02275A1B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2BC9CBD-DC01-4897-AF7B-56E8A1E244C0}"/>
              </a:ext>
            </a:extLst>
          </p:cNvPr>
          <p:cNvSpPr txBox="1"/>
          <p:nvPr/>
        </p:nvSpPr>
        <p:spPr>
          <a:xfrm>
            <a:off x="1325880" y="2263162"/>
            <a:ext cx="1051560" cy="369332"/>
          </a:xfrm>
          <a:prstGeom prst="rect">
            <a:avLst/>
          </a:prstGeom>
          <a:noFill/>
        </p:spPr>
        <p:txBody>
          <a:bodyPr wrap="square">
            <a:spAutoFit/>
          </a:bodyPr>
          <a:lstStyle/>
          <a:p>
            <a:r>
              <a:rPr lang="en-US" baseline="0" dirty="0"/>
              <a:t>Ontario</a:t>
            </a:r>
            <a:endParaRPr lang="en-US" dirty="0"/>
          </a:p>
        </p:txBody>
      </p:sp>
      <p:sp>
        <p:nvSpPr>
          <p:cNvPr id="2" name="Slide Number Placeholder 1">
            <a:extLst>
              <a:ext uri="{FF2B5EF4-FFF2-40B4-BE49-F238E27FC236}">
                <a16:creationId xmlns:a16="http://schemas.microsoft.com/office/drawing/2014/main" id="{12CF926F-E74A-4520-94C7-D74A03CA55B3}"/>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259470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8967-3FE8-71A2-11CA-BFA336221C9C}"/>
              </a:ext>
            </a:extLst>
          </p:cNvPr>
          <p:cNvSpPr>
            <a:spLocks noGrp="1"/>
          </p:cNvSpPr>
          <p:nvPr>
            <p:ph type="title"/>
          </p:nvPr>
        </p:nvSpPr>
        <p:spPr>
          <a:xfrm>
            <a:off x="466659" y="31531"/>
            <a:ext cx="7406640" cy="542883"/>
          </a:xfrm>
        </p:spPr>
        <p:txBody>
          <a:bodyPr>
            <a:normAutofit/>
          </a:bodyPr>
          <a:lstStyle/>
          <a:p>
            <a:r>
              <a:rPr lang="en-US" altLang="zh-CN" sz="2800" dirty="0"/>
              <a:t>Interactive Thiessen Polygon Generator</a:t>
            </a:r>
            <a:endParaRPr lang="zh-CN" altLang="en-US" sz="2800" dirty="0"/>
          </a:p>
        </p:txBody>
      </p:sp>
      <p:pic>
        <p:nvPicPr>
          <p:cNvPr id="6" name="Content Placeholder 5">
            <a:hlinkClick r:id="rId2"/>
            <a:extLst>
              <a:ext uri="{FF2B5EF4-FFF2-40B4-BE49-F238E27FC236}">
                <a16:creationId xmlns:a16="http://schemas.microsoft.com/office/drawing/2014/main" id="{7034C287-263F-84C9-6E5B-35E456676142}"/>
              </a:ext>
            </a:extLst>
          </p:cNvPr>
          <p:cNvPicPr>
            <a:picLocks noGrp="1" noChangeAspect="1"/>
          </p:cNvPicPr>
          <p:nvPr>
            <p:ph idx="1"/>
          </p:nvPr>
        </p:nvPicPr>
        <p:blipFill>
          <a:blip r:embed="rId3"/>
          <a:stretch>
            <a:fillRect/>
          </a:stretch>
        </p:blipFill>
        <p:spPr>
          <a:xfrm>
            <a:off x="2486320" y="748089"/>
            <a:ext cx="3670114" cy="4019174"/>
          </a:xfrm>
          <a:prstGeom prst="rect">
            <a:avLst/>
          </a:prstGeom>
        </p:spPr>
      </p:pic>
      <p:sp>
        <p:nvSpPr>
          <p:cNvPr id="4" name="Slide Number Placeholder 3">
            <a:extLst>
              <a:ext uri="{FF2B5EF4-FFF2-40B4-BE49-F238E27FC236}">
                <a16:creationId xmlns:a16="http://schemas.microsoft.com/office/drawing/2014/main" id="{D0D305B3-F2B1-6BB0-E680-70496C055925}"/>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4095415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3692"/>
            <a:ext cx="7406640" cy="854423"/>
          </a:xfrm>
        </p:spPr>
        <p:txBody>
          <a:bodyPr>
            <a:normAutofit fontScale="70000" lnSpcReduction="20000"/>
          </a:bodyPr>
          <a:lstStyle/>
          <a:p>
            <a:pPr>
              <a:buFont typeface="Courier New" panose="02070309020205020404" pitchFamily="49" charset="0"/>
              <a:buChar char="o"/>
            </a:pPr>
            <a:r>
              <a:rPr lang="en-US" dirty="0"/>
              <a:t>Local averaging</a:t>
            </a:r>
          </a:p>
          <a:p>
            <a:pPr>
              <a:buFont typeface="Courier New" panose="02070309020205020404" pitchFamily="49" charset="0"/>
              <a:buChar char="o"/>
            </a:pPr>
            <a:r>
              <a:rPr lang="en-US" dirty="0"/>
              <a:t>Cell values are estimated based on the average of nearby samples</a:t>
            </a:r>
          </a:p>
        </p:txBody>
      </p:sp>
      <p:sp>
        <p:nvSpPr>
          <p:cNvPr id="7" name="Title 1">
            <a:extLst>
              <a:ext uri="{FF2B5EF4-FFF2-40B4-BE49-F238E27FC236}">
                <a16:creationId xmlns:a16="http://schemas.microsoft.com/office/drawing/2014/main" id="{FA2F2F5E-F0C4-4E18-B7A2-599CA02DB47C}"/>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Fixed radius</a:t>
            </a:r>
          </a:p>
        </p:txBody>
      </p:sp>
      <p:cxnSp>
        <p:nvCxnSpPr>
          <p:cNvPr id="8" name="Straight Connector 7">
            <a:extLst>
              <a:ext uri="{FF2B5EF4-FFF2-40B4-BE49-F238E27FC236}">
                <a16:creationId xmlns:a16="http://schemas.microsoft.com/office/drawing/2014/main" id="{5EFCE1EE-F890-4177-AEA4-7AF02275A1B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2CF926F-E74A-4520-94C7-D74A03CA55B3}"/>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6" name="Picture 5" descr="Diagram, engineering drawing&#10;&#10;Description automatically generated">
            <a:extLst>
              <a:ext uri="{FF2B5EF4-FFF2-40B4-BE49-F238E27FC236}">
                <a16:creationId xmlns:a16="http://schemas.microsoft.com/office/drawing/2014/main" id="{8517D856-6752-42C8-85E6-4E283EFAE4F5}"/>
              </a:ext>
            </a:extLst>
          </p:cNvPr>
          <p:cNvPicPr>
            <a:picLocks noChangeAspect="1"/>
          </p:cNvPicPr>
          <p:nvPr/>
        </p:nvPicPr>
        <p:blipFill>
          <a:blip r:embed="rId3"/>
          <a:stretch>
            <a:fillRect/>
          </a:stretch>
        </p:blipFill>
        <p:spPr>
          <a:xfrm>
            <a:off x="1482164" y="1729883"/>
            <a:ext cx="4935071" cy="3225613"/>
          </a:xfrm>
          <a:prstGeom prst="rect">
            <a:avLst/>
          </a:prstGeom>
        </p:spPr>
      </p:pic>
      <p:sp>
        <p:nvSpPr>
          <p:cNvPr id="10" name="TextBox 9">
            <a:extLst>
              <a:ext uri="{FF2B5EF4-FFF2-40B4-BE49-F238E27FC236}">
                <a16:creationId xmlns:a16="http://schemas.microsoft.com/office/drawing/2014/main" id="{608E1C4D-B767-4C61-9216-CCA418F7FD73}"/>
              </a:ext>
            </a:extLst>
          </p:cNvPr>
          <p:cNvSpPr txBox="1"/>
          <p:nvPr/>
        </p:nvSpPr>
        <p:spPr>
          <a:xfrm>
            <a:off x="6359743" y="4767263"/>
            <a:ext cx="996514"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88656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32B9E-EAEE-66A6-A5AB-FD69C091659B}"/>
              </a:ext>
            </a:extLst>
          </p:cNvPr>
          <p:cNvSpPr>
            <a:spLocks noGrp="1"/>
          </p:cNvSpPr>
          <p:nvPr>
            <p:ph type="title"/>
          </p:nvPr>
        </p:nvSpPr>
        <p:spPr/>
        <p:txBody>
          <a:bodyPr>
            <a:normAutofit/>
          </a:bodyPr>
          <a:lstStyle/>
          <a:p>
            <a:r>
              <a:rPr lang="en-US" altLang="zh-CN" sz="3200" dirty="0"/>
              <a:t>Influence of fixed distance on interpolation</a:t>
            </a:r>
            <a:endParaRPr lang="zh-CN" altLang="en-US" sz="3200" dirty="0"/>
          </a:p>
        </p:txBody>
      </p:sp>
      <p:sp>
        <p:nvSpPr>
          <p:cNvPr id="3" name="Content Placeholder 2">
            <a:extLst>
              <a:ext uri="{FF2B5EF4-FFF2-40B4-BE49-F238E27FC236}">
                <a16:creationId xmlns:a16="http://schemas.microsoft.com/office/drawing/2014/main" id="{D9EA160C-EA89-A93E-3452-8B1089AE7226}"/>
              </a:ext>
            </a:extLst>
          </p:cNvPr>
          <p:cNvSpPr>
            <a:spLocks noGrp="1"/>
          </p:cNvSpPr>
          <p:nvPr>
            <p:ph idx="1"/>
          </p:nvPr>
        </p:nvSpPr>
        <p:spPr>
          <a:xfrm>
            <a:off x="411480" y="1278979"/>
            <a:ext cx="7406640" cy="3394472"/>
          </a:xfrm>
        </p:spPr>
        <p:txBody>
          <a:bodyPr>
            <a:normAutofit/>
          </a:bodyPr>
          <a:lstStyle/>
          <a:p>
            <a:r>
              <a:rPr lang="en-US" altLang="zh-CN" sz="2800" dirty="0"/>
              <a:t>If the search radius is </a:t>
            </a:r>
            <a:r>
              <a:rPr lang="en-US" altLang="zh-CN" sz="2800" b="1" dirty="0"/>
              <a:t>very small</a:t>
            </a:r>
            <a:r>
              <a:rPr lang="en-US" altLang="zh-CN" sz="2800" dirty="0"/>
              <a:t>, what might happen?</a:t>
            </a:r>
          </a:p>
          <a:p>
            <a:endParaRPr lang="en-US" altLang="zh-CN" sz="2800" dirty="0"/>
          </a:p>
          <a:p>
            <a:r>
              <a:rPr lang="en-US" altLang="zh-CN" sz="2800" dirty="0"/>
              <a:t>What happens if the search radius is </a:t>
            </a:r>
            <a:r>
              <a:rPr lang="en-US" altLang="zh-CN" sz="2800" b="1" dirty="0"/>
              <a:t>very large</a:t>
            </a:r>
            <a:r>
              <a:rPr lang="en-US" altLang="zh-CN" sz="2800" dirty="0"/>
              <a:t>?</a:t>
            </a:r>
            <a:endParaRPr lang="zh-CN" altLang="en-US" sz="2800" dirty="0"/>
          </a:p>
        </p:txBody>
      </p:sp>
      <p:sp>
        <p:nvSpPr>
          <p:cNvPr id="4" name="Slide Number Placeholder 3">
            <a:extLst>
              <a:ext uri="{FF2B5EF4-FFF2-40B4-BE49-F238E27FC236}">
                <a16:creationId xmlns:a16="http://schemas.microsoft.com/office/drawing/2014/main" id="{8248EE9A-AC23-85D6-640E-759D2998291F}"/>
              </a:ext>
            </a:extLst>
          </p:cNvPr>
          <p:cNvSpPr>
            <a:spLocks noGrp="1"/>
          </p:cNvSpPr>
          <p:nvPr>
            <p:ph type="sldNum" sz="quarter" idx="12"/>
          </p:nvPr>
        </p:nvSpPr>
        <p:spPr/>
        <p:txBody>
          <a:bodyPr/>
          <a:lstStyle/>
          <a:p>
            <a:fld id="{127DDC20-79C9-9647-820E-6D40A3D210C3}" type="slidenum">
              <a:rPr lang="en-US" smtClean="0"/>
              <a:pPr/>
              <a:t>11</a:t>
            </a:fld>
            <a:endParaRPr lang="en-US"/>
          </a:p>
        </p:txBody>
      </p:sp>
    </p:spTree>
    <p:extLst>
      <p:ext uri="{BB962C8B-B14F-4D97-AF65-F5344CB8AC3E}">
        <p14:creationId xmlns:p14="http://schemas.microsoft.com/office/powerpoint/2010/main" val="2304580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061E-4093-D288-4534-7E3705F12237}"/>
              </a:ext>
            </a:extLst>
          </p:cNvPr>
          <p:cNvSpPr>
            <a:spLocks noGrp="1"/>
          </p:cNvSpPr>
          <p:nvPr>
            <p:ph type="title"/>
          </p:nvPr>
        </p:nvSpPr>
        <p:spPr/>
        <p:txBody>
          <a:bodyPr>
            <a:noAutofit/>
          </a:bodyPr>
          <a:lstStyle/>
          <a:p>
            <a:r>
              <a:rPr lang="en-US" altLang="zh-CN" sz="2800" dirty="0"/>
              <a:t>Interactive tool on Fixed Radius Interpolation Practice</a:t>
            </a:r>
            <a:endParaRPr lang="zh-CN" altLang="en-US" sz="2800" dirty="0"/>
          </a:p>
        </p:txBody>
      </p:sp>
      <p:pic>
        <p:nvPicPr>
          <p:cNvPr id="6" name="Content Placeholder 5">
            <a:extLst>
              <a:ext uri="{FF2B5EF4-FFF2-40B4-BE49-F238E27FC236}">
                <a16:creationId xmlns:a16="http://schemas.microsoft.com/office/drawing/2014/main" id="{5BBECA4D-4D29-B325-3033-CA5F8612F355}"/>
              </a:ext>
            </a:extLst>
          </p:cNvPr>
          <p:cNvPicPr>
            <a:picLocks noGrp="1" noChangeAspect="1"/>
          </p:cNvPicPr>
          <p:nvPr>
            <p:ph idx="1"/>
          </p:nvPr>
        </p:nvPicPr>
        <p:blipFill>
          <a:blip r:embed="rId2"/>
          <a:stretch>
            <a:fillRect/>
          </a:stretch>
        </p:blipFill>
        <p:spPr>
          <a:xfrm>
            <a:off x="1814278" y="1373188"/>
            <a:ext cx="4443388" cy="3394075"/>
          </a:xfrm>
          <a:prstGeom prst="rect">
            <a:avLst/>
          </a:prstGeom>
        </p:spPr>
      </p:pic>
      <p:sp>
        <p:nvSpPr>
          <p:cNvPr id="4" name="Slide Number Placeholder 3">
            <a:extLst>
              <a:ext uri="{FF2B5EF4-FFF2-40B4-BE49-F238E27FC236}">
                <a16:creationId xmlns:a16="http://schemas.microsoft.com/office/drawing/2014/main" id="{7ACBD4C5-7951-33DC-A018-ABB8A7B2A8C2}"/>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809855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359" y="1131194"/>
            <a:ext cx="7798174" cy="3553693"/>
          </a:xfrm>
        </p:spPr>
        <p:txBody>
          <a:bodyPr>
            <a:normAutofit fontScale="85000" lnSpcReduction="20000"/>
          </a:bodyPr>
          <a:lstStyle/>
          <a:p>
            <a:pPr>
              <a:buFont typeface="Courier New" panose="02070309020205020404" pitchFamily="49" charset="0"/>
              <a:buChar char="o"/>
            </a:pPr>
            <a:r>
              <a:rPr lang="en-US" dirty="0"/>
              <a:t>Inverse distance weighted average of near sample points</a:t>
            </a:r>
          </a:p>
          <a:p>
            <a:pPr>
              <a:buFont typeface="Courier New" panose="02070309020205020404" pitchFamily="49" charset="0"/>
              <a:buChar char="o"/>
            </a:pPr>
            <a:r>
              <a:rPr lang="en-US" b="1" dirty="0">
                <a:solidFill>
                  <a:srgbClr val="E3874F"/>
                </a:solidFill>
              </a:rPr>
              <a:t>Power: </a:t>
            </a:r>
            <a:r>
              <a:rPr lang="en-US" dirty="0"/>
              <a:t>controls the significance of surrounding points</a:t>
            </a:r>
          </a:p>
          <a:p>
            <a:pPr lvl="1">
              <a:buFont typeface="Wingdings" panose="05000000000000000000" pitchFamily="2" charset="2"/>
              <a:buChar char="ü"/>
            </a:pPr>
            <a:r>
              <a:rPr lang="en-US" dirty="0"/>
              <a:t>Higher power = less influence by distant points</a:t>
            </a:r>
          </a:p>
          <a:p>
            <a:pPr lvl="1">
              <a:buFont typeface="Wingdings" panose="05000000000000000000" pitchFamily="2" charset="2"/>
              <a:buChar char="ü"/>
            </a:pPr>
            <a:r>
              <a:rPr lang="en-US" dirty="0"/>
              <a:t>Lower power = more influence by distant points</a:t>
            </a:r>
          </a:p>
          <a:p>
            <a:pPr>
              <a:buFont typeface="Courier New" panose="02070309020205020404" pitchFamily="49" charset="0"/>
              <a:buChar char="o"/>
            </a:pPr>
            <a:r>
              <a:rPr lang="en-US" b="1" dirty="0">
                <a:solidFill>
                  <a:srgbClr val="E3874F"/>
                </a:solidFill>
              </a:rPr>
              <a:t>Radius: </a:t>
            </a:r>
            <a:r>
              <a:rPr lang="en-US" dirty="0"/>
              <a:t>specifies which input point will be considered</a:t>
            </a:r>
          </a:p>
          <a:p>
            <a:pPr lvl="1">
              <a:buFont typeface="Wingdings" panose="05000000000000000000" pitchFamily="2" charset="2"/>
              <a:buChar char="ü"/>
            </a:pPr>
            <a:r>
              <a:rPr lang="en-US" b="1" dirty="0">
                <a:solidFill>
                  <a:srgbClr val="E3874F"/>
                </a:solidFill>
              </a:rPr>
              <a:t>Variable</a:t>
            </a:r>
            <a:r>
              <a:rPr lang="en-US" dirty="0"/>
              <a:t> = does not specify a distance but a number of points</a:t>
            </a:r>
          </a:p>
          <a:p>
            <a:pPr lvl="2"/>
            <a:r>
              <a:rPr lang="en-US" dirty="0"/>
              <a:t>Can specify number of points to use</a:t>
            </a:r>
          </a:p>
          <a:p>
            <a:pPr lvl="2"/>
            <a:r>
              <a:rPr lang="en-US" dirty="0"/>
              <a:t>Can specify the maximum distance over which to search</a:t>
            </a:r>
          </a:p>
          <a:p>
            <a:pPr lvl="1">
              <a:buFont typeface="Wingdings" panose="05000000000000000000" pitchFamily="2" charset="2"/>
              <a:buChar char="ü"/>
            </a:pPr>
            <a:r>
              <a:rPr lang="en-US" b="1" dirty="0">
                <a:solidFill>
                  <a:srgbClr val="E3874F"/>
                </a:solidFill>
              </a:rPr>
              <a:t>Fixed</a:t>
            </a:r>
            <a:r>
              <a:rPr lang="en-US" dirty="0"/>
              <a:t> = specify a distance over which to search</a:t>
            </a:r>
          </a:p>
          <a:p>
            <a:pPr lvl="2"/>
            <a:r>
              <a:rPr lang="en-US" dirty="0"/>
              <a:t>Can specify a minimum number of points that is used to increase the search radius</a:t>
            </a:r>
          </a:p>
        </p:txBody>
      </p:sp>
      <p:sp>
        <p:nvSpPr>
          <p:cNvPr id="4" name="Title 1">
            <a:extLst>
              <a:ext uri="{FF2B5EF4-FFF2-40B4-BE49-F238E27FC236}">
                <a16:creationId xmlns:a16="http://schemas.microsoft.com/office/drawing/2014/main" id="{3CF4D4F5-3DB1-4DD8-95FD-E85FD216FD57}"/>
              </a:ext>
            </a:extLst>
          </p:cNvPr>
          <p:cNvSpPr txBox="1">
            <a:spLocks/>
          </p:cNvSpPr>
          <p:nvPr/>
        </p:nvSpPr>
        <p:spPr>
          <a:xfrm>
            <a:off x="0" y="207249"/>
            <a:ext cx="6562526" cy="716924"/>
          </a:xfrm>
          <a:prstGeom prst="rect">
            <a:avLst/>
          </a:prstGeom>
        </p:spPr>
        <p:txBody>
          <a:bodyPr vert="horz" lIns="91440" tIns="45720" rIns="91440" bIns="45720" rtlCol="0" anchor="ctr">
            <a:normAutofit fontScale="925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Inverse distance weighting (IDW)</a:t>
            </a:r>
          </a:p>
        </p:txBody>
      </p:sp>
      <p:cxnSp>
        <p:nvCxnSpPr>
          <p:cNvPr id="5" name="Straight Connector 4">
            <a:extLst>
              <a:ext uri="{FF2B5EF4-FFF2-40B4-BE49-F238E27FC236}">
                <a16:creationId xmlns:a16="http://schemas.microsoft.com/office/drawing/2014/main" id="{CEA27A01-5099-4F9E-8F09-87AA8856FCB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66F413B-00B6-4098-81A3-A92183021043}"/>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32339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3D717FC-9FC3-40FB-83F9-5FA4ACC8F692}"/>
              </a:ext>
            </a:extLst>
          </p:cNvPr>
          <p:cNvSpPr txBox="1">
            <a:spLocks/>
          </p:cNvSpPr>
          <p:nvPr/>
        </p:nvSpPr>
        <p:spPr>
          <a:xfrm>
            <a:off x="0" y="207249"/>
            <a:ext cx="6562526" cy="716924"/>
          </a:xfrm>
          <a:prstGeom prst="rect">
            <a:avLst/>
          </a:prstGeom>
        </p:spPr>
        <p:txBody>
          <a:bodyPr vert="horz" lIns="91440" tIns="45720" rIns="91440" bIns="45720" rtlCol="0" anchor="ctr">
            <a:normAutofit fontScale="925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Inverse distance weighting (IDW)</a:t>
            </a:r>
          </a:p>
        </p:txBody>
      </p:sp>
      <p:cxnSp>
        <p:nvCxnSpPr>
          <p:cNvPr id="10" name="Straight Connector 9">
            <a:extLst>
              <a:ext uri="{FF2B5EF4-FFF2-40B4-BE49-F238E27FC236}">
                <a16:creationId xmlns:a16="http://schemas.microsoft.com/office/drawing/2014/main" id="{7AFFDD96-F1F1-47E0-8FA2-1E983436FF7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0E335F4-D6E3-43EA-A041-4EE0EB60CC48}"/>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4" name="Picture 3" descr="Diagram&#10;&#10;Description automatically generated">
            <a:extLst>
              <a:ext uri="{FF2B5EF4-FFF2-40B4-BE49-F238E27FC236}">
                <a16:creationId xmlns:a16="http://schemas.microsoft.com/office/drawing/2014/main" id="{99897B49-E919-4745-BB70-D26A23F1E672}"/>
              </a:ext>
            </a:extLst>
          </p:cNvPr>
          <p:cNvPicPr>
            <a:picLocks noChangeAspect="1"/>
          </p:cNvPicPr>
          <p:nvPr/>
        </p:nvPicPr>
        <p:blipFill>
          <a:blip r:embed="rId3"/>
          <a:stretch>
            <a:fillRect/>
          </a:stretch>
        </p:blipFill>
        <p:spPr>
          <a:xfrm>
            <a:off x="2054876" y="1494773"/>
            <a:ext cx="3673723" cy="3272490"/>
          </a:xfrm>
          <a:prstGeom prst="rect">
            <a:avLst/>
          </a:prstGeom>
        </p:spPr>
      </p:pic>
      <p:sp>
        <p:nvSpPr>
          <p:cNvPr id="12" name="TextBox 11">
            <a:extLst>
              <a:ext uri="{FF2B5EF4-FFF2-40B4-BE49-F238E27FC236}">
                <a16:creationId xmlns:a16="http://schemas.microsoft.com/office/drawing/2014/main" id="{EB2D8805-AF82-45A2-9C53-6AD287D4B75A}"/>
              </a:ext>
            </a:extLst>
          </p:cNvPr>
          <p:cNvSpPr txBox="1"/>
          <p:nvPr/>
        </p:nvSpPr>
        <p:spPr>
          <a:xfrm>
            <a:off x="6359743" y="4767263"/>
            <a:ext cx="996514"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168027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DW in ArcPro"/>
          <p:cNvPicPr>
            <a:picLocks noChangeAspect="1"/>
          </p:cNvPicPr>
          <p:nvPr/>
        </p:nvPicPr>
        <p:blipFill>
          <a:blip r:embed="rId3"/>
          <a:stretch>
            <a:fillRect/>
          </a:stretch>
        </p:blipFill>
        <p:spPr>
          <a:xfrm>
            <a:off x="681840" y="1528987"/>
            <a:ext cx="2347333" cy="2919697"/>
          </a:xfrm>
          <a:prstGeom prst="rect">
            <a:avLst/>
          </a:prstGeom>
        </p:spPr>
      </p:pic>
      <p:pic>
        <p:nvPicPr>
          <p:cNvPr id="6" name="Picture 5" descr="IDW example"/>
          <p:cNvPicPr>
            <a:picLocks noChangeAspect="1"/>
          </p:cNvPicPr>
          <p:nvPr/>
        </p:nvPicPr>
        <p:blipFill>
          <a:blip r:embed="rId4"/>
          <a:stretch>
            <a:fillRect/>
          </a:stretch>
        </p:blipFill>
        <p:spPr>
          <a:xfrm>
            <a:off x="4158539" y="1674618"/>
            <a:ext cx="2496186" cy="2656024"/>
          </a:xfrm>
          <a:prstGeom prst="rect">
            <a:avLst/>
          </a:prstGeom>
        </p:spPr>
      </p:pic>
      <p:sp>
        <p:nvSpPr>
          <p:cNvPr id="9" name="Title 1">
            <a:extLst>
              <a:ext uri="{FF2B5EF4-FFF2-40B4-BE49-F238E27FC236}">
                <a16:creationId xmlns:a16="http://schemas.microsoft.com/office/drawing/2014/main" id="{83D717FC-9FC3-40FB-83F9-5FA4ACC8F692}"/>
              </a:ext>
            </a:extLst>
          </p:cNvPr>
          <p:cNvSpPr txBox="1">
            <a:spLocks/>
          </p:cNvSpPr>
          <p:nvPr/>
        </p:nvSpPr>
        <p:spPr>
          <a:xfrm>
            <a:off x="0" y="207249"/>
            <a:ext cx="6562526" cy="716924"/>
          </a:xfrm>
          <a:prstGeom prst="rect">
            <a:avLst/>
          </a:prstGeom>
        </p:spPr>
        <p:txBody>
          <a:bodyPr vert="horz" lIns="91440" tIns="45720" rIns="91440" bIns="45720" rtlCol="0" anchor="ctr">
            <a:normAutofit fontScale="925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Inverse distance weighting (IDW)</a:t>
            </a:r>
          </a:p>
        </p:txBody>
      </p:sp>
      <p:cxnSp>
        <p:nvCxnSpPr>
          <p:cNvPr id="10" name="Straight Connector 9">
            <a:extLst>
              <a:ext uri="{FF2B5EF4-FFF2-40B4-BE49-F238E27FC236}">
                <a16:creationId xmlns:a16="http://schemas.microsoft.com/office/drawing/2014/main" id="{7AFFDD96-F1F1-47E0-8FA2-1E983436FF7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2F22EFA-ACCB-4435-91DA-DA0A6A1C4184}"/>
              </a:ext>
            </a:extLst>
          </p:cNvPr>
          <p:cNvSpPr txBox="1"/>
          <p:nvPr/>
        </p:nvSpPr>
        <p:spPr>
          <a:xfrm>
            <a:off x="3682833" y="1269240"/>
            <a:ext cx="4210594" cy="369332"/>
          </a:xfrm>
          <a:prstGeom prst="rect">
            <a:avLst/>
          </a:prstGeom>
          <a:noFill/>
        </p:spPr>
        <p:txBody>
          <a:bodyPr wrap="square">
            <a:spAutoFit/>
          </a:bodyPr>
          <a:lstStyle/>
          <a:p>
            <a:r>
              <a:rPr lang="en-US" baseline="0" dirty="0"/>
              <a:t>Bathymetric or water depth point </a:t>
            </a:r>
            <a:endParaRPr lang="en-US" dirty="0"/>
          </a:p>
        </p:txBody>
      </p:sp>
      <p:sp>
        <p:nvSpPr>
          <p:cNvPr id="2" name="Slide Number Placeholder 1">
            <a:extLst>
              <a:ext uri="{FF2B5EF4-FFF2-40B4-BE49-F238E27FC236}">
                <a16:creationId xmlns:a16="http://schemas.microsoft.com/office/drawing/2014/main" id="{20E335F4-D6E3-43EA-A041-4EE0EB60CC48}"/>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09919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796A8-9900-B590-E579-FC379A59915D}"/>
              </a:ext>
            </a:extLst>
          </p:cNvPr>
          <p:cNvSpPr>
            <a:spLocks noGrp="1"/>
          </p:cNvSpPr>
          <p:nvPr>
            <p:ph type="title"/>
          </p:nvPr>
        </p:nvSpPr>
        <p:spPr/>
        <p:txBody>
          <a:bodyPr/>
          <a:lstStyle/>
          <a:p>
            <a:r>
              <a:rPr lang="en-US" altLang="zh-CN" dirty="0"/>
              <a:t>IDW Interactive Tool</a:t>
            </a:r>
            <a:endParaRPr lang="zh-CN" altLang="en-US" dirty="0"/>
          </a:p>
        </p:txBody>
      </p:sp>
      <p:pic>
        <p:nvPicPr>
          <p:cNvPr id="6" name="Content Placeholder 5">
            <a:extLst>
              <a:ext uri="{FF2B5EF4-FFF2-40B4-BE49-F238E27FC236}">
                <a16:creationId xmlns:a16="http://schemas.microsoft.com/office/drawing/2014/main" id="{9FA0E70C-6D08-C952-EE2E-65CD038CA663}"/>
              </a:ext>
            </a:extLst>
          </p:cNvPr>
          <p:cNvPicPr>
            <a:picLocks noGrp="1" noChangeAspect="1"/>
          </p:cNvPicPr>
          <p:nvPr>
            <p:ph idx="1"/>
          </p:nvPr>
        </p:nvPicPr>
        <p:blipFill>
          <a:blip r:embed="rId2"/>
          <a:stretch>
            <a:fillRect/>
          </a:stretch>
        </p:blipFill>
        <p:spPr>
          <a:xfrm>
            <a:off x="1468490" y="1302626"/>
            <a:ext cx="5292620" cy="3394075"/>
          </a:xfrm>
          <a:prstGeom prst="rect">
            <a:avLst/>
          </a:prstGeom>
        </p:spPr>
      </p:pic>
      <p:sp>
        <p:nvSpPr>
          <p:cNvPr id="4" name="Slide Number Placeholder 3">
            <a:extLst>
              <a:ext uri="{FF2B5EF4-FFF2-40B4-BE49-F238E27FC236}">
                <a16:creationId xmlns:a16="http://schemas.microsoft.com/office/drawing/2014/main" id="{74416A60-0B6A-D258-C50E-3F908EA625D8}"/>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3171195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359" y="1131194"/>
            <a:ext cx="4534396" cy="3700445"/>
          </a:xfrm>
        </p:spPr>
        <p:txBody>
          <a:bodyPr>
            <a:normAutofit fontScale="62500" lnSpcReduction="20000"/>
          </a:bodyPr>
          <a:lstStyle/>
          <a:p>
            <a:pPr>
              <a:buFont typeface="Courier New" panose="02070309020205020404" pitchFamily="49" charset="0"/>
              <a:buChar char="o"/>
            </a:pPr>
            <a:r>
              <a:rPr lang="en-US" dirty="0"/>
              <a:t>Points extrude to the height of their magnitude</a:t>
            </a:r>
          </a:p>
          <a:p>
            <a:pPr>
              <a:buFont typeface="Courier New" panose="02070309020205020404" pitchFamily="49" charset="0"/>
              <a:buChar char="o"/>
            </a:pPr>
            <a:r>
              <a:rPr lang="en-US" dirty="0"/>
              <a:t>Spline bends a sheet of rubber that passes through the input points while minimizing the total curvature of the surface</a:t>
            </a:r>
          </a:p>
          <a:p>
            <a:pPr>
              <a:buFont typeface="Courier New" panose="02070309020205020404" pitchFamily="49" charset="0"/>
              <a:buChar char="o"/>
            </a:pPr>
            <a:r>
              <a:rPr lang="en-US" dirty="0"/>
              <a:t>Fits a mathematical function (joined polynomial functions) to a specific number of near input points while passing through the sample points </a:t>
            </a:r>
          </a:p>
          <a:p>
            <a:pPr>
              <a:buFont typeface="Courier New" panose="02070309020205020404" pitchFamily="49" charset="0"/>
              <a:buChar char="o"/>
            </a:pPr>
            <a:r>
              <a:rPr lang="en-US" dirty="0"/>
              <a:t>Surface passes through sample points and has minimum curvature</a:t>
            </a:r>
          </a:p>
          <a:p>
            <a:pPr>
              <a:buFont typeface="Courier New" panose="02070309020205020404" pitchFamily="49" charset="0"/>
              <a:buChar char="o"/>
            </a:pPr>
            <a:r>
              <a:rPr lang="en-US" dirty="0"/>
              <a:t>This method is best for interpolating smooth surface that do not change abruptly</a:t>
            </a:r>
          </a:p>
          <a:p>
            <a:pPr marL="0" indent="0">
              <a:buNone/>
            </a:pPr>
            <a:endParaRPr lang="en-US" dirty="0"/>
          </a:p>
        </p:txBody>
      </p:sp>
      <p:sp>
        <p:nvSpPr>
          <p:cNvPr id="4" name="Title 1">
            <a:extLst>
              <a:ext uri="{FF2B5EF4-FFF2-40B4-BE49-F238E27FC236}">
                <a16:creationId xmlns:a16="http://schemas.microsoft.com/office/drawing/2014/main" id="{27DAD551-81D3-4CFB-B3F1-31BE9863C778}"/>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Spline</a:t>
            </a:r>
          </a:p>
        </p:txBody>
      </p:sp>
      <p:cxnSp>
        <p:nvCxnSpPr>
          <p:cNvPr id="5" name="Straight Connector 4">
            <a:extLst>
              <a:ext uri="{FF2B5EF4-FFF2-40B4-BE49-F238E27FC236}">
                <a16:creationId xmlns:a16="http://schemas.microsoft.com/office/drawing/2014/main" id="{7F8984F8-F734-4200-8CD7-D72F2A635CF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descr="Spline example">
            <a:extLst>
              <a:ext uri="{FF2B5EF4-FFF2-40B4-BE49-F238E27FC236}">
                <a16:creationId xmlns:a16="http://schemas.microsoft.com/office/drawing/2014/main" id="{C4D8A1A1-8CC9-40B2-A227-28F851FA8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549" y="1523287"/>
            <a:ext cx="3318692" cy="24890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8B45FE0-A529-4946-B39B-DDC9218D2B05}"/>
              </a:ext>
            </a:extLst>
          </p:cNvPr>
          <p:cNvSpPr txBox="1"/>
          <p:nvPr/>
        </p:nvSpPr>
        <p:spPr>
          <a:xfrm>
            <a:off x="4010298" y="4877752"/>
            <a:ext cx="4219302" cy="246221"/>
          </a:xfrm>
          <a:prstGeom prst="rect">
            <a:avLst/>
          </a:prstGeom>
          <a:noFill/>
        </p:spPr>
        <p:txBody>
          <a:bodyPr wrap="square">
            <a:spAutoFit/>
          </a:bodyPr>
          <a:lstStyle/>
          <a:p>
            <a:r>
              <a:rPr lang="en-US" sz="1000" dirty="0">
                <a:solidFill>
                  <a:srgbClr val="7030A0"/>
                </a:solidFill>
              </a:rPr>
              <a:t>https://blogs.sas.com/content/iml/2020/05/11/cubic-interpolation-sas.html</a:t>
            </a:r>
          </a:p>
        </p:txBody>
      </p:sp>
      <p:sp>
        <p:nvSpPr>
          <p:cNvPr id="2" name="Slide Number Placeholder 1">
            <a:extLst>
              <a:ext uri="{FF2B5EF4-FFF2-40B4-BE49-F238E27FC236}">
                <a16:creationId xmlns:a16="http://schemas.microsoft.com/office/drawing/2014/main" id="{22B0E63F-48F0-49FC-84A5-1787B6943CD0}"/>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394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DAD551-81D3-4CFB-B3F1-31BE9863C778}"/>
              </a:ext>
            </a:extLst>
          </p:cNvPr>
          <p:cNvSpPr txBox="1">
            <a:spLocks/>
          </p:cNvSpPr>
          <p:nvPr/>
        </p:nvSpPr>
        <p:spPr>
          <a:xfrm>
            <a:off x="0" y="207249"/>
            <a:ext cx="6562526" cy="716924"/>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dirty="0">
                <a:solidFill>
                  <a:srgbClr val="7030A0"/>
                </a:solidFill>
              </a:rPr>
              <a:t>Spline</a:t>
            </a:r>
          </a:p>
        </p:txBody>
      </p:sp>
      <p:cxnSp>
        <p:nvCxnSpPr>
          <p:cNvPr id="5" name="Straight Connector 4">
            <a:extLst>
              <a:ext uri="{FF2B5EF4-FFF2-40B4-BE49-F238E27FC236}">
                <a16:creationId xmlns:a16="http://schemas.microsoft.com/office/drawing/2014/main" id="{7F8984F8-F734-4200-8CD7-D72F2A635CF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22B0E63F-48F0-49FC-84A5-1787B6943CD0}"/>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10" name="Picture 9" descr="Diagram&#10;&#10;Description automatically generated">
            <a:extLst>
              <a:ext uri="{FF2B5EF4-FFF2-40B4-BE49-F238E27FC236}">
                <a16:creationId xmlns:a16="http://schemas.microsoft.com/office/drawing/2014/main" id="{E45FE6AC-1D4E-4E76-9CEF-30F4F7832ECD}"/>
              </a:ext>
            </a:extLst>
          </p:cNvPr>
          <p:cNvPicPr>
            <a:picLocks noChangeAspect="1"/>
          </p:cNvPicPr>
          <p:nvPr/>
        </p:nvPicPr>
        <p:blipFill>
          <a:blip r:embed="rId3"/>
          <a:stretch>
            <a:fillRect/>
          </a:stretch>
        </p:blipFill>
        <p:spPr>
          <a:xfrm>
            <a:off x="2705100" y="1010443"/>
            <a:ext cx="3168648" cy="4030664"/>
          </a:xfrm>
          <a:prstGeom prst="rect">
            <a:avLst/>
          </a:prstGeom>
        </p:spPr>
      </p:pic>
      <p:sp>
        <p:nvSpPr>
          <p:cNvPr id="12" name="TextBox 11">
            <a:extLst>
              <a:ext uri="{FF2B5EF4-FFF2-40B4-BE49-F238E27FC236}">
                <a16:creationId xmlns:a16="http://schemas.microsoft.com/office/drawing/2014/main" id="{7EF5FECA-C30E-4252-A7BE-81E4D7483E05}"/>
              </a:ext>
            </a:extLst>
          </p:cNvPr>
          <p:cNvSpPr txBox="1"/>
          <p:nvPr/>
        </p:nvSpPr>
        <p:spPr>
          <a:xfrm>
            <a:off x="6359743" y="4767263"/>
            <a:ext cx="996514"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134764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1FBB7-4D34-C5BA-7F9E-1F5D72FB6B29}"/>
              </a:ext>
            </a:extLst>
          </p:cNvPr>
          <p:cNvSpPr>
            <a:spLocks noGrp="1"/>
          </p:cNvSpPr>
          <p:nvPr>
            <p:ph type="title"/>
          </p:nvPr>
        </p:nvSpPr>
        <p:spPr/>
        <p:txBody>
          <a:bodyPr/>
          <a:lstStyle/>
          <a:p>
            <a:r>
              <a:rPr lang="en-US" altLang="zh-CN" dirty="0"/>
              <a:t>Spline Interactive Tool</a:t>
            </a:r>
            <a:endParaRPr lang="zh-CN" altLang="en-US" dirty="0"/>
          </a:p>
        </p:txBody>
      </p:sp>
      <p:pic>
        <p:nvPicPr>
          <p:cNvPr id="8" name="Content Placeholder 7">
            <a:extLst>
              <a:ext uri="{FF2B5EF4-FFF2-40B4-BE49-F238E27FC236}">
                <a16:creationId xmlns:a16="http://schemas.microsoft.com/office/drawing/2014/main" id="{33E024A1-5A0E-644E-19CE-61A171373FF6}"/>
              </a:ext>
            </a:extLst>
          </p:cNvPr>
          <p:cNvPicPr>
            <a:picLocks noGrp="1" noChangeAspect="1"/>
          </p:cNvPicPr>
          <p:nvPr>
            <p:ph idx="1"/>
          </p:nvPr>
        </p:nvPicPr>
        <p:blipFill>
          <a:blip r:embed="rId2"/>
          <a:stretch>
            <a:fillRect/>
          </a:stretch>
        </p:blipFill>
        <p:spPr>
          <a:xfrm>
            <a:off x="1158106" y="1162707"/>
            <a:ext cx="5913388" cy="3394075"/>
          </a:xfrm>
          <a:prstGeom prst="rect">
            <a:avLst/>
          </a:prstGeom>
        </p:spPr>
      </p:pic>
      <p:sp>
        <p:nvSpPr>
          <p:cNvPr id="4" name="Slide Number Placeholder 3">
            <a:extLst>
              <a:ext uri="{FF2B5EF4-FFF2-40B4-BE49-F238E27FC236}">
                <a16:creationId xmlns:a16="http://schemas.microsoft.com/office/drawing/2014/main" id="{45186433-F024-BAD0-68C0-F498B9A2200C}"/>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3901754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D5545-448C-1A0B-FE3D-7CED20FBEA16}"/>
              </a:ext>
            </a:extLst>
          </p:cNvPr>
          <p:cNvSpPr>
            <a:spLocks noGrp="1"/>
          </p:cNvSpPr>
          <p:nvPr>
            <p:ph idx="1"/>
          </p:nvPr>
        </p:nvSpPr>
        <p:spPr>
          <a:xfrm>
            <a:off x="411480" y="664123"/>
            <a:ext cx="7406640" cy="3394472"/>
          </a:xfrm>
        </p:spPr>
        <p:txBody>
          <a:bodyPr>
            <a:normAutofit fontScale="92500" lnSpcReduction="20000"/>
          </a:bodyPr>
          <a:lstStyle/>
          <a:p>
            <a:pPr marL="0" indent="0">
              <a:buNone/>
            </a:pPr>
            <a:r>
              <a:rPr lang="en-US" altLang="zh-CN" dirty="0"/>
              <a:t>Imagine there are only </a:t>
            </a:r>
            <a:r>
              <a:rPr lang="en-US" altLang="zh-CN" b="1" dirty="0"/>
              <a:t>10 weather stations</a:t>
            </a:r>
            <a:r>
              <a:rPr lang="en-US" altLang="zh-CN" dirty="0"/>
              <a:t> in the state.</a:t>
            </a:r>
          </a:p>
          <a:p>
            <a:pPr marL="0" indent="0">
              <a:buNone/>
            </a:pPr>
            <a:endParaRPr lang="en-US" altLang="zh-CN" dirty="0"/>
          </a:p>
          <a:p>
            <a:pPr marL="0" indent="0">
              <a:buNone/>
            </a:pPr>
            <a:r>
              <a:rPr lang="en-US" altLang="zh-CN" dirty="0"/>
              <a:t>How do weather apps estimate the temperature at your exact location?</a:t>
            </a:r>
          </a:p>
          <a:p>
            <a:pPr marL="0" indent="0">
              <a:buNone/>
            </a:pPr>
            <a:endParaRPr lang="en-US" altLang="zh-CN" dirty="0"/>
          </a:p>
          <a:p>
            <a:pPr marL="360045" lvl="1" indent="0">
              <a:buNone/>
            </a:pPr>
            <a:r>
              <a:rPr lang="en-US" altLang="zh-CN" dirty="0"/>
              <a:t>A. They measure temperature everywhere</a:t>
            </a:r>
            <a:br>
              <a:rPr lang="en-US" altLang="zh-CN" dirty="0"/>
            </a:br>
            <a:r>
              <a:rPr lang="en-US" altLang="zh-CN" dirty="0"/>
              <a:t>B. They estimate based on nearby stations</a:t>
            </a:r>
            <a:br>
              <a:rPr lang="en-US" altLang="zh-CN" dirty="0"/>
            </a:br>
            <a:r>
              <a:rPr lang="en-US" altLang="zh-CN" dirty="0"/>
              <a:t>C. They randomly generate numbers</a:t>
            </a:r>
          </a:p>
          <a:p>
            <a:endParaRPr lang="zh-CN" altLang="en-US" dirty="0"/>
          </a:p>
        </p:txBody>
      </p:sp>
      <p:sp>
        <p:nvSpPr>
          <p:cNvPr id="4" name="Slide Number Placeholder 3">
            <a:extLst>
              <a:ext uri="{FF2B5EF4-FFF2-40B4-BE49-F238E27FC236}">
                <a16:creationId xmlns:a16="http://schemas.microsoft.com/office/drawing/2014/main" id="{8255AB2D-1804-389F-6A64-8D289FE8BCB5}"/>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005695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482D23-38C6-41D1-98A8-54EDD203436F}"/>
              </a:ext>
            </a:extLst>
          </p:cNvPr>
          <p:cNvSpPr>
            <a:spLocks noGrp="1"/>
          </p:cNvSpPr>
          <p:nvPr>
            <p:ph idx="1"/>
          </p:nvPr>
        </p:nvSpPr>
        <p:spPr/>
        <p:txBody>
          <a:bodyPr>
            <a:normAutofit fontScale="92500"/>
          </a:bodyPr>
          <a:lstStyle/>
          <a:p>
            <a:r>
              <a:rPr lang="en-US" altLang="zh-CN" dirty="0"/>
              <a:t>Which concept explains why nearby locations tend to have similar environmental values?</a:t>
            </a:r>
          </a:p>
          <a:p>
            <a:r>
              <a:rPr lang="en-US" altLang="zh-CN" dirty="0"/>
              <a:t>Expected answer:</a:t>
            </a:r>
          </a:p>
          <a:p>
            <a:r>
              <a:rPr lang="en-US" altLang="zh-CN" b="1" dirty="0"/>
              <a:t>Tobler’s First Law of Geography</a:t>
            </a:r>
            <a:endParaRPr lang="en-US" altLang="zh-CN" dirty="0"/>
          </a:p>
          <a:p>
            <a:r>
              <a:rPr lang="en-US" altLang="zh-CN" dirty="0"/>
              <a:t>“Everything is related to everything else, but near things are more related than distant things.”</a:t>
            </a:r>
          </a:p>
          <a:p>
            <a:r>
              <a:rPr lang="zh-CN" altLang="en-US" dirty="0"/>
              <a:t> </a:t>
            </a:r>
          </a:p>
        </p:txBody>
      </p:sp>
      <p:sp>
        <p:nvSpPr>
          <p:cNvPr id="4" name="Slide Number Placeholder 3">
            <a:extLst>
              <a:ext uri="{FF2B5EF4-FFF2-40B4-BE49-F238E27FC236}">
                <a16:creationId xmlns:a16="http://schemas.microsoft.com/office/drawing/2014/main" id="{468988C4-86ED-91EC-7CB6-29F591B1CD67}"/>
              </a:ext>
            </a:extLst>
          </p:cNvPr>
          <p:cNvSpPr>
            <a:spLocks noGrp="1"/>
          </p:cNvSpPr>
          <p:nvPr>
            <p:ph type="sldNum" sz="quarter" idx="12"/>
          </p:nvPr>
        </p:nvSpPr>
        <p:spPr/>
        <p:txBody>
          <a:bodyPr/>
          <a:lstStyle/>
          <a:p>
            <a:fld id="{127DDC20-79C9-9647-820E-6D40A3D210C3}" type="slidenum">
              <a:rPr lang="en-US" smtClean="0"/>
              <a:pPr/>
              <a:t>21</a:t>
            </a:fld>
            <a:endParaRPr lang="en-US"/>
          </a:p>
        </p:txBody>
      </p:sp>
    </p:spTree>
    <p:extLst>
      <p:ext uri="{BB962C8B-B14F-4D97-AF65-F5344CB8AC3E}">
        <p14:creationId xmlns:p14="http://schemas.microsoft.com/office/powerpoint/2010/main" val="4201409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1773485" y="2140353"/>
            <a:ext cx="5063414" cy="862793"/>
          </a:xfrm>
        </p:spPr>
        <p:txBody>
          <a:bodyPr>
            <a:normAutofit/>
          </a:bodyPr>
          <a:lstStyle/>
          <a:p>
            <a:pPr algn="ctr"/>
            <a:r>
              <a:rPr lang="en-US"/>
              <a:t>Density map</a:t>
            </a:r>
            <a:endParaRPr lang="en-US" dirty="0"/>
          </a:p>
        </p:txBody>
      </p:sp>
      <p:sp>
        <p:nvSpPr>
          <p:cNvPr id="2" name="Slide Number Placeholder 1">
            <a:extLst>
              <a:ext uri="{FF2B5EF4-FFF2-40B4-BE49-F238E27FC236}">
                <a16:creationId xmlns:a16="http://schemas.microsoft.com/office/drawing/2014/main" id="{39B9687A-C581-47D1-AADE-81B494AC5C1B}"/>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extLst>
      <p:ext uri="{BB962C8B-B14F-4D97-AF65-F5344CB8AC3E}">
        <p14:creationId xmlns:p14="http://schemas.microsoft.com/office/powerpoint/2010/main" val="202677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76200" y="1270831"/>
            <a:ext cx="4416321" cy="3571697"/>
          </a:xfrm>
        </p:spPr>
        <p:txBody>
          <a:bodyPr>
            <a:normAutofit fontScale="85000" lnSpcReduction="10000"/>
          </a:bodyPr>
          <a:lstStyle/>
          <a:p>
            <a:pPr>
              <a:buFont typeface="Courier New" panose="02070309020205020404" pitchFamily="49" charset="0"/>
              <a:buChar char="o"/>
            </a:pPr>
            <a:r>
              <a:rPr lang="en-US" dirty="0"/>
              <a:t>Calculates the magnitude per unit area for point or line features that fall within a neighborhood around each cell</a:t>
            </a:r>
          </a:p>
          <a:p>
            <a:pPr>
              <a:buFont typeface="Courier New" panose="02070309020205020404" pitchFamily="49" charset="0"/>
              <a:buChar char="o"/>
            </a:pPr>
            <a:r>
              <a:rPr lang="en-US" dirty="0"/>
              <a:t>Line length/area</a:t>
            </a:r>
          </a:p>
          <a:p>
            <a:pPr>
              <a:buFont typeface="Courier New" panose="02070309020205020404" pitchFamily="49" charset="0"/>
              <a:buChar char="o"/>
            </a:pPr>
            <a:r>
              <a:rPr lang="en-US" dirty="0"/>
              <a:t>Number of points/area</a:t>
            </a:r>
          </a:p>
          <a:p>
            <a:pPr>
              <a:buFont typeface="Courier New" panose="02070309020205020404" pitchFamily="49" charset="0"/>
              <a:buChar char="o"/>
            </a:pPr>
            <a:r>
              <a:rPr lang="en-US" dirty="0"/>
              <a:t>Can incorporate weights</a:t>
            </a:r>
          </a:p>
          <a:p>
            <a:pPr>
              <a:buFont typeface="Courier New" panose="02070309020205020404" pitchFamily="49" charset="0"/>
              <a:buChar char="o"/>
            </a:pPr>
            <a:r>
              <a:rPr lang="en-US" dirty="0"/>
              <a:t>Must specify neighborhood shape and size</a:t>
            </a:r>
          </a:p>
        </p:txBody>
      </p:sp>
      <p:pic>
        <p:nvPicPr>
          <p:cNvPr id="2" name="Picture 1" descr="Image showing point density"/>
          <p:cNvPicPr>
            <a:picLocks noChangeAspect="1"/>
          </p:cNvPicPr>
          <p:nvPr/>
        </p:nvPicPr>
        <p:blipFill>
          <a:blip r:embed="rId4">
            <a:clrChange>
              <a:clrFrom>
                <a:srgbClr val="FFFFFF"/>
              </a:clrFrom>
              <a:clrTo>
                <a:srgbClr val="FFFFFF">
                  <a:alpha val="0"/>
                </a:srgbClr>
              </a:clrTo>
            </a:clrChange>
          </a:blip>
          <a:stretch>
            <a:fillRect/>
          </a:stretch>
        </p:blipFill>
        <p:spPr>
          <a:xfrm>
            <a:off x="4526388" y="1645679"/>
            <a:ext cx="3413221" cy="2530618"/>
          </a:xfrm>
          <a:prstGeom prst="rect">
            <a:avLst/>
          </a:prstGeom>
        </p:spPr>
      </p:pic>
      <p:cxnSp>
        <p:nvCxnSpPr>
          <p:cNvPr id="6" name="Straight Connector 5">
            <a:extLst>
              <a:ext uri="{FF2B5EF4-FFF2-40B4-BE49-F238E27FC236}">
                <a16:creationId xmlns:a16="http://schemas.microsoft.com/office/drawing/2014/main" id="{EC32DE7A-6065-42D5-B4DF-292FB678F587}"/>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8EF89F4-54D1-4570-A08C-C704E50F2DB3}"/>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Point Density/ Line Density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B2859021-020C-4941-861A-9F64033F5963}"/>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98766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62FE4-72A6-FCB7-1810-AAE36BCB53FA}"/>
              </a:ext>
            </a:extLst>
          </p:cNvPr>
          <p:cNvSpPr>
            <a:spLocks noGrp="1"/>
          </p:cNvSpPr>
          <p:nvPr>
            <p:ph type="title"/>
          </p:nvPr>
        </p:nvSpPr>
        <p:spPr/>
        <p:txBody>
          <a:bodyPr/>
          <a:lstStyle/>
          <a:p>
            <a:r>
              <a:rPr lang="en-US" altLang="zh-CN" dirty="0"/>
              <a:t>Point Density</a:t>
            </a:r>
            <a:endParaRPr lang="zh-CN" altLang="en-US" dirty="0"/>
          </a:p>
        </p:txBody>
      </p:sp>
      <p:pic>
        <p:nvPicPr>
          <p:cNvPr id="6" name="Content Placeholder 5">
            <a:extLst>
              <a:ext uri="{FF2B5EF4-FFF2-40B4-BE49-F238E27FC236}">
                <a16:creationId xmlns:a16="http://schemas.microsoft.com/office/drawing/2014/main" id="{2EB7A715-A8CA-6F32-7FAF-B1905DCE7C2A}"/>
              </a:ext>
            </a:extLst>
          </p:cNvPr>
          <p:cNvPicPr>
            <a:picLocks noGrp="1" noChangeAspect="1"/>
          </p:cNvPicPr>
          <p:nvPr>
            <p:ph idx="1"/>
          </p:nvPr>
        </p:nvPicPr>
        <p:blipFill>
          <a:blip r:embed="rId2"/>
          <a:stretch>
            <a:fillRect/>
          </a:stretch>
        </p:blipFill>
        <p:spPr>
          <a:xfrm>
            <a:off x="915284" y="1459576"/>
            <a:ext cx="6257143" cy="2733333"/>
          </a:xfrm>
          <a:prstGeom prst="rect">
            <a:avLst/>
          </a:prstGeom>
        </p:spPr>
      </p:pic>
      <p:sp>
        <p:nvSpPr>
          <p:cNvPr id="4" name="Slide Number Placeholder 3">
            <a:extLst>
              <a:ext uri="{FF2B5EF4-FFF2-40B4-BE49-F238E27FC236}">
                <a16:creationId xmlns:a16="http://schemas.microsoft.com/office/drawing/2014/main" id="{3F790B3A-CAFC-4D94-610B-9C8DBE5BC7DB}"/>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64536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76200" y="1078717"/>
            <a:ext cx="5164325" cy="1811410"/>
          </a:xfrm>
        </p:spPr>
        <p:txBody>
          <a:bodyPr/>
          <a:lstStyle/>
          <a:p>
            <a:pPr>
              <a:buFont typeface="Courier New" panose="02070309020205020404" pitchFamily="49" charset="0"/>
              <a:buChar char="o"/>
            </a:pPr>
            <a:r>
              <a:rPr lang="en-US" dirty="0"/>
              <a:t>Fits a kernel function to estimate density</a:t>
            </a:r>
          </a:p>
        </p:txBody>
      </p:sp>
      <p:pic>
        <p:nvPicPr>
          <p:cNvPr id="4" name="Picture 3" descr="Image showing kernel density result"/>
          <p:cNvPicPr>
            <a:picLocks noChangeAspect="1"/>
          </p:cNvPicPr>
          <p:nvPr/>
        </p:nvPicPr>
        <p:blipFill>
          <a:blip r:embed="rId4">
            <a:clrChange>
              <a:clrFrom>
                <a:srgbClr val="FFFFFF"/>
              </a:clrFrom>
              <a:clrTo>
                <a:srgbClr val="FFFFFF">
                  <a:alpha val="0"/>
                </a:srgbClr>
              </a:clrTo>
            </a:clrChange>
          </a:blip>
          <a:stretch>
            <a:fillRect/>
          </a:stretch>
        </p:blipFill>
        <p:spPr>
          <a:xfrm>
            <a:off x="4680732" y="1077037"/>
            <a:ext cx="3228969" cy="2315178"/>
          </a:xfrm>
          <a:prstGeom prst="rect">
            <a:avLst/>
          </a:prstGeom>
        </p:spPr>
      </p:pic>
      <p:pic>
        <p:nvPicPr>
          <p:cNvPr id="7" name="Picture 6" descr="image showing kernel "/>
          <p:cNvPicPr/>
          <p:nvPr/>
        </p:nvPicPr>
        <p:blipFill>
          <a:blip r:embed="rId5"/>
          <a:stretch>
            <a:fillRect/>
          </a:stretch>
        </p:blipFill>
        <p:spPr>
          <a:xfrm>
            <a:off x="330262" y="2396325"/>
            <a:ext cx="4012975" cy="2008202"/>
          </a:xfrm>
          <a:prstGeom prst="rect">
            <a:avLst/>
          </a:prstGeom>
        </p:spPr>
      </p:pic>
      <p:cxnSp>
        <p:nvCxnSpPr>
          <p:cNvPr id="8" name="Straight Connector 7">
            <a:extLst>
              <a:ext uri="{FF2B5EF4-FFF2-40B4-BE49-F238E27FC236}">
                <a16:creationId xmlns:a16="http://schemas.microsoft.com/office/drawing/2014/main" id="{E87B82CD-6CEB-4FF4-B145-4F49D29A712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AE1B8FF2-D84D-4306-8BD4-7DF21893A077}"/>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Kernel Density</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B6E62AE7-7D3D-4FE6-8D05-F27C0F76CB9D}"/>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10" name="Picture 9" descr="Kernel equation">
            <a:extLst>
              <a:ext uri="{FF2B5EF4-FFF2-40B4-BE49-F238E27FC236}">
                <a16:creationId xmlns:a16="http://schemas.microsoft.com/office/drawing/2014/main" id="{29B3543E-EB10-4FBC-A34C-F65D7FA8D341}"/>
              </a:ext>
            </a:extLst>
          </p:cNvPr>
          <p:cNvPicPr>
            <a:picLocks noChangeAspect="1"/>
          </p:cNvPicPr>
          <p:nvPr/>
        </p:nvPicPr>
        <p:blipFill>
          <a:blip r:embed="rId6"/>
          <a:stretch>
            <a:fillRect/>
          </a:stretch>
        </p:blipFill>
        <p:spPr>
          <a:xfrm>
            <a:off x="4680732" y="3482495"/>
            <a:ext cx="2713440" cy="1421690"/>
          </a:xfrm>
          <a:prstGeom prst="rect">
            <a:avLst/>
          </a:prstGeom>
        </p:spPr>
      </p:pic>
    </p:spTree>
    <p:extLst>
      <p:ext uri="{BB962C8B-B14F-4D97-AF65-F5344CB8AC3E}">
        <p14:creationId xmlns:p14="http://schemas.microsoft.com/office/powerpoint/2010/main" val="213494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09405" y="1731477"/>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42393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DB37579F-E818-4B8A-A43A-64718BA3AAE6}&quot;/&gt;&lt;isInvalidForFieldText val=&quot;0&quot;/&gt;&lt;Image&gt;&lt;filename val=&quot;C:\Users\amaxwel6\AppData\Local\Temp\CP8644187751046Session\CPTrustFolder8644187751046\PPTImport8644187799296\data\asimages\{DB37579F-E818-4B8A-A43A-64718BA3AAE6}_61.png&quot;/&gt;&lt;left val=&quot;133&quot;/&gt;&lt;top val=&quot;199&quot;/&gt;&lt;width val=&quot;987&quot;/&gt;&lt;height val=&quot;311&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39&quot;/&gt;&lt;lineCharCount val=&quot;44&quot;/&gt;&lt;lineCharCount val=&quot;32&quot;/&gt;&lt;lineCharCount val=&quot;17&quot;/&gt;&lt;lineCharCount val=&quot;22&quot;/&gt;&lt;lineCharCount val=&quot;24&quot;/&gt;&lt;lineCharCount val=&quot;36&quot;/&gt;&lt;lineCharCount val=&quot;4&quot;/&gt;&lt;/TableIndex&gt;&lt;/ShapeTextInfo&gt;"/>
  <p:tag name="HTML_SHAPEINFO" val="&lt;ThreeDShapeInfo&gt;&lt;uuid val=&quot;{786D3F8D-D96F-4F74-AE01-3A2B8244EDCE}&quot;/&gt;&lt;isInvalidForFieldText val=&quot;0&quot;/&gt;&lt;Image&gt;&lt;filename val=&quot;C:\Users\amaxwel6\AppData\Local\Temp\CP8644187751046Session\CPTrustFolder8644187751046\PPTImport8644187799296\data\asimages\{786D3F8D-D96F-4F74-AE01-3A2B8244EDCE}_62.png&quot;/&gt;&lt;left val=&quot;54&quot;/&gt;&lt;top val=&quot;190&quot;/&gt;&lt;width val=&quot;588&quot;/&gt;&lt;height val=&quot;457&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HTML_SHAPEINFO" val="&lt;ThreeDShapeInfo&gt;&lt;uuid val=&quot;{E246B4AA-4D6B-4943-920D-53A7C851C0AB}&quot;/&gt;&lt;isInvalidForFieldText val=&quot;0&quot;/&gt;&lt;Image&gt;&lt;filename val=&quot;C:\Users\amaxwel6\AppData\Local\Temp\CP8644187751046Session\CPTrustFolder8644187751046\PPTImport8644187799296\data\asimages\{E246B4AA-4D6B-4943-920D-53A7C851C0AB}_63.png&quot;/&gt;&lt;left val=&quot;149&quot;/&gt;&lt;top val=&quot;190&quot;/&gt;&lt;width val=&quot;971&quot;/&gt;&lt;height val=&quot;457&quot;/&gt;&lt;hasText val=&quot;1&quot;/&gt;&lt;/Image&gt;&lt;/ThreeDShapeInfo&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10183</TotalTime>
  <Words>1699</Words>
  <Application>Microsoft Office PowerPoint</Application>
  <PresentationFormat>Custom</PresentationFormat>
  <Paragraphs>187</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Courier New</vt:lpstr>
      <vt:lpstr>Wingdings</vt:lpstr>
      <vt:lpstr>Office Theme</vt:lpstr>
      <vt:lpstr>GEOG 3403: Geographic Information Systems II</vt:lpstr>
      <vt:lpstr>Spatial Interpolation Methods</vt:lpstr>
      <vt:lpstr>Why Do We Need Spatial Interpolation?</vt:lpstr>
      <vt:lpstr>Weather Data Represented as weather station and Continuous Surface</vt:lpstr>
      <vt:lpstr>Weather Data</vt:lpstr>
      <vt:lpstr>PowerPoint Presentation</vt:lpstr>
      <vt:lpstr>PowerPoint Presentation</vt:lpstr>
      <vt:lpstr>PowerPoint Presentation</vt:lpstr>
      <vt:lpstr>Interactive Thiessen Polygon Generator</vt:lpstr>
      <vt:lpstr>PowerPoint Presentation</vt:lpstr>
      <vt:lpstr>Influence of fixed distance on interpolation</vt:lpstr>
      <vt:lpstr>Interactive tool on Fixed Radius Interpolation Practice</vt:lpstr>
      <vt:lpstr>PowerPoint Presentation</vt:lpstr>
      <vt:lpstr>PowerPoint Presentation</vt:lpstr>
      <vt:lpstr>PowerPoint Presentation</vt:lpstr>
      <vt:lpstr>IDW Interactive Tool</vt:lpstr>
      <vt:lpstr>PowerPoint Presentation</vt:lpstr>
      <vt:lpstr>PowerPoint Presentation</vt:lpstr>
      <vt:lpstr>Spline Interactive Tool</vt:lpstr>
      <vt:lpstr>PowerPoint Presentation</vt:lpstr>
      <vt:lpstr>PowerPoint Presentation</vt:lpstr>
      <vt:lpstr>Density map</vt:lpstr>
      <vt:lpstr>PowerPoint Presentation</vt:lpstr>
      <vt:lpstr>Point Density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Wu, Yanan</cp:lastModifiedBy>
  <cp:revision>690</cp:revision>
  <cp:lastPrinted>2020-03-26T12:59:04Z</cp:lastPrinted>
  <dcterms:created xsi:type="dcterms:W3CDTF">2020-03-24T14:51:54Z</dcterms:created>
  <dcterms:modified xsi:type="dcterms:W3CDTF">2026-03-10T04:57:49Z</dcterms:modified>
</cp:coreProperties>
</file>