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4" r:id="rId3"/>
    <p:sldMasterId id="2147483697" r:id="rId4"/>
    <p:sldMasterId id="2147483709" r:id="rId5"/>
    <p:sldMasterId id="2147483721" r:id="rId6"/>
    <p:sldMasterId id="2147483734" r:id="rId7"/>
    <p:sldMasterId id="2147483746" r:id="rId8"/>
  </p:sldMasterIdLst>
  <p:notesMasterIdLst>
    <p:notesMasterId r:id="rId19"/>
  </p:notesMasterIdLst>
  <p:sldIdLst>
    <p:sldId id="914" r:id="rId9"/>
    <p:sldId id="1647" r:id="rId10"/>
    <p:sldId id="1650" r:id="rId11"/>
    <p:sldId id="1651" r:id="rId12"/>
    <p:sldId id="1652" r:id="rId13"/>
    <p:sldId id="1653" r:id="rId14"/>
    <p:sldId id="1654" r:id="rId15"/>
    <p:sldId id="1655" r:id="rId16"/>
    <p:sldId id="1656" r:id="rId17"/>
    <p:sldId id="164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D8CF87-C02C-4662-9614-19403ECF16D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109449-9318-4CC1-8560-DD31A5DE0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61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4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7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6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8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7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8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10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2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7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4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22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97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39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32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93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90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84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03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1E09BAED-B7FC-4220-8037-60663F890984}" type="datetime1">
              <a:rPr lang="en-US" smtClean="0"/>
              <a:t>2/11/2026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11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86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34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2/11/2026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001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68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05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5390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230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246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505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935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83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16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584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3424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59096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331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406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145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063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610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466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427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187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45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997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504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716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182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2/11/2026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337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497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323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878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738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1E09BAED-B7FC-4220-8037-60663F890984}" type="datetime1">
              <a:rPr lang="en-US" smtClean="0"/>
              <a:t>2/11/2026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888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839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684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2/11/2026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453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6051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737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542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53277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838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737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160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9695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390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658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242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77445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26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590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76596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7327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811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140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077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46067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8392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6825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80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258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45975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311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00569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1442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62879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1562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22003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54650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3240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42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557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58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0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21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13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08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72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78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80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ppeears.earthdatacloud.nasa.gov/task/area" TargetMode="External"/><Relationship Id="rId1" Type="http://schemas.openxmlformats.org/officeDocument/2006/relationships/slideLayout" Target="../slideLayouts/slideLayout8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epal.io/" TargetMode="External"/><Relationship Id="rId1" Type="http://schemas.openxmlformats.org/officeDocument/2006/relationships/slideLayout" Target="../slideLayouts/slideLayout8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earthdata.nasa.gov/data/tools" TargetMode="External"/><Relationship Id="rId1" Type="http://schemas.openxmlformats.org/officeDocument/2006/relationships/slideLayout" Target="../slideLayouts/slideLayout81.xml"/><Relationship Id="rId4" Type="http://schemas.openxmlformats.org/officeDocument/2006/relationships/hyperlink" Target="https://www.earthdata.nasa.gov/data/tools/which-data-tool-right-for-you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nasa.gov/learning-resources/internship-programs/" TargetMode="External"/><Relationship Id="rId1" Type="http://schemas.openxmlformats.org/officeDocument/2006/relationships/slideLayout" Target="../slideLayouts/slideLayout8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857251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5" y="857250"/>
            <a:ext cx="9143986" cy="51434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545" y="1200150"/>
            <a:ext cx="3758184" cy="6858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6687" y="1308148"/>
            <a:ext cx="3757041" cy="434202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46" y="1394351"/>
            <a:ext cx="4301963" cy="2034650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WEEK 06 </a:t>
            </a:r>
            <a:br>
              <a:rPr lang="en-US" sz="3000" dirty="0">
                <a:solidFill>
                  <a:srgbClr val="FFFFFF"/>
                </a:solidFill>
              </a:rPr>
            </a:br>
            <a:r>
              <a:rPr lang="en-US" sz="3111" dirty="0"/>
              <a:t>remote sensing</a:t>
            </a:r>
            <a:br>
              <a:rPr lang="en-US" sz="3000" dirty="0">
                <a:solidFill>
                  <a:srgbClr val="FFFFFF"/>
                </a:solidFill>
              </a:rPr>
            </a:br>
            <a:br>
              <a:rPr lang="en-US" sz="3000" dirty="0">
                <a:solidFill>
                  <a:srgbClr val="FFFFFF"/>
                </a:solidFill>
              </a:rPr>
            </a:br>
            <a:r>
              <a:rPr lang="en-US" sz="30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845" y="3680780"/>
            <a:ext cx="3240171" cy="1708102"/>
          </a:xfrm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10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210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1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2" y="3171574"/>
            <a:ext cx="847419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222" y="1229971"/>
            <a:ext cx="829623" cy="43948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4643" y="1229969"/>
            <a:ext cx="7470786" cy="27585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286" y="1388625"/>
            <a:ext cx="7213936" cy="2497541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z="4500" dirty="0">
                <a:solidFill>
                  <a:srgbClr val="FFFFFF"/>
                </a:solidFill>
              </a:rPr>
              <a:t>6.1 </a:t>
            </a:r>
            <a:br>
              <a:rPr lang="en-US" sz="4500" dirty="0">
                <a:solidFill>
                  <a:srgbClr val="FFFFFF"/>
                </a:solidFill>
              </a:rPr>
            </a:br>
            <a:r>
              <a:rPr lang="en-US" sz="4500" dirty="0">
                <a:solidFill>
                  <a:srgbClr val="FFFFFF"/>
                </a:solidFill>
              </a:rPr>
              <a:t>land cover and land use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4593" y="4070410"/>
            <a:ext cx="7470837" cy="155436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42897">
              <a:defRPr/>
            </a:pPr>
            <a:endParaRPr lang="en-US" sz="135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73D1-1FD5-D67F-5777-A3A49339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602388"/>
          </a:xfrm>
        </p:spPr>
        <p:txBody>
          <a:bodyPr>
            <a:normAutofit/>
          </a:bodyPr>
          <a:lstStyle/>
          <a:p>
            <a:r>
              <a:rPr lang="en-US" sz="2400" dirty="0"/>
              <a:t>Forest Disturbance: Global Forest Watch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62BF-478E-8917-6668-F0ECCA94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561432"/>
            <a:ext cx="8156448" cy="1411224"/>
          </a:xfrm>
        </p:spPr>
        <p:txBody>
          <a:bodyPr>
            <a:noAutofit/>
          </a:bodyPr>
          <a:lstStyle/>
          <a:p>
            <a:r>
              <a:rPr lang="en-US" sz="2000" dirty="0"/>
              <a:t>Identifies areas of tree cover loss from 2001-2017</a:t>
            </a:r>
          </a:p>
          <a:p>
            <a:r>
              <a:rPr lang="en-US" sz="2000" dirty="0"/>
              <a:t>30 m spatial resolution </a:t>
            </a:r>
          </a:p>
          <a:p>
            <a:r>
              <a:rPr lang="en-US" sz="2000" dirty="0"/>
              <a:t>Includes location and amount of disturbance but not cause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ADEBA-C883-8134-B094-C26265378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229542"/>
            <a:ext cx="7315200" cy="353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5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0206-FB17-3212-DE02-5D2FA3C6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523140"/>
          </a:xfrm>
        </p:spPr>
        <p:txBody>
          <a:bodyPr>
            <a:normAutofit/>
          </a:bodyPr>
          <a:lstStyle/>
          <a:p>
            <a:r>
              <a:rPr lang="en-US" sz="2400" dirty="0"/>
              <a:t>Change Detection and Analysis: </a:t>
            </a:r>
            <a:r>
              <a:rPr lang="en-US" sz="2400" dirty="0" err="1"/>
              <a:t>AppEEARS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3F3E8-BC73-5CB5-024A-FB33BF771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6" y="1335025"/>
            <a:ext cx="8272211" cy="2011679"/>
          </a:xfrm>
        </p:spPr>
        <p:txBody>
          <a:bodyPr>
            <a:normAutofit/>
          </a:bodyPr>
          <a:lstStyle/>
          <a:p>
            <a:r>
              <a:rPr lang="en-US" sz="2000" dirty="0"/>
              <a:t>Cloud-based computing using MODIS and other imagery (not Landsat yet)  </a:t>
            </a:r>
          </a:p>
          <a:p>
            <a:r>
              <a:rPr lang="en-US" sz="2000" dirty="0"/>
              <a:t>Time series analysis of user-specified points or areas </a:t>
            </a:r>
          </a:p>
          <a:p>
            <a:r>
              <a:rPr lang="en-US" sz="2000" dirty="0"/>
              <a:t>Outputs include time series data in csv format for easy analysis </a:t>
            </a:r>
          </a:p>
          <a:p>
            <a:r>
              <a:rPr lang="en-US" sz="2000" dirty="0"/>
              <a:t>Example: Monitoring changing in C</a:t>
            </a:r>
            <a:r>
              <a:rPr lang="en-US" altLang="zh-CN" sz="2000" dirty="0"/>
              <a:t>onway, Arkansas</a:t>
            </a:r>
            <a:endParaRPr lang="en-US" sz="2000" dirty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E19FAA85-0EAA-CA17-A9A5-E973009F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3270817"/>
            <a:ext cx="6336792" cy="319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36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56CA-29C1-6BFA-F288-61303E32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797460"/>
          </a:xfrm>
        </p:spPr>
        <p:txBody>
          <a:bodyPr/>
          <a:lstStyle/>
          <a:p>
            <a:r>
              <a:rPr lang="en-US" dirty="0"/>
              <a:t>System for Earth Observations, Data Access, Processing, and Analysis for Land Monitoring (SEPAL)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FDF2A-53BD-A78E-B236-FE8C1FD25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91" y="1543405"/>
            <a:ext cx="8272211" cy="1728215"/>
          </a:xfrm>
        </p:spPr>
        <p:txBody>
          <a:bodyPr/>
          <a:lstStyle/>
          <a:p>
            <a:r>
              <a:rPr lang="en-US" dirty="0"/>
              <a:t>Developed by UN Food and Agriculture Organization (FAO), with funding from Norway, to help countries develop National Forest Monitoring Systems</a:t>
            </a:r>
          </a:p>
          <a:p>
            <a:r>
              <a:rPr lang="en-US" dirty="0"/>
              <a:t>Cloud-based computing platform for data access and processing</a:t>
            </a:r>
          </a:p>
          <a:p>
            <a:r>
              <a:rPr lang="en-US" dirty="0"/>
              <a:t>Includes two-date change detection and time series analysis</a:t>
            </a:r>
          </a:p>
          <a:p>
            <a:r>
              <a:rPr lang="en-US" dirty="0">
                <a:hlinkClick r:id="rId2"/>
              </a:rPr>
              <a:t>https://sepal.io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3CC32-22B6-C96B-9718-3090FC00E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3271620"/>
            <a:ext cx="5678424" cy="318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8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FB15-9E82-4710-74B6-F2DE031BB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592428"/>
            <a:ext cx="8272212" cy="52314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Earth explorer</a:t>
            </a:r>
            <a:endParaRPr lang="en-US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6C5993-9510-D056-3594-A0B6AB4FB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297" y="1180275"/>
            <a:ext cx="7256640" cy="39952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8B63F-8CF8-6CE0-D979-10A5D5A29A84}"/>
              </a:ext>
            </a:extLst>
          </p:cNvPr>
          <p:cNvSpPr txBox="1"/>
          <p:nvPr/>
        </p:nvSpPr>
        <p:spPr>
          <a:xfrm>
            <a:off x="548639" y="5308393"/>
            <a:ext cx="81594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Level-2 data are atmospherically corrected and ready to use, making analysis more straightforward </a:t>
            </a:r>
          </a:p>
          <a:p>
            <a:endParaRPr lang="en-US" dirty="0"/>
          </a:p>
          <a:p>
            <a:r>
              <a:rPr lang="en-US" dirty="0"/>
              <a:t>Level-1 data provide the most complete archive but require users to perform their own atmospheric correction.</a:t>
            </a:r>
          </a:p>
        </p:txBody>
      </p:sp>
    </p:spTree>
    <p:extLst>
      <p:ext uri="{BB962C8B-B14F-4D97-AF65-F5344CB8AC3E}">
        <p14:creationId xmlns:p14="http://schemas.microsoft.com/office/powerpoint/2010/main" val="161114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BF855-92A6-C453-56C9-AF02411E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808278"/>
            <a:ext cx="8272212" cy="468276"/>
          </a:xfrm>
        </p:spPr>
        <p:txBody>
          <a:bodyPr/>
          <a:lstStyle/>
          <a:p>
            <a:r>
              <a:rPr lang="en-US" altLang="zh-CN" dirty="0"/>
              <a:t>ESRI LANDSAT EXPLORER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C2D887-3953-8C3D-4315-4ABCC4F2A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056" y="1685258"/>
            <a:ext cx="8123050" cy="403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5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3B51-0D43-AD7A-B30B-6F2B5C84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440844"/>
          </a:xfrm>
        </p:spPr>
        <p:txBody>
          <a:bodyPr/>
          <a:lstStyle/>
          <a:p>
            <a:r>
              <a:rPr lang="en-US" altLang="zh-CN" dirty="0"/>
              <a:t>DATATOOL IN NASA</a:t>
            </a:r>
            <a:endParaRPr lang="zh-CN" altLang="en-US" dirty="0"/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86E9818C-3EC9-DB53-175C-A305F08AA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982" y="1535274"/>
            <a:ext cx="8696035" cy="3787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843532-6B82-AD86-6C9C-F505EF231EF1}"/>
              </a:ext>
            </a:extLst>
          </p:cNvPr>
          <p:cNvSpPr txBox="1"/>
          <p:nvPr/>
        </p:nvSpPr>
        <p:spPr>
          <a:xfrm>
            <a:off x="371887" y="5457182"/>
            <a:ext cx="3264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4"/>
              </a:rPr>
              <a:t>Which data tool is right for you?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897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3A69-B153-6559-9F86-981D380F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56886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hlinkClick r:id="rId2"/>
              </a:rPr>
              <a:t>NASA SUMMER INTERNSHIP</a:t>
            </a:r>
            <a:endParaRPr lang="zh-CN" alt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4A0E3-6255-6D3A-3556-3E1FF8CCD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6" y="1455830"/>
            <a:ext cx="8272211" cy="1444751"/>
          </a:xfrm>
        </p:spPr>
        <p:txBody>
          <a:bodyPr>
            <a:noAutofit/>
          </a:bodyPr>
          <a:lstStyle/>
          <a:p>
            <a:r>
              <a:rPr lang="en-US" altLang="zh-CN" sz="2400" b="1" dirty="0"/>
              <a:t>Deadline</a:t>
            </a:r>
          </a:p>
          <a:p>
            <a:pPr lvl="1"/>
            <a:r>
              <a:rPr lang="en-US" altLang="zh-CN" sz="2400" b="1" dirty="0"/>
              <a:t>Summer 2026:</a:t>
            </a:r>
            <a:r>
              <a:rPr lang="en-US" altLang="zh-CN" sz="2400" dirty="0"/>
              <a:t> Feb. 27, 2026, 11:59 p.m. ET</a:t>
            </a:r>
          </a:p>
          <a:p>
            <a:pPr lvl="1"/>
            <a:r>
              <a:rPr lang="en-US" altLang="zh-CN" sz="2400" b="1" dirty="0"/>
              <a:t>Fall 2026:</a:t>
            </a:r>
            <a:r>
              <a:rPr lang="en-US" altLang="zh-CN" sz="2400" dirty="0"/>
              <a:t> May 22, 2026, 11:59 p.m. ET</a:t>
            </a:r>
            <a:endParaRPr lang="zh-CN" alt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2B2932-2CE2-F8DC-5452-0ECF30DA3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31" y="2987828"/>
            <a:ext cx="5767598" cy="347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5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5FCE-B8FD-2DD9-83FF-8D2AA8AE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2649828"/>
            <a:ext cx="8330184" cy="118872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3173731128"/>
      </p:ext>
    </p:extLst>
  </p:cSld>
  <p:clrMapOvr>
    <a:masterClrMapping/>
  </p:clrMapOvr>
</p:sld>
</file>

<file path=ppt/theme/theme1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4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7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Week04_GEOG2475_Raster_Thr</Template>
  <TotalTime>436</TotalTime>
  <Words>240</Words>
  <Application>Microsoft Office PowerPoint</Application>
  <PresentationFormat>On-screen Show (4:3)</PresentationFormat>
  <Paragraphs>32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Aptos</vt:lpstr>
      <vt:lpstr>Arial Black</vt:lpstr>
      <vt:lpstr>Calibri</vt:lpstr>
      <vt:lpstr>Wingdings 2</vt:lpstr>
      <vt:lpstr>2_DividendVTI</vt:lpstr>
      <vt:lpstr>DividendVTI</vt:lpstr>
      <vt:lpstr>1_DividendVTI</vt:lpstr>
      <vt:lpstr>3_DividendVTI</vt:lpstr>
      <vt:lpstr>4_DividendVTI</vt:lpstr>
      <vt:lpstr>5_DividendVTI</vt:lpstr>
      <vt:lpstr>6_DividendVTI</vt:lpstr>
      <vt:lpstr>7_DividendVTI</vt:lpstr>
      <vt:lpstr>WEEK 06  remote sensing  lecture</vt:lpstr>
      <vt:lpstr>6.1  land cover and land use</vt:lpstr>
      <vt:lpstr>Forest Disturbance: Global Forest Watch </vt:lpstr>
      <vt:lpstr>Change Detection and Analysis: AppEEARS</vt:lpstr>
      <vt:lpstr>System for Earth Observations, Data Access, Processing, and Analysis for Land Monitoring (SEPAL)</vt:lpstr>
      <vt:lpstr>Earth explorer</vt:lpstr>
      <vt:lpstr>ESRI LANDSAT EXPLORER</vt:lpstr>
      <vt:lpstr>DATATOOL IN NASA</vt:lpstr>
      <vt:lpstr>NASA SUMMER INTERNSHIP</vt:lpstr>
      <vt:lpstr>Any question?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ywu1207</dc:creator>
  <cp:keywords/>
  <dc:description>generated using python-pptx</dc:description>
  <cp:lastModifiedBy>Wu, Yanan</cp:lastModifiedBy>
  <cp:revision>33</cp:revision>
  <dcterms:created xsi:type="dcterms:W3CDTF">2013-01-27T09:14:16Z</dcterms:created>
  <dcterms:modified xsi:type="dcterms:W3CDTF">2026-02-12T05:42:45Z</dcterms:modified>
  <cp:category/>
</cp:coreProperties>
</file>