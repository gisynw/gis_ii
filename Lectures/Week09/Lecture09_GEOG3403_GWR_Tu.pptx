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9"/>
  </p:notesMasterIdLst>
  <p:sldIdLst>
    <p:sldId id="602" r:id="rId2"/>
    <p:sldId id="751" r:id="rId3"/>
    <p:sldId id="297" r:id="rId4"/>
    <p:sldId id="286" r:id="rId5"/>
    <p:sldId id="779" r:id="rId6"/>
    <p:sldId id="780" r:id="rId7"/>
    <p:sldId id="783" r:id="rId8"/>
    <p:sldId id="781" r:id="rId9"/>
    <p:sldId id="796" r:id="rId10"/>
    <p:sldId id="792" r:id="rId11"/>
    <p:sldId id="798" r:id="rId12"/>
    <p:sldId id="797" r:id="rId13"/>
    <p:sldId id="330" r:id="rId14"/>
    <p:sldId id="784" r:id="rId15"/>
    <p:sldId id="793" r:id="rId16"/>
    <p:sldId id="799" r:id="rId17"/>
    <p:sldId id="804" r:id="rId18"/>
    <p:sldId id="308" r:id="rId19"/>
    <p:sldId id="338" r:id="rId20"/>
    <p:sldId id="785" r:id="rId21"/>
    <p:sldId id="794" r:id="rId22"/>
    <p:sldId id="800" r:id="rId23"/>
    <p:sldId id="801" r:id="rId24"/>
    <p:sldId id="802" r:id="rId25"/>
    <p:sldId id="803" r:id="rId26"/>
    <p:sldId id="786" r:id="rId27"/>
    <p:sldId id="270" r:id="rId28"/>
  </p:sldIdLst>
  <p:sldSz cx="8229600" cy="51435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50" autoAdjust="0"/>
  </p:normalViewPr>
  <p:slideViewPr>
    <p:cSldViewPr snapToGrid="0" snapToObjects="1">
      <p:cViewPr varScale="1">
        <p:scale>
          <a:sx n="117" d="100"/>
          <a:sy n="117" d="100"/>
        </p:scale>
        <p:origin x="1212" y="102"/>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3/2/2026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4965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will end this module with a brief introduction to regression and geographically weighted regression. </a:t>
            </a:r>
          </a:p>
          <a:p>
            <a:endParaRPr lang="en-US" baseline="0" dirty="0"/>
          </a:p>
          <a:p>
            <a:r>
              <a:rPr lang="en-US" baseline="0" dirty="0"/>
              <a:t>Regression techniques can be used to explore the relationship or correlation between variables and also predict a continuous variable using other variables. </a:t>
            </a:r>
          </a:p>
          <a:p>
            <a:endParaRPr lang="en-US" baseline="0" dirty="0"/>
          </a:p>
          <a:p>
            <a:r>
              <a:rPr lang="en-US" baseline="0" dirty="0"/>
              <a:t>There are forms of regression designed for probabilistic or classification problems, like logistic regression, but we will not discuss those here. </a:t>
            </a:r>
          </a:p>
          <a:p>
            <a:endParaRPr lang="en-US" baseline="0" dirty="0"/>
          </a:p>
          <a:p>
            <a:r>
              <a:rPr lang="en-US" baseline="0" dirty="0"/>
              <a:t>Regression can be used to predict a dependent variable using one or more independent variables.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43984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 to predict the</a:t>
            </a:r>
            <a:r>
              <a:rPr lang="en-US" baseline="0" dirty="0"/>
              <a:t> dependent variable using more than one independent variable. </a:t>
            </a:r>
          </a:p>
          <a:p>
            <a:endParaRPr lang="en-US" baseline="0" dirty="0"/>
          </a:p>
          <a:p>
            <a:r>
              <a:rPr lang="en-US" baseline="0" dirty="0"/>
              <a:t>This is known as multiple regression. </a:t>
            </a:r>
          </a:p>
          <a:p>
            <a:endParaRPr lang="en-US" baseline="0" dirty="0"/>
          </a:p>
          <a:p>
            <a:r>
              <a:rPr lang="en-US" baseline="0" dirty="0"/>
              <a:t>In this case a linear equation will be produced that includes a y-intercept and coefficients for all x variables. </a:t>
            </a:r>
          </a:p>
          <a:p>
            <a:endParaRPr lang="en-US" baseline="0" dirty="0"/>
          </a:p>
          <a:p>
            <a:r>
              <a:rPr lang="en-US" sz="1200" dirty="0"/>
              <a:t>β</a:t>
            </a:r>
            <a:r>
              <a:rPr lang="en-US" sz="1200" baseline="-25000" dirty="0"/>
              <a:t>0 </a:t>
            </a:r>
            <a:r>
              <a:rPr lang="en-US" sz="1200" baseline="0" dirty="0"/>
              <a:t>is the y intercept while </a:t>
            </a:r>
            <a:r>
              <a:rPr lang="en-US" sz="1200" dirty="0"/>
              <a:t>β</a:t>
            </a:r>
            <a:r>
              <a:rPr lang="en-US" sz="1200" baseline="-25000" dirty="0"/>
              <a:t>n </a:t>
            </a:r>
            <a:r>
              <a:rPr lang="en-US" sz="1200" baseline="0" dirty="0"/>
              <a:t>represents the coefficient or slope for the n</a:t>
            </a:r>
            <a:r>
              <a:rPr lang="en-US" sz="1200" baseline="30000" dirty="0"/>
              <a:t>th</a:t>
            </a:r>
            <a:r>
              <a:rPr lang="en-US" sz="1200" baseline="0" dirty="0"/>
              <a:t> x variable.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92611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relationship</a:t>
            </a:r>
            <a:r>
              <a:rPr lang="en-US" baseline="0" dirty="0"/>
              <a:t> between the dependent and independent variables vary over space? Or, what if there is spatial heterogeneity in relationships? In this case, it may not be appropriate to generate one regression equation for all features or the entire mapped extent. </a:t>
            </a:r>
          </a:p>
          <a:p>
            <a:endParaRPr lang="en-US" baseline="0" dirty="0"/>
          </a:p>
          <a:p>
            <a:r>
              <a:rPr lang="en-US" baseline="0" dirty="0"/>
              <a:t>Instead, it might be more appropriate to allow the equation to vary over space to capture the changing relationships. This is the concept of geographically weighted regression or GWR. Note that there are different forms of GWR. </a:t>
            </a:r>
          </a:p>
          <a:p>
            <a:endParaRPr lang="en-US" baseline="0" dirty="0"/>
          </a:p>
          <a:p>
            <a:r>
              <a:rPr lang="en-US" baseline="0" dirty="0"/>
              <a:t>When using GWR, the regression equation will vary across the map space or for each mapped feature. Specifically, different coefficients will be calculated, as demonstrated in the provided table. </a:t>
            </a:r>
          </a:p>
          <a:p>
            <a:endParaRPr lang="en-US" baseline="0" dirty="0"/>
          </a:p>
          <a:p>
            <a:r>
              <a:rPr lang="en-US" baseline="0" dirty="0"/>
              <a:t>This is a powerful technique for improving the suitability of linear regression for making predictions over map space where relationships can vary. </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822902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highlighted</a:t>
            </a:r>
            <a:r>
              <a:rPr lang="en-US" baseline="0" dirty="0"/>
              <a:t> in the provided examples, the coefficients vary over the map space when using GWR as opposed to the same coefficients or a single equation across the map space. </a:t>
            </a:r>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2209740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27</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597820"/>
            <a:ext cx="6995160" cy="1102519"/>
          </a:xfrm>
        </p:spPr>
        <p:txBody>
          <a:bodyPr/>
          <a:lstStyle/>
          <a:p>
            <a:r>
              <a:rPr lang="en-US"/>
              <a:t>Click to edit Master title style</a:t>
            </a:r>
          </a:p>
        </p:txBody>
      </p:sp>
      <p:sp>
        <p:nvSpPr>
          <p:cNvPr id="3" name="Subtitle 2"/>
          <p:cNvSpPr>
            <a:spLocks noGrp="1"/>
          </p:cNvSpPr>
          <p:nvPr>
            <p:ph type="subTitle" idx="1"/>
          </p:nvPr>
        </p:nvSpPr>
        <p:spPr>
          <a:xfrm>
            <a:off x="1234440" y="2914650"/>
            <a:ext cx="576072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30B379-9948-4704-829E-96416ED18FAC}"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4591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C81144-EC15-4DAB-9726-04B41B9F18FB}"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46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82" y="3305176"/>
            <a:ext cx="6995160" cy="1021556"/>
          </a:xfrm>
        </p:spPr>
        <p:txBody>
          <a:bodyPr anchor="t"/>
          <a:lstStyle>
            <a:lvl1pPr algn="l">
              <a:defRPr sz="3600" b="1" cap="all"/>
            </a:lvl1pPr>
          </a:lstStyle>
          <a:p>
            <a:r>
              <a:rPr lang="en-US"/>
              <a:t>Click to edit Master title style</a:t>
            </a:r>
          </a:p>
        </p:txBody>
      </p:sp>
      <p:sp>
        <p:nvSpPr>
          <p:cNvPr id="3" name="Text Placeholder 2"/>
          <p:cNvSpPr>
            <a:spLocks noGrp="1"/>
          </p:cNvSpPr>
          <p:nvPr>
            <p:ph type="body" idx="1"/>
          </p:nvPr>
        </p:nvSpPr>
        <p:spPr>
          <a:xfrm>
            <a:off x="650082" y="2180035"/>
            <a:ext cx="699516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239131-62C9-4B89-A722-55460DF88A4D}"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41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4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833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F8044D-B4ED-4091-A1E9-8C9771548798}"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5204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1480" y="1151335"/>
            <a:ext cx="3636169"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11480" y="1631156"/>
            <a:ext cx="3636169"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80524" y="1151335"/>
            <a:ext cx="363759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180524" y="1631156"/>
            <a:ext cx="363759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ECC301-9208-457A-9254-D5EF94991E67}" type="datetime1">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432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29D4E83-B44F-4E53-A049-35B5BAA3706E}" type="datetime1">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442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F8F4F4-65D1-40EC-BA6E-A6819C22A79F}" type="datetime1">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04835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481" y="204787"/>
            <a:ext cx="2707482" cy="871538"/>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217545" y="204789"/>
            <a:ext cx="4600575"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1481" y="1076327"/>
            <a:ext cx="2707482"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F398486D-9E4D-4DFC-BA37-9058990A0FA8}"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18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3059" y="3600450"/>
            <a:ext cx="4937760" cy="425054"/>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613059" y="459581"/>
            <a:ext cx="493776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613059" y="4025504"/>
            <a:ext cx="493776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E6DD762C-2B66-4409-9963-F3D4A3257E36}"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603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D74048-DB93-488D-B61C-665FD347AFEA}"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91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 y="205979"/>
            <a:ext cx="185166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1480" y="205979"/>
            <a:ext cx="541782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3D397B-B7A7-424C-A57E-E2BA2ACAF7A3}"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459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480" y="205979"/>
            <a:ext cx="740664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11480" y="1200151"/>
            <a:ext cx="740664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1480" y="4767263"/>
            <a:ext cx="1920240" cy="273844"/>
          </a:xfrm>
          <a:prstGeom prst="rect">
            <a:avLst/>
          </a:prstGeom>
        </p:spPr>
        <p:txBody>
          <a:bodyPr vert="horz" lIns="91440" tIns="45720" rIns="91440" bIns="45720" rtlCol="0" anchor="ctr"/>
          <a:lstStyle>
            <a:lvl1pPr algn="l">
              <a:defRPr sz="1080">
                <a:solidFill>
                  <a:schemeClr val="tx1">
                    <a:tint val="75000"/>
                  </a:schemeClr>
                </a:solidFill>
              </a:defRPr>
            </a:lvl1pPr>
          </a:lstStyle>
          <a:p>
            <a:fld id="{D0B1DD65-E0DA-4C40-988A-23E77FAE97AF}" type="datetime1">
              <a:rPr lang="en-US" smtClean="0"/>
              <a:t>3/2/2026</a:t>
            </a:fld>
            <a:endParaRPr lang="en-US"/>
          </a:p>
        </p:txBody>
      </p:sp>
      <p:sp>
        <p:nvSpPr>
          <p:cNvPr id="5" name="Footer Placeholder 4"/>
          <p:cNvSpPr>
            <a:spLocks noGrp="1"/>
          </p:cNvSpPr>
          <p:nvPr>
            <p:ph type="ftr" sz="quarter" idx="3"/>
          </p:nvPr>
        </p:nvSpPr>
        <p:spPr>
          <a:xfrm>
            <a:off x="2811780" y="4767263"/>
            <a:ext cx="2606040" cy="27384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897880" y="4767263"/>
            <a:ext cx="1920240" cy="273844"/>
          </a:xfrm>
          <a:prstGeom prst="rect">
            <a:avLst/>
          </a:prstGeom>
        </p:spPr>
        <p:txBody>
          <a:bodyPr vert="horz" lIns="91440" tIns="45720" rIns="91440" bIns="45720" rtlCol="0" anchor="ctr"/>
          <a:lstStyle>
            <a:lvl1pPr algn="r">
              <a:defRPr sz="1080">
                <a:solidFill>
                  <a:schemeClr val="tx1">
                    <a:tint val="75000"/>
                  </a:schemeClr>
                </a:solidFill>
              </a:defRPr>
            </a:lvl1pPr>
          </a:lstStyle>
          <a:p>
            <a:fld id="{127DDC20-79C9-9647-820E-6D40A3D210C3}" type="slidenum">
              <a:rPr lang="en-US" smtClean="0"/>
              <a:pPr/>
              <a:t>‹#›</a:t>
            </a:fld>
            <a:endParaRPr lang="en-US"/>
          </a:p>
        </p:txBody>
      </p:sp>
    </p:spTree>
    <p:extLst>
      <p:ext uri="{BB962C8B-B14F-4D97-AF65-F5344CB8AC3E}">
        <p14:creationId xmlns:p14="http://schemas.microsoft.com/office/powerpoint/2010/main" val="142839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091" y="158778"/>
            <a:ext cx="8001000" cy="1549772"/>
          </a:xfrm>
        </p:spPr>
        <p:txBody>
          <a:bodyPr>
            <a:normAutofit/>
          </a:bodyPr>
          <a:lstStyle/>
          <a:p>
            <a:r>
              <a:rPr lang="en-US" sz="3600" dirty="0"/>
              <a:t>GEOG 3403: Geographic Information Systems II</a:t>
            </a:r>
          </a:p>
        </p:txBody>
      </p:sp>
      <p:sp>
        <p:nvSpPr>
          <p:cNvPr id="6" name="Subtitle 2"/>
          <p:cNvSpPr txBox="1">
            <a:spLocks/>
          </p:cNvSpPr>
          <p:nvPr/>
        </p:nvSpPr>
        <p:spPr>
          <a:xfrm>
            <a:off x="1257018" y="2967511"/>
            <a:ext cx="5760720" cy="1171497"/>
          </a:xfrm>
          <a:prstGeom prst="rect">
            <a:avLst/>
          </a:prstGeom>
        </p:spPr>
        <p:txBody>
          <a:bodyPr vert="horz" lIns="82296" tIns="41148" rIns="82296" bIns="41148"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8000" dirty="0">
                <a:solidFill>
                  <a:schemeClr val="tx1"/>
                </a:solidFill>
              </a:rPr>
              <a:t>Yanan Wu, PhD</a:t>
            </a:r>
          </a:p>
          <a:p>
            <a:r>
              <a:rPr lang="en-US" sz="8000" dirty="0">
                <a:solidFill>
                  <a:schemeClr val="tx1"/>
                </a:solidFill>
              </a:rPr>
              <a:t>Assistant Professor</a:t>
            </a:r>
          </a:p>
          <a:p>
            <a:r>
              <a:rPr lang="en-US" sz="8000" dirty="0">
                <a:solidFill>
                  <a:schemeClr val="tx1"/>
                </a:solidFill>
              </a:rPr>
              <a:t>Department of Geography</a:t>
            </a:r>
          </a:p>
          <a:p>
            <a:endParaRPr lang="en-US" sz="2880" dirty="0"/>
          </a:p>
        </p:txBody>
      </p:sp>
      <p:cxnSp>
        <p:nvCxnSpPr>
          <p:cNvPr id="15" name="Straight Connector 14"/>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2072922" y="4416072"/>
            <a:ext cx="279753" cy="481132"/>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9C8852E4-0F7F-41A7-9B32-F40B4D3A753B}"/>
              </a:ext>
            </a:extLst>
          </p:cNvPr>
          <p:cNvSpPr txBox="1"/>
          <p:nvPr/>
        </p:nvSpPr>
        <p:spPr>
          <a:xfrm>
            <a:off x="-1" y="1708550"/>
            <a:ext cx="8196091" cy="1200329"/>
          </a:xfrm>
          <a:prstGeom prst="rect">
            <a:avLst/>
          </a:prstGeom>
          <a:noFill/>
        </p:spPr>
        <p:txBody>
          <a:bodyPr wrap="square" rtlCol="0">
            <a:spAutoFit/>
          </a:bodyPr>
          <a:lstStyle/>
          <a:p>
            <a:pPr algn="ctr"/>
            <a:r>
              <a:rPr lang="en-US" sz="3600" dirty="0"/>
              <a:t>Lecture 09 Geographically Weighted Regression</a:t>
            </a:r>
          </a:p>
        </p:txBody>
      </p:sp>
      <p:pic>
        <p:nvPicPr>
          <p:cNvPr id="13" name="Picture 12" descr="Geography department logo">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152400" y="4275667"/>
            <a:ext cx="5915025" cy="758190"/>
          </a:xfrm>
          <a:prstGeom prst="rect">
            <a:avLst/>
          </a:prstGeom>
        </p:spPr>
      </p:pic>
    </p:spTree>
    <p:extLst>
      <p:ext uri="{BB962C8B-B14F-4D97-AF65-F5344CB8AC3E}">
        <p14:creationId xmlns:p14="http://schemas.microsoft.com/office/powerpoint/2010/main" val="2349219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4939293" cy="3886200"/>
          </a:xfrm>
        </p:spPr>
        <p:txBody>
          <a:bodyPr>
            <a:normAutofit/>
          </a:bodyPr>
          <a:lstStyle/>
          <a:p>
            <a:pPr>
              <a:buFont typeface="Courier New" panose="02070309020205020404" pitchFamily="49" charset="0"/>
              <a:buChar char="o"/>
            </a:pPr>
            <a:r>
              <a:rPr lang="en-US" altLang="en-US" sz="2800" dirty="0"/>
              <a:t>Spatial statistics</a:t>
            </a:r>
          </a:p>
          <a:p>
            <a:pPr lvl="1">
              <a:buFont typeface="Wingdings" panose="05000000000000000000" pitchFamily="2" charset="2"/>
              <a:buChar char="ü"/>
            </a:pPr>
            <a:r>
              <a:rPr lang="en-US" sz="2300" dirty="0"/>
              <a:t>Regression</a:t>
            </a:r>
          </a:p>
          <a:p>
            <a:pPr lvl="2">
              <a:buFont typeface="Arial" panose="020B0604020202020204" pitchFamily="34" charset="0"/>
              <a:buChar char="•"/>
            </a:pPr>
            <a:r>
              <a:rPr lang="en-US" sz="1940" dirty="0"/>
              <a:t>Simple regression</a:t>
            </a:r>
          </a:p>
          <a:p>
            <a:pPr lvl="2">
              <a:buFont typeface="Arial" panose="020B0604020202020204" pitchFamily="34" charset="0"/>
              <a:buChar char="•"/>
            </a:pPr>
            <a:r>
              <a:rPr lang="en-US" sz="1940" dirty="0"/>
              <a:t>Multiple regression</a:t>
            </a:r>
          </a:p>
          <a:p>
            <a:pPr lvl="2">
              <a:buFont typeface="Arial" panose="020B0604020202020204" pitchFamily="34" charset="0"/>
              <a:buChar char="•"/>
            </a:pPr>
            <a:r>
              <a:rPr lang="en-US" sz="1940" dirty="0"/>
              <a:t>Geographically weighted regression (GWR)</a:t>
            </a:r>
          </a:p>
          <a:p>
            <a:pPr lvl="2">
              <a:buFont typeface="Arial" panose="020B0604020202020204" pitchFamily="34" charset="0"/>
              <a:buChar char="•"/>
            </a:pPr>
            <a:r>
              <a:rPr lang="en-US" sz="1940" dirty="0"/>
              <a:t>Model assessment</a:t>
            </a:r>
          </a:p>
          <a:p>
            <a:pPr lvl="2">
              <a:buFont typeface="Arial" panose="020B0604020202020204" pitchFamily="34" charset="0"/>
              <a:buChar char="•"/>
            </a:pPr>
            <a:r>
              <a:rPr lang="en-US" sz="1940" dirty="0"/>
              <a:t>GWR example</a:t>
            </a:r>
          </a:p>
          <a:p>
            <a:pPr marL="822960" lvl="2" indent="0">
              <a:buNone/>
            </a:pPr>
            <a:endParaRPr lang="en-US" sz="1900" dirty="0"/>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a:t>
            </a:fld>
            <a:endParaRPr lang="en-US"/>
          </a:p>
        </p:txBody>
      </p:sp>
      <p:pic>
        <p:nvPicPr>
          <p:cNvPr id="6" name="Picture 5" descr="Image showing regression tools in ArcGIS Pro">
            <a:extLst>
              <a:ext uri="{FF2B5EF4-FFF2-40B4-BE49-F238E27FC236}">
                <a16:creationId xmlns:a16="http://schemas.microsoft.com/office/drawing/2014/main" id="{01DFE940-E60C-E2F2-9617-19C1AC392395}"/>
              </a:ext>
            </a:extLst>
          </p:cNvPr>
          <p:cNvPicPr>
            <a:picLocks noChangeAspect="1"/>
          </p:cNvPicPr>
          <p:nvPr/>
        </p:nvPicPr>
        <p:blipFill>
          <a:blip r:embed="rId3"/>
          <a:stretch>
            <a:fillRect/>
          </a:stretch>
        </p:blipFill>
        <p:spPr>
          <a:xfrm>
            <a:off x="5136434" y="1410826"/>
            <a:ext cx="2339543" cy="3124471"/>
          </a:xfrm>
          <a:prstGeom prst="rect">
            <a:avLst/>
          </a:prstGeom>
        </p:spPr>
      </p:pic>
    </p:spTree>
    <p:extLst>
      <p:ext uri="{BB962C8B-B14F-4D97-AF65-F5344CB8AC3E}">
        <p14:creationId xmlns:p14="http://schemas.microsoft.com/office/powerpoint/2010/main" val="1265286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56304" y="2097225"/>
            <a:ext cx="3594371" cy="930872"/>
          </a:xfrm>
        </p:spPr>
        <p:txBody>
          <a:bodyPr>
            <a:normAutofit/>
          </a:bodyPr>
          <a:lstStyle/>
          <a:p>
            <a:r>
              <a:rPr lang="en-US" dirty="0"/>
              <a:t>Regression</a:t>
            </a:r>
          </a:p>
        </p:txBody>
      </p:sp>
      <p:sp>
        <p:nvSpPr>
          <p:cNvPr id="2" name="Slide Number Placeholder 1">
            <a:extLst>
              <a:ext uri="{FF2B5EF4-FFF2-40B4-BE49-F238E27FC236}">
                <a16:creationId xmlns:a16="http://schemas.microsoft.com/office/drawing/2014/main" id="{54426AF1-9FD3-42F1-916E-DF047F59AB10}"/>
              </a:ext>
            </a:extLst>
          </p:cNvPr>
          <p:cNvSpPr>
            <a:spLocks noGrp="1"/>
          </p:cNvSpPr>
          <p:nvPr>
            <p:ph type="sldNum" sz="quarter" idx="12"/>
          </p:nvPr>
        </p:nvSpPr>
        <p:spPr/>
        <p:txBody>
          <a:bodyPr/>
          <a:lstStyle/>
          <a:p>
            <a:fld id="{127DDC20-79C9-9647-820E-6D40A3D210C3}" type="slidenum">
              <a:rPr lang="en-US" smtClean="0"/>
              <a:pPr/>
              <a:t>3</a:t>
            </a:fld>
            <a:endParaRPr lang="en-US"/>
          </a:p>
        </p:txBody>
      </p:sp>
    </p:spTree>
    <p:extLst>
      <p:ext uri="{BB962C8B-B14F-4D97-AF65-F5344CB8AC3E}">
        <p14:creationId xmlns:p14="http://schemas.microsoft.com/office/powerpoint/2010/main" val="2064323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7249"/>
            <a:ext cx="6562526" cy="716924"/>
          </a:xfrm>
        </p:spPr>
        <p:txBody>
          <a:bodyPr>
            <a:normAutofit/>
          </a:bodyPr>
          <a:lstStyle/>
          <a:p>
            <a:pPr algn="l"/>
            <a:r>
              <a:rPr lang="en-US" dirty="0">
                <a:solidFill>
                  <a:srgbClr val="7030A0"/>
                </a:solidFill>
              </a:rPr>
              <a:t>What is regression used for?</a:t>
            </a:r>
          </a:p>
        </p:txBody>
      </p:sp>
      <p:sp>
        <p:nvSpPr>
          <p:cNvPr id="3" name="Content Placeholder 2"/>
          <p:cNvSpPr>
            <a:spLocks noGrp="1"/>
          </p:cNvSpPr>
          <p:nvPr>
            <p:ph idx="1"/>
          </p:nvPr>
        </p:nvSpPr>
        <p:spPr/>
        <p:txBody>
          <a:bodyPr>
            <a:normAutofit fontScale="92500" lnSpcReduction="10000"/>
          </a:bodyPr>
          <a:lstStyle/>
          <a:p>
            <a:pPr>
              <a:buFont typeface="Courier New" panose="02070309020205020404" pitchFamily="49" charset="0"/>
              <a:buChar char="o"/>
            </a:pPr>
            <a:r>
              <a:rPr lang="en-US" dirty="0"/>
              <a:t>Regression can be used to explore the relationship between variables</a:t>
            </a:r>
          </a:p>
          <a:p>
            <a:pPr>
              <a:buFont typeface="Courier New" panose="02070309020205020404" pitchFamily="49" charset="0"/>
              <a:buChar char="o"/>
            </a:pPr>
            <a:r>
              <a:rPr lang="en-US" dirty="0"/>
              <a:t>You can predict a continuous variable using other variables</a:t>
            </a:r>
          </a:p>
          <a:p>
            <a:pPr>
              <a:buFont typeface="Courier New" panose="02070309020205020404" pitchFamily="49" charset="0"/>
              <a:buChar char="o"/>
            </a:pPr>
            <a:r>
              <a:rPr lang="en-US" b="1" dirty="0">
                <a:solidFill>
                  <a:srgbClr val="E3874F"/>
                </a:solidFill>
              </a:rPr>
              <a:t>Dependent Variable: </a:t>
            </a:r>
            <a:r>
              <a:rPr lang="en-US" dirty="0"/>
              <a:t>what you are trying to predict</a:t>
            </a:r>
          </a:p>
          <a:p>
            <a:pPr>
              <a:buFont typeface="Courier New" panose="02070309020205020404" pitchFamily="49" charset="0"/>
              <a:buChar char="o"/>
            </a:pPr>
            <a:r>
              <a:rPr lang="en-US" b="1" dirty="0">
                <a:solidFill>
                  <a:srgbClr val="E3874F"/>
                </a:solidFill>
              </a:rPr>
              <a:t>Independent Variable(s): </a:t>
            </a:r>
            <a:r>
              <a:rPr lang="en-US" dirty="0"/>
              <a:t>what is used to predict the independent variable</a:t>
            </a:r>
          </a:p>
        </p:txBody>
      </p:sp>
      <p:cxnSp>
        <p:nvCxnSpPr>
          <p:cNvPr id="4" name="Straight Connector 3">
            <a:extLst>
              <a:ext uri="{FF2B5EF4-FFF2-40B4-BE49-F238E27FC236}">
                <a16:creationId xmlns:a16="http://schemas.microsoft.com/office/drawing/2014/main" id="{ED6BDE3D-7C93-4553-ABE7-1C29C4B693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4">
            <a:extLst>
              <a:ext uri="{FF2B5EF4-FFF2-40B4-BE49-F238E27FC236}">
                <a16:creationId xmlns:a16="http://schemas.microsoft.com/office/drawing/2014/main" id="{1895F7C9-B765-4AB7-A260-C53E8D053B31}"/>
              </a:ext>
            </a:extLst>
          </p:cNvPr>
          <p:cNvSpPr>
            <a:spLocks noGrp="1"/>
          </p:cNvSpPr>
          <p:nvPr>
            <p:ph type="sldNum" sz="quarter" idx="12"/>
          </p:nvPr>
        </p:nvSpPr>
        <p:spPr/>
        <p:txBody>
          <a:bodyPr/>
          <a:lstStyle/>
          <a:p>
            <a:fld id="{127DDC20-79C9-9647-820E-6D40A3D210C3}" type="slidenum">
              <a:rPr lang="en-US" smtClean="0"/>
              <a:pPr/>
              <a:t>4</a:t>
            </a:fld>
            <a:endParaRPr lang="en-US" dirty="0"/>
          </a:p>
        </p:txBody>
      </p:sp>
    </p:spTree>
    <p:extLst>
      <p:ext uri="{BB962C8B-B14F-4D97-AF65-F5344CB8AC3E}">
        <p14:creationId xmlns:p14="http://schemas.microsoft.com/office/powerpoint/2010/main" val="3324757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80873-6CA2-728C-FE12-5CF587BB4BF6}"/>
              </a:ext>
            </a:extLst>
          </p:cNvPr>
          <p:cNvSpPr>
            <a:spLocks noGrp="1"/>
          </p:cNvSpPr>
          <p:nvPr>
            <p:ph idx="1"/>
          </p:nvPr>
        </p:nvSpPr>
        <p:spPr>
          <a:xfrm>
            <a:off x="354330" y="522515"/>
            <a:ext cx="7406640" cy="3859837"/>
          </a:xfrm>
        </p:spPr>
        <p:txBody>
          <a:bodyPr>
            <a:normAutofit/>
          </a:bodyPr>
          <a:lstStyle/>
          <a:p>
            <a:pPr marL="360045" lvl="1" indent="0">
              <a:buNone/>
            </a:pPr>
            <a:r>
              <a:rPr lang="en-US" altLang="zh-CN" dirty="0"/>
              <a:t>Which of the following geographic questions would MOST likely require regression?</a:t>
            </a:r>
          </a:p>
          <a:p>
            <a:pPr marL="360045" lvl="1" indent="0">
              <a:buNone/>
            </a:pPr>
            <a:endParaRPr lang="en-US" altLang="zh-CN" dirty="0"/>
          </a:p>
          <a:p>
            <a:pPr marL="0" indent="0">
              <a:buNone/>
            </a:pPr>
            <a:r>
              <a:rPr lang="en-US" altLang="zh-CN" sz="2400" dirty="0"/>
              <a:t>A. Where are the rivers located?</a:t>
            </a:r>
            <a:br>
              <a:rPr lang="en-US" altLang="zh-CN" sz="2400" dirty="0"/>
            </a:br>
            <a:r>
              <a:rPr lang="en-US" altLang="zh-CN" sz="2400" dirty="0"/>
              <a:t>B. What is the relationship between median income and housing price across counties?</a:t>
            </a:r>
            <a:br>
              <a:rPr lang="en-US" altLang="zh-CN" sz="2400" dirty="0"/>
            </a:br>
            <a:r>
              <a:rPr lang="en-US" altLang="zh-CN" sz="2400" dirty="0"/>
              <a:t>C. What is the area of Arkansas?</a:t>
            </a:r>
            <a:br>
              <a:rPr lang="en-US" altLang="zh-CN" sz="2400" dirty="0"/>
            </a:br>
            <a:r>
              <a:rPr lang="en-US" altLang="zh-CN" sz="2400" dirty="0"/>
              <a:t>D. What projection is used in this map?</a:t>
            </a:r>
          </a:p>
          <a:p>
            <a:endParaRPr lang="zh-CN" altLang="en-US" dirty="0"/>
          </a:p>
        </p:txBody>
      </p:sp>
      <p:sp>
        <p:nvSpPr>
          <p:cNvPr id="4" name="Slide Number Placeholder 3">
            <a:extLst>
              <a:ext uri="{FF2B5EF4-FFF2-40B4-BE49-F238E27FC236}">
                <a16:creationId xmlns:a16="http://schemas.microsoft.com/office/drawing/2014/main" id="{8F05EA90-63C8-74C4-3BBB-37E6C6DA1EAC}"/>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350366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2296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DEE2365-5A3C-24E8-5264-F6A320F5DED2}"/>
              </a:ext>
            </a:extLst>
          </p:cNvPr>
          <p:cNvPicPr>
            <a:picLocks noChangeAspect="1"/>
          </p:cNvPicPr>
          <p:nvPr/>
        </p:nvPicPr>
        <p:blipFill>
          <a:blip r:embed="rId2"/>
          <a:stretch>
            <a:fillRect/>
          </a:stretch>
        </p:blipFill>
        <p:spPr>
          <a:xfrm>
            <a:off x="429996" y="1162312"/>
            <a:ext cx="3684804" cy="2818875"/>
          </a:xfrm>
          <a:prstGeom prst="rect">
            <a:avLst/>
          </a:prstGeom>
        </p:spPr>
      </p:pic>
      <p:sp>
        <p:nvSpPr>
          <p:cNvPr id="1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911" y="1779651"/>
            <a:ext cx="2197189" cy="13716"/>
          </a:xfrm>
          <a:custGeom>
            <a:avLst/>
            <a:gdLst>
              <a:gd name="csX0" fmla="*/ 0 w 2197189"/>
              <a:gd name="csY0" fmla="*/ 0 h 13716"/>
              <a:gd name="csX1" fmla="*/ 527325 w 2197189"/>
              <a:gd name="csY1" fmla="*/ 0 h 13716"/>
              <a:gd name="csX2" fmla="*/ 1076623 w 2197189"/>
              <a:gd name="csY2" fmla="*/ 0 h 13716"/>
              <a:gd name="csX3" fmla="*/ 1625920 w 2197189"/>
              <a:gd name="csY3" fmla="*/ 0 h 13716"/>
              <a:gd name="csX4" fmla="*/ 2197189 w 2197189"/>
              <a:gd name="csY4" fmla="*/ 0 h 13716"/>
              <a:gd name="csX5" fmla="*/ 2197189 w 2197189"/>
              <a:gd name="csY5" fmla="*/ 13716 h 13716"/>
              <a:gd name="csX6" fmla="*/ 1647892 w 2197189"/>
              <a:gd name="csY6" fmla="*/ 13716 h 13716"/>
              <a:gd name="csX7" fmla="*/ 1142538 w 2197189"/>
              <a:gd name="csY7" fmla="*/ 13716 h 13716"/>
              <a:gd name="csX8" fmla="*/ 637185 w 2197189"/>
              <a:gd name="csY8" fmla="*/ 13716 h 13716"/>
              <a:gd name="csX9" fmla="*/ 0 w 2197189"/>
              <a:gd name="csY9" fmla="*/ 13716 h 13716"/>
              <a:gd name="csX10" fmla="*/ 0 w 2197189"/>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97189" h="13716" fill="none" extrusionOk="0">
                <a:moveTo>
                  <a:pt x="0" y="0"/>
                </a:moveTo>
                <a:cubicBezTo>
                  <a:pt x="243718" y="21502"/>
                  <a:pt x="308739" y="5563"/>
                  <a:pt x="527325" y="0"/>
                </a:cubicBezTo>
                <a:cubicBezTo>
                  <a:pt x="745911" y="-5563"/>
                  <a:pt x="954311" y="25733"/>
                  <a:pt x="1076623" y="0"/>
                </a:cubicBezTo>
                <a:cubicBezTo>
                  <a:pt x="1198935" y="-25733"/>
                  <a:pt x="1403821" y="-155"/>
                  <a:pt x="1625920" y="0"/>
                </a:cubicBezTo>
                <a:cubicBezTo>
                  <a:pt x="1848019" y="155"/>
                  <a:pt x="2073001" y="-8929"/>
                  <a:pt x="2197189" y="0"/>
                </a:cubicBezTo>
                <a:cubicBezTo>
                  <a:pt x="2196807" y="4363"/>
                  <a:pt x="2197448" y="8857"/>
                  <a:pt x="2197189" y="13716"/>
                </a:cubicBezTo>
                <a:cubicBezTo>
                  <a:pt x="2030945" y="-1531"/>
                  <a:pt x="1778884" y="-11207"/>
                  <a:pt x="1647892" y="13716"/>
                </a:cubicBezTo>
                <a:cubicBezTo>
                  <a:pt x="1516900" y="38639"/>
                  <a:pt x="1334365" y="19705"/>
                  <a:pt x="1142538" y="13716"/>
                </a:cubicBezTo>
                <a:cubicBezTo>
                  <a:pt x="950711" y="7727"/>
                  <a:pt x="775914" y="30301"/>
                  <a:pt x="637185" y="13716"/>
                </a:cubicBezTo>
                <a:cubicBezTo>
                  <a:pt x="498456" y="-2869"/>
                  <a:pt x="195973" y="33998"/>
                  <a:pt x="0" y="13716"/>
                </a:cubicBezTo>
                <a:cubicBezTo>
                  <a:pt x="-459" y="8317"/>
                  <a:pt x="190" y="2744"/>
                  <a:pt x="0" y="0"/>
                </a:cubicBezTo>
                <a:close/>
              </a:path>
              <a:path w="2197189" h="13716" stroke="0" extrusionOk="0">
                <a:moveTo>
                  <a:pt x="0" y="0"/>
                </a:moveTo>
                <a:cubicBezTo>
                  <a:pt x="142541" y="12591"/>
                  <a:pt x="397218" y="6418"/>
                  <a:pt x="527325" y="0"/>
                </a:cubicBezTo>
                <a:cubicBezTo>
                  <a:pt x="657432" y="-6418"/>
                  <a:pt x="848236" y="-3366"/>
                  <a:pt x="1010707" y="0"/>
                </a:cubicBezTo>
                <a:cubicBezTo>
                  <a:pt x="1173178" y="3366"/>
                  <a:pt x="1452348" y="-9512"/>
                  <a:pt x="1603948" y="0"/>
                </a:cubicBezTo>
                <a:cubicBezTo>
                  <a:pt x="1755548" y="9512"/>
                  <a:pt x="2050932" y="-18187"/>
                  <a:pt x="2197189" y="0"/>
                </a:cubicBezTo>
                <a:cubicBezTo>
                  <a:pt x="2197375" y="3335"/>
                  <a:pt x="2197190" y="9457"/>
                  <a:pt x="2197189" y="13716"/>
                </a:cubicBezTo>
                <a:cubicBezTo>
                  <a:pt x="2084081" y="30737"/>
                  <a:pt x="1929423" y="4590"/>
                  <a:pt x="1691836" y="13716"/>
                </a:cubicBezTo>
                <a:cubicBezTo>
                  <a:pt x="1454249" y="22842"/>
                  <a:pt x="1304692" y="22984"/>
                  <a:pt x="1186482" y="13716"/>
                </a:cubicBezTo>
                <a:cubicBezTo>
                  <a:pt x="1068272" y="4448"/>
                  <a:pt x="876134" y="16984"/>
                  <a:pt x="593241" y="13716"/>
                </a:cubicBezTo>
                <a:cubicBezTo>
                  <a:pt x="310348" y="10448"/>
                  <a:pt x="213843" y="32202"/>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3A2969-8180-50DD-FEAD-3F89BBAE81E0}"/>
              </a:ext>
            </a:extLst>
          </p:cNvPr>
          <p:cNvSpPr>
            <a:spLocks noGrp="1"/>
          </p:cNvSpPr>
          <p:nvPr>
            <p:ph idx="1"/>
          </p:nvPr>
        </p:nvSpPr>
        <p:spPr>
          <a:xfrm>
            <a:off x="4548911" y="1998664"/>
            <a:ext cx="3252749" cy="2663092"/>
          </a:xfrm>
        </p:spPr>
        <p:txBody>
          <a:bodyPr anchor="t">
            <a:normAutofit/>
          </a:bodyPr>
          <a:lstStyle/>
          <a:p>
            <a:pPr marL="0" indent="0">
              <a:buNone/>
            </a:pPr>
            <a:r>
              <a:rPr lang="en-US" altLang="zh-CN" sz="1600" dirty="0"/>
              <a:t>If we want to predict </a:t>
            </a:r>
            <a:r>
              <a:rPr lang="en-US" altLang="zh-CN" sz="1600" b="1" dirty="0"/>
              <a:t>urban heat island intensity</a:t>
            </a:r>
            <a:r>
              <a:rPr lang="en-US" altLang="zh-CN" sz="1600" dirty="0"/>
              <a:t> using percent impervious surface and population density:</a:t>
            </a:r>
          </a:p>
          <a:p>
            <a:pPr marL="0" indent="0">
              <a:buNone/>
            </a:pPr>
            <a:endParaRPr lang="en-US" altLang="zh-CN" sz="1600" dirty="0"/>
          </a:p>
          <a:p>
            <a:r>
              <a:rPr lang="en-US" altLang="zh-CN" sz="1600" dirty="0"/>
              <a:t>What is the dependent variable?</a:t>
            </a:r>
          </a:p>
          <a:p>
            <a:r>
              <a:rPr lang="en-US" altLang="zh-CN" sz="1600" dirty="0"/>
              <a:t>What are the independent variables?</a:t>
            </a:r>
          </a:p>
          <a:p>
            <a:endParaRPr lang="zh-CN" altLang="en-US" sz="1600" dirty="0"/>
          </a:p>
        </p:txBody>
      </p:sp>
      <p:sp>
        <p:nvSpPr>
          <p:cNvPr id="4" name="Slide Number Placeholder 3">
            <a:extLst>
              <a:ext uri="{FF2B5EF4-FFF2-40B4-BE49-F238E27FC236}">
                <a16:creationId xmlns:a16="http://schemas.microsoft.com/office/drawing/2014/main" id="{9A074F2C-2A2D-A574-34D0-43FB05BB23F0}"/>
              </a:ext>
            </a:extLst>
          </p:cNvPr>
          <p:cNvSpPr>
            <a:spLocks noGrp="1"/>
          </p:cNvSpPr>
          <p:nvPr>
            <p:ph type="sldNum" sz="quarter" idx="12"/>
          </p:nvPr>
        </p:nvSpPr>
        <p:spPr>
          <a:xfrm>
            <a:off x="5812155" y="4767262"/>
            <a:ext cx="1851660" cy="273844"/>
          </a:xfrm>
        </p:spPr>
        <p:txBody>
          <a:bodyPr>
            <a:normAutofit/>
          </a:bodyPr>
          <a:lstStyle/>
          <a:p>
            <a:pPr>
              <a:spcAft>
                <a:spcPts val="600"/>
              </a:spcAft>
            </a:pPr>
            <a:fld id="{127DDC20-79C9-9647-820E-6D40A3D210C3}" type="slidenum">
              <a:rPr lang="en-US" smtClean="0"/>
              <a:pPr>
                <a:spcAft>
                  <a:spcPts val="600"/>
                </a:spcAft>
              </a:pPr>
              <a:t>6</a:t>
            </a:fld>
            <a:endParaRPr lang="en-US"/>
          </a:p>
        </p:txBody>
      </p:sp>
    </p:spTree>
    <p:extLst>
      <p:ext uri="{BB962C8B-B14F-4D97-AF65-F5344CB8AC3E}">
        <p14:creationId xmlns:p14="http://schemas.microsoft.com/office/powerpoint/2010/main" val="3341260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C945-89B5-7A7D-5932-A409A3637305}"/>
              </a:ext>
            </a:extLst>
          </p:cNvPr>
          <p:cNvSpPr>
            <a:spLocks noGrp="1"/>
          </p:cNvSpPr>
          <p:nvPr>
            <p:ph type="title"/>
          </p:nvPr>
        </p:nvSpPr>
        <p:spPr>
          <a:xfrm>
            <a:off x="411480" y="29191"/>
            <a:ext cx="7406640" cy="857250"/>
          </a:xfrm>
        </p:spPr>
        <p:txBody>
          <a:bodyPr/>
          <a:lstStyle/>
          <a:p>
            <a:pPr algn="l"/>
            <a:r>
              <a:rPr lang="en-US" altLang="zh-CN" dirty="0"/>
              <a:t>Simple Regression</a:t>
            </a:r>
            <a:endParaRPr lang="zh-CN" altLang="en-US" dirty="0"/>
          </a:p>
        </p:txBody>
      </p:sp>
      <p:sp>
        <p:nvSpPr>
          <p:cNvPr id="3" name="Content Placeholder 2">
            <a:extLst>
              <a:ext uri="{FF2B5EF4-FFF2-40B4-BE49-F238E27FC236}">
                <a16:creationId xmlns:a16="http://schemas.microsoft.com/office/drawing/2014/main" id="{9FAEC8F3-0A12-AC38-798F-C404E575AE93}"/>
              </a:ext>
            </a:extLst>
          </p:cNvPr>
          <p:cNvSpPr>
            <a:spLocks noGrp="1"/>
          </p:cNvSpPr>
          <p:nvPr>
            <p:ph idx="1"/>
          </p:nvPr>
        </p:nvSpPr>
        <p:spPr>
          <a:xfrm>
            <a:off x="439993" y="1431461"/>
            <a:ext cx="7406640" cy="775606"/>
          </a:xfrm>
        </p:spPr>
        <p:txBody>
          <a:bodyPr/>
          <a:lstStyle/>
          <a:p>
            <a:r>
              <a:rPr lang="en-US" altLang="zh-CN" sz="3200" dirty="0"/>
              <a:t>y = β</a:t>
            </a:r>
            <a:r>
              <a:rPr lang="en-US" altLang="zh-CN" sz="3200" baseline="-25000" dirty="0"/>
              <a:t>0 </a:t>
            </a:r>
            <a:r>
              <a:rPr lang="en-US" altLang="zh-CN" sz="3200" dirty="0"/>
              <a:t>+ β</a:t>
            </a:r>
            <a:r>
              <a:rPr lang="en-US" altLang="zh-CN" sz="3200" baseline="-25000" dirty="0"/>
              <a:t>1</a:t>
            </a:r>
            <a:r>
              <a:rPr lang="en-US" altLang="zh-CN" sz="3200" dirty="0"/>
              <a:t>x</a:t>
            </a:r>
            <a:r>
              <a:rPr lang="en-US" altLang="zh-CN" sz="3200" baseline="-25000" dirty="0"/>
              <a:t>1</a:t>
            </a:r>
            <a:endParaRPr lang="zh-CN" altLang="en-US" dirty="0"/>
          </a:p>
        </p:txBody>
      </p:sp>
      <p:sp>
        <p:nvSpPr>
          <p:cNvPr id="4" name="Slide Number Placeholder 3">
            <a:extLst>
              <a:ext uri="{FF2B5EF4-FFF2-40B4-BE49-F238E27FC236}">
                <a16:creationId xmlns:a16="http://schemas.microsoft.com/office/drawing/2014/main" id="{B7E62A70-888B-1320-3EFA-939BA33DDEC8}"/>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6" name="TextBox 5">
            <a:extLst>
              <a:ext uri="{FF2B5EF4-FFF2-40B4-BE49-F238E27FC236}">
                <a16:creationId xmlns:a16="http://schemas.microsoft.com/office/drawing/2014/main" id="{1F47D302-CD68-1DC7-CC97-19B64F3C4522}"/>
              </a:ext>
            </a:extLst>
          </p:cNvPr>
          <p:cNvSpPr txBox="1"/>
          <p:nvPr/>
        </p:nvSpPr>
        <p:spPr>
          <a:xfrm>
            <a:off x="439993" y="885225"/>
            <a:ext cx="7067005" cy="461665"/>
          </a:xfrm>
          <a:prstGeom prst="rect">
            <a:avLst/>
          </a:prstGeom>
          <a:noFill/>
        </p:spPr>
        <p:txBody>
          <a:bodyPr wrap="square">
            <a:spAutoFit/>
          </a:bodyPr>
          <a:lstStyle/>
          <a:p>
            <a:pPr marL="0" indent="0">
              <a:buNone/>
            </a:pPr>
            <a:r>
              <a:rPr lang="en-US" altLang="zh-CN" sz="2400" dirty="0"/>
              <a:t>Predict Y using one independent variable</a:t>
            </a:r>
          </a:p>
        </p:txBody>
      </p:sp>
      <mc:AlternateContent xmlns:mc="http://schemas.openxmlformats.org/markup-compatibility/2006">
        <mc:Choice xmlns:a14="http://schemas.microsoft.com/office/drawing/2010/main" Requires="a14">
          <p:sp>
            <p:nvSpPr>
              <p:cNvPr id="7" name="Rectangle 2">
                <a:extLst>
                  <a:ext uri="{FF2B5EF4-FFF2-40B4-BE49-F238E27FC236}">
                    <a16:creationId xmlns:a16="http://schemas.microsoft.com/office/drawing/2014/main" id="{472E46C7-0979-E597-3F0C-E814D4A9A2A1}"/>
                  </a:ext>
                </a:extLst>
              </p:cNvPr>
              <p:cNvSpPr>
                <a:spLocks noChangeArrowheads="1"/>
              </p:cNvSpPr>
              <p:nvPr/>
            </p:nvSpPr>
            <p:spPr bwMode="auto">
              <a:xfrm>
                <a:off x="1045028" y="2068510"/>
                <a:ext cx="6335486" cy="337335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800" b="1" i="0" u="none" strike="noStrike" cap="none" normalizeH="0" baseline="0" dirty="0">
                    <a:ln>
                      <a:noFill/>
                    </a:ln>
                    <a:solidFill>
                      <a:schemeClr val="tx1"/>
                    </a:solidFill>
                    <a:effectLst/>
                    <a:cs typeface="Times New Roman" panose="02020603050405020304" pitchFamily="18" charset="0"/>
                  </a:rPr>
                  <a:t>β₀ (Intercept):</a:t>
                </a:r>
                <a:br>
                  <a:rPr kumimoji="0" lang="zh-CN" altLang="zh-CN" sz="1800" b="0" i="0" u="none" strike="noStrike" cap="none" normalizeH="0" baseline="0" dirty="0">
                    <a:ln>
                      <a:noFill/>
                    </a:ln>
                    <a:solidFill>
                      <a:schemeClr val="tx1"/>
                    </a:solidFill>
                    <a:effectLst/>
                    <a:cs typeface="Times New Roman" panose="02020603050405020304" pitchFamily="18" charset="0"/>
                  </a:rPr>
                </a:br>
                <a:r>
                  <a:rPr kumimoji="0" lang="en-US" altLang="zh-CN" sz="1800" b="0" i="0" u="none" strike="noStrike" cap="none" normalizeH="0" baseline="0" dirty="0">
                    <a:ln>
                      <a:noFill/>
                    </a:ln>
                    <a:solidFill>
                      <a:schemeClr val="tx1"/>
                    </a:solidFill>
                    <a:effectLst/>
                    <a:cs typeface="Times New Roman" panose="02020603050405020304" pitchFamily="18" charset="0"/>
                  </a:rPr>
                  <a:t>	</a:t>
                </a:r>
                <a:r>
                  <a:rPr kumimoji="0" lang="zh-CN" altLang="zh-CN" sz="1800" b="0" i="0" u="none" strike="noStrike" cap="none" normalizeH="0" baseline="0" dirty="0">
                    <a:ln>
                      <a:noFill/>
                    </a:ln>
                    <a:solidFill>
                      <a:schemeClr val="tx1"/>
                    </a:solidFill>
                    <a:effectLst/>
                    <a:cs typeface="Times New Roman" panose="02020603050405020304" pitchFamily="18" charset="0"/>
                  </a:rPr>
                  <a:t>Expected value of </a:t>
                </a:r>
                <a:r>
                  <a:rPr kumimoji="0" lang="zh-CN" altLang="zh-CN" sz="1800" b="1" i="0" u="none" strike="noStrike" cap="none" normalizeH="0" baseline="0" dirty="0">
                    <a:ln>
                      <a:noFill/>
                    </a:ln>
                    <a:solidFill>
                      <a:schemeClr val="tx1"/>
                    </a:solidFill>
                    <a:effectLst/>
                    <a:cs typeface="Times New Roman" panose="02020603050405020304" pitchFamily="18" charset="0"/>
                  </a:rPr>
                  <a:t>Y</a:t>
                </a:r>
                <a:r>
                  <a:rPr kumimoji="0" lang="zh-CN" altLang="zh-CN" sz="1800" b="0" i="0" u="none" strike="noStrike" cap="none" normalizeH="0" baseline="0" dirty="0">
                    <a:ln>
                      <a:noFill/>
                    </a:ln>
                    <a:solidFill>
                      <a:schemeClr val="tx1"/>
                    </a:solidFill>
                    <a:effectLst/>
                    <a:cs typeface="Times New Roman" panose="02020603050405020304" pitchFamily="18" charset="0"/>
                  </a:rPr>
                  <a:t> whe</a:t>
                </a:r>
                <a:r>
                  <a:rPr lang="en-US" altLang="zh-CN" dirty="0">
                    <a:cs typeface="Times New Roman" panose="02020603050405020304" pitchFamily="18" charset="0"/>
                  </a:rPr>
                  <a:t>n </a:t>
                </a:r>
                <a14:m>
                  <m:oMath xmlns:m="http://schemas.openxmlformats.org/officeDocument/2006/math">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𝑥</m:t>
                        </m:r>
                      </m:e>
                      <m:sub>
                        <m:r>
                          <a:rPr lang="en-US" altLang="zh-CN" b="0" i="1" smtClean="0">
                            <a:latin typeface="Cambria Math" panose="02040503050406030204" pitchFamily="18" charset="0"/>
                            <a:cs typeface="Times New Roman" panose="02020603050405020304" pitchFamily="18" charset="0"/>
                          </a:rPr>
                          <m:t>𝑖</m:t>
                        </m:r>
                      </m:sub>
                    </m:sSub>
                  </m:oMath>
                </a14:m>
                <a:r>
                  <a:rPr kumimoji="0" lang="en-US" altLang="zh-CN" sz="1800" b="0" i="0" u="none" strike="noStrike" cap="none" normalizeH="0" baseline="0" dirty="0">
                    <a:ln>
                      <a:noFill/>
                    </a:ln>
                    <a:solidFill>
                      <a:schemeClr val="tx1"/>
                    </a:solidFill>
                    <a:effectLst/>
                    <a:cs typeface="Times New Roman" panose="02020603050405020304" pitchFamily="18" charset="0"/>
                  </a:rPr>
                  <a:t> </a:t>
                </a:r>
                <a:r>
                  <a:rPr kumimoji="0" lang="zh-CN" altLang="zh-CN" sz="1800" b="0" i="0" u="none" strike="noStrike" cap="none" normalizeH="0" baseline="0" dirty="0">
                    <a:ln>
                      <a:noFill/>
                    </a:ln>
                    <a:solidFill>
                      <a:schemeClr val="tx1"/>
                    </a:solidFill>
                    <a:effectLst/>
                    <a:cs typeface="Times New Roman" panose="02020603050405020304" pitchFamily="18" charset="0"/>
                  </a:rPr>
                  <a:t>​=</a:t>
                </a:r>
                <a:r>
                  <a:rPr kumimoji="0" lang="en-US" altLang="zh-CN" sz="1800" b="0" i="0" u="none" strike="noStrike" cap="none" normalizeH="0" baseline="0" dirty="0">
                    <a:ln>
                      <a:noFill/>
                    </a:ln>
                    <a:solidFill>
                      <a:schemeClr val="tx1"/>
                    </a:solidFill>
                    <a:effectLst/>
                    <a:cs typeface="Times New Roman" panose="02020603050405020304" pitchFamily="18" charset="0"/>
                  </a:rPr>
                  <a:t> </a:t>
                </a:r>
                <a:r>
                  <a:rPr kumimoji="0" lang="zh-CN" altLang="zh-CN" sz="1800" b="0" i="0" u="none" strike="noStrike" cap="none" normalizeH="0" baseline="0" dirty="0">
                    <a:ln>
                      <a:noFill/>
                    </a:ln>
                    <a:solidFill>
                      <a:schemeClr val="tx1"/>
                    </a:solidFill>
                    <a:effectLst/>
                    <a:cs typeface="Times New Roman" panose="02020603050405020304" pitchFamily="18" charset="0"/>
                  </a:rPr>
                  <a:t>0</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800" b="1" i="0" u="none" strike="noStrike" cap="none" normalizeH="0" baseline="0" dirty="0">
                    <a:ln>
                      <a:noFill/>
                    </a:ln>
                    <a:solidFill>
                      <a:schemeClr val="tx1"/>
                    </a:solidFill>
                    <a:effectLst/>
                    <a:cs typeface="Times New Roman" panose="02020603050405020304" pitchFamily="18" charset="0"/>
                  </a:rPr>
                  <a:t>β₁ (Slope coefficient):</a:t>
                </a:r>
                <a:br>
                  <a:rPr kumimoji="0" lang="zh-CN" altLang="zh-CN" sz="1800" b="0" i="0" u="none" strike="noStrike" cap="none" normalizeH="0" baseline="0" dirty="0">
                    <a:ln>
                      <a:noFill/>
                    </a:ln>
                    <a:solidFill>
                      <a:schemeClr val="tx1"/>
                    </a:solidFill>
                    <a:effectLst/>
                    <a:cs typeface="Times New Roman" panose="02020603050405020304" pitchFamily="18" charset="0"/>
                  </a:rPr>
                </a:br>
                <a:r>
                  <a:rPr kumimoji="0" lang="en-US" altLang="zh-CN" sz="1800" b="0" i="0" u="none" strike="noStrike" cap="none" normalizeH="0" baseline="0" dirty="0">
                    <a:ln>
                      <a:noFill/>
                    </a:ln>
                    <a:solidFill>
                      <a:schemeClr val="tx1"/>
                    </a:solidFill>
                    <a:effectLst/>
                    <a:cs typeface="Times New Roman" panose="02020603050405020304" pitchFamily="18" charset="0"/>
                  </a:rPr>
                  <a:t>	</a:t>
                </a:r>
                <a:r>
                  <a:rPr kumimoji="0" lang="zh-CN" altLang="zh-CN" sz="1800" b="0" i="0" u="none" strike="noStrike" cap="none" normalizeH="0" baseline="0" dirty="0">
                    <a:ln>
                      <a:noFill/>
                    </a:ln>
                    <a:solidFill>
                      <a:schemeClr val="tx1"/>
                    </a:solidFill>
                    <a:effectLst/>
                    <a:cs typeface="Times New Roman" panose="02020603050405020304" pitchFamily="18" charset="0"/>
                  </a:rPr>
                  <a:t>Change in </a:t>
                </a:r>
                <a:r>
                  <a:rPr kumimoji="0" lang="zh-CN" altLang="zh-CN" sz="1800" b="1" i="0" u="none" strike="noStrike" cap="none" normalizeH="0" baseline="0" dirty="0">
                    <a:ln>
                      <a:noFill/>
                    </a:ln>
                    <a:solidFill>
                      <a:schemeClr val="tx1"/>
                    </a:solidFill>
                    <a:effectLst/>
                    <a:cs typeface="Times New Roman" panose="02020603050405020304" pitchFamily="18" charset="0"/>
                  </a:rPr>
                  <a:t>Y</a:t>
                </a:r>
                <a:r>
                  <a:rPr kumimoji="0" lang="zh-CN" altLang="zh-CN" sz="1800" b="0" i="0" u="none" strike="noStrike" cap="none" normalizeH="0" baseline="0" dirty="0">
                    <a:ln>
                      <a:noFill/>
                    </a:ln>
                    <a:solidFill>
                      <a:schemeClr val="tx1"/>
                    </a:solidFill>
                    <a:effectLst/>
                    <a:cs typeface="Times New Roman" panose="02020603050405020304" pitchFamily="18" charset="0"/>
                  </a:rPr>
                  <a:t> for a one-unit increase in </a:t>
                </a:r>
                <a14:m>
                  <m:oMath xmlns:m="http://schemas.openxmlformats.org/officeDocument/2006/math">
                    <m:sSub>
                      <m:sSubPr>
                        <m:ctrlPr>
                          <a:rPr kumimoji="0" lang="en-US" altLang="zh-CN" sz="1800"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zh-CN" sz="1800"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𝑥</m:t>
                        </m:r>
                      </m:e>
                      <m:sub>
                        <m:r>
                          <a:rPr kumimoji="0" lang="en-US" altLang="zh-CN" sz="1800"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𝑖</m:t>
                        </m:r>
                      </m:sub>
                    </m:sSub>
                  </m:oMath>
                </a14:m>
                <a:r>
                  <a:rPr kumimoji="0" lang="en-US" altLang="zh-CN" sz="1800" b="1" i="0" u="none" strike="noStrike" cap="none" normalizeH="0" baseline="0" dirty="0">
                    <a:ln>
                      <a:noFill/>
                    </a:ln>
                    <a:solidFill>
                      <a:schemeClr val="tx1"/>
                    </a:solidFill>
                    <a:effectLst/>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800" b="1" i="0" u="none" strike="noStrike" cap="none" normalizeH="0" baseline="0" dirty="0">
                    <a:ln>
                      <a:noFill/>
                    </a:ln>
                    <a:solidFill>
                      <a:schemeClr val="tx1"/>
                    </a:solidFill>
                    <a:effectLst/>
                    <a:cs typeface="Times New Roman" panose="02020603050405020304" pitchFamily="18" charset="0"/>
                  </a:rPr>
                  <a:t>Direction of relationship:</a:t>
                </a:r>
                <a:endParaRPr kumimoji="0" lang="zh-CN" altLang="zh-CN" sz="1800" b="0" i="0" u="none" strike="noStrike" cap="none" normalizeH="0" baseline="0" dirty="0">
                  <a:ln>
                    <a:noFill/>
                  </a:ln>
                  <a:solidFill>
                    <a:schemeClr val="tx1"/>
                  </a:solidFill>
                  <a:effectLst/>
                  <a:cs typeface="Times New Roman" panose="02020603050405020304" pitchFamily="18" charset="0"/>
                </a:endParaRPr>
              </a:p>
              <a:p>
                <a:pPr lvl="1" defTabSz="914400" eaLnBrk="0" fontAlgn="base" hangingPunct="0">
                  <a:lnSpc>
                    <a:spcPct val="150000"/>
                  </a:lnSpc>
                  <a:spcBef>
                    <a:spcPct val="0"/>
                  </a:spcBef>
                  <a:spcAft>
                    <a:spcPct val="0"/>
                  </a:spcAft>
                  <a:buFontTx/>
                  <a:buChar char="•"/>
                </a:pPr>
                <a:r>
                  <a:rPr kumimoji="0" lang="zh-CN" altLang="zh-CN" b="0" i="0" u="none" strike="noStrike" cap="none" normalizeH="0" baseline="0" dirty="0">
                    <a:ln>
                      <a:noFill/>
                    </a:ln>
                    <a:solidFill>
                      <a:schemeClr val="tx1"/>
                    </a:solidFill>
                    <a:effectLst/>
                    <a:cs typeface="Times New Roman" panose="02020603050405020304" pitchFamily="18" charset="0"/>
                  </a:rPr>
                  <a:t>β1&gt;0</a:t>
                </a:r>
                <a:r>
                  <a:rPr kumimoji="0" lang="en-US" altLang="zh-CN" b="0" i="0" u="none" strike="noStrike" cap="none" normalizeH="0" baseline="0" dirty="0">
                    <a:ln>
                      <a:noFill/>
                    </a:ln>
                    <a:solidFill>
                      <a:schemeClr val="tx1"/>
                    </a:solidFill>
                    <a:effectLst/>
                    <a:cs typeface="Times New Roman" panose="02020603050405020304" pitchFamily="18" charset="0"/>
                  </a:rPr>
                  <a:t> : </a:t>
                </a:r>
                <a:r>
                  <a:rPr kumimoji="0" lang="zh-CN" altLang="zh-CN" b="0" i="0" u="none" strike="noStrike" cap="none" normalizeH="0" baseline="0" dirty="0">
                    <a:ln>
                      <a:noFill/>
                    </a:ln>
                    <a:solidFill>
                      <a:schemeClr val="tx1"/>
                    </a:solidFill>
                    <a:effectLst/>
                    <a:cs typeface="Times New Roman" panose="02020603050405020304" pitchFamily="18" charset="0"/>
                  </a:rPr>
                  <a:t>positive relationship</a:t>
                </a:r>
              </a:p>
              <a:p>
                <a:pPr lvl="1" defTabSz="914400" eaLnBrk="0" fontAlgn="base" hangingPunct="0">
                  <a:lnSpc>
                    <a:spcPct val="150000"/>
                  </a:lnSpc>
                  <a:spcBef>
                    <a:spcPct val="0"/>
                  </a:spcBef>
                  <a:spcAft>
                    <a:spcPct val="0"/>
                  </a:spcAft>
                  <a:buFontTx/>
                  <a:buChar char="•"/>
                </a:pPr>
                <a:r>
                  <a:rPr kumimoji="0" lang="zh-CN" altLang="zh-CN" b="0" i="0" u="none" strike="noStrike" cap="none" normalizeH="0" baseline="0" dirty="0">
                    <a:ln>
                      <a:noFill/>
                    </a:ln>
                    <a:solidFill>
                      <a:schemeClr val="tx1"/>
                    </a:solidFill>
                    <a:effectLst/>
                    <a:cs typeface="Times New Roman" panose="02020603050405020304" pitchFamily="18" charset="0"/>
                  </a:rPr>
                  <a:t>β1&lt;</a:t>
                </a:r>
                <a:r>
                  <a:rPr lang="en-US" altLang="zh-CN" dirty="0">
                    <a:cs typeface="Times New Roman" panose="02020603050405020304" pitchFamily="18" charset="0"/>
                  </a:rPr>
                  <a:t>0 : </a:t>
                </a:r>
                <a:r>
                  <a:rPr kumimoji="0" lang="zh-CN" altLang="zh-CN" b="0" i="0" u="none" strike="noStrike" cap="none" normalizeH="0" baseline="0" dirty="0">
                    <a:ln>
                      <a:noFill/>
                    </a:ln>
                    <a:solidFill>
                      <a:schemeClr val="tx1"/>
                    </a:solidFill>
                    <a:effectLst/>
                    <a:cs typeface="Times New Roman" panose="02020603050405020304" pitchFamily="18" charset="0"/>
                  </a:rPr>
                  <a:t>negative relationship</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cs typeface="Times New Roman" panose="02020603050405020304" pitchFamily="18" charset="0"/>
                </a:endParaRPr>
              </a:p>
            </p:txBody>
          </p:sp>
        </mc:Choice>
        <mc:Fallback>
          <p:sp>
            <p:nvSpPr>
              <p:cNvPr id="7" name="Rectangle 2">
                <a:extLst>
                  <a:ext uri="{FF2B5EF4-FFF2-40B4-BE49-F238E27FC236}">
                    <a16:creationId xmlns:a16="http://schemas.microsoft.com/office/drawing/2014/main" id="{472E46C7-0979-E597-3F0C-E814D4A9A2A1}"/>
                  </a:ext>
                </a:extLst>
              </p:cNvPr>
              <p:cNvSpPr>
                <a:spLocks noRot="1" noChangeAspect="1" noMove="1" noResize="1" noEditPoints="1" noAdjustHandles="1" noChangeArrowheads="1" noChangeShapeType="1" noTextEdit="1"/>
              </p:cNvSpPr>
              <p:nvPr/>
            </p:nvSpPr>
            <p:spPr bwMode="auto">
              <a:xfrm>
                <a:off x="1045028" y="2068510"/>
                <a:ext cx="6335486" cy="3373359"/>
              </a:xfrm>
              <a:prstGeom prst="rect">
                <a:avLst/>
              </a:prstGeom>
              <a:blipFill>
                <a:blip r:embed="rId2"/>
                <a:stretch>
                  <a:fillRect l="-76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2604949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5DD3B9-6939-35C8-8D3D-41BC35A49D3B}"/>
                  </a:ext>
                </a:extLst>
              </p:cNvPr>
              <p:cNvSpPr>
                <a:spLocks noGrp="1"/>
              </p:cNvSpPr>
              <p:nvPr>
                <p:ph idx="1"/>
              </p:nvPr>
            </p:nvSpPr>
            <p:spPr>
              <a:xfrm>
                <a:off x="411480" y="408215"/>
                <a:ext cx="7406640" cy="3394472"/>
              </a:xfrm>
            </p:spPr>
            <p:txBody>
              <a:bodyPr>
                <a:normAutofit/>
              </a:bodyPr>
              <a:lstStyle/>
              <a:p>
                <a:r>
                  <a:rPr lang="en-US" altLang="zh-CN" dirty="0"/>
                  <a:t>If you model:</a:t>
                </a:r>
              </a:p>
              <a:p>
                <a14:m>
                  <m:oMath xmlns:m="http://schemas.openxmlformats.org/officeDocument/2006/math">
                    <m:r>
                      <a:rPr lang="zh-CN" altLang="en-US" i="1">
                        <a:latin typeface="Cambria Math" panose="02040503050406030204" pitchFamily="18" charset="0"/>
                      </a:rPr>
                      <m:t>𝐻𝑜𝑢𝑠𝑖𝑛𝑔𝑃𝑟𝑖𝑐𝑒</m:t>
                    </m:r>
                    <m:r>
                      <a:rPr lang="en-US" altLang="zh-CN">
                        <a:latin typeface="Cambria Math" panose="02040503050406030204" pitchFamily="18" charset="0"/>
                      </a:rPr>
                      <m:t>=</m:t>
                    </m:r>
                    <m:sSub>
                      <m:sSubPr>
                        <m:ctrlPr>
                          <a:rPr lang="ar-AE" altLang="zh-CN" i="1">
                            <a:latin typeface="Cambria Math" panose="02040503050406030204" pitchFamily="18" charset="0"/>
                          </a:rPr>
                        </m:ctrlPr>
                      </m:sSubPr>
                      <m:e>
                        <m:r>
                          <a:rPr lang="zh-CN" altLang="ar-AE" i="1">
                            <a:latin typeface="Cambria Math" panose="02040503050406030204" pitchFamily="18" charset="0"/>
                          </a:rPr>
                          <m:t>𝛽</m:t>
                        </m:r>
                      </m:e>
                      <m:sub>
                        <m:r>
                          <a:rPr lang="ar-AE" altLang="zh-CN">
                            <a:latin typeface="Cambria Math" panose="02040503050406030204" pitchFamily="18" charset="0"/>
                          </a:rPr>
                          <m:t>0</m:t>
                        </m:r>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zh-CN" altLang="ar-AE" i="1">
                            <a:latin typeface="Cambria Math" panose="02040503050406030204" pitchFamily="18" charset="0"/>
                          </a:rPr>
                          <m:t>𝛽</m:t>
                        </m:r>
                      </m:e>
                      <m:sub>
                        <m:r>
                          <a:rPr lang="ar-AE" altLang="zh-CN">
                            <a:latin typeface="Cambria Math" panose="02040503050406030204" pitchFamily="18" charset="0"/>
                          </a:rPr>
                          <m:t>1</m:t>
                        </m:r>
                      </m:sub>
                    </m:sSub>
                    <m:d>
                      <m:dPr>
                        <m:ctrlPr>
                          <a:rPr lang="ar-AE" altLang="zh-CN" i="1">
                            <a:latin typeface="Cambria Math" panose="02040503050406030204" pitchFamily="18" charset="0"/>
                          </a:rPr>
                        </m:ctrlPr>
                      </m:dPr>
                      <m:e>
                        <m:r>
                          <a:rPr lang="zh-CN" altLang="ar-AE" i="1">
                            <a:latin typeface="Cambria Math" panose="02040503050406030204" pitchFamily="18" charset="0"/>
                          </a:rPr>
                          <m:t>𝐷𝑖𝑠𝑡𝑎𝑛𝑐𝑒𝑇𝑜𝐶𝐵𝐷</m:t>
                        </m:r>
                      </m:e>
                    </m:d>
                  </m:oMath>
                </a14:m>
                <a:endParaRPr lang="ar-AE"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𝛽</m:t>
                        </m:r>
                      </m:e>
                      <m:sub>
                        <m:r>
                          <a:rPr lang="en-US" altLang="zh-CN" i="1">
                            <a:latin typeface="Cambria Math" panose="02040503050406030204" pitchFamily="18" charset="0"/>
                          </a:rPr>
                          <m:t>0</m:t>
                        </m:r>
                      </m:sub>
                    </m:sSub>
                  </m:oMath>
                </a14:m>
                <a:r>
                  <a:rPr lang="el-GR" altLang="zh-CN" dirty="0"/>
                  <a:t> </a:t>
                </a:r>
                <a:r>
                  <a:rPr lang="en-US" altLang="zh-CN" dirty="0"/>
                  <a:t>represent intercept</a:t>
                </a:r>
                <a:endParaRPr lang="en-US" altLang="zh-CN" i="1" dirty="0">
                  <a:latin typeface="Cambria Math" panose="02040503050406030204" pitchFamily="18" charset="0"/>
                </a:endParaRP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𝛽</m:t>
                        </m:r>
                      </m:e>
                      <m:sub>
                        <m:r>
                          <a:rPr lang="en-US" altLang="zh-CN" b="0" i="1" smtClean="0">
                            <a:latin typeface="Cambria Math" panose="02040503050406030204" pitchFamily="18" charset="0"/>
                          </a:rPr>
                          <m:t>1</m:t>
                        </m:r>
                      </m:sub>
                    </m:sSub>
                  </m:oMath>
                </a14:m>
                <a:r>
                  <a:rPr lang="el-GR" altLang="zh-CN" dirty="0"/>
                  <a:t> </a:t>
                </a:r>
                <a:r>
                  <a:rPr lang="en-US" altLang="zh-CN" dirty="0"/>
                  <a:t>represent slope</a:t>
                </a:r>
              </a:p>
              <a:p>
                <a:pPr lvl="1"/>
                <a:endParaRPr lang="en-US" altLang="zh-CN" dirty="0"/>
              </a:p>
              <a:p>
                <a:endParaRPr lang="zh-CN" altLang="en-US" dirty="0"/>
              </a:p>
            </p:txBody>
          </p:sp>
        </mc:Choice>
        <mc:Fallback>
          <p:sp>
            <p:nvSpPr>
              <p:cNvPr id="3" name="Content Placeholder 2">
                <a:extLst>
                  <a:ext uri="{FF2B5EF4-FFF2-40B4-BE49-F238E27FC236}">
                    <a16:creationId xmlns:a16="http://schemas.microsoft.com/office/drawing/2014/main" id="{935DD3B9-6939-35C8-8D3D-41BC35A49D3B}"/>
                  </a:ext>
                </a:extLst>
              </p:cNvPr>
              <p:cNvSpPr>
                <a:spLocks noGrp="1" noRot="1" noChangeAspect="1" noMove="1" noResize="1" noEditPoints="1" noAdjustHandles="1" noChangeArrowheads="1" noChangeShapeType="1" noTextEdit="1"/>
              </p:cNvSpPr>
              <p:nvPr>
                <p:ph idx="1"/>
              </p:nvPr>
            </p:nvSpPr>
            <p:spPr>
              <a:xfrm>
                <a:off x="411480" y="408215"/>
                <a:ext cx="7406640" cy="3394472"/>
              </a:xfrm>
              <a:blipFill>
                <a:blip r:embed="rId2"/>
                <a:stretch>
                  <a:fillRect l="-1564" t="-1975"/>
                </a:stretch>
              </a:blipFill>
            </p:spPr>
            <p:txBody>
              <a:bodyPr/>
              <a:lstStyle/>
              <a:p>
                <a:r>
                  <a:rPr lang="zh-CN" altLang="en-US">
                    <a:noFill/>
                  </a:rPr>
                  <a:t> </a:t>
                </a:r>
              </a:p>
            </p:txBody>
          </p:sp>
        </mc:Fallback>
      </mc:AlternateContent>
      <p:sp>
        <p:nvSpPr>
          <p:cNvPr id="4" name="Slide Number Placeholder 3">
            <a:extLst>
              <a:ext uri="{FF2B5EF4-FFF2-40B4-BE49-F238E27FC236}">
                <a16:creationId xmlns:a16="http://schemas.microsoft.com/office/drawing/2014/main" id="{D0206A16-5DF4-4A5E-BFC3-9B0C775F62BD}"/>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2" name="Content Placeholder 2">
            <a:extLst>
              <a:ext uri="{FF2B5EF4-FFF2-40B4-BE49-F238E27FC236}">
                <a16:creationId xmlns:a16="http://schemas.microsoft.com/office/drawing/2014/main" id="{132BC49E-9665-245F-90C7-6DED2A67E29D}"/>
              </a:ext>
            </a:extLst>
          </p:cNvPr>
          <p:cNvSpPr txBox="1">
            <a:spLocks/>
          </p:cNvSpPr>
          <p:nvPr/>
        </p:nvSpPr>
        <p:spPr>
          <a:xfrm>
            <a:off x="411480" y="3074196"/>
            <a:ext cx="7406640" cy="111850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r>
              <a:rPr lang="en-US" altLang="zh-CN"/>
              <a:t>In simple regression, only one independent variable is used.</a:t>
            </a:r>
            <a:endParaRPr lang="zh-CN" altLang="en-US" dirty="0"/>
          </a:p>
        </p:txBody>
      </p:sp>
    </p:spTree>
    <p:extLst>
      <p:ext uri="{BB962C8B-B14F-4D97-AF65-F5344CB8AC3E}">
        <p14:creationId xmlns:p14="http://schemas.microsoft.com/office/powerpoint/2010/main" val="3627659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0BDA-EDC4-B81E-828C-F95AFEC15BE9}"/>
              </a:ext>
            </a:extLst>
          </p:cNvPr>
          <p:cNvSpPr>
            <a:spLocks noGrp="1"/>
          </p:cNvSpPr>
          <p:nvPr>
            <p:ph type="title"/>
          </p:nvPr>
        </p:nvSpPr>
        <p:spPr>
          <a:xfrm>
            <a:off x="411480" y="205979"/>
            <a:ext cx="7406640" cy="675764"/>
          </a:xfrm>
        </p:spPr>
        <p:txBody>
          <a:bodyPr>
            <a:normAutofit fontScale="90000"/>
          </a:bodyPr>
          <a:lstStyle/>
          <a:p>
            <a:r>
              <a:rPr lang="en-US" altLang="zh-CN" dirty="0"/>
              <a:t>Simple regression in ArcGIS Pro</a:t>
            </a:r>
            <a:endParaRPr lang="zh-CN" altLang="en-US" dirty="0"/>
          </a:p>
        </p:txBody>
      </p:sp>
      <p:pic>
        <p:nvPicPr>
          <p:cNvPr id="6" name="Content Placeholder 5">
            <a:extLst>
              <a:ext uri="{FF2B5EF4-FFF2-40B4-BE49-F238E27FC236}">
                <a16:creationId xmlns:a16="http://schemas.microsoft.com/office/drawing/2014/main" id="{61F855D8-CDF5-5559-12E3-DA018395BC55}"/>
              </a:ext>
            </a:extLst>
          </p:cNvPr>
          <p:cNvPicPr>
            <a:picLocks noGrp="1" noChangeAspect="1"/>
          </p:cNvPicPr>
          <p:nvPr>
            <p:ph idx="1"/>
          </p:nvPr>
        </p:nvPicPr>
        <p:blipFill>
          <a:blip r:embed="rId2"/>
          <a:stretch>
            <a:fillRect/>
          </a:stretch>
        </p:blipFill>
        <p:spPr>
          <a:xfrm>
            <a:off x="2441278" y="1028700"/>
            <a:ext cx="3347044" cy="3394075"/>
          </a:xfrm>
          <a:prstGeom prst="rect">
            <a:avLst/>
          </a:prstGeom>
        </p:spPr>
      </p:pic>
      <p:sp>
        <p:nvSpPr>
          <p:cNvPr id="4" name="Slide Number Placeholder 3">
            <a:extLst>
              <a:ext uri="{FF2B5EF4-FFF2-40B4-BE49-F238E27FC236}">
                <a16:creationId xmlns:a16="http://schemas.microsoft.com/office/drawing/2014/main" id="{C756EDC5-C5C9-CF27-5CB5-B5322BCD7A21}"/>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297220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7E47D-F8EA-2824-D0A9-57C01B9B9150}"/>
              </a:ext>
            </a:extLst>
          </p:cNvPr>
          <p:cNvSpPr>
            <a:spLocks noGrp="1"/>
          </p:cNvSpPr>
          <p:nvPr>
            <p:ph type="title"/>
          </p:nvPr>
        </p:nvSpPr>
        <p:spPr>
          <a:xfrm>
            <a:off x="412115" y="87936"/>
            <a:ext cx="7406640" cy="857250"/>
          </a:xfrm>
        </p:spPr>
        <p:txBody>
          <a:bodyPr/>
          <a:lstStyle/>
          <a:p>
            <a:r>
              <a:rPr lang="en-US" altLang="zh-CN" dirty="0"/>
              <a:t>Simple regression - slope</a:t>
            </a:r>
            <a:endParaRPr lang="zh-CN" altLang="en-US" dirty="0"/>
          </a:p>
        </p:txBody>
      </p:sp>
      <p:pic>
        <p:nvPicPr>
          <p:cNvPr id="6" name="Content Placeholder 5">
            <a:extLst>
              <a:ext uri="{FF2B5EF4-FFF2-40B4-BE49-F238E27FC236}">
                <a16:creationId xmlns:a16="http://schemas.microsoft.com/office/drawing/2014/main" id="{16EB18AC-3DF3-BEA7-8FC0-0989ABD78045}"/>
              </a:ext>
            </a:extLst>
          </p:cNvPr>
          <p:cNvPicPr>
            <a:picLocks noGrp="1" noChangeAspect="1"/>
          </p:cNvPicPr>
          <p:nvPr>
            <p:ph idx="1"/>
          </p:nvPr>
        </p:nvPicPr>
        <p:blipFill>
          <a:blip r:embed="rId2"/>
          <a:stretch>
            <a:fillRect/>
          </a:stretch>
        </p:blipFill>
        <p:spPr>
          <a:xfrm>
            <a:off x="410845" y="1480327"/>
            <a:ext cx="7407275" cy="1545638"/>
          </a:xfrm>
          <a:prstGeom prst="rect">
            <a:avLst/>
          </a:prstGeom>
        </p:spPr>
      </p:pic>
      <p:sp>
        <p:nvSpPr>
          <p:cNvPr id="4" name="Slide Number Placeholder 3">
            <a:extLst>
              <a:ext uri="{FF2B5EF4-FFF2-40B4-BE49-F238E27FC236}">
                <a16:creationId xmlns:a16="http://schemas.microsoft.com/office/drawing/2014/main" id="{B47A836F-6826-D89A-BAD8-9CD424EC155D}"/>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7" name="TextBox 6">
            <a:extLst>
              <a:ext uri="{FF2B5EF4-FFF2-40B4-BE49-F238E27FC236}">
                <a16:creationId xmlns:a16="http://schemas.microsoft.com/office/drawing/2014/main" id="{A64E743B-7087-258B-3512-807BE054D744}"/>
              </a:ext>
            </a:extLst>
          </p:cNvPr>
          <p:cNvSpPr txBox="1"/>
          <p:nvPr/>
        </p:nvSpPr>
        <p:spPr>
          <a:xfrm>
            <a:off x="412115" y="951032"/>
            <a:ext cx="3845379" cy="369332"/>
          </a:xfrm>
          <a:prstGeom prst="rect">
            <a:avLst/>
          </a:prstGeom>
          <a:noFill/>
        </p:spPr>
        <p:txBody>
          <a:bodyPr wrap="square" rtlCol="0">
            <a:spAutoFit/>
          </a:bodyPr>
          <a:lstStyle/>
          <a:p>
            <a:r>
              <a:rPr lang="en-US" altLang="zh-CN" dirty="0"/>
              <a:t>Meaning of slope and intercept</a:t>
            </a:r>
            <a:endParaRPr lang="zh-CN" altLang="en-US"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6533BB7-EE69-5C2B-9871-B482360E11DE}"/>
                  </a:ext>
                </a:extLst>
              </p:cNvPr>
              <p:cNvSpPr txBox="1"/>
              <p:nvPr/>
            </p:nvSpPr>
            <p:spPr>
              <a:xfrm>
                <a:off x="898071" y="3077503"/>
                <a:ext cx="604157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𝐻𝑜𝑢𝑠𝑖𝑛𝑔𝑃𝑟𝑖𝑐𝑒</m:t>
                      </m:r>
                      <m:r>
                        <a:rPr lang="en-US" altLang="zh-CN">
                          <a:latin typeface="Cambria Math" panose="02040503050406030204" pitchFamily="18" charset="0"/>
                        </a:rPr>
                        <m:t>=</m:t>
                      </m:r>
                      <m:sSub>
                        <m:sSubPr>
                          <m:ctrlPr>
                            <a:rPr lang="ar-AE" altLang="zh-CN" i="1">
                              <a:latin typeface="Cambria Math" panose="02040503050406030204" pitchFamily="18" charset="0"/>
                            </a:rPr>
                          </m:ctrlPr>
                        </m:sSubPr>
                        <m:e>
                          <m:r>
                            <a:rPr lang="zh-CN" altLang="ar-AE" i="1">
                              <a:latin typeface="Cambria Math" panose="02040503050406030204" pitchFamily="18" charset="0"/>
                            </a:rPr>
                            <m:t>𝛽</m:t>
                          </m:r>
                        </m:e>
                        <m:sub>
                          <m:r>
                            <a:rPr lang="ar-AE" altLang="zh-CN">
                              <a:latin typeface="Cambria Math" panose="02040503050406030204" pitchFamily="18" charset="0"/>
                            </a:rPr>
                            <m:t>0</m:t>
                          </m:r>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zh-CN" altLang="ar-AE" i="1">
                              <a:latin typeface="Cambria Math" panose="02040503050406030204" pitchFamily="18" charset="0"/>
                            </a:rPr>
                            <m:t>𝛽</m:t>
                          </m:r>
                        </m:e>
                        <m:sub>
                          <m:r>
                            <a:rPr lang="ar-AE" altLang="zh-CN">
                              <a:latin typeface="Cambria Math" panose="02040503050406030204" pitchFamily="18" charset="0"/>
                            </a:rPr>
                            <m:t>1</m:t>
                          </m:r>
                        </m:sub>
                      </m:sSub>
                      <m:d>
                        <m:dPr>
                          <m:ctrlPr>
                            <a:rPr lang="ar-AE" altLang="zh-CN" i="1">
                              <a:latin typeface="Cambria Math" panose="02040503050406030204" pitchFamily="18" charset="0"/>
                            </a:rPr>
                          </m:ctrlPr>
                        </m:dPr>
                        <m:e>
                          <m:r>
                            <a:rPr lang="en-US" altLang="zh-CN" b="0" i="1" smtClean="0">
                              <a:latin typeface="Cambria Math" panose="02040503050406030204" pitchFamily="18" charset="0"/>
                            </a:rPr>
                            <m:t>𝐴𝑔𝑒</m:t>
                          </m:r>
                          <m:r>
                            <a:rPr lang="en-US" altLang="zh-CN" b="0" i="1" smtClean="0">
                              <a:latin typeface="Cambria Math" panose="02040503050406030204" pitchFamily="18" charset="0"/>
                            </a:rPr>
                            <m:t> </m:t>
                          </m:r>
                          <m:r>
                            <a:rPr lang="en-US" altLang="zh-CN" b="0" i="1" smtClean="0">
                              <a:latin typeface="Cambria Math" panose="02040503050406030204" pitchFamily="18" charset="0"/>
                            </a:rPr>
                            <m:t>𝑜𝑓</m:t>
                          </m:r>
                          <m:r>
                            <a:rPr lang="en-US" altLang="zh-CN" b="0" i="1" smtClean="0">
                              <a:latin typeface="Cambria Math" panose="02040503050406030204" pitchFamily="18" charset="0"/>
                            </a:rPr>
                            <m:t> </m:t>
                          </m:r>
                          <m:r>
                            <a:rPr lang="en-US" altLang="zh-CN" b="0" i="1" smtClean="0">
                              <a:latin typeface="Cambria Math" panose="02040503050406030204" pitchFamily="18" charset="0"/>
                            </a:rPr>
                            <m:t>h</m:t>
                          </m:r>
                          <m:r>
                            <a:rPr lang="en-US" altLang="zh-CN" b="0" i="1" smtClean="0">
                              <a:latin typeface="Cambria Math" panose="02040503050406030204" pitchFamily="18" charset="0"/>
                            </a:rPr>
                            <m:t>𝑜𝑢𝑠𝑒</m:t>
                          </m:r>
                        </m:e>
                      </m:d>
                    </m:oMath>
                  </m:oMathPara>
                </a14:m>
                <a:endParaRPr lang="zh-CN" altLang="en-US" dirty="0"/>
              </a:p>
            </p:txBody>
          </p:sp>
        </mc:Choice>
        <mc:Fallback>
          <p:sp>
            <p:nvSpPr>
              <p:cNvPr id="5" name="TextBox 4">
                <a:extLst>
                  <a:ext uri="{FF2B5EF4-FFF2-40B4-BE49-F238E27FC236}">
                    <a16:creationId xmlns:a16="http://schemas.microsoft.com/office/drawing/2014/main" id="{06533BB7-EE69-5C2B-9871-B482360E11DE}"/>
                  </a:ext>
                </a:extLst>
              </p:cNvPr>
              <p:cNvSpPr txBox="1">
                <a:spLocks noRot="1" noChangeAspect="1" noMove="1" noResize="1" noEditPoints="1" noAdjustHandles="1" noChangeArrowheads="1" noChangeShapeType="1" noTextEdit="1"/>
              </p:cNvSpPr>
              <p:nvPr/>
            </p:nvSpPr>
            <p:spPr>
              <a:xfrm>
                <a:off x="898071" y="3077503"/>
                <a:ext cx="6041572" cy="369332"/>
              </a:xfrm>
              <a:prstGeom prst="rect">
                <a:avLst/>
              </a:prstGeom>
              <a:blipFill>
                <a:blip r:embed="rId3"/>
                <a:stretch>
                  <a:fillRect b="-133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F51B237-725B-0213-E898-A4C078799156}"/>
                  </a:ext>
                </a:extLst>
              </p:cNvPr>
              <p:cNvSpPr txBox="1"/>
              <p:nvPr/>
            </p:nvSpPr>
            <p:spPr>
              <a:xfrm>
                <a:off x="898071" y="3595396"/>
                <a:ext cx="6041572" cy="36933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ar-AE" altLang="zh-CN" i="1">
                              <a:latin typeface="Cambria Math" panose="02040503050406030204" pitchFamily="18" charset="0"/>
                            </a:rPr>
                          </m:ctrlPr>
                        </m:sSubPr>
                        <m:e>
                          <m:r>
                            <a:rPr lang="zh-CN" altLang="ar-AE" i="1">
                              <a:latin typeface="Cambria Math" panose="02040503050406030204" pitchFamily="18" charset="0"/>
                            </a:rPr>
                            <m:t>𝛽</m:t>
                          </m:r>
                        </m:e>
                        <m:sub>
                          <m:r>
                            <a:rPr lang="ar-AE" altLang="zh-CN">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12</m:t>
                      </m:r>
                    </m:oMath>
                  </m:oMathPara>
                </a14:m>
                <a:endParaRPr lang="zh-CN" altLang="en-US" dirty="0"/>
              </a:p>
            </p:txBody>
          </p:sp>
        </mc:Choice>
        <mc:Fallback>
          <p:sp>
            <p:nvSpPr>
              <p:cNvPr id="8" name="TextBox 7">
                <a:extLst>
                  <a:ext uri="{FF2B5EF4-FFF2-40B4-BE49-F238E27FC236}">
                    <a16:creationId xmlns:a16="http://schemas.microsoft.com/office/drawing/2014/main" id="{AF51B237-725B-0213-E898-A4C078799156}"/>
                  </a:ext>
                </a:extLst>
              </p:cNvPr>
              <p:cNvSpPr txBox="1">
                <a:spLocks noRot="1" noChangeAspect="1" noMove="1" noResize="1" noEditPoints="1" noAdjustHandles="1" noChangeArrowheads="1" noChangeShapeType="1" noTextEdit="1"/>
              </p:cNvSpPr>
              <p:nvPr/>
            </p:nvSpPr>
            <p:spPr>
              <a:xfrm>
                <a:off x="898071" y="3595396"/>
                <a:ext cx="6041572" cy="369332"/>
              </a:xfrm>
              <a:prstGeom prst="rect">
                <a:avLst/>
              </a:prstGeom>
              <a:blipFill>
                <a:blip r:embed="rId4"/>
                <a:stretch>
                  <a:fillRect b="-13333"/>
                </a:stretch>
              </a:blipFill>
            </p:spPr>
            <p:txBody>
              <a:bodyPr/>
              <a:lstStyle/>
              <a:p>
                <a:r>
                  <a:rPr lang="zh-CN" altLang="en-US">
                    <a:noFill/>
                  </a:rPr>
                  <a:t> </a:t>
                </a:r>
              </a:p>
            </p:txBody>
          </p:sp>
        </mc:Fallback>
      </mc:AlternateContent>
      <p:sp>
        <p:nvSpPr>
          <p:cNvPr id="9" name="Rectangle 8">
            <a:extLst>
              <a:ext uri="{FF2B5EF4-FFF2-40B4-BE49-F238E27FC236}">
                <a16:creationId xmlns:a16="http://schemas.microsoft.com/office/drawing/2014/main" id="{05623C6B-DE96-C591-4F60-591E40548E8A}"/>
              </a:ext>
            </a:extLst>
          </p:cNvPr>
          <p:cNvSpPr/>
          <p:nvPr/>
        </p:nvSpPr>
        <p:spPr>
          <a:xfrm>
            <a:off x="410845" y="1882676"/>
            <a:ext cx="2029006" cy="950928"/>
          </a:xfrm>
          <a:prstGeom prst="rect">
            <a:avLst/>
          </a:prstGeom>
          <a:noFill/>
          <a:ln w="19050">
            <a:solidFill>
              <a:srgbClr val="FF0000"/>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 name="TextBox 9">
            <a:extLst>
              <a:ext uri="{FF2B5EF4-FFF2-40B4-BE49-F238E27FC236}">
                <a16:creationId xmlns:a16="http://schemas.microsoft.com/office/drawing/2014/main" id="{2B5E32E7-770A-D942-056E-D542282228B7}"/>
              </a:ext>
            </a:extLst>
          </p:cNvPr>
          <p:cNvSpPr txBox="1"/>
          <p:nvPr/>
        </p:nvSpPr>
        <p:spPr>
          <a:xfrm>
            <a:off x="293913" y="4228130"/>
            <a:ext cx="7406639" cy="923330"/>
          </a:xfrm>
          <a:prstGeom prst="rect">
            <a:avLst/>
          </a:prstGeom>
          <a:noFill/>
        </p:spPr>
        <p:txBody>
          <a:bodyPr wrap="square" rtlCol="0">
            <a:spAutoFit/>
          </a:bodyPr>
          <a:lstStyle/>
          <a:p>
            <a:r>
              <a:rPr lang="en-US" altLang="zh-CN" dirty="0"/>
              <a:t>Conclusion: there is a positive relationship between the age of house and housing price, when there is one-unit increase in age of house, housing price  decrease 0.12 unit. </a:t>
            </a:r>
            <a:endParaRPr lang="zh-CN" altLang="en-US" dirty="0"/>
          </a:p>
        </p:txBody>
      </p:sp>
    </p:spTree>
    <p:extLst>
      <p:ext uri="{BB962C8B-B14F-4D97-AF65-F5344CB8AC3E}">
        <p14:creationId xmlns:p14="http://schemas.microsoft.com/office/powerpoint/2010/main" val="1614724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DBFA-1B08-1FF3-B784-2536E1D8F78B}"/>
              </a:ext>
            </a:extLst>
          </p:cNvPr>
          <p:cNvSpPr>
            <a:spLocks noGrp="1"/>
          </p:cNvSpPr>
          <p:nvPr>
            <p:ph type="title"/>
          </p:nvPr>
        </p:nvSpPr>
        <p:spPr/>
        <p:txBody>
          <a:bodyPr/>
          <a:lstStyle/>
          <a:p>
            <a:r>
              <a:rPr lang="en-US" altLang="zh-CN" dirty="0"/>
              <a:t>Simple regression - intercept</a:t>
            </a:r>
            <a:endParaRPr lang="zh-CN" altLang="en-US" dirty="0"/>
          </a:p>
        </p:txBody>
      </p:sp>
      <p:sp>
        <p:nvSpPr>
          <p:cNvPr id="4" name="Slide Number Placeholder 3">
            <a:extLst>
              <a:ext uri="{FF2B5EF4-FFF2-40B4-BE49-F238E27FC236}">
                <a16:creationId xmlns:a16="http://schemas.microsoft.com/office/drawing/2014/main" id="{4BAA6707-97A0-FB24-F444-B72AEB64B7FC}"/>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5" name="Content Placeholder 5">
            <a:extLst>
              <a:ext uri="{FF2B5EF4-FFF2-40B4-BE49-F238E27FC236}">
                <a16:creationId xmlns:a16="http://schemas.microsoft.com/office/drawing/2014/main" id="{D97E628A-5170-B90A-5311-E2837837019D}"/>
              </a:ext>
            </a:extLst>
          </p:cNvPr>
          <p:cNvPicPr>
            <a:picLocks noGrp="1" noChangeAspect="1"/>
          </p:cNvPicPr>
          <p:nvPr>
            <p:ph idx="1"/>
          </p:nvPr>
        </p:nvPicPr>
        <p:blipFill>
          <a:blip r:embed="rId2"/>
          <a:stretch>
            <a:fillRect/>
          </a:stretch>
        </p:blipFill>
        <p:spPr>
          <a:xfrm>
            <a:off x="500970" y="1152818"/>
            <a:ext cx="7407275" cy="1545638"/>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2F6E285-5993-EC72-EDD8-0ADA23B971B4}"/>
                  </a:ext>
                </a:extLst>
              </p:cNvPr>
              <p:cNvSpPr txBox="1"/>
              <p:nvPr/>
            </p:nvSpPr>
            <p:spPr>
              <a:xfrm>
                <a:off x="898071" y="2788045"/>
                <a:ext cx="604157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𝐻𝑜𝑢𝑠𝑖𝑛𝑔𝑃𝑟𝑖𝑐𝑒</m:t>
                      </m:r>
                      <m:r>
                        <a:rPr lang="en-US" altLang="zh-CN">
                          <a:latin typeface="Cambria Math" panose="02040503050406030204" pitchFamily="18" charset="0"/>
                        </a:rPr>
                        <m:t>=</m:t>
                      </m:r>
                      <m:r>
                        <a:rPr lang="en-US" altLang="zh-CN" b="0" i="1" smtClean="0">
                          <a:latin typeface="Cambria Math" panose="02040503050406030204" pitchFamily="18" charset="0"/>
                        </a:rPr>
                        <m:t>30</m:t>
                      </m:r>
                      <m:r>
                        <a:rPr lang="en-US" altLang="zh-CN" b="0" i="1" smtClean="0">
                          <a:latin typeface="Cambria Math" panose="02040503050406030204" pitchFamily="18" charset="0"/>
                        </a:rPr>
                        <m:t>.</m:t>
                      </m:r>
                      <m:r>
                        <a:rPr lang="en-US" altLang="zh-CN" b="0" i="1" smtClean="0">
                          <a:latin typeface="Cambria Math" panose="02040503050406030204" pitchFamily="18" charset="0"/>
                        </a:rPr>
                        <m:t>978678</m:t>
                      </m:r>
                      <m:r>
                        <a:rPr lang="en-US" altLang="zh-CN" b="0" i="1" smtClean="0">
                          <a:latin typeface="Cambria Math" panose="02040503050406030204" pitchFamily="18" charset="0"/>
                        </a:rPr>
                        <m:t> − </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123163</m:t>
                      </m:r>
                      <m:r>
                        <a:rPr lang="en-US" altLang="zh-CN" b="0" i="1" smtClean="0">
                          <a:latin typeface="Cambria Math" panose="02040503050406030204" pitchFamily="18" charset="0"/>
                        </a:rPr>
                        <m:t>∗</m:t>
                      </m:r>
                      <m:d>
                        <m:dPr>
                          <m:ctrlPr>
                            <a:rPr lang="ar-AE" altLang="zh-CN" i="1">
                              <a:latin typeface="Cambria Math" panose="02040503050406030204" pitchFamily="18" charset="0"/>
                            </a:rPr>
                          </m:ctrlPr>
                        </m:dPr>
                        <m:e>
                          <m:r>
                            <a:rPr lang="en-US" altLang="zh-CN" b="0" i="1" smtClean="0">
                              <a:latin typeface="Cambria Math" panose="02040503050406030204" pitchFamily="18" charset="0"/>
                            </a:rPr>
                            <m:t>𝐴𝑔𝑒</m:t>
                          </m:r>
                          <m:r>
                            <a:rPr lang="en-US" altLang="zh-CN" b="0" i="1" smtClean="0">
                              <a:latin typeface="Cambria Math" panose="02040503050406030204" pitchFamily="18" charset="0"/>
                            </a:rPr>
                            <m:t> </m:t>
                          </m:r>
                          <m:r>
                            <a:rPr lang="en-US" altLang="zh-CN" b="0" i="1" smtClean="0">
                              <a:latin typeface="Cambria Math" panose="02040503050406030204" pitchFamily="18" charset="0"/>
                            </a:rPr>
                            <m:t>𝑜𝑓</m:t>
                          </m:r>
                          <m:r>
                            <a:rPr lang="en-US" altLang="zh-CN" b="0" i="1" smtClean="0">
                              <a:latin typeface="Cambria Math" panose="02040503050406030204" pitchFamily="18" charset="0"/>
                            </a:rPr>
                            <m:t> </m:t>
                          </m:r>
                          <m:r>
                            <a:rPr lang="en-US" altLang="zh-CN" b="0" i="1" smtClean="0">
                              <a:latin typeface="Cambria Math" panose="02040503050406030204" pitchFamily="18" charset="0"/>
                            </a:rPr>
                            <m:t>h</m:t>
                          </m:r>
                          <m:r>
                            <a:rPr lang="en-US" altLang="zh-CN" b="0" i="1" smtClean="0">
                              <a:latin typeface="Cambria Math" panose="02040503050406030204" pitchFamily="18" charset="0"/>
                            </a:rPr>
                            <m:t>𝑜𝑢𝑠𝑒</m:t>
                          </m:r>
                        </m:e>
                      </m:d>
                    </m:oMath>
                  </m:oMathPara>
                </a14:m>
                <a:endParaRPr lang="zh-CN" altLang="en-US" dirty="0"/>
              </a:p>
            </p:txBody>
          </p:sp>
        </mc:Choice>
        <mc:Fallback>
          <p:sp>
            <p:nvSpPr>
              <p:cNvPr id="6" name="TextBox 5">
                <a:extLst>
                  <a:ext uri="{FF2B5EF4-FFF2-40B4-BE49-F238E27FC236}">
                    <a16:creationId xmlns:a16="http://schemas.microsoft.com/office/drawing/2014/main" id="{E2F6E285-5993-EC72-EDD8-0ADA23B971B4}"/>
                  </a:ext>
                </a:extLst>
              </p:cNvPr>
              <p:cNvSpPr txBox="1">
                <a:spLocks noRot="1" noChangeAspect="1" noMove="1" noResize="1" noEditPoints="1" noAdjustHandles="1" noChangeArrowheads="1" noChangeShapeType="1" noTextEdit="1"/>
              </p:cNvSpPr>
              <p:nvPr/>
            </p:nvSpPr>
            <p:spPr>
              <a:xfrm>
                <a:off x="898071" y="2788045"/>
                <a:ext cx="6041572" cy="369332"/>
              </a:xfrm>
              <a:prstGeom prst="rect">
                <a:avLst/>
              </a:prstGeom>
              <a:blipFill>
                <a:blip r:embed="rId3"/>
                <a:stretch>
                  <a:fillRect l="-303" b="-13115"/>
                </a:stretch>
              </a:blipFill>
            </p:spPr>
            <p:txBody>
              <a:bodyPr/>
              <a:lstStyle/>
              <a:p>
                <a:r>
                  <a:rPr lang="zh-CN" altLang="en-US">
                    <a:noFill/>
                  </a:rPr>
                  <a:t> </a:t>
                </a:r>
              </a:p>
            </p:txBody>
          </p:sp>
        </mc:Fallback>
      </mc:AlternateContent>
      <p:sp>
        <p:nvSpPr>
          <p:cNvPr id="7" name="Rectangle 1">
            <a:extLst>
              <a:ext uri="{FF2B5EF4-FFF2-40B4-BE49-F238E27FC236}">
                <a16:creationId xmlns:a16="http://schemas.microsoft.com/office/drawing/2014/main" id="{505BCE4F-EAB0-1253-9E3C-244A52ADE613}"/>
              </a:ext>
            </a:extLst>
          </p:cNvPr>
          <p:cNvSpPr>
            <a:spLocks noChangeArrowheads="1"/>
          </p:cNvSpPr>
          <p:nvPr/>
        </p:nvSpPr>
        <p:spPr bwMode="auto">
          <a:xfrm>
            <a:off x="1019658" y="3390517"/>
            <a:ext cx="619028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dirty="0">
                <a:ln>
                  <a:noFill/>
                </a:ln>
                <a:solidFill>
                  <a:schemeClr val="tx1"/>
                </a:solidFill>
                <a:effectLst/>
              </a:rPr>
              <a:t>What does the intercept (</a:t>
            </a:r>
            <a:r>
              <a:rPr kumimoji="0" lang="en-US" altLang="zh-CN" sz="1800" b="1" i="0" u="none" strike="noStrike" cap="none" normalizeH="0" baseline="0" dirty="0">
                <a:ln>
                  <a:noFill/>
                </a:ln>
                <a:solidFill>
                  <a:schemeClr val="tx1"/>
                </a:solidFill>
                <a:effectLst/>
              </a:rPr>
              <a:t>30.978678</a:t>
            </a:r>
            <a:r>
              <a:rPr kumimoji="0" lang="zh-CN" altLang="zh-CN" sz="1800" b="1" i="0" u="none" strike="noStrike" cap="none" normalizeH="0" baseline="0" dirty="0">
                <a:ln>
                  <a:noFill/>
                </a:ln>
                <a:solidFill>
                  <a:schemeClr val="tx1"/>
                </a:solidFill>
                <a:effectLst/>
              </a:rPr>
              <a:t>) represent in this model?</a:t>
            </a:r>
            <a:br>
              <a:rPr kumimoji="0" lang="zh-CN" altLang="zh-CN" sz="1800" b="0" i="0" u="none" strike="noStrike" cap="none" normalizeH="0" baseline="0" dirty="0">
                <a:ln>
                  <a:noFill/>
                </a:ln>
                <a:solidFill>
                  <a:schemeClr val="tx1"/>
                </a:solidFill>
                <a:effectLst/>
              </a:rPr>
            </a:br>
            <a:r>
              <a:rPr kumimoji="0" lang="zh-CN" altLang="zh-CN" sz="1800" b="0" i="0" u="none" strike="noStrike" cap="none" normalizeH="0" baseline="0" dirty="0">
                <a:ln>
                  <a:noFill/>
                </a:ln>
                <a:solidFill>
                  <a:schemeClr val="tx1"/>
                </a:solidFill>
                <a:effectLst/>
              </a:rPr>
              <a:t>→ What does Y equal when </a:t>
            </a:r>
            <a:r>
              <a:rPr kumimoji="0" lang="en-US" altLang="zh-CN" sz="1800" b="0" i="0" u="none" strike="noStrike" cap="none" normalizeH="0" baseline="0" dirty="0">
                <a:ln>
                  <a:noFill/>
                </a:ln>
                <a:solidFill>
                  <a:schemeClr val="tx1"/>
                </a:solidFill>
                <a:effectLst/>
              </a:rPr>
              <a:t>the age of the house</a:t>
            </a:r>
            <a:r>
              <a:rPr kumimoji="0" lang="zh-CN" altLang="zh-CN" sz="1800" b="0" i="0" u="none" strike="noStrike" cap="none" normalizeH="0" baseline="0" dirty="0">
                <a:ln>
                  <a:noFill/>
                </a:ln>
                <a:solidFill>
                  <a:schemeClr val="tx1"/>
                </a:solidFill>
                <a:effectLst/>
              </a:rPr>
              <a:t> =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dirty="0">
                <a:ln>
                  <a:noFill/>
                </a:ln>
                <a:solidFill>
                  <a:schemeClr val="tx1"/>
                </a:solidFill>
                <a:effectLst/>
              </a:rPr>
              <a:t>Does </a:t>
            </a:r>
            <a:r>
              <a:rPr kumimoji="0" lang="en-US" altLang="zh-CN" sz="1800" b="1" i="0" u="none" strike="noStrike" cap="none" normalizeH="0" baseline="0" dirty="0">
                <a:ln>
                  <a:noFill/>
                </a:ln>
                <a:solidFill>
                  <a:schemeClr val="tx1"/>
                </a:solidFill>
                <a:effectLst/>
              </a:rPr>
              <a:t>Age of house</a:t>
            </a:r>
            <a:r>
              <a:rPr kumimoji="0" lang="zh-CN" altLang="zh-CN" sz="1800" b="1" i="0" u="none" strike="noStrike" cap="none" normalizeH="0" baseline="0" dirty="0">
                <a:ln>
                  <a:noFill/>
                </a:ln>
                <a:solidFill>
                  <a:schemeClr val="tx1"/>
                </a:solidFill>
                <a:effectLst/>
              </a:rPr>
              <a:t> = 0 make practical sense in the real world?</a:t>
            </a:r>
            <a:br>
              <a:rPr kumimoji="0" lang="zh-CN" altLang="zh-CN" sz="1800" b="0" i="0" u="none" strike="noStrike" cap="none" normalizeH="0" baseline="0" dirty="0">
                <a:ln>
                  <a:noFill/>
                </a:ln>
                <a:solidFill>
                  <a:schemeClr val="tx1"/>
                </a:solidFill>
                <a:effectLst/>
              </a:rPr>
            </a:br>
            <a:r>
              <a:rPr kumimoji="0" lang="zh-CN" altLang="zh-CN" sz="1800" b="0" i="0" u="none" strike="noStrike" cap="none" normalizeH="0" baseline="0" dirty="0">
                <a:ln>
                  <a:noFill/>
                </a:ln>
                <a:solidFill>
                  <a:schemeClr val="tx1"/>
                </a:solidFill>
                <a:effectLst/>
              </a:rPr>
              <a:t>→ Can a house have </a:t>
            </a:r>
            <a:r>
              <a:rPr kumimoji="0" lang="en-US" altLang="zh-CN" sz="1800" b="0" i="0" u="none" strike="noStrike" cap="none" normalizeH="0" baseline="0" dirty="0">
                <a:ln>
                  <a:noFill/>
                </a:ln>
                <a:solidFill>
                  <a:schemeClr val="tx1"/>
                </a:solidFill>
                <a:effectLst/>
              </a:rPr>
              <a:t>an age of 0</a:t>
            </a:r>
            <a:r>
              <a:rPr kumimoji="0" lang="zh-CN" altLang="zh-CN" sz="18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402389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DC91-AFC0-6930-55B9-8253B8A960F9}"/>
              </a:ext>
            </a:extLst>
          </p:cNvPr>
          <p:cNvSpPr>
            <a:spLocks noGrp="1"/>
          </p:cNvSpPr>
          <p:nvPr>
            <p:ph type="title"/>
          </p:nvPr>
        </p:nvSpPr>
        <p:spPr>
          <a:xfrm>
            <a:off x="411480" y="205979"/>
            <a:ext cx="7406640" cy="626778"/>
          </a:xfrm>
        </p:spPr>
        <p:txBody>
          <a:bodyPr>
            <a:normAutofit fontScale="90000"/>
          </a:bodyPr>
          <a:lstStyle/>
          <a:p>
            <a:r>
              <a:rPr lang="en-US" altLang="zh-CN" dirty="0"/>
              <a:t>OLS Results</a:t>
            </a:r>
            <a:endParaRPr lang="zh-CN" altLang="en-US" dirty="0"/>
          </a:p>
        </p:txBody>
      </p:sp>
      <p:sp>
        <p:nvSpPr>
          <p:cNvPr id="4" name="Slide Number Placeholder 3">
            <a:extLst>
              <a:ext uri="{FF2B5EF4-FFF2-40B4-BE49-F238E27FC236}">
                <a16:creationId xmlns:a16="http://schemas.microsoft.com/office/drawing/2014/main" id="{92C6A8BF-3436-D2C2-6BDF-406201812617}"/>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10" name="Picture 9">
            <a:extLst>
              <a:ext uri="{FF2B5EF4-FFF2-40B4-BE49-F238E27FC236}">
                <a16:creationId xmlns:a16="http://schemas.microsoft.com/office/drawing/2014/main" id="{3528BDF3-28E3-4792-CA34-CE6AD7545C49}"/>
              </a:ext>
            </a:extLst>
          </p:cNvPr>
          <p:cNvPicPr>
            <a:picLocks noChangeAspect="1"/>
          </p:cNvPicPr>
          <p:nvPr/>
        </p:nvPicPr>
        <p:blipFill>
          <a:blip r:embed="rId2"/>
          <a:stretch>
            <a:fillRect/>
          </a:stretch>
        </p:blipFill>
        <p:spPr>
          <a:xfrm>
            <a:off x="530678" y="1036147"/>
            <a:ext cx="7406640" cy="1535603"/>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C56111E-B2A6-F3C6-50BE-1E43576BBD48}"/>
                  </a:ext>
                </a:extLst>
              </p:cNvPr>
              <p:cNvSpPr txBox="1"/>
              <p:nvPr/>
            </p:nvSpPr>
            <p:spPr>
              <a:xfrm>
                <a:off x="1094014" y="2545056"/>
                <a:ext cx="604157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𝐻𝑜𝑢𝑠𝑖𝑛𝑔𝑃𝑟𝑖𝑐𝑒</m:t>
                      </m:r>
                      <m:r>
                        <a:rPr lang="en-US" altLang="zh-CN">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34</m:t>
                      </m:r>
                      <m:r>
                        <a:rPr lang="en-US" altLang="zh-CN" b="0" i="1" smtClean="0">
                          <a:latin typeface="Cambria Math" panose="02040503050406030204" pitchFamily="18" charset="0"/>
                        </a:rPr>
                        <m:t>.</m:t>
                      </m:r>
                      <m:r>
                        <a:rPr lang="en-US" altLang="zh-CN" b="0" i="1" smtClean="0">
                          <a:latin typeface="Cambria Math" panose="02040503050406030204" pitchFamily="18" charset="0"/>
                        </a:rPr>
                        <m:t>67</m:t>
                      </m:r>
                      <m:r>
                        <a:rPr lang="en-US" altLang="zh-CN" b="0" i="1" smtClean="0">
                          <a:latin typeface="Cambria Math" panose="02040503050406030204" pitchFamily="18" charset="0"/>
                        </a:rPr>
                        <m:t>+</m:t>
                      </m:r>
                      <m:r>
                        <a:rPr lang="en-US" altLang="zh-CN" b="0" i="1" smtClean="0">
                          <a:latin typeface="Cambria Math" panose="02040503050406030204" pitchFamily="18" charset="0"/>
                        </a:rPr>
                        <m:t>9</m:t>
                      </m:r>
                      <m:r>
                        <a:rPr lang="en-US" altLang="zh-CN" b="0" i="1" smtClean="0">
                          <a:latin typeface="Cambria Math" panose="02040503050406030204" pitchFamily="18" charset="0"/>
                        </a:rPr>
                        <m:t>.</m:t>
                      </m:r>
                      <m:r>
                        <a:rPr lang="en-US" altLang="zh-CN" b="0" i="1" smtClean="0">
                          <a:latin typeface="Cambria Math" panose="02040503050406030204" pitchFamily="18" charset="0"/>
                        </a:rPr>
                        <m:t>10</m:t>
                      </m:r>
                      <m:r>
                        <a:rPr lang="en-US" altLang="zh-CN" b="0" i="1" smtClean="0">
                          <a:latin typeface="Cambria Math" panose="02040503050406030204" pitchFamily="18" charset="0"/>
                        </a:rPr>
                        <m:t>∗</m:t>
                      </m:r>
                      <m:d>
                        <m:dPr>
                          <m:ctrlPr>
                            <a:rPr lang="ar-AE" altLang="zh-CN" i="1">
                              <a:latin typeface="Cambria Math" panose="02040503050406030204" pitchFamily="18" charset="0"/>
                            </a:rPr>
                          </m:ctrlPr>
                        </m:dPr>
                        <m:e>
                          <m:r>
                            <a:rPr lang="en-US" altLang="zh-CN" b="0" i="1" smtClean="0">
                              <a:latin typeface="Cambria Math" panose="02040503050406030204" pitchFamily="18" charset="0"/>
                            </a:rPr>
                            <m:t>𝑛𝑢𝑚𝑏𝑒𝑟</m:t>
                          </m:r>
                          <m:r>
                            <a:rPr lang="en-US" altLang="zh-CN" b="0" i="1" smtClean="0">
                              <a:latin typeface="Cambria Math" panose="02040503050406030204" pitchFamily="18" charset="0"/>
                            </a:rPr>
                            <m:t> </m:t>
                          </m:r>
                          <m:r>
                            <a:rPr lang="en-US" altLang="zh-CN" b="0" i="1" smtClean="0">
                              <a:latin typeface="Cambria Math" panose="02040503050406030204" pitchFamily="18" charset="0"/>
                            </a:rPr>
                            <m:t>𝑜𝑓</m:t>
                          </m:r>
                          <m:r>
                            <a:rPr lang="en-US" altLang="zh-CN" b="0" i="1" smtClean="0">
                              <a:latin typeface="Cambria Math" panose="02040503050406030204" pitchFamily="18" charset="0"/>
                            </a:rPr>
                            <m:t> </m:t>
                          </m:r>
                          <m:r>
                            <a:rPr lang="en-US" altLang="zh-CN" b="0" i="1" smtClean="0">
                              <a:latin typeface="Cambria Math" panose="02040503050406030204" pitchFamily="18" charset="0"/>
                            </a:rPr>
                            <m:t>𝑏𝑒𝑑𝑟𝑜𝑜𝑚</m:t>
                          </m:r>
                        </m:e>
                      </m:d>
                    </m:oMath>
                  </m:oMathPara>
                </a14:m>
                <a:endParaRPr lang="zh-CN" altLang="en-US" dirty="0"/>
              </a:p>
            </p:txBody>
          </p:sp>
        </mc:Choice>
        <mc:Fallback>
          <p:sp>
            <p:nvSpPr>
              <p:cNvPr id="11" name="TextBox 10">
                <a:extLst>
                  <a:ext uri="{FF2B5EF4-FFF2-40B4-BE49-F238E27FC236}">
                    <a16:creationId xmlns:a16="http://schemas.microsoft.com/office/drawing/2014/main" id="{BC56111E-B2A6-F3C6-50BE-1E43576BBD48}"/>
                  </a:ext>
                </a:extLst>
              </p:cNvPr>
              <p:cNvSpPr txBox="1">
                <a:spLocks noRot="1" noChangeAspect="1" noMove="1" noResize="1" noEditPoints="1" noAdjustHandles="1" noChangeArrowheads="1" noChangeShapeType="1" noTextEdit="1"/>
              </p:cNvSpPr>
              <p:nvPr/>
            </p:nvSpPr>
            <p:spPr>
              <a:xfrm>
                <a:off x="1094014" y="2545056"/>
                <a:ext cx="6041572" cy="369332"/>
              </a:xfrm>
              <a:prstGeom prst="rect">
                <a:avLst/>
              </a:prstGeom>
              <a:blipFill>
                <a:blip r:embed="rId3"/>
                <a:stretch>
                  <a:fillRect b="-13115"/>
                </a:stretch>
              </a:blipFill>
            </p:spPr>
            <p:txBody>
              <a:bodyPr/>
              <a:lstStyle/>
              <a:p>
                <a:r>
                  <a:rPr lang="zh-CN" altLang="en-US">
                    <a:noFill/>
                  </a:rPr>
                  <a:t> </a:t>
                </a:r>
              </a:p>
            </p:txBody>
          </p:sp>
        </mc:Fallback>
      </mc:AlternateContent>
      <p:sp>
        <p:nvSpPr>
          <p:cNvPr id="13" name="TextBox 12">
            <a:extLst>
              <a:ext uri="{FF2B5EF4-FFF2-40B4-BE49-F238E27FC236}">
                <a16:creationId xmlns:a16="http://schemas.microsoft.com/office/drawing/2014/main" id="{71AABE89-FC9C-1663-4599-0AE6446A5FD9}"/>
              </a:ext>
            </a:extLst>
          </p:cNvPr>
          <p:cNvSpPr txBox="1"/>
          <p:nvPr/>
        </p:nvSpPr>
        <p:spPr>
          <a:xfrm>
            <a:off x="764994" y="3136992"/>
            <a:ext cx="7406640" cy="1477328"/>
          </a:xfrm>
          <a:prstGeom prst="rect">
            <a:avLst/>
          </a:prstGeom>
          <a:noFill/>
        </p:spPr>
        <p:txBody>
          <a:bodyPr wrap="square">
            <a:spAutoFit/>
          </a:bodyPr>
          <a:lstStyle/>
          <a:p>
            <a:pPr>
              <a:buNone/>
            </a:pPr>
            <a:r>
              <a:rPr lang="en-US" altLang="zh-CN" dirty="0"/>
              <a:t>The slope for RM is 9.10. What does this mean?</a:t>
            </a:r>
          </a:p>
          <a:p>
            <a:pPr lvl="1"/>
            <a:r>
              <a:rPr lang="en-US" altLang="zh-CN" dirty="0"/>
              <a:t>A. For each additional room, housing price increases by 9.10 units.</a:t>
            </a:r>
            <a:br>
              <a:rPr lang="en-US" altLang="zh-CN" dirty="0"/>
            </a:br>
            <a:r>
              <a:rPr lang="en-US" altLang="zh-CN" dirty="0"/>
              <a:t>B. For each additional room, housing price decreases by 9.10 units.</a:t>
            </a:r>
            <a:br>
              <a:rPr lang="en-US" altLang="zh-CN" dirty="0"/>
            </a:br>
            <a:r>
              <a:rPr lang="en-US" altLang="zh-CN" dirty="0"/>
              <a:t>C. When RM = 9.10, Y equals 1.</a:t>
            </a:r>
            <a:br>
              <a:rPr lang="en-US" altLang="zh-CN" dirty="0"/>
            </a:br>
            <a:r>
              <a:rPr lang="en-US" altLang="zh-CN" dirty="0"/>
              <a:t>D. RM explains 9.10% of the variation in Y.</a:t>
            </a:r>
          </a:p>
        </p:txBody>
      </p:sp>
      <p:sp>
        <p:nvSpPr>
          <p:cNvPr id="15" name="TextBox 14">
            <a:extLst>
              <a:ext uri="{FF2B5EF4-FFF2-40B4-BE49-F238E27FC236}">
                <a16:creationId xmlns:a16="http://schemas.microsoft.com/office/drawing/2014/main" id="{4D7FF64A-CC9F-2EF6-2537-537E1E12AA0C}"/>
              </a:ext>
            </a:extLst>
          </p:cNvPr>
          <p:cNvSpPr txBox="1"/>
          <p:nvPr/>
        </p:nvSpPr>
        <p:spPr>
          <a:xfrm>
            <a:off x="1027884" y="3115759"/>
            <a:ext cx="7143750" cy="1477328"/>
          </a:xfrm>
          <a:prstGeom prst="rect">
            <a:avLst/>
          </a:prstGeom>
          <a:noFill/>
        </p:spPr>
        <p:txBody>
          <a:bodyPr wrap="square">
            <a:spAutoFit/>
          </a:bodyPr>
          <a:lstStyle/>
          <a:p>
            <a:pPr>
              <a:buNone/>
            </a:pPr>
            <a:r>
              <a:rPr lang="en-US" altLang="zh-CN" b="1" dirty="0"/>
              <a:t>Is the relationship between RM and housing price positive or negative?</a:t>
            </a:r>
          </a:p>
          <a:p>
            <a:pPr>
              <a:buNone/>
            </a:pPr>
            <a:r>
              <a:rPr lang="en-US" altLang="zh-CN" dirty="0"/>
              <a:t>A. Negative, because the intercept is negative.</a:t>
            </a:r>
            <a:br>
              <a:rPr lang="en-US" altLang="zh-CN" dirty="0"/>
            </a:br>
            <a:r>
              <a:rPr lang="en-US" altLang="zh-CN" dirty="0"/>
              <a:t>B. Positive, because the coefficient is greater than 0.</a:t>
            </a:r>
            <a:br>
              <a:rPr lang="en-US" altLang="zh-CN" dirty="0"/>
            </a:br>
            <a:r>
              <a:rPr lang="en-US" altLang="zh-CN" dirty="0"/>
              <a:t>C. Negative, because the p-value is small.</a:t>
            </a:r>
            <a:br>
              <a:rPr lang="en-US" altLang="zh-CN" dirty="0"/>
            </a:br>
            <a:r>
              <a:rPr lang="en-US" altLang="zh-CN" dirty="0"/>
              <a:t>D. Cannot be determined.</a:t>
            </a:r>
          </a:p>
        </p:txBody>
      </p:sp>
    </p:spTree>
    <p:extLst>
      <p:ext uri="{BB962C8B-B14F-4D97-AF65-F5344CB8AC3E}">
        <p14:creationId xmlns:p14="http://schemas.microsoft.com/office/powerpoint/2010/main" val="194777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200152"/>
            <a:ext cx="7406640" cy="1445078"/>
          </a:xfrm>
        </p:spPr>
        <p:txBody>
          <a:bodyPr>
            <a:normAutofit/>
          </a:bodyPr>
          <a:lstStyle/>
          <a:p>
            <a:pPr marL="0" indent="0">
              <a:buNone/>
            </a:pPr>
            <a:r>
              <a:rPr lang="en-US" sz="2400" dirty="0"/>
              <a:t>y = β</a:t>
            </a:r>
            <a:r>
              <a:rPr lang="en-US" sz="2400" baseline="-25000" dirty="0"/>
              <a:t>0 </a:t>
            </a:r>
            <a:r>
              <a:rPr lang="en-US" sz="2400" dirty="0"/>
              <a:t>+ β</a:t>
            </a:r>
            <a:r>
              <a:rPr lang="en-US" sz="2400" baseline="-25000" dirty="0"/>
              <a:t>1</a:t>
            </a:r>
            <a:r>
              <a:rPr lang="en-US" sz="2400" dirty="0"/>
              <a:t>x</a:t>
            </a:r>
            <a:r>
              <a:rPr lang="en-US" sz="2400" baseline="-25000" dirty="0"/>
              <a:t>1 </a:t>
            </a:r>
            <a:r>
              <a:rPr lang="en-US" sz="2400" dirty="0"/>
              <a:t>+ β</a:t>
            </a:r>
            <a:r>
              <a:rPr lang="en-US" sz="2400" baseline="-25000" dirty="0"/>
              <a:t>2</a:t>
            </a:r>
            <a:r>
              <a:rPr lang="en-US" sz="2400" dirty="0"/>
              <a:t>x</a:t>
            </a:r>
            <a:r>
              <a:rPr lang="en-US" sz="2400" baseline="-25000" dirty="0"/>
              <a:t>2 </a:t>
            </a:r>
            <a:r>
              <a:rPr lang="en-US" sz="2400" dirty="0"/>
              <a:t>+ β</a:t>
            </a:r>
            <a:r>
              <a:rPr lang="en-US" sz="2400" baseline="-25000" dirty="0"/>
              <a:t>3</a:t>
            </a:r>
            <a:r>
              <a:rPr lang="en-US" sz="2400" dirty="0"/>
              <a:t>x</a:t>
            </a:r>
            <a:r>
              <a:rPr lang="en-US" sz="2400" baseline="-25000" dirty="0"/>
              <a:t>3 </a:t>
            </a:r>
            <a:r>
              <a:rPr lang="en-US" sz="2400" dirty="0"/>
              <a:t>+ ……….. β</a:t>
            </a:r>
            <a:r>
              <a:rPr lang="en-US" sz="2400" baseline="-25000" dirty="0" err="1"/>
              <a:t>n</a:t>
            </a:r>
            <a:r>
              <a:rPr lang="en-US" sz="2400" dirty="0" err="1"/>
              <a:t>x</a:t>
            </a:r>
            <a:r>
              <a:rPr lang="en-US" sz="2400" baseline="-25000" dirty="0" err="1"/>
              <a:t>n</a:t>
            </a:r>
            <a:r>
              <a:rPr lang="en-US" sz="2400" baseline="-25000" dirty="0"/>
              <a:t> </a:t>
            </a:r>
            <a:r>
              <a:rPr lang="en-US" sz="2400" dirty="0"/>
              <a:t>+ ε</a:t>
            </a:r>
          </a:p>
          <a:p>
            <a:pPr marL="0" indent="0">
              <a:buNone/>
            </a:pPr>
            <a:endParaRPr lang="en-US" sz="2400" dirty="0"/>
          </a:p>
          <a:p>
            <a:pPr marL="0" indent="0">
              <a:buNone/>
            </a:pPr>
            <a:r>
              <a:rPr lang="en-US" sz="2400" dirty="0"/>
              <a:t>Predict Y using more than one independent variable</a:t>
            </a:r>
          </a:p>
          <a:p>
            <a:pPr marL="0" indent="0">
              <a:buNone/>
            </a:pPr>
            <a:endParaRPr lang="en-US" sz="2400" dirty="0"/>
          </a:p>
        </p:txBody>
      </p:sp>
      <p:sp>
        <p:nvSpPr>
          <p:cNvPr id="4" name="Title 1">
            <a:extLst>
              <a:ext uri="{FF2B5EF4-FFF2-40B4-BE49-F238E27FC236}">
                <a16:creationId xmlns:a16="http://schemas.microsoft.com/office/drawing/2014/main" id="{B0D9B524-C43C-4344-B30F-FCE1653E9359}"/>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a:t>
            </a:r>
            <a:r>
              <a:rPr lang="en-US" altLang="zh-CN" dirty="0">
                <a:solidFill>
                  <a:srgbClr val="7030A0"/>
                </a:solidFill>
              </a:rPr>
              <a:t>ultiple Regression</a:t>
            </a:r>
            <a:endParaRPr lang="en-US" dirty="0">
              <a:solidFill>
                <a:srgbClr val="7030A0"/>
              </a:solidFill>
            </a:endParaRPr>
          </a:p>
        </p:txBody>
      </p:sp>
      <p:cxnSp>
        <p:nvCxnSpPr>
          <p:cNvPr id="5" name="Straight Connector 4">
            <a:extLst>
              <a:ext uri="{FF2B5EF4-FFF2-40B4-BE49-F238E27FC236}">
                <a16:creationId xmlns:a16="http://schemas.microsoft.com/office/drawing/2014/main" id="{FC5161DF-F5A8-44F2-A918-A09311CE249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F45E5AB-C8B3-4C0E-A8AD-10AF384AA3C4}"/>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7" name="Picture 6">
            <a:extLst>
              <a:ext uri="{FF2B5EF4-FFF2-40B4-BE49-F238E27FC236}">
                <a16:creationId xmlns:a16="http://schemas.microsoft.com/office/drawing/2014/main" id="{C233AF68-0D3D-3509-DDA2-FADC151BA381}"/>
              </a:ext>
            </a:extLst>
          </p:cNvPr>
          <p:cNvPicPr>
            <a:picLocks noChangeAspect="1"/>
          </p:cNvPicPr>
          <p:nvPr/>
        </p:nvPicPr>
        <p:blipFill>
          <a:blip r:embed="rId3"/>
          <a:stretch>
            <a:fillRect/>
          </a:stretch>
        </p:blipFill>
        <p:spPr>
          <a:xfrm>
            <a:off x="411480" y="2571750"/>
            <a:ext cx="7019613" cy="2364501"/>
          </a:xfrm>
          <a:prstGeom prst="rect">
            <a:avLst/>
          </a:prstGeom>
        </p:spPr>
      </p:pic>
    </p:spTree>
    <p:extLst>
      <p:ext uri="{BB962C8B-B14F-4D97-AF65-F5344CB8AC3E}">
        <p14:creationId xmlns:p14="http://schemas.microsoft.com/office/powerpoint/2010/main" val="3244783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54C39-F948-FF57-69D9-3EE16C0CACBB}"/>
              </a:ext>
            </a:extLst>
          </p:cNvPr>
          <p:cNvSpPr>
            <a:spLocks noGrp="1"/>
          </p:cNvSpPr>
          <p:nvPr>
            <p:ph idx="1"/>
          </p:nvPr>
        </p:nvSpPr>
        <p:spPr/>
        <p:txBody>
          <a:bodyPr>
            <a:normAutofit fontScale="92500" lnSpcReduction="20000"/>
          </a:bodyPr>
          <a:lstStyle/>
          <a:p>
            <a:r>
              <a:rPr lang="en-US" altLang="zh-CN" dirty="0"/>
              <a:t>Which geographic studies would require multiple regression?</a:t>
            </a:r>
          </a:p>
          <a:p>
            <a:pPr marL="0" indent="0">
              <a:buNone/>
            </a:pPr>
            <a:endParaRPr lang="en-US" altLang="zh-CN" dirty="0"/>
          </a:p>
          <a:p>
            <a:pPr marL="0" indent="0">
              <a:buNone/>
            </a:pPr>
            <a:r>
              <a:rPr lang="en-US" altLang="zh-CN" dirty="0"/>
              <a:t>A. Predicting crop yield using rainfall only</a:t>
            </a:r>
            <a:br>
              <a:rPr lang="en-US" altLang="zh-CN" dirty="0"/>
            </a:br>
            <a:r>
              <a:rPr lang="en-US" altLang="zh-CN" dirty="0"/>
              <a:t>B. Predicting flood risk using elevation, slope, and land cover</a:t>
            </a:r>
            <a:br>
              <a:rPr lang="en-US" altLang="zh-CN" dirty="0"/>
            </a:br>
            <a:r>
              <a:rPr lang="en-US" altLang="zh-CN" dirty="0"/>
              <a:t>C. Predicting crime rate using income, unemployment, and education</a:t>
            </a:r>
            <a:br>
              <a:rPr lang="en-US" altLang="zh-CN" dirty="0"/>
            </a:br>
            <a:r>
              <a:rPr lang="en-US" altLang="zh-CN" dirty="0"/>
              <a:t>D. Measuring river length</a:t>
            </a:r>
          </a:p>
          <a:p>
            <a:endParaRPr lang="zh-CN" altLang="en-US" dirty="0"/>
          </a:p>
        </p:txBody>
      </p:sp>
      <p:sp>
        <p:nvSpPr>
          <p:cNvPr id="4" name="Slide Number Placeholder 3">
            <a:extLst>
              <a:ext uri="{FF2B5EF4-FFF2-40B4-BE49-F238E27FC236}">
                <a16:creationId xmlns:a16="http://schemas.microsoft.com/office/drawing/2014/main" id="{D3B42070-200C-B8F3-48B3-F3AE915AC92F}"/>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6" name="TextBox 5">
            <a:extLst>
              <a:ext uri="{FF2B5EF4-FFF2-40B4-BE49-F238E27FC236}">
                <a16:creationId xmlns:a16="http://schemas.microsoft.com/office/drawing/2014/main" id="{99F1658B-28D1-DCB0-09E7-B54A34C93A44}"/>
              </a:ext>
            </a:extLst>
          </p:cNvPr>
          <p:cNvSpPr txBox="1"/>
          <p:nvPr/>
        </p:nvSpPr>
        <p:spPr>
          <a:xfrm>
            <a:off x="411480" y="548877"/>
            <a:ext cx="4114800" cy="369332"/>
          </a:xfrm>
          <a:prstGeom prst="rect">
            <a:avLst/>
          </a:prstGeom>
          <a:noFill/>
        </p:spPr>
        <p:txBody>
          <a:bodyPr wrap="square">
            <a:spAutoFit/>
          </a:bodyPr>
          <a:lstStyle/>
          <a:p>
            <a:r>
              <a:rPr lang="en-US" altLang="zh-CN" dirty="0"/>
              <a:t>Multiple Answers</a:t>
            </a:r>
            <a:endParaRPr lang="zh-CN" altLang="en-US" dirty="0"/>
          </a:p>
        </p:txBody>
      </p:sp>
    </p:spTree>
    <p:extLst>
      <p:ext uri="{BB962C8B-B14F-4D97-AF65-F5344CB8AC3E}">
        <p14:creationId xmlns:p14="http://schemas.microsoft.com/office/powerpoint/2010/main" val="44883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FEDD107-C546-8BFC-C98F-85C923F53039}"/>
              </a:ext>
            </a:extLst>
          </p:cNvPr>
          <p:cNvPicPr>
            <a:picLocks noGrp="1" noChangeAspect="1"/>
          </p:cNvPicPr>
          <p:nvPr>
            <p:ph idx="1"/>
          </p:nvPr>
        </p:nvPicPr>
        <p:blipFill>
          <a:blip r:embed="rId2"/>
          <a:stretch>
            <a:fillRect/>
          </a:stretch>
        </p:blipFill>
        <p:spPr>
          <a:xfrm>
            <a:off x="412115" y="540797"/>
            <a:ext cx="7407275" cy="2545314"/>
          </a:xfrm>
          <a:prstGeom prst="rect">
            <a:avLst/>
          </a:prstGeom>
        </p:spPr>
      </p:pic>
      <p:sp>
        <p:nvSpPr>
          <p:cNvPr id="4" name="Slide Number Placeholder 3">
            <a:extLst>
              <a:ext uri="{FF2B5EF4-FFF2-40B4-BE49-F238E27FC236}">
                <a16:creationId xmlns:a16="http://schemas.microsoft.com/office/drawing/2014/main" id="{E5A6E0F8-D3AA-BE63-A49B-710E1E792733}"/>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7" name="Title 1">
            <a:extLst>
              <a:ext uri="{FF2B5EF4-FFF2-40B4-BE49-F238E27FC236}">
                <a16:creationId xmlns:a16="http://schemas.microsoft.com/office/drawing/2014/main" id="{A8ADE74F-0488-8270-5644-A32E8742B9AD}"/>
              </a:ext>
            </a:extLst>
          </p:cNvPr>
          <p:cNvSpPr>
            <a:spLocks noGrp="1"/>
          </p:cNvSpPr>
          <p:nvPr>
            <p:ph type="title"/>
          </p:nvPr>
        </p:nvSpPr>
        <p:spPr>
          <a:xfrm>
            <a:off x="412115" y="87936"/>
            <a:ext cx="7406640" cy="524385"/>
          </a:xfrm>
        </p:spPr>
        <p:txBody>
          <a:bodyPr>
            <a:normAutofit/>
          </a:bodyPr>
          <a:lstStyle/>
          <a:p>
            <a:r>
              <a:rPr lang="en-US" altLang="zh-CN" sz="2800" dirty="0"/>
              <a:t>Multiple regression</a:t>
            </a:r>
            <a:endParaRPr lang="zh-CN" altLang="en-US" sz="2800"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86DD53F-468F-DCE1-AF32-394C283695FA}"/>
                  </a:ext>
                </a:extLst>
              </p:cNvPr>
              <p:cNvSpPr txBox="1"/>
              <p:nvPr/>
            </p:nvSpPr>
            <p:spPr>
              <a:xfrm>
                <a:off x="1142275" y="3721891"/>
                <a:ext cx="6564811" cy="1077218"/>
              </a:xfrm>
              <a:prstGeom prst="rect">
                <a:avLst/>
              </a:prstGeom>
              <a:noFill/>
            </p:spPr>
            <p:txBody>
              <a:bodyPr wrap="square">
                <a:spAutoFit/>
              </a:bodyPr>
              <a:lstStyle/>
              <a:p>
                <a:r>
                  <a:rPr lang="en-US" altLang="zh-CN" sz="1600" b="1" dirty="0"/>
                  <a:t>A. </a:t>
                </a:r>
                <a14:m>
                  <m:oMath xmlns:m="http://schemas.openxmlformats.org/officeDocument/2006/math">
                    <m:r>
                      <a:rPr lang="zh-CN" altLang="en-US" sz="1600" i="1"/>
                      <m:t>𝑌</m:t>
                    </m:r>
                    <m:r>
                      <a:rPr lang="en-US" altLang="zh-CN" sz="1600"/>
                      <m:t>=</m:t>
                    </m:r>
                    <m:r>
                      <a:rPr lang="en-US" altLang="zh-CN" sz="1600"/>
                      <m:t>34</m:t>
                    </m:r>
                    <m:r>
                      <a:rPr lang="en-US" altLang="zh-CN" sz="1600"/>
                      <m:t>.</m:t>
                    </m:r>
                    <m:r>
                      <a:rPr lang="en-US" altLang="zh-CN" sz="1600"/>
                      <m:t>873</m:t>
                    </m:r>
                    <m:r>
                      <a:rPr lang="en-US" altLang="zh-CN" sz="1600"/>
                      <m:t>−</m:t>
                    </m:r>
                    <m:r>
                      <a:rPr lang="en-US" altLang="zh-CN" sz="1600"/>
                      <m:t>0</m:t>
                    </m:r>
                    <m:r>
                      <a:rPr lang="en-US" altLang="zh-CN" sz="1600"/>
                      <m:t>.</m:t>
                    </m:r>
                    <m:r>
                      <a:rPr lang="en-US" altLang="zh-CN" sz="1600"/>
                      <m:t>334</m:t>
                    </m:r>
                    <m:d>
                      <m:dPr>
                        <m:ctrlPr>
                          <a:rPr lang="ar-AE" altLang="zh-CN" sz="1600" i="1"/>
                        </m:ctrlPr>
                      </m:dPr>
                      <m:e>
                        <m:r>
                          <a:rPr lang="zh-CN" altLang="ar-AE" sz="1600" i="1"/>
                          <m:t>𝐶𝑅𝐼𝑀</m:t>
                        </m:r>
                      </m:e>
                    </m:d>
                    <m:r>
                      <a:rPr lang="ar-AE" altLang="zh-CN" sz="1600"/>
                      <m:t>−</m:t>
                    </m:r>
                    <m:r>
                      <a:rPr lang="ar-AE" altLang="zh-CN" sz="1600"/>
                      <m:t>0</m:t>
                    </m:r>
                    <m:r>
                      <a:rPr lang="ar-AE" altLang="zh-CN" sz="1600"/>
                      <m:t>.</m:t>
                    </m:r>
                    <m:r>
                      <a:rPr lang="ar-AE" altLang="zh-CN" sz="1600"/>
                      <m:t>125</m:t>
                    </m:r>
                    <m:d>
                      <m:dPr>
                        <m:ctrlPr>
                          <a:rPr lang="ar-AE" altLang="zh-CN" sz="1600" i="1"/>
                        </m:ctrlPr>
                      </m:dPr>
                      <m:e>
                        <m:r>
                          <a:rPr lang="zh-CN" altLang="ar-AE" sz="1600" i="1"/>
                          <m:t>𝐴𝐺𝐸</m:t>
                        </m:r>
                      </m:e>
                    </m:d>
                    <m:r>
                      <a:rPr lang="ar-AE" altLang="zh-CN" sz="1600"/>
                      <m:t>−</m:t>
                    </m:r>
                    <m:r>
                      <a:rPr lang="ar-AE" altLang="zh-CN" sz="1600"/>
                      <m:t>0</m:t>
                    </m:r>
                    <m:r>
                      <a:rPr lang="ar-AE" altLang="zh-CN" sz="1600"/>
                      <m:t>.</m:t>
                    </m:r>
                    <m:r>
                      <a:rPr lang="ar-AE" altLang="zh-CN" sz="1600"/>
                      <m:t>675</m:t>
                    </m:r>
                    <m:d>
                      <m:dPr>
                        <m:ctrlPr>
                          <a:rPr lang="ar-AE" altLang="zh-CN" sz="1600" i="1"/>
                        </m:ctrlPr>
                      </m:dPr>
                      <m:e>
                        <m:r>
                          <a:rPr lang="zh-CN" altLang="ar-AE" sz="1600" i="1"/>
                          <m:t>𝐷𝐼𝑆</m:t>
                        </m:r>
                      </m:e>
                    </m:d>
                  </m:oMath>
                </a14:m>
                <a:endParaRPr lang="ar-AE" altLang="zh-CN" sz="1600" dirty="0"/>
              </a:p>
              <a:p>
                <a:r>
                  <a:rPr lang="en-US" altLang="zh-CN" sz="1600" b="1" dirty="0"/>
                  <a:t>B. </a:t>
                </a:r>
                <a14:m>
                  <m:oMath xmlns:m="http://schemas.openxmlformats.org/officeDocument/2006/math">
                    <m:r>
                      <a:rPr lang="zh-CN" altLang="en-US" sz="1600" i="1"/>
                      <m:t>𝑌</m:t>
                    </m:r>
                    <m:r>
                      <a:rPr lang="en-US" altLang="zh-CN" sz="1600"/>
                      <m:t>=−</m:t>
                    </m:r>
                    <m:r>
                      <a:rPr lang="en-US" altLang="zh-CN" sz="1600"/>
                      <m:t>34</m:t>
                    </m:r>
                    <m:r>
                      <a:rPr lang="en-US" altLang="zh-CN" sz="1600"/>
                      <m:t>.</m:t>
                    </m:r>
                    <m:r>
                      <a:rPr lang="en-US" altLang="zh-CN" sz="1600"/>
                      <m:t>873</m:t>
                    </m:r>
                    <m:r>
                      <a:rPr lang="en-US" altLang="zh-CN" sz="1600"/>
                      <m:t>−</m:t>
                    </m:r>
                    <m:r>
                      <a:rPr lang="en-US" altLang="zh-CN" sz="1600"/>
                      <m:t>0</m:t>
                    </m:r>
                    <m:r>
                      <a:rPr lang="en-US" altLang="zh-CN" sz="1600"/>
                      <m:t>.</m:t>
                    </m:r>
                    <m:r>
                      <a:rPr lang="en-US" altLang="zh-CN" sz="1600"/>
                      <m:t>334</m:t>
                    </m:r>
                    <m:d>
                      <m:dPr>
                        <m:ctrlPr>
                          <a:rPr lang="ar-AE" altLang="zh-CN" sz="1600" i="1"/>
                        </m:ctrlPr>
                      </m:dPr>
                      <m:e>
                        <m:r>
                          <a:rPr lang="zh-CN" altLang="ar-AE" sz="1600" i="1"/>
                          <m:t>𝐶𝑅𝐼𝑀</m:t>
                        </m:r>
                      </m:e>
                    </m:d>
                    <m:r>
                      <a:rPr lang="ar-AE" altLang="zh-CN" sz="1600"/>
                      <m:t>−</m:t>
                    </m:r>
                    <m:r>
                      <a:rPr lang="ar-AE" altLang="zh-CN" sz="1600"/>
                      <m:t>0</m:t>
                    </m:r>
                    <m:r>
                      <a:rPr lang="ar-AE" altLang="zh-CN" sz="1600"/>
                      <m:t>.</m:t>
                    </m:r>
                    <m:r>
                      <a:rPr lang="ar-AE" altLang="zh-CN" sz="1600"/>
                      <m:t>125</m:t>
                    </m:r>
                    <m:d>
                      <m:dPr>
                        <m:ctrlPr>
                          <a:rPr lang="ar-AE" altLang="zh-CN" sz="1600" i="1"/>
                        </m:ctrlPr>
                      </m:dPr>
                      <m:e>
                        <m:r>
                          <a:rPr lang="zh-CN" altLang="ar-AE" sz="1600" i="1"/>
                          <m:t>𝐴𝐺𝐸</m:t>
                        </m:r>
                      </m:e>
                    </m:d>
                    <m:r>
                      <a:rPr lang="ar-AE" altLang="zh-CN" sz="1600"/>
                      <m:t>−</m:t>
                    </m:r>
                    <m:r>
                      <a:rPr lang="ar-AE" altLang="zh-CN" sz="1600"/>
                      <m:t>0</m:t>
                    </m:r>
                    <m:r>
                      <a:rPr lang="ar-AE" altLang="zh-CN" sz="1600"/>
                      <m:t>.</m:t>
                    </m:r>
                    <m:r>
                      <a:rPr lang="ar-AE" altLang="zh-CN" sz="1600"/>
                      <m:t>675</m:t>
                    </m:r>
                    <m:d>
                      <m:dPr>
                        <m:ctrlPr>
                          <a:rPr lang="ar-AE" altLang="zh-CN" sz="1600" i="1"/>
                        </m:ctrlPr>
                      </m:dPr>
                      <m:e>
                        <m:r>
                          <a:rPr lang="zh-CN" altLang="ar-AE" sz="1600" i="1"/>
                          <m:t>𝐷𝐼𝑆</m:t>
                        </m:r>
                      </m:e>
                    </m:d>
                  </m:oMath>
                </a14:m>
                <a:endParaRPr lang="ar-AE" altLang="zh-CN" sz="1600" dirty="0"/>
              </a:p>
              <a:p>
                <a:r>
                  <a:rPr lang="en-US" altLang="zh-CN" sz="1600" b="1" dirty="0"/>
                  <a:t>C. </a:t>
                </a:r>
                <a14:m>
                  <m:oMath xmlns:m="http://schemas.openxmlformats.org/officeDocument/2006/math">
                    <m:r>
                      <a:rPr lang="zh-CN" altLang="en-US" sz="1600" i="1"/>
                      <m:t>𝑌</m:t>
                    </m:r>
                    <m:r>
                      <a:rPr lang="en-US" altLang="zh-CN" sz="1600"/>
                      <m:t>=</m:t>
                    </m:r>
                    <m:r>
                      <a:rPr lang="en-US" altLang="zh-CN" sz="1600"/>
                      <m:t>34</m:t>
                    </m:r>
                    <m:r>
                      <a:rPr lang="en-US" altLang="zh-CN" sz="1600"/>
                      <m:t>.</m:t>
                    </m:r>
                    <m:r>
                      <a:rPr lang="en-US" altLang="zh-CN" sz="1600"/>
                      <m:t>873</m:t>
                    </m:r>
                    <m:r>
                      <a:rPr lang="en-US" altLang="zh-CN" sz="1600"/>
                      <m:t>+</m:t>
                    </m:r>
                    <m:r>
                      <a:rPr lang="en-US" altLang="zh-CN" sz="1600"/>
                      <m:t>0</m:t>
                    </m:r>
                    <m:r>
                      <a:rPr lang="en-US" altLang="zh-CN" sz="1600"/>
                      <m:t>.</m:t>
                    </m:r>
                    <m:r>
                      <a:rPr lang="en-US" altLang="zh-CN" sz="1600"/>
                      <m:t>334</m:t>
                    </m:r>
                    <m:d>
                      <m:dPr>
                        <m:ctrlPr>
                          <a:rPr lang="ar-AE" altLang="zh-CN" sz="1600" i="1"/>
                        </m:ctrlPr>
                      </m:dPr>
                      <m:e>
                        <m:r>
                          <a:rPr lang="zh-CN" altLang="ar-AE" sz="1600" i="1"/>
                          <m:t>𝐶𝑅𝐼𝑀</m:t>
                        </m:r>
                      </m:e>
                    </m:d>
                    <m:r>
                      <a:rPr lang="ar-AE" altLang="zh-CN" sz="1600"/>
                      <m:t>+</m:t>
                    </m:r>
                    <m:r>
                      <a:rPr lang="ar-AE" altLang="zh-CN" sz="1600"/>
                      <m:t>0</m:t>
                    </m:r>
                    <m:r>
                      <a:rPr lang="ar-AE" altLang="zh-CN" sz="1600"/>
                      <m:t>.</m:t>
                    </m:r>
                    <m:r>
                      <a:rPr lang="ar-AE" altLang="zh-CN" sz="1600"/>
                      <m:t>125</m:t>
                    </m:r>
                    <m:d>
                      <m:dPr>
                        <m:ctrlPr>
                          <a:rPr lang="ar-AE" altLang="zh-CN" sz="1600" i="1"/>
                        </m:ctrlPr>
                      </m:dPr>
                      <m:e>
                        <m:r>
                          <a:rPr lang="zh-CN" altLang="ar-AE" sz="1600" i="1"/>
                          <m:t>𝐴𝐺𝐸</m:t>
                        </m:r>
                      </m:e>
                    </m:d>
                    <m:r>
                      <a:rPr lang="ar-AE" altLang="zh-CN" sz="1600"/>
                      <m:t>+</m:t>
                    </m:r>
                    <m:r>
                      <a:rPr lang="ar-AE" altLang="zh-CN" sz="1600"/>
                      <m:t>0</m:t>
                    </m:r>
                    <m:r>
                      <a:rPr lang="ar-AE" altLang="zh-CN" sz="1600"/>
                      <m:t>.</m:t>
                    </m:r>
                    <m:r>
                      <a:rPr lang="ar-AE" altLang="zh-CN" sz="1600"/>
                      <m:t>675</m:t>
                    </m:r>
                    <m:d>
                      <m:dPr>
                        <m:ctrlPr>
                          <a:rPr lang="ar-AE" altLang="zh-CN" sz="1600" i="1"/>
                        </m:ctrlPr>
                      </m:dPr>
                      <m:e>
                        <m:r>
                          <a:rPr lang="zh-CN" altLang="ar-AE" sz="1600" i="1"/>
                          <m:t>𝐷𝐼𝑆</m:t>
                        </m:r>
                      </m:e>
                    </m:d>
                  </m:oMath>
                </a14:m>
                <a:endParaRPr lang="ar-AE" altLang="zh-CN" sz="1600" dirty="0"/>
              </a:p>
              <a:p>
                <a:r>
                  <a:rPr lang="en-US" altLang="zh-CN" sz="1600" b="1" dirty="0"/>
                  <a:t>D. </a:t>
                </a:r>
                <a14:m>
                  <m:oMath xmlns:m="http://schemas.openxmlformats.org/officeDocument/2006/math">
                    <m:r>
                      <a:rPr lang="zh-CN" altLang="en-US" sz="1600" i="1"/>
                      <m:t>𝑌</m:t>
                    </m:r>
                    <m:r>
                      <a:rPr lang="en-US" altLang="zh-CN" sz="1600"/>
                      <m:t>=</m:t>
                    </m:r>
                    <m:r>
                      <a:rPr lang="en-US" altLang="zh-CN" sz="1600"/>
                      <m:t>34</m:t>
                    </m:r>
                    <m:r>
                      <a:rPr lang="en-US" altLang="zh-CN" sz="1600"/>
                      <m:t>.</m:t>
                    </m:r>
                    <m:r>
                      <a:rPr lang="en-US" altLang="zh-CN" sz="1600"/>
                      <m:t>873</m:t>
                    </m:r>
                    <m:r>
                      <a:rPr lang="en-US" altLang="zh-CN" sz="1600"/>
                      <m:t>−</m:t>
                    </m:r>
                    <m:r>
                      <a:rPr lang="en-US" altLang="zh-CN" sz="1600"/>
                      <m:t>0</m:t>
                    </m:r>
                    <m:r>
                      <a:rPr lang="en-US" altLang="zh-CN" sz="1600"/>
                      <m:t>.</m:t>
                    </m:r>
                    <m:r>
                      <a:rPr lang="en-US" altLang="zh-CN" sz="1600"/>
                      <m:t>334</m:t>
                    </m:r>
                    <m:d>
                      <m:dPr>
                        <m:ctrlPr>
                          <a:rPr lang="ar-AE" altLang="zh-CN" sz="1600" i="1"/>
                        </m:ctrlPr>
                      </m:dPr>
                      <m:e>
                        <m:r>
                          <a:rPr lang="zh-CN" altLang="ar-AE" sz="1600" i="1"/>
                          <m:t>𝐶𝑅𝐼𝑀</m:t>
                        </m:r>
                      </m:e>
                    </m:d>
                    <m:r>
                      <a:rPr lang="ar-AE" altLang="zh-CN" sz="1600"/>
                      <m:t>+</m:t>
                    </m:r>
                    <m:r>
                      <a:rPr lang="ar-AE" altLang="zh-CN" sz="1600"/>
                      <m:t>0</m:t>
                    </m:r>
                    <m:r>
                      <a:rPr lang="ar-AE" altLang="zh-CN" sz="1600"/>
                      <m:t>.</m:t>
                    </m:r>
                    <m:r>
                      <a:rPr lang="ar-AE" altLang="zh-CN" sz="1600"/>
                      <m:t>125</m:t>
                    </m:r>
                    <m:d>
                      <m:dPr>
                        <m:ctrlPr>
                          <a:rPr lang="ar-AE" altLang="zh-CN" sz="1600" i="1"/>
                        </m:ctrlPr>
                      </m:dPr>
                      <m:e>
                        <m:r>
                          <a:rPr lang="zh-CN" altLang="ar-AE" sz="1600" i="1"/>
                          <m:t>𝐴𝐺𝐸</m:t>
                        </m:r>
                      </m:e>
                    </m:d>
                    <m:r>
                      <a:rPr lang="ar-AE" altLang="zh-CN" sz="1600"/>
                      <m:t>−</m:t>
                    </m:r>
                    <m:r>
                      <a:rPr lang="ar-AE" altLang="zh-CN" sz="1600"/>
                      <m:t>0</m:t>
                    </m:r>
                    <m:r>
                      <a:rPr lang="ar-AE" altLang="zh-CN" sz="1600"/>
                      <m:t>.</m:t>
                    </m:r>
                    <m:r>
                      <a:rPr lang="ar-AE" altLang="zh-CN" sz="1600"/>
                      <m:t>675</m:t>
                    </m:r>
                    <m:d>
                      <m:dPr>
                        <m:ctrlPr>
                          <a:rPr lang="ar-AE" altLang="zh-CN" sz="1600" i="1"/>
                        </m:ctrlPr>
                      </m:dPr>
                      <m:e>
                        <m:r>
                          <a:rPr lang="zh-CN" altLang="ar-AE" sz="1600" i="1"/>
                          <m:t>𝐷𝐼𝑆</m:t>
                        </m:r>
                      </m:e>
                    </m:d>
                  </m:oMath>
                </a14:m>
                <a:endParaRPr lang="ar-AE" altLang="zh-CN" sz="1600" dirty="0"/>
              </a:p>
            </p:txBody>
          </p:sp>
        </mc:Choice>
        <mc:Fallback>
          <p:sp>
            <p:nvSpPr>
              <p:cNvPr id="3" name="TextBox 2">
                <a:extLst>
                  <a:ext uri="{FF2B5EF4-FFF2-40B4-BE49-F238E27FC236}">
                    <a16:creationId xmlns:a16="http://schemas.microsoft.com/office/drawing/2014/main" id="{086DD53F-468F-DCE1-AF32-394C283695FA}"/>
                  </a:ext>
                </a:extLst>
              </p:cNvPr>
              <p:cNvSpPr txBox="1">
                <a:spLocks noRot="1" noChangeAspect="1" noMove="1" noResize="1" noEditPoints="1" noAdjustHandles="1" noChangeArrowheads="1" noChangeShapeType="1" noTextEdit="1"/>
              </p:cNvSpPr>
              <p:nvPr/>
            </p:nvSpPr>
            <p:spPr>
              <a:xfrm>
                <a:off x="1142275" y="3721891"/>
                <a:ext cx="6564811" cy="1077218"/>
              </a:xfrm>
              <a:prstGeom prst="rect">
                <a:avLst/>
              </a:prstGeom>
              <a:blipFill>
                <a:blip r:embed="rId3"/>
                <a:stretch>
                  <a:fillRect l="-464" t="-1705" b="-6818"/>
                </a:stretch>
              </a:blipFill>
            </p:spPr>
            <p:txBody>
              <a:bodyPr/>
              <a:lstStyle/>
              <a:p>
                <a:r>
                  <a:rPr lang="zh-CN" altLang="en-US">
                    <a:noFill/>
                  </a:rPr>
                  <a:t> </a:t>
                </a:r>
              </a:p>
            </p:txBody>
          </p:sp>
        </mc:Fallback>
      </mc:AlternateContent>
      <p:sp>
        <p:nvSpPr>
          <p:cNvPr id="8" name="TextBox 7">
            <a:extLst>
              <a:ext uri="{FF2B5EF4-FFF2-40B4-BE49-F238E27FC236}">
                <a16:creationId xmlns:a16="http://schemas.microsoft.com/office/drawing/2014/main" id="{F9CFF225-D9F7-7CE1-88A3-8A669220E132}"/>
              </a:ext>
            </a:extLst>
          </p:cNvPr>
          <p:cNvSpPr txBox="1"/>
          <p:nvPr/>
        </p:nvSpPr>
        <p:spPr>
          <a:xfrm>
            <a:off x="309880" y="2957190"/>
            <a:ext cx="7625806" cy="646331"/>
          </a:xfrm>
          <a:prstGeom prst="rect">
            <a:avLst/>
          </a:prstGeom>
          <a:noFill/>
        </p:spPr>
        <p:txBody>
          <a:bodyPr wrap="square">
            <a:spAutoFit/>
          </a:bodyPr>
          <a:lstStyle/>
          <a:p>
            <a:r>
              <a:rPr lang="en-US" altLang="zh-CN" dirty="0"/>
              <a:t>Based on the OLS summary table, which of the following is the correct multiple regression equation</a:t>
            </a:r>
            <a:endParaRPr lang="zh-CN" altLang="en-US" dirty="0"/>
          </a:p>
        </p:txBody>
      </p:sp>
    </p:spTree>
    <p:extLst>
      <p:ext uri="{BB962C8B-B14F-4D97-AF65-F5344CB8AC3E}">
        <p14:creationId xmlns:p14="http://schemas.microsoft.com/office/powerpoint/2010/main" val="2977091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61FA719-2457-AE9A-E60D-C35E81748F0E}"/>
              </a:ext>
            </a:extLst>
          </p:cNvPr>
          <p:cNvPicPr>
            <a:picLocks noGrp="1" noChangeAspect="1"/>
          </p:cNvPicPr>
          <p:nvPr>
            <p:ph idx="1"/>
          </p:nvPr>
        </p:nvPicPr>
        <p:blipFill>
          <a:blip r:embed="rId2"/>
          <a:stretch>
            <a:fillRect/>
          </a:stretch>
        </p:blipFill>
        <p:spPr>
          <a:xfrm>
            <a:off x="1635137" y="710293"/>
            <a:ext cx="4959326" cy="3624123"/>
          </a:xfrm>
          <a:prstGeom prst="rect">
            <a:avLst/>
          </a:prstGeom>
        </p:spPr>
      </p:pic>
      <p:sp>
        <p:nvSpPr>
          <p:cNvPr id="4" name="Slide Number Placeholder 3">
            <a:extLst>
              <a:ext uri="{FF2B5EF4-FFF2-40B4-BE49-F238E27FC236}">
                <a16:creationId xmlns:a16="http://schemas.microsoft.com/office/drawing/2014/main" id="{29252580-411D-77CA-24B7-1A1DE1615502}"/>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7" name="Title 1">
            <a:extLst>
              <a:ext uri="{FF2B5EF4-FFF2-40B4-BE49-F238E27FC236}">
                <a16:creationId xmlns:a16="http://schemas.microsoft.com/office/drawing/2014/main" id="{B7C6D417-EB90-6160-068B-28BFC3683D64}"/>
              </a:ext>
            </a:extLst>
          </p:cNvPr>
          <p:cNvSpPr>
            <a:spLocks noGrp="1"/>
          </p:cNvSpPr>
          <p:nvPr>
            <p:ph type="title"/>
          </p:nvPr>
        </p:nvSpPr>
        <p:spPr>
          <a:xfrm>
            <a:off x="411163" y="102393"/>
            <a:ext cx="7407275" cy="503918"/>
          </a:xfrm>
        </p:spPr>
        <p:txBody>
          <a:bodyPr>
            <a:normAutofit fontScale="90000"/>
          </a:bodyPr>
          <a:lstStyle/>
          <a:p>
            <a:r>
              <a:rPr lang="en-US" altLang="zh-CN" sz="2800" dirty="0"/>
              <a:t>Multiple regression</a:t>
            </a:r>
            <a:endParaRPr lang="zh-CN" altLang="en-US" sz="2800" dirty="0"/>
          </a:p>
        </p:txBody>
      </p:sp>
      <p:sp>
        <p:nvSpPr>
          <p:cNvPr id="8" name="TextBox 7">
            <a:extLst>
              <a:ext uri="{FF2B5EF4-FFF2-40B4-BE49-F238E27FC236}">
                <a16:creationId xmlns:a16="http://schemas.microsoft.com/office/drawing/2014/main" id="{BE6E79D8-BF23-ACA2-6FD1-5ABD46262278}"/>
              </a:ext>
            </a:extLst>
          </p:cNvPr>
          <p:cNvSpPr txBox="1"/>
          <p:nvPr/>
        </p:nvSpPr>
        <p:spPr>
          <a:xfrm>
            <a:off x="253092" y="4427434"/>
            <a:ext cx="7282544" cy="646331"/>
          </a:xfrm>
          <a:prstGeom prst="rect">
            <a:avLst/>
          </a:prstGeom>
          <a:noFill/>
        </p:spPr>
        <p:txBody>
          <a:bodyPr wrap="square" rtlCol="0">
            <a:spAutoFit/>
          </a:bodyPr>
          <a:lstStyle/>
          <a:p>
            <a:r>
              <a:rPr lang="en-US" altLang="zh-CN" dirty="0"/>
              <a:t>Does all the towns have same relationship between housing price and age, crime and distance</a:t>
            </a:r>
            <a:endParaRPr lang="zh-CN" altLang="en-US" dirty="0"/>
          </a:p>
        </p:txBody>
      </p:sp>
    </p:spTree>
    <p:extLst>
      <p:ext uri="{BB962C8B-B14F-4D97-AF65-F5344CB8AC3E}">
        <p14:creationId xmlns:p14="http://schemas.microsoft.com/office/powerpoint/2010/main" val="402766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FDD52-ACA9-81A9-6F79-9284F2C968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87FB65-FE19-A3E6-C253-40283578D5CA}"/>
              </a:ext>
            </a:extLst>
          </p:cNvPr>
          <p:cNvSpPr>
            <a:spLocks noGrp="1"/>
          </p:cNvSpPr>
          <p:nvPr>
            <p:ph type="title"/>
          </p:nvPr>
        </p:nvSpPr>
        <p:spPr>
          <a:xfrm>
            <a:off x="282484" y="1966596"/>
            <a:ext cx="7535636" cy="930872"/>
          </a:xfrm>
        </p:spPr>
        <p:txBody>
          <a:bodyPr>
            <a:normAutofit fontScale="90000"/>
          </a:bodyPr>
          <a:lstStyle/>
          <a:p>
            <a:r>
              <a:rPr lang="en-US" dirty="0"/>
              <a:t>Geographically weighted Regression</a:t>
            </a:r>
          </a:p>
        </p:txBody>
      </p:sp>
      <p:sp>
        <p:nvSpPr>
          <p:cNvPr id="2" name="Slide Number Placeholder 1">
            <a:extLst>
              <a:ext uri="{FF2B5EF4-FFF2-40B4-BE49-F238E27FC236}">
                <a16:creationId xmlns:a16="http://schemas.microsoft.com/office/drawing/2014/main" id="{9D513DD5-00DE-BD7E-685E-D19E59F746FA}"/>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116714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200151"/>
            <a:ext cx="7605286" cy="2839479"/>
          </a:xfrm>
        </p:spPr>
        <p:txBody>
          <a:bodyPr>
            <a:normAutofit fontScale="85000" lnSpcReduction="20000"/>
          </a:bodyPr>
          <a:lstStyle/>
          <a:p>
            <a:pPr>
              <a:buFont typeface="Courier New" panose="02070309020205020404" pitchFamily="49" charset="0"/>
              <a:buChar char="o"/>
            </a:pPr>
            <a:r>
              <a:rPr lang="en-US" dirty="0"/>
              <a:t>What if the relationship between y and x varies across space?</a:t>
            </a:r>
          </a:p>
          <a:p>
            <a:pPr>
              <a:buFont typeface="Courier New" panose="02070309020205020404" pitchFamily="49" charset="0"/>
              <a:buChar char="o"/>
            </a:pPr>
            <a:r>
              <a:rPr lang="en-US" dirty="0"/>
              <a:t>In this case, a single regression equation could be misleading or weak</a:t>
            </a:r>
          </a:p>
          <a:p>
            <a:pPr>
              <a:buFont typeface="Courier New" panose="02070309020205020404" pitchFamily="49" charset="0"/>
              <a:buChar char="o"/>
            </a:pPr>
            <a:r>
              <a:rPr lang="en-US" dirty="0"/>
              <a:t>It is possible to create regression equations that change over space</a:t>
            </a:r>
          </a:p>
          <a:p>
            <a:pPr>
              <a:buFont typeface="Courier New" panose="02070309020205020404" pitchFamily="49" charset="0"/>
              <a:buChar char="o"/>
            </a:pPr>
            <a:r>
              <a:rPr lang="en-US" dirty="0"/>
              <a:t>There will be a different intercept (β</a:t>
            </a:r>
            <a:r>
              <a:rPr lang="en-US" baseline="-25000" dirty="0"/>
              <a:t>0</a:t>
            </a:r>
            <a:r>
              <a:rPr lang="en-US" dirty="0"/>
              <a:t>)</a:t>
            </a:r>
            <a:r>
              <a:rPr lang="en-US" baseline="-25000" dirty="0"/>
              <a:t> </a:t>
            </a:r>
            <a:r>
              <a:rPr lang="en-US" dirty="0"/>
              <a:t>and coefficients (β</a:t>
            </a:r>
            <a:r>
              <a:rPr lang="en-US" baseline="-25000" dirty="0"/>
              <a:t>n</a:t>
            </a:r>
            <a:r>
              <a:rPr lang="en-US" dirty="0"/>
              <a:t>) across the map space</a:t>
            </a:r>
            <a:r>
              <a:rPr lang="en-US" baseline="-25000" dirty="0"/>
              <a:t> </a:t>
            </a:r>
            <a:endParaRPr lang="en-US" dirty="0"/>
          </a:p>
        </p:txBody>
      </p:sp>
      <p:pic>
        <p:nvPicPr>
          <p:cNvPr id="5" name="Picture 4" descr="GWR example"/>
          <p:cNvPicPr>
            <a:picLocks noChangeAspect="1"/>
          </p:cNvPicPr>
          <p:nvPr/>
        </p:nvPicPr>
        <p:blipFill>
          <a:blip r:embed="rId3"/>
          <a:stretch>
            <a:fillRect/>
          </a:stretch>
        </p:blipFill>
        <p:spPr>
          <a:xfrm>
            <a:off x="4278085" y="3659805"/>
            <a:ext cx="3520458" cy="1107458"/>
          </a:xfrm>
          <a:prstGeom prst="rect">
            <a:avLst/>
          </a:prstGeom>
        </p:spPr>
      </p:pic>
      <p:sp>
        <p:nvSpPr>
          <p:cNvPr id="7" name="Title 1">
            <a:extLst>
              <a:ext uri="{FF2B5EF4-FFF2-40B4-BE49-F238E27FC236}">
                <a16:creationId xmlns:a16="http://schemas.microsoft.com/office/drawing/2014/main" id="{9F37167D-9D34-4DF8-BF78-B2396D30F906}"/>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altLang="zh-CN" dirty="0">
                <a:solidFill>
                  <a:srgbClr val="7030A0"/>
                </a:solidFill>
              </a:rPr>
              <a:t>GWR</a:t>
            </a:r>
            <a:endParaRPr lang="en-US" dirty="0">
              <a:solidFill>
                <a:srgbClr val="7030A0"/>
              </a:solidFill>
            </a:endParaRPr>
          </a:p>
        </p:txBody>
      </p:sp>
      <p:cxnSp>
        <p:nvCxnSpPr>
          <p:cNvPr id="8" name="Straight Connector 7">
            <a:extLst>
              <a:ext uri="{FF2B5EF4-FFF2-40B4-BE49-F238E27FC236}">
                <a16:creationId xmlns:a16="http://schemas.microsoft.com/office/drawing/2014/main" id="{1BD829D2-4475-49E1-BB15-611BD3188A7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7A9BEE5-DE25-4FDD-8AAD-AED576D31D5F}"/>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414461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altLang="zh-CN" dirty="0">
                <a:solidFill>
                  <a:srgbClr val="7030A0"/>
                </a:solidFill>
              </a:rPr>
              <a:t>GWR</a:t>
            </a:r>
            <a:endParaRPr lang="en-US" dirty="0">
              <a:solidFill>
                <a:srgbClr val="7030A0"/>
              </a:solidFill>
            </a:endParaRP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 name="Picture 2" descr="GWR example">
            <a:extLst>
              <a:ext uri="{FF2B5EF4-FFF2-40B4-BE49-F238E27FC236}">
                <a16:creationId xmlns:a16="http://schemas.microsoft.com/office/drawing/2014/main" id="{FC2C00A9-8392-4D26-8F5C-1F5E393BD58B}"/>
              </a:ext>
            </a:extLst>
          </p:cNvPr>
          <p:cNvPicPr>
            <a:picLocks noChangeAspect="1"/>
          </p:cNvPicPr>
          <p:nvPr/>
        </p:nvPicPr>
        <p:blipFill>
          <a:blip r:embed="rId3"/>
          <a:stretch>
            <a:fillRect/>
          </a:stretch>
        </p:blipFill>
        <p:spPr>
          <a:xfrm>
            <a:off x="397352" y="1196479"/>
            <a:ext cx="7511095" cy="2750542"/>
          </a:xfrm>
          <a:prstGeom prst="rect">
            <a:avLst/>
          </a:prstGeom>
        </p:spPr>
      </p:pic>
      <p:sp>
        <p:nvSpPr>
          <p:cNvPr id="12" name="TextBox 11">
            <a:extLst>
              <a:ext uri="{FF2B5EF4-FFF2-40B4-BE49-F238E27FC236}">
                <a16:creationId xmlns:a16="http://schemas.microsoft.com/office/drawing/2014/main" id="{905ED5E5-42D4-4025-A7C9-AA138E9057BC}"/>
              </a:ext>
            </a:extLst>
          </p:cNvPr>
          <p:cNvSpPr txBox="1"/>
          <p:nvPr/>
        </p:nvSpPr>
        <p:spPr>
          <a:xfrm>
            <a:off x="642256" y="4702009"/>
            <a:ext cx="6794863" cy="246221"/>
          </a:xfrm>
          <a:prstGeom prst="rect">
            <a:avLst/>
          </a:prstGeom>
          <a:noFill/>
        </p:spPr>
        <p:txBody>
          <a:bodyPr wrap="square">
            <a:spAutoFit/>
          </a:bodyPr>
          <a:lstStyle/>
          <a:p>
            <a:r>
              <a:rPr lang="en-US" sz="1000" dirty="0">
                <a:solidFill>
                  <a:srgbClr val="7030A0"/>
                </a:solidFill>
              </a:rPr>
              <a:t>https://desktop.arcgis.com/en/arcmap/10.3/tools/spatial-statistics-toolbox/geographically-weighted-regression.htm</a:t>
            </a:r>
          </a:p>
        </p:txBody>
      </p: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extLst>
      <p:ext uri="{BB962C8B-B14F-4D97-AF65-F5344CB8AC3E}">
        <p14:creationId xmlns:p14="http://schemas.microsoft.com/office/powerpoint/2010/main" val="24040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E3659-F706-58D9-9905-5FBB532D4699}"/>
              </a:ext>
            </a:extLst>
          </p:cNvPr>
          <p:cNvSpPr>
            <a:spLocks noGrp="1"/>
          </p:cNvSpPr>
          <p:nvPr>
            <p:ph idx="1"/>
          </p:nvPr>
        </p:nvSpPr>
        <p:spPr>
          <a:xfrm>
            <a:off x="411480" y="359229"/>
            <a:ext cx="7406640" cy="3394472"/>
          </a:xfrm>
        </p:spPr>
        <p:txBody>
          <a:bodyPr>
            <a:normAutofit lnSpcReduction="10000"/>
          </a:bodyPr>
          <a:lstStyle/>
          <a:p>
            <a:r>
              <a:rPr lang="en-US" altLang="zh-CN" dirty="0"/>
              <a:t>Why might a single global regression model be misleading in geography?</a:t>
            </a:r>
          </a:p>
          <a:p>
            <a:endParaRPr lang="en-US" altLang="zh-CN" dirty="0"/>
          </a:p>
          <a:p>
            <a:pPr marL="360045" lvl="1" indent="0">
              <a:buNone/>
            </a:pPr>
            <a:r>
              <a:rPr lang="en-US" altLang="zh-CN" dirty="0"/>
              <a:t>A. Because maps are colorful</a:t>
            </a:r>
            <a:br>
              <a:rPr lang="en-US" altLang="zh-CN" dirty="0"/>
            </a:br>
            <a:r>
              <a:rPr lang="en-US" altLang="zh-CN" dirty="0"/>
              <a:t>B. Because relationships between variables may vary across space</a:t>
            </a:r>
            <a:br>
              <a:rPr lang="en-US" altLang="zh-CN" dirty="0"/>
            </a:br>
            <a:r>
              <a:rPr lang="en-US" altLang="zh-CN" dirty="0"/>
              <a:t>C. Because regression only works in Excel</a:t>
            </a:r>
            <a:br>
              <a:rPr lang="en-US" altLang="zh-CN" dirty="0"/>
            </a:br>
            <a:r>
              <a:rPr lang="en-US" altLang="zh-CN" dirty="0"/>
              <a:t>D. Because spatial data cannot be modeled</a:t>
            </a:r>
          </a:p>
          <a:p>
            <a:endParaRPr lang="zh-CN" altLang="en-US" dirty="0"/>
          </a:p>
        </p:txBody>
      </p:sp>
      <p:sp>
        <p:nvSpPr>
          <p:cNvPr id="4" name="Slide Number Placeholder 3">
            <a:extLst>
              <a:ext uri="{FF2B5EF4-FFF2-40B4-BE49-F238E27FC236}">
                <a16:creationId xmlns:a16="http://schemas.microsoft.com/office/drawing/2014/main" id="{9608C2A8-E0CA-42EA-E18A-FF644EC99B34}"/>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2665693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43917-79F1-B1FF-1424-1C299BA7EB68}"/>
              </a:ext>
            </a:extLst>
          </p:cNvPr>
          <p:cNvSpPr>
            <a:spLocks noGrp="1"/>
          </p:cNvSpPr>
          <p:nvPr>
            <p:ph type="title"/>
          </p:nvPr>
        </p:nvSpPr>
        <p:spPr/>
        <p:txBody>
          <a:bodyPr/>
          <a:lstStyle/>
          <a:p>
            <a:r>
              <a:rPr lang="en-US" altLang="zh-CN" dirty="0"/>
              <a:t>GWR: Coefficient of each variable</a:t>
            </a:r>
            <a:endParaRPr lang="zh-CN" altLang="en-US" dirty="0"/>
          </a:p>
        </p:txBody>
      </p:sp>
      <p:pic>
        <p:nvPicPr>
          <p:cNvPr id="6" name="Content Placeholder 5">
            <a:extLst>
              <a:ext uri="{FF2B5EF4-FFF2-40B4-BE49-F238E27FC236}">
                <a16:creationId xmlns:a16="http://schemas.microsoft.com/office/drawing/2014/main" id="{A0BAEB29-A50B-2EA3-C064-79FBA94F3D41}"/>
              </a:ext>
            </a:extLst>
          </p:cNvPr>
          <p:cNvPicPr>
            <a:picLocks noGrp="1" noChangeAspect="1"/>
          </p:cNvPicPr>
          <p:nvPr>
            <p:ph idx="1"/>
          </p:nvPr>
        </p:nvPicPr>
        <p:blipFill>
          <a:blip r:embed="rId2"/>
          <a:stretch>
            <a:fillRect/>
          </a:stretch>
        </p:blipFill>
        <p:spPr>
          <a:xfrm>
            <a:off x="1887609" y="1218208"/>
            <a:ext cx="4454381" cy="3394075"/>
          </a:xfrm>
          <a:prstGeom prst="rect">
            <a:avLst/>
          </a:prstGeom>
        </p:spPr>
      </p:pic>
      <p:sp>
        <p:nvSpPr>
          <p:cNvPr id="4" name="Slide Number Placeholder 3">
            <a:extLst>
              <a:ext uri="{FF2B5EF4-FFF2-40B4-BE49-F238E27FC236}">
                <a16:creationId xmlns:a16="http://schemas.microsoft.com/office/drawing/2014/main" id="{8E08E581-C89C-9B6C-B88C-630ED9A1CAC6}"/>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2192037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2296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7606801" cy="150647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E9A5FC95-63BA-98CF-0E0D-873D30A9610E}"/>
              </a:ext>
            </a:extLst>
          </p:cNvPr>
          <p:cNvSpPr>
            <a:spLocks noGrp="1"/>
          </p:cNvSpPr>
          <p:nvPr>
            <p:ph type="title"/>
          </p:nvPr>
        </p:nvSpPr>
        <p:spPr>
          <a:xfrm>
            <a:off x="336131" y="295035"/>
            <a:ext cx="5167414" cy="554910"/>
          </a:xfrm>
        </p:spPr>
        <p:txBody>
          <a:bodyPr vert="horz" lIns="91440" tIns="45720" rIns="91440" bIns="45720" rtlCol="0" anchor="b">
            <a:normAutofit/>
          </a:bodyPr>
          <a:lstStyle/>
          <a:p>
            <a:pPr algn="l" defTabSz="914400">
              <a:lnSpc>
                <a:spcPct val="90000"/>
              </a:lnSpc>
            </a:pPr>
            <a:r>
              <a:rPr lang="en-US" altLang="zh-CN" sz="2600" dirty="0"/>
              <a:t>Slope of Crime</a:t>
            </a:r>
          </a:p>
        </p:txBody>
      </p:sp>
      <p:pic>
        <p:nvPicPr>
          <p:cNvPr id="8" name="Picture 7">
            <a:extLst>
              <a:ext uri="{FF2B5EF4-FFF2-40B4-BE49-F238E27FC236}">
                <a16:creationId xmlns:a16="http://schemas.microsoft.com/office/drawing/2014/main" id="{004255A8-C5E0-063D-B0FE-77B2406205AC}"/>
              </a:ext>
            </a:extLst>
          </p:cNvPr>
          <p:cNvPicPr>
            <a:picLocks noChangeAspect="1"/>
          </p:cNvPicPr>
          <p:nvPr/>
        </p:nvPicPr>
        <p:blipFill>
          <a:blip r:embed="rId2"/>
          <a:stretch>
            <a:fillRect/>
          </a:stretch>
        </p:blipFill>
        <p:spPr>
          <a:xfrm>
            <a:off x="819948" y="1632432"/>
            <a:ext cx="2762336" cy="2619682"/>
          </a:xfrm>
          <a:prstGeom prst="rect">
            <a:avLst/>
          </a:prstGeom>
        </p:spPr>
      </p:pic>
      <p:pic>
        <p:nvPicPr>
          <p:cNvPr id="9" name="Content Placeholder 8">
            <a:extLst>
              <a:ext uri="{FF2B5EF4-FFF2-40B4-BE49-F238E27FC236}">
                <a16:creationId xmlns:a16="http://schemas.microsoft.com/office/drawing/2014/main" id="{9C22C322-AAA0-99F3-3534-816CC28D4E27}"/>
              </a:ext>
            </a:extLst>
          </p:cNvPr>
          <p:cNvPicPr>
            <a:picLocks noGrp="1" noChangeAspect="1"/>
          </p:cNvPicPr>
          <p:nvPr>
            <p:ph idx="1"/>
          </p:nvPr>
        </p:nvPicPr>
        <p:blipFill>
          <a:blip r:embed="rId3"/>
          <a:stretch>
            <a:fillRect/>
          </a:stretch>
        </p:blipFill>
        <p:spPr>
          <a:xfrm>
            <a:off x="4187805" y="1410477"/>
            <a:ext cx="3476010" cy="2841637"/>
          </a:xfrm>
          <a:prstGeom prst="rect">
            <a:avLst/>
          </a:prstGeom>
        </p:spPr>
      </p:pic>
      <p:sp>
        <p:nvSpPr>
          <p:cNvPr id="18" name="Freeform: Shape 17">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284" y="4708478"/>
            <a:ext cx="4647316" cy="43502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A88468A-3402-2995-185F-936E682A5D0C}"/>
              </a:ext>
            </a:extLst>
          </p:cNvPr>
          <p:cNvSpPr>
            <a:spLocks noGrp="1"/>
          </p:cNvSpPr>
          <p:nvPr>
            <p:ph type="sldNum" sz="quarter" idx="12"/>
          </p:nvPr>
        </p:nvSpPr>
        <p:spPr>
          <a:xfrm>
            <a:off x="5812155" y="4767262"/>
            <a:ext cx="1851660" cy="273844"/>
          </a:xfrm>
        </p:spPr>
        <p:txBody>
          <a:bodyPr vert="horz" lIns="91440" tIns="45720" rIns="91440" bIns="45720" rtlCol="0" anchor="ctr">
            <a:normAutofit/>
          </a:bodyPr>
          <a:lstStyle/>
          <a:p>
            <a:pPr defTabSz="914400">
              <a:spcAft>
                <a:spcPts val="600"/>
              </a:spcAft>
            </a:pPr>
            <a:fld id="{127DDC20-79C9-9647-820E-6D40A3D210C3}" type="slidenum">
              <a:rPr lang="en-US" sz="700"/>
              <a:pPr defTabSz="914400">
                <a:spcAft>
                  <a:spcPts val="600"/>
                </a:spcAft>
              </a:pPr>
              <a:t>22</a:t>
            </a:fld>
            <a:endParaRPr lang="en-US" sz="700"/>
          </a:p>
        </p:txBody>
      </p:sp>
    </p:spTree>
    <p:extLst>
      <p:ext uri="{BB962C8B-B14F-4D97-AF65-F5344CB8AC3E}">
        <p14:creationId xmlns:p14="http://schemas.microsoft.com/office/powerpoint/2010/main" val="4231619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A14B83C-B379-41FC-8327-600DA7EFD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2296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CB018903-3549-4A3B-A9DF-B26757CAA9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8229600" cy="5143500"/>
            <a:chOff x="0" y="0"/>
            <a:chExt cx="12192000" cy="6858000"/>
          </a:xfrm>
        </p:grpSpPr>
        <p:sp>
          <p:nvSpPr>
            <p:cNvPr id="17" name="Rectangle 16">
              <a:extLst>
                <a:ext uri="{FF2B5EF4-FFF2-40B4-BE49-F238E27FC236}">
                  <a16:creationId xmlns:a16="http://schemas.microsoft.com/office/drawing/2014/main" id="{9E5D3F77-D07F-4F7D-97A2-E36683020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6F5A2D-56A0-4ED7-A3E2-3CF67608F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a:extLst>
              <a:ext uri="{FF2B5EF4-FFF2-40B4-BE49-F238E27FC236}">
                <a16:creationId xmlns:a16="http://schemas.microsoft.com/office/drawing/2014/main" id="{38E61EB1-BFA2-950C-D334-60CBF14764AB}"/>
              </a:ext>
            </a:extLst>
          </p:cNvPr>
          <p:cNvSpPr txBox="1">
            <a:spLocks/>
          </p:cNvSpPr>
          <p:nvPr/>
        </p:nvSpPr>
        <p:spPr>
          <a:xfrm>
            <a:off x="370761" y="343524"/>
            <a:ext cx="3549014" cy="544668"/>
          </a:xfrm>
          <a:prstGeom prst="rect">
            <a:avLst/>
          </a:prstGeom>
        </p:spPr>
        <p:txBody>
          <a:bodyPr vert="horz" wrap="square"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914400">
              <a:lnSpc>
                <a:spcPct val="90000"/>
              </a:lnSpc>
              <a:spcAft>
                <a:spcPts val="600"/>
              </a:spcAft>
            </a:pPr>
            <a:r>
              <a:rPr lang="en-US" altLang="zh-CN" sz="1600"/>
              <a:t>Slope of age of house</a:t>
            </a:r>
          </a:p>
        </p:txBody>
      </p:sp>
      <p:pic>
        <p:nvPicPr>
          <p:cNvPr id="9" name="Picture 8">
            <a:extLst>
              <a:ext uri="{FF2B5EF4-FFF2-40B4-BE49-F238E27FC236}">
                <a16:creationId xmlns:a16="http://schemas.microsoft.com/office/drawing/2014/main" id="{E5611E0F-D5E8-6F68-18B5-15809FD80828}"/>
              </a:ext>
            </a:extLst>
          </p:cNvPr>
          <p:cNvPicPr>
            <a:picLocks noChangeAspect="1"/>
          </p:cNvPicPr>
          <p:nvPr/>
        </p:nvPicPr>
        <p:blipFill>
          <a:blip r:embed="rId2"/>
          <a:stretch>
            <a:fillRect/>
          </a:stretch>
        </p:blipFill>
        <p:spPr>
          <a:xfrm>
            <a:off x="371832" y="1475604"/>
            <a:ext cx="3681147" cy="3256399"/>
          </a:xfrm>
          <a:prstGeom prst="rect">
            <a:avLst/>
          </a:prstGeom>
          <a:effectLst>
            <a:outerShdw blurRad="508000" dist="101600" dir="5400000" algn="tl" rotWithShape="0">
              <a:prstClr val="black">
                <a:alpha val="10000"/>
              </a:prstClr>
            </a:outerShdw>
          </a:effectLst>
        </p:spPr>
      </p:pic>
      <p:sp>
        <p:nvSpPr>
          <p:cNvPr id="4" name="Slide Number Placeholder 3">
            <a:extLst>
              <a:ext uri="{FF2B5EF4-FFF2-40B4-BE49-F238E27FC236}">
                <a16:creationId xmlns:a16="http://schemas.microsoft.com/office/drawing/2014/main" id="{414E6B66-05C0-0458-B649-71811FB64A46}"/>
              </a:ext>
            </a:extLst>
          </p:cNvPr>
          <p:cNvSpPr>
            <a:spLocks noGrp="1"/>
          </p:cNvSpPr>
          <p:nvPr>
            <p:ph type="sldNum" sz="quarter" idx="12"/>
          </p:nvPr>
        </p:nvSpPr>
        <p:spPr>
          <a:xfrm rot="5400000">
            <a:off x="6097703" y="2361627"/>
            <a:ext cx="3894059" cy="413100"/>
          </a:xfrm>
        </p:spPr>
        <p:txBody>
          <a:bodyPr vert="horz" lIns="91440" tIns="45720" rIns="91440" bIns="45720" rtlCol="0" anchor="ctr">
            <a:normAutofit/>
          </a:bodyPr>
          <a:lstStyle/>
          <a:p>
            <a:pPr algn="ctr" defTabSz="914400">
              <a:spcAft>
                <a:spcPts val="600"/>
              </a:spcAft>
            </a:pPr>
            <a:fld id="{127DDC20-79C9-9647-820E-6D40A3D210C3}" type="slidenum">
              <a:rPr lang="en-US" sz="700"/>
              <a:pPr algn="ctr" defTabSz="914400">
                <a:spcAft>
                  <a:spcPts val="600"/>
                </a:spcAft>
              </a:pPr>
              <a:t>23</a:t>
            </a:fld>
            <a:endParaRPr lang="en-US" sz="700"/>
          </a:p>
        </p:txBody>
      </p:sp>
      <p:pic>
        <p:nvPicPr>
          <p:cNvPr id="6" name="Content Placeholder 5">
            <a:extLst>
              <a:ext uri="{FF2B5EF4-FFF2-40B4-BE49-F238E27FC236}">
                <a16:creationId xmlns:a16="http://schemas.microsoft.com/office/drawing/2014/main" id="{BEA77CA8-06DD-2093-5493-35F06F4DE9F1}"/>
              </a:ext>
            </a:extLst>
          </p:cNvPr>
          <p:cNvPicPr>
            <a:picLocks noGrp="1" noChangeAspect="1"/>
          </p:cNvPicPr>
          <p:nvPr>
            <p:ph idx="1"/>
          </p:nvPr>
        </p:nvPicPr>
        <p:blipFill>
          <a:blip r:embed="rId3"/>
          <a:stretch>
            <a:fillRect/>
          </a:stretch>
        </p:blipFill>
        <p:spPr>
          <a:xfrm>
            <a:off x="4175548" y="1813846"/>
            <a:ext cx="3682218" cy="2918157"/>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3459043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5E6-C6AC-A154-39FD-FBC8EFE37663}"/>
              </a:ext>
            </a:extLst>
          </p:cNvPr>
          <p:cNvSpPr>
            <a:spLocks noGrp="1"/>
          </p:cNvSpPr>
          <p:nvPr>
            <p:ph type="title"/>
          </p:nvPr>
        </p:nvSpPr>
        <p:spPr/>
        <p:txBody>
          <a:bodyPr/>
          <a:lstStyle/>
          <a:p>
            <a:r>
              <a:rPr lang="en-US" altLang="zh-CN" dirty="0"/>
              <a:t>Group Discussion</a:t>
            </a:r>
            <a:endParaRPr lang="zh-CN" altLang="en-US" dirty="0"/>
          </a:p>
        </p:txBody>
      </p:sp>
      <p:sp>
        <p:nvSpPr>
          <p:cNvPr id="3" name="Content Placeholder 2">
            <a:extLst>
              <a:ext uri="{FF2B5EF4-FFF2-40B4-BE49-F238E27FC236}">
                <a16:creationId xmlns:a16="http://schemas.microsoft.com/office/drawing/2014/main" id="{5CE4B040-14C4-9EDE-9CD0-C80A6675473F}"/>
              </a:ext>
            </a:extLst>
          </p:cNvPr>
          <p:cNvSpPr>
            <a:spLocks noGrp="1"/>
          </p:cNvSpPr>
          <p:nvPr>
            <p:ph idx="1"/>
          </p:nvPr>
        </p:nvSpPr>
        <p:spPr/>
        <p:txBody>
          <a:bodyPr/>
          <a:lstStyle/>
          <a:p>
            <a:r>
              <a:rPr lang="en-US" altLang="zh-CN" dirty="0"/>
              <a:t>Group 1: construct the equation for town with objected = 208:</a:t>
            </a:r>
          </a:p>
          <a:p>
            <a:r>
              <a:rPr lang="en-US" altLang="zh-CN" dirty="0"/>
              <a:t>Group 1: construct the equation for town with objected = 251:</a:t>
            </a:r>
            <a:endParaRPr lang="zh-CN" altLang="en-US" dirty="0"/>
          </a:p>
          <a:p>
            <a:r>
              <a:rPr lang="en-US" altLang="zh-CN" dirty="0"/>
              <a:t>Group 1: construct the equation for town with objected = 407:</a:t>
            </a:r>
            <a:endParaRPr lang="zh-CN" altLang="en-US" dirty="0"/>
          </a:p>
          <a:p>
            <a:endParaRPr lang="zh-CN" altLang="en-US" dirty="0"/>
          </a:p>
        </p:txBody>
      </p:sp>
      <p:sp>
        <p:nvSpPr>
          <p:cNvPr id="4" name="Slide Number Placeholder 3">
            <a:extLst>
              <a:ext uri="{FF2B5EF4-FFF2-40B4-BE49-F238E27FC236}">
                <a16:creationId xmlns:a16="http://schemas.microsoft.com/office/drawing/2014/main" id="{F83F61E4-8658-B2C9-C41F-7C08EB41B953}"/>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1334736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94C0118-CA66-F3B0-8DDD-42C2F2B487F0}"/>
                  </a:ext>
                </a:extLst>
              </p:cNvPr>
              <p:cNvSpPr>
                <a:spLocks noGrp="1"/>
              </p:cNvSpPr>
              <p:nvPr>
                <p:ph idx="1"/>
              </p:nvPr>
            </p:nvSpPr>
            <p:spPr/>
            <p:txBody>
              <a:bodyPr/>
              <a:lstStyle/>
              <a:p>
                <a:r>
                  <a:rPr lang="en-US" altLang="zh-CN" sz="2400" dirty="0"/>
                  <a:t>Group 1: </a:t>
                </a:r>
                <a14:m>
                  <m:oMath xmlns:m="http://schemas.openxmlformats.org/officeDocument/2006/math">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𝛽</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𝛽</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𝑎𝑔𝑒</m:t>
                    </m:r>
                  </m:oMath>
                </a14:m>
                <a:r>
                  <a:rPr lang="en-US" altLang="zh-CN" sz="2400" dirty="0"/>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𝑐𝑟𝑖𝑚𝑒</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𝑑𝑖𝑠</m:t>
                    </m:r>
                  </m:oMath>
                </a14:m>
                <a:endParaRPr lang="en-US" altLang="zh-CN" sz="2400" dirty="0"/>
              </a:p>
              <a:p>
                <a:endParaRPr lang="en-US" altLang="zh-CN" sz="2400" dirty="0"/>
              </a:p>
              <a:p>
                <a:r>
                  <a:rPr lang="en-US" altLang="zh-CN" sz="2400" dirty="0"/>
                  <a:t>Group 2: </a:t>
                </a:r>
                <a14:m>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rPr>
                      <m:t>𝑎𝑔𝑒</m:t>
                    </m:r>
                  </m:oMath>
                </a14:m>
                <a:r>
                  <a:rPr lang="en-US" altLang="zh-CN" sz="2400" dirty="0"/>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𝑐𝑟𝑖𝑚𝑒</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r>
                      <a:rPr lang="en-US" altLang="zh-CN" sz="2400" i="1">
                        <a:latin typeface="Cambria Math" panose="02040503050406030204" pitchFamily="18" charset="0"/>
                      </a:rPr>
                      <m:t>𝑑𝑖𝑠</m:t>
                    </m:r>
                  </m:oMath>
                </a14:m>
                <a:endParaRPr lang="en-US" altLang="zh-CN" sz="2400" dirty="0"/>
              </a:p>
              <a:p>
                <a:pPr marL="0" indent="0">
                  <a:buNone/>
                </a:pPr>
                <a:endParaRPr lang="en-US" altLang="zh-CN" sz="2400" dirty="0"/>
              </a:p>
              <a:p>
                <a:r>
                  <a:rPr lang="en-US" altLang="zh-CN" sz="2400" dirty="0"/>
                  <a:t>Group 3: </a:t>
                </a:r>
                <a14:m>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rPr>
                      <m:t>𝑎𝑔𝑒</m:t>
                    </m:r>
                  </m:oMath>
                </a14:m>
                <a:r>
                  <a:rPr lang="en-US" altLang="zh-CN" sz="2400" dirty="0"/>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𝑐𝑟𝑖𝑚𝑒</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𝛽</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r>
                      <a:rPr lang="en-US" altLang="zh-CN" sz="2400" i="1">
                        <a:latin typeface="Cambria Math" panose="02040503050406030204" pitchFamily="18" charset="0"/>
                      </a:rPr>
                      <m:t>𝑑𝑖𝑠</m:t>
                    </m:r>
                  </m:oMath>
                </a14:m>
                <a:endParaRPr lang="en-US" altLang="zh-CN" sz="2400" dirty="0"/>
              </a:p>
              <a:p>
                <a:pPr marL="0" indent="0">
                  <a:buNone/>
                </a:pPr>
                <a:endParaRPr lang="en-US" altLang="zh-CN" sz="2400" dirty="0"/>
              </a:p>
            </p:txBody>
          </p:sp>
        </mc:Choice>
        <mc:Fallback>
          <p:sp>
            <p:nvSpPr>
              <p:cNvPr id="3" name="Content Placeholder 2">
                <a:extLst>
                  <a:ext uri="{FF2B5EF4-FFF2-40B4-BE49-F238E27FC236}">
                    <a16:creationId xmlns:a16="http://schemas.microsoft.com/office/drawing/2014/main" id="{694C0118-CA66-F3B0-8DDD-42C2F2B487F0}"/>
                  </a:ext>
                </a:extLst>
              </p:cNvPr>
              <p:cNvSpPr>
                <a:spLocks noGrp="1" noRot="1" noChangeAspect="1" noMove="1" noResize="1" noEditPoints="1" noAdjustHandles="1" noChangeArrowheads="1" noChangeShapeType="1" noTextEdit="1"/>
              </p:cNvSpPr>
              <p:nvPr>
                <p:ph idx="1"/>
              </p:nvPr>
            </p:nvSpPr>
            <p:spPr>
              <a:blipFill>
                <a:blip r:embed="rId2"/>
                <a:stretch>
                  <a:fillRect l="-1152" t="-1436"/>
                </a:stretch>
              </a:blipFill>
            </p:spPr>
            <p:txBody>
              <a:bodyPr/>
              <a:lstStyle/>
              <a:p>
                <a:r>
                  <a:rPr lang="zh-CN" altLang="en-US">
                    <a:noFill/>
                  </a:rPr>
                  <a:t> </a:t>
                </a:r>
              </a:p>
            </p:txBody>
          </p:sp>
        </mc:Fallback>
      </mc:AlternateContent>
      <p:sp>
        <p:nvSpPr>
          <p:cNvPr id="4" name="Slide Number Placeholder 3">
            <a:extLst>
              <a:ext uri="{FF2B5EF4-FFF2-40B4-BE49-F238E27FC236}">
                <a16:creationId xmlns:a16="http://schemas.microsoft.com/office/drawing/2014/main" id="{081B1CB0-1533-DD8E-DFF4-2289BF2B0F96}"/>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6" name="Title 1">
            <a:extLst>
              <a:ext uri="{FF2B5EF4-FFF2-40B4-BE49-F238E27FC236}">
                <a16:creationId xmlns:a16="http://schemas.microsoft.com/office/drawing/2014/main" id="{8D1AAFB0-8C19-A9CD-06F1-F5164E14266A}"/>
              </a:ext>
            </a:extLst>
          </p:cNvPr>
          <p:cNvSpPr>
            <a:spLocks noGrp="1"/>
          </p:cNvSpPr>
          <p:nvPr>
            <p:ph type="title"/>
          </p:nvPr>
        </p:nvSpPr>
        <p:spPr>
          <a:xfrm>
            <a:off x="411163" y="206375"/>
            <a:ext cx="7407275" cy="857250"/>
          </a:xfrm>
        </p:spPr>
        <p:txBody>
          <a:bodyPr/>
          <a:lstStyle/>
          <a:p>
            <a:r>
              <a:rPr lang="en-US" altLang="zh-CN" dirty="0"/>
              <a:t>Group Discussion</a:t>
            </a:r>
            <a:endParaRPr lang="zh-CN" altLang="en-US" dirty="0"/>
          </a:p>
        </p:txBody>
      </p:sp>
    </p:spTree>
    <p:extLst>
      <p:ext uri="{BB962C8B-B14F-4D97-AF65-F5344CB8AC3E}">
        <p14:creationId xmlns:p14="http://schemas.microsoft.com/office/powerpoint/2010/main" val="2402547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C224EA-09F3-2707-3D63-0AFB5AF1B969}"/>
              </a:ext>
            </a:extLst>
          </p:cNvPr>
          <p:cNvSpPr>
            <a:spLocks noGrp="1"/>
          </p:cNvSpPr>
          <p:nvPr>
            <p:ph idx="1"/>
          </p:nvPr>
        </p:nvSpPr>
        <p:spPr>
          <a:xfrm>
            <a:off x="411480" y="1616530"/>
            <a:ext cx="7406640" cy="955220"/>
          </a:xfrm>
        </p:spPr>
        <p:txBody>
          <a:bodyPr>
            <a:normAutofit/>
          </a:bodyPr>
          <a:lstStyle/>
          <a:p>
            <a:r>
              <a:rPr lang="en-US" altLang="zh-CN" sz="2400" dirty="0"/>
              <a:t>GWR estimates location-specific regression coefficients rather than a single global coefficient.</a:t>
            </a:r>
            <a:endParaRPr lang="zh-CN" altLang="en-US" sz="2400" dirty="0"/>
          </a:p>
        </p:txBody>
      </p:sp>
      <p:sp>
        <p:nvSpPr>
          <p:cNvPr id="4" name="Slide Number Placeholder 3">
            <a:extLst>
              <a:ext uri="{FF2B5EF4-FFF2-40B4-BE49-F238E27FC236}">
                <a16:creationId xmlns:a16="http://schemas.microsoft.com/office/drawing/2014/main" id="{8235F376-A277-0DEE-8B85-60D0D6162F80}"/>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5" name="TextBox 4">
            <a:extLst>
              <a:ext uri="{FF2B5EF4-FFF2-40B4-BE49-F238E27FC236}">
                <a16:creationId xmlns:a16="http://schemas.microsoft.com/office/drawing/2014/main" id="{334C7734-9EC8-F94D-0D3D-1D965662CFA0}"/>
              </a:ext>
            </a:extLst>
          </p:cNvPr>
          <p:cNvSpPr txBox="1"/>
          <p:nvPr/>
        </p:nvSpPr>
        <p:spPr>
          <a:xfrm>
            <a:off x="411480" y="918866"/>
            <a:ext cx="2307227" cy="461665"/>
          </a:xfrm>
          <a:prstGeom prst="rect">
            <a:avLst/>
          </a:prstGeom>
          <a:noFill/>
        </p:spPr>
        <p:txBody>
          <a:bodyPr wrap="square" rtlCol="0">
            <a:spAutoFit/>
          </a:bodyPr>
          <a:lstStyle/>
          <a:p>
            <a:r>
              <a:rPr lang="en-US" altLang="zh-CN" sz="2400" dirty="0"/>
              <a:t>Ture of False</a:t>
            </a:r>
            <a:endParaRPr lang="zh-CN" altLang="en-US" sz="2400" dirty="0"/>
          </a:p>
        </p:txBody>
      </p:sp>
    </p:spTree>
    <p:extLst>
      <p:ext uri="{BB962C8B-B14F-4D97-AF65-F5344CB8AC3E}">
        <p14:creationId xmlns:p14="http://schemas.microsoft.com/office/powerpoint/2010/main" val="3406131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9405" y="1731477"/>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27</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10329</TotalTime>
  <Words>1528</Words>
  <Application>Microsoft Office PowerPoint</Application>
  <PresentationFormat>Custom</PresentationFormat>
  <Paragraphs>153</Paragraphs>
  <Slides>27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Cambria Math</vt:lpstr>
      <vt:lpstr>Courier New</vt:lpstr>
      <vt:lpstr>Times New Roman</vt:lpstr>
      <vt:lpstr>Wingdings</vt:lpstr>
      <vt:lpstr>Office Theme</vt:lpstr>
      <vt:lpstr>GEOG 3403: Geographic Information Systems II</vt:lpstr>
      <vt:lpstr>PowerPoint Presentation</vt:lpstr>
      <vt:lpstr>Regression</vt:lpstr>
      <vt:lpstr>What is regression used for?</vt:lpstr>
      <vt:lpstr>PowerPoint Presentation</vt:lpstr>
      <vt:lpstr>PowerPoint Presentation</vt:lpstr>
      <vt:lpstr>Simple Regression</vt:lpstr>
      <vt:lpstr>PowerPoint Presentation</vt:lpstr>
      <vt:lpstr>Simple regression in ArcGIS Pro</vt:lpstr>
      <vt:lpstr>Simple regression - slope</vt:lpstr>
      <vt:lpstr>Simple regression - intercept</vt:lpstr>
      <vt:lpstr>OLS Results</vt:lpstr>
      <vt:lpstr>PowerPoint Presentation</vt:lpstr>
      <vt:lpstr>PowerPoint Presentation</vt:lpstr>
      <vt:lpstr>Multiple regression</vt:lpstr>
      <vt:lpstr>Multiple regression</vt:lpstr>
      <vt:lpstr>Geographically weighted Regression</vt:lpstr>
      <vt:lpstr>PowerPoint Presentation</vt:lpstr>
      <vt:lpstr>PowerPoint Presentation</vt:lpstr>
      <vt:lpstr>PowerPoint Presentation</vt:lpstr>
      <vt:lpstr>GWR: Coefficient of each variable</vt:lpstr>
      <vt:lpstr>Slope of Crime</vt:lpstr>
      <vt:lpstr>PowerPoint Presentation</vt:lpstr>
      <vt:lpstr>Group Discussion</vt:lpstr>
      <vt:lpstr>Group Discussion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Wu, Yanan</cp:lastModifiedBy>
  <cp:revision>728</cp:revision>
  <cp:lastPrinted>2020-03-26T12:59:04Z</cp:lastPrinted>
  <dcterms:created xsi:type="dcterms:W3CDTF">2020-03-24T14:51:54Z</dcterms:created>
  <dcterms:modified xsi:type="dcterms:W3CDTF">2026-03-03T05:20:11Z</dcterms:modified>
</cp:coreProperties>
</file>