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9"/>
  </p:notesMasterIdLst>
  <p:sldIdLst>
    <p:sldId id="602" r:id="rId2"/>
    <p:sldId id="751" r:id="rId3"/>
    <p:sldId id="272" r:id="rId4"/>
    <p:sldId id="309" r:id="rId5"/>
    <p:sldId id="764" r:id="rId6"/>
    <p:sldId id="763" r:id="rId7"/>
    <p:sldId id="311" r:id="rId8"/>
    <p:sldId id="771" r:id="rId9"/>
    <p:sldId id="738" r:id="rId10"/>
    <p:sldId id="739" r:id="rId11"/>
    <p:sldId id="740" r:id="rId12"/>
    <p:sldId id="741" r:id="rId13"/>
    <p:sldId id="295" r:id="rId14"/>
    <p:sldId id="766" r:id="rId15"/>
    <p:sldId id="483" r:id="rId16"/>
    <p:sldId id="467" r:id="rId17"/>
    <p:sldId id="747" r:id="rId18"/>
    <p:sldId id="485" r:id="rId19"/>
    <p:sldId id="773" r:id="rId20"/>
    <p:sldId id="488" r:id="rId21"/>
    <p:sldId id="487" r:id="rId22"/>
    <p:sldId id="486" r:id="rId23"/>
    <p:sldId id="768" r:id="rId24"/>
    <p:sldId id="531" r:id="rId25"/>
    <p:sldId id="491" r:id="rId26"/>
    <p:sldId id="528" r:id="rId27"/>
    <p:sldId id="492" r:id="rId28"/>
    <p:sldId id="769" r:id="rId29"/>
    <p:sldId id="774" r:id="rId30"/>
    <p:sldId id="493" r:id="rId31"/>
    <p:sldId id="532" r:id="rId32"/>
    <p:sldId id="494" r:id="rId33"/>
    <p:sldId id="770" r:id="rId34"/>
    <p:sldId id="529" r:id="rId35"/>
    <p:sldId id="496" r:id="rId36"/>
    <p:sldId id="534" r:id="rId37"/>
    <p:sldId id="303" r:id="rId38"/>
    <p:sldId id="776" r:id="rId39"/>
    <p:sldId id="748" r:id="rId40"/>
    <p:sldId id="749" r:id="rId41"/>
    <p:sldId id="750" r:id="rId42"/>
    <p:sldId id="506" r:id="rId43"/>
    <p:sldId id="501" r:id="rId44"/>
    <p:sldId id="503" r:id="rId45"/>
    <p:sldId id="504" r:id="rId46"/>
    <p:sldId id="505" r:id="rId47"/>
    <p:sldId id="270" r:id="rId48"/>
  </p:sldIdLst>
  <p:sldSz cx="8229600" cy="51435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350" autoAdjust="0"/>
  </p:normalViewPr>
  <p:slideViewPr>
    <p:cSldViewPr snapToGrid="0" snapToObjects="1">
      <p:cViewPr varScale="1">
        <p:scale>
          <a:sx n="117" d="100"/>
          <a:sy n="117" d="100"/>
        </p:scale>
        <p:origin x="1770" y="102"/>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2/23/2026</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5963" y="696913"/>
            <a:ext cx="5578475" cy="3486150"/>
          </a:xfrm>
        </p:spPr>
      </p:sp>
      <p:sp>
        <p:nvSpPr>
          <p:cNvPr id="3" name="Notes Placeholder 2"/>
          <p:cNvSpPr>
            <a:spLocks noGrp="1"/>
          </p:cNvSpPr>
          <p:nvPr>
            <p:ph type="body" idx="1"/>
          </p:nvPr>
        </p:nvSpPr>
        <p:spPr/>
        <p:txBody>
          <a:bodyPr/>
          <a:lstStyle/>
          <a:p>
            <a:pPr defTabSz="465887">
              <a:defRPr/>
            </a:pPr>
            <a:endParaRPr lang="en-US" dirty="0"/>
          </a:p>
        </p:txBody>
      </p:sp>
      <p:sp>
        <p:nvSpPr>
          <p:cNvPr id="4" name="Slide Number Placeholder 3"/>
          <p:cNvSpPr>
            <a:spLocks noGrp="1"/>
          </p:cNvSpPr>
          <p:nvPr>
            <p:ph type="sldNum" sz="quarter" idx="10"/>
          </p:nvPr>
        </p:nvSpPr>
        <p:spPr/>
        <p:txBody>
          <a:bodyPr/>
          <a:lstStyle/>
          <a:p>
            <a:fld id="{56507943-197E-CE46-82F0-5A323A24AE7A}" type="slidenum">
              <a:rPr lang="en-US" smtClean="0"/>
              <a:pPr/>
              <a:t>1</a:t>
            </a:fld>
            <a:endParaRPr lang="en-US"/>
          </a:p>
        </p:txBody>
      </p:sp>
    </p:spTree>
    <p:extLst>
      <p:ext uri="{BB962C8B-B14F-4D97-AF65-F5344CB8AC3E}">
        <p14:creationId xmlns:p14="http://schemas.microsoft.com/office/powerpoint/2010/main" val="1973508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049654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Unique concerns arise when we want to explore and analyze spatial data statistically. </a:t>
            </a:r>
          </a:p>
          <a:p>
            <a:endParaRPr lang="en-US" baseline="0" dirty="0"/>
          </a:p>
          <a:p>
            <a:r>
              <a:rPr lang="en-US" baseline="0" dirty="0"/>
              <a:t>First, they occur over a map space, so issues of spatial heterogeneity and spatial autocorrelation arise, which can make it difficult to apply traditional statistical methods that assume samples are independent of one another. </a:t>
            </a:r>
          </a:p>
          <a:p>
            <a:endParaRPr lang="en-US" baseline="0" dirty="0"/>
          </a:p>
          <a:p>
            <a:r>
              <a:rPr lang="en-US" baseline="0" dirty="0"/>
              <a:t>Although this issue is not necessarily unique to spatial data, there can also be issues with temporal heterogeneity and autocorrelation. </a:t>
            </a:r>
          </a:p>
          <a:p>
            <a:endParaRPr lang="en-US" baseline="0" dirty="0"/>
          </a:p>
          <a:p>
            <a:r>
              <a:rPr lang="en-US" baseline="0" dirty="0"/>
              <a:t>As mentioned in previous modules, the scale of the data aggregation can impact the analysis results, which we term the Modifiable Areal Unit Problem or MAUP.</a:t>
            </a:r>
          </a:p>
        </p:txBody>
      </p:sp>
      <p:sp>
        <p:nvSpPr>
          <p:cNvPr id="4" name="Slide Number Placeholder 3"/>
          <p:cNvSpPr>
            <a:spLocks noGrp="1"/>
          </p:cNvSpPr>
          <p:nvPr>
            <p:ph type="sldNum" sz="quarter" idx="10"/>
          </p:nvPr>
        </p:nvSpPr>
        <p:spPr/>
        <p:txBody>
          <a:bodyPr/>
          <a:lstStyle/>
          <a:p>
            <a:fld id="{01F2A70B-78F2-4DCF-B53B-C990D2FAFB8A}" type="slidenum">
              <a:rPr lang="en-US" smtClean="0"/>
              <a:t>3</a:t>
            </a:fld>
            <a:endParaRPr lang="en-US"/>
          </a:p>
        </p:txBody>
      </p:sp>
    </p:spTree>
    <p:extLst>
      <p:ext uri="{BB962C8B-B14F-4D97-AF65-F5344CB8AC3E}">
        <p14:creationId xmlns:p14="http://schemas.microsoft.com/office/powerpoint/2010/main" val="556124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a:t>
            </a:r>
            <a:r>
              <a:rPr lang="en-US" baseline="0" dirty="0"/>
              <a:t> is generally not possible to measure all members of a population. For example, if you wanted to conduct a study in which all undergraduates at a university were considered the population, it would be very difficult to collect data for every single student. As additional examples, it would not be feasible to measure every tree in a forest or every fish in a river. </a:t>
            </a:r>
          </a:p>
          <a:p>
            <a:endParaRPr lang="en-US" baseline="0" dirty="0"/>
          </a:p>
          <a:p>
            <a:r>
              <a:rPr lang="en-US" baseline="0" dirty="0"/>
              <a:t>So, we must collect a sample from the larger population. In order to draw unbiased conclusion about the population from the sample, it must be an unbiased representation of the population. This is accomplished using random sampling. Using appropriate sampling methods will allow you to approximate the mean and variance of the population with the sample. </a:t>
            </a:r>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16374524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types of sampling</a:t>
            </a:r>
            <a:r>
              <a:rPr lang="en-US" baseline="0" dirty="0"/>
              <a:t> methods are available. Here, I will focus on sampling methods used over map space. </a:t>
            </a:r>
          </a:p>
          <a:p>
            <a:endParaRPr lang="en-US" baseline="0" dirty="0"/>
          </a:p>
          <a:p>
            <a:r>
              <a:rPr lang="en-US" baseline="0" dirty="0"/>
              <a:t>When using simple random sampling, random locations are selected across a study area extent as random x, y coordinate pairs. So, this is purely random. </a:t>
            </a:r>
          </a:p>
          <a:p>
            <a:endParaRPr lang="en-US" baseline="0" dirty="0"/>
          </a:p>
          <a:p>
            <a:r>
              <a:rPr lang="en-US" baseline="0" dirty="0"/>
              <a:t>In contrast, systematic sampling involves sampling using a fixed pattern or spacing. For example, a sample could be collected every 50 meters. </a:t>
            </a:r>
          </a:p>
          <a:p>
            <a:endParaRPr lang="en-US" baseline="0" dirty="0"/>
          </a:p>
          <a:p>
            <a:r>
              <a:rPr lang="en-US" baseline="0" dirty="0"/>
              <a:t>Random or systematic sampling can also be performed along transects. This is a common method used by ecologists and foresters.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508075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Stratified</a:t>
            </a:r>
            <a:r>
              <a:rPr lang="en-US" baseline="0" dirty="0"/>
              <a:t> random sampling involves collecting a defined number of random samples per category. For example, a fixed number of samples could be collected for each land cover class. </a:t>
            </a:r>
          </a:p>
          <a:p>
            <a:endParaRPr lang="en-US" baseline="0" dirty="0"/>
          </a:p>
          <a:p>
            <a:r>
              <a:rPr lang="en-US" baseline="0" dirty="0"/>
              <a:t>Random sampling within clusters involves defining clusters or smaller extents within the larger extent of interest and then selecting random samples within these extents. This method is commonly used when it is too difficult or infeasible to collect random samples across the entire extent of interest. </a:t>
            </a:r>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594193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a:t>
            </a:r>
            <a:r>
              <a:rPr lang="en-US" baseline="0" dirty="0"/>
              <a:t> tool are available in geospatial software packages to perform random sampling. </a:t>
            </a:r>
          </a:p>
          <a:p>
            <a:endParaRPr lang="en-US" baseline="0" dirty="0"/>
          </a:p>
          <a:p>
            <a:r>
              <a:rPr lang="en-US" baseline="0" dirty="0"/>
              <a:t>For example, ArcGIS Pro has a tool to generate random points and points along lines or transects.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4075314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Tessellation</a:t>
            </a:r>
            <a:r>
              <a:rPr lang="en-US" baseline="0" dirty="0"/>
              <a:t> involves filling a plane completely with non-overlapping geometric shapes. Commonly used shapes include hexagons, triangles, and squares. </a:t>
            </a:r>
          </a:p>
          <a:p>
            <a:endParaRPr lang="en-US" baseline="0" dirty="0"/>
          </a:p>
          <a:p>
            <a:r>
              <a:rPr lang="en-US" baseline="0" dirty="0"/>
              <a:t>These units can then be used to define sampling strategies or aggregate data.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1155886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Fishnets</a:t>
            </a:r>
            <a:r>
              <a:rPr lang="en-US" baseline="0" dirty="0"/>
              <a:t> can be used to generate grids over spatial extents. They can be useful in planning or defining sampling strategies. </a:t>
            </a:r>
          </a:p>
          <a:p>
            <a:endParaRPr lang="en-US" baseline="0" dirty="0"/>
          </a:p>
          <a:p>
            <a:r>
              <a:rPr lang="en-US" baseline="0" dirty="0"/>
              <a:t>I have also found them to be useful to aid in digitizing over large areas, as they can act as tiles to subset the task and as guides while digitizing.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3432394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dirty="0"/>
              <a:t>The first one is central feature. Central feature is used to…So what does it mean? Let’s say that we have a dataset of points and we can measure the distance from each point to all of the other points in the data set and then we’re add up those distances and see which point has the shortest distance to all of the other point and then that point will become our central feature.</a:t>
            </a:r>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4175512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baseline="0" dirty="0"/>
              <a:t>We need to pay attention is that the distance can be defined using the Euclidean or Manhattan methods. Euclidean distance is the straight line distance between 2 points while Manhattan distance is the sum of the distance in the x and y directions. </a:t>
            </a:r>
          </a:p>
          <a:p>
            <a:endParaRPr lang="en-US" baseline="0" dirty="0"/>
          </a:p>
          <a:p>
            <a:r>
              <a:rPr lang="en-US" baseline="0" dirty="0"/>
              <a:t>The Manhattan and Euclidean distance can be the same length if the two features are exactly north or south or east to west of each other. However, the Manhattan distance is generally longer. </a:t>
            </a:r>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4164088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dirty="0"/>
              <a:t>This mean center usually is a new location, which is different with central feature</a:t>
            </a:r>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12503497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dirty="0"/>
              <a:t>The second is Mean Center. Mean center… We have x and y values for each point in the data and we average all of the x and y values and that will become our mean center</a:t>
            </a:r>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40487883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dirty="0"/>
              <a:t>The third one is median center. Median Center is also… but it is based on median. With same example, rather than averaging x and Y values, we find the median X and median Y. And this point is the median center.</a:t>
            </a:r>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29677354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baseline="0" dirty="0"/>
              <a:t>This will also return a new coordinates. </a:t>
            </a:r>
          </a:p>
          <a:p>
            <a:endParaRPr lang="en-US" baseline="0" dirty="0"/>
          </a:p>
          <a:p>
            <a:r>
              <a:rPr lang="en-US" baseline="0" dirty="0"/>
              <a:t>Compare to mean center, median is more robust to outliers, because it can exclude outliers. For example, if we change the last numbers to 1 and 0, it will not influence median values, but it will cause mean values to be smaller.</a:t>
            </a:r>
          </a:p>
          <a:p>
            <a:endParaRPr lang="en-US" baseline="0" dirty="0"/>
          </a:p>
          <a:p>
            <a:r>
              <a:rPr lang="en-US" baseline="0" dirty="0"/>
              <a:t>Did I make sense so far?</a:t>
            </a:r>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1469820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baseline="0" dirty="0"/>
              <a:t>Here we give three examples. These figures show the distribution of airport in United States, the blue is central feature, green is mean feature, and the yellow is median center. Both green and yellow are new locations, not the established airport. So if we want to choose a central airport without building a new airport to say money, it is better to use central feature. </a:t>
            </a:r>
          </a:p>
          <a:p>
            <a:endParaRPr lang="en-US" baseline="0" dirty="0"/>
          </a:p>
          <a:p>
            <a:r>
              <a:rPr lang="en-US" baseline="0" dirty="0"/>
              <a:t>You can also incorporate weights into the calculation. For example, for the airport example provided here you could include a weight as the number of passengers per year. You can also obtain different central features by category as defined by an attribute. For example, you could get different central features for international and regional airports.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27127096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6507943-197E-CE46-82F0-5A323A24AE7A}" type="slidenum">
              <a:rPr lang="en-US" smtClean="0"/>
              <a:pPr/>
              <a:t>24</a:t>
            </a:fld>
            <a:endParaRPr lang="en-US"/>
          </a:p>
        </p:txBody>
      </p:sp>
    </p:spTree>
    <p:extLst>
      <p:ext uri="{BB962C8B-B14F-4D97-AF65-F5344CB8AC3E}">
        <p14:creationId xmlns:p14="http://schemas.microsoft.com/office/powerpoint/2010/main" val="9959380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dirty="0"/>
              <a:t>Central feature, mean center, and median center, </a:t>
            </a:r>
            <a:r>
              <a:rPr lang="en-US" baseline="0" dirty="0"/>
              <a:t>provide a measure of spatial central tendency. But They do not represent dispersion. </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Standard distance can be used to obtain a measure of dispersion. It provides a measure of the </a:t>
            </a:r>
            <a:r>
              <a:rPr lang="en-US" dirty="0"/>
              <a:t>degree to which features are concentrated or dispersed around the geometric mean center using standard deviations.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example, we get the mean center from the previous example. We then calculate the standard deviation of X and Y. We use the standard deviation as radius to draw the circle.  This circle shows the standard distance of the data.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17950681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Smaller circles</a:t>
            </a:r>
            <a:r>
              <a:rPr lang="en-US" baseline="0" dirty="0"/>
              <a:t> indicate less dispersion while larger circles indicate more dispersion.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Standard distance for different datasets can be compared to get a sense of how they differ in regards to spatial dispersion.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We need to pay attention is that the center is the mean center and we can also specify the number of standard deviations. In our example, we choose one standard deviation. We can also choose two standard deviation, three standard deviation.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Similar to the central tendency, weights can be applied and separate standard distances can be obtained by category or group.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22319119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baseline="0" dirty="0"/>
              <a:t>1 standard deviation means we choose 68.3% of the data are within one standard deviation of the mean, 95.4% of the data are within two standard deviations of the mean, and 99.7% of the data are within three standard deviations of the mean.</a:t>
            </a:r>
          </a:p>
          <a:p>
            <a:endParaRPr lang="en-US" baseline="0" dirty="0"/>
          </a:p>
          <a:p>
            <a:r>
              <a:rPr lang="en-US" sz="1200" dirty="0"/>
              <a:t>68.3% of the data are within one standard deviation of the mean</a:t>
            </a:r>
          </a:p>
          <a:p>
            <a:r>
              <a:rPr lang="en-US" sz="1200" dirty="0"/>
              <a:t>95.4% of the data lie within two standard deviations of the mean</a:t>
            </a:r>
          </a:p>
          <a:p>
            <a:r>
              <a:rPr lang="en-US" sz="1200" dirty="0"/>
              <a:t>99.7% of the data lie within three standard deviations of the mean</a:t>
            </a:r>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35490112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baseline="0" dirty="0"/>
              <a:t>Here we give examples of standard distance and standard deviation ellipse. In standard distance, in all direction, it shows same radius, and in standard deviation ellipse, the maximum dispersion in this direction and minimum dispersion in this direction.</a:t>
            </a:r>
          </a:p>
          <a:p>
            <a:endParaRPr lang="en-US" baseline="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baseline="0" dirty="0"/>
              <a:t>Did I make sense so far? Do you have some questions?</a:t>
            </a:r>
            <a:endParaRPr lang="en-US" dirty="0"/>
          </a:p>
          <a:p>
            <a:endParaRPr lang="en-US" baseline="0" dirty="0"/>
          </a:p>
          <a:p>
            <a:r>
              <a:rPr lang="en-US" baseline="0" dirty="0"/>
              <a:t>You can also incorporate weights into the calculation. For example, for the airport example provided here you could include a weight as the number of passengers per year. You can also obtain different central features by category as defined by an attribute. For example, you could get different central features for international and regional airports. </a:t>
            </a:r>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3501423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dirty="0"/>
              <a:t>Standard</a:t>
            </a:r>
            <a:r>
              <a:rPr lang="en-US" baseline="0" dirty="0"/>
              <a:t> distance does not provide any measure of directional trends. </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Standard deviation ellipse summarizes the </a:t>
            </a:r>
            <a:r>
              <a:rPr lang="en-US" dirty="0"/>
              <a:t>spatial central tendency, spatial dispersion, and directional trends.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example, the center of the ellipse is also the mean center. We then calculate the standard deviation for x and y, respectively. Based on this x and y standard deviation, we draw the ellipse. This ellipse is the standard deviation ellipse.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The size of the ellipse relates to spatial dispersion, and the long and short axis relate to directional trends.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Similar to the central tendency, weights can be applied and separate standard deviation ellipses can be obtained by category or group.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16100983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baseline="0" dirty="0"/>
              <a:t>Here we give examples of standard distance and standard deviation ellipse. In standard distance, in all direction, it shows same radius, and in standard deviation ellipse, the maximum dispersion in this direction and minimum dispersion in this direction.</a:t>
            </a:r>
          </a:p>
          <a:p>
            <a:endParaRPr lang="en-US" baseline="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baseline="0" dirty="0"/>
              <a:t>Did I make sense so far? Do you have some questions?</a:t>
            </a:r>
            <a:endParaRPr lang="en-US" dirty="0"/>
          </a:p>
          <a:p>
            <a:endParaRPr lang="en-US" baseline="0" dirty="0"/>
          </a:p>
          <a:p>
            <a:r>
              <a:rPr lang="en-US" baseline="0" dirty="0"/>
              <a:t>You can also incorporate weights into the calculation. For example, for the airport example provided here you could include a weight as the number of passengers per year. You can also obtain different central features by category as defined by an attribute. For example, you could get different central features for international and regional airports. </a:t>
            </a:r>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35</a:t>
            </a:fld>
            <a:endParaRPr lang="en-US"/>
          </a:p>
        </p:txBody>
      </p:sp>
    </p:spTree>
    <p:extLst>
      <p:ext uri="{BB962C8B-B14F-4D97-AF65-F5344CB8AC3E}">
        <p14:creationId xmlns:p14="http://schemas.microsoft.com/office/powerpoint/2010/main" val="31952616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6507943-197E-CE46-82F0-5A323A24AE7A}" type="slidenum">
              <a:rPr lang="en-US" smtClean="0"/>
              <a:pPr/>
              <a:t>36</a:t>
            </a:fld>
            <a:endParaRPr lang="en-US"/>
          </a:p>
        </p:txBody>
      </p:sp>
    </p:spTree>
    <p:extLst>
      <p:ext uri="{BB962C8B-B14F-4D97-AF65-F5344CB8AC3E}">
        <p14:creationId xmlns:p14="http://schemas.microsoft.com/office/powerpoint/2010/main" val="2391170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dirty="0"/>
              <a:t>In this section, we will analyze patterns using statistic significant test. </a:t>
            </a:r>
          </a:p>
          <a:p>
            <a:endParaRPr lang="en-US" baseline="0" dirty="0"/>
          </a:p>
          <a:p>
            <a:r>
              <a:rPr lang="en-US" baseline="0" dirty="0"/>
              <a:t>So first, we will review how to interpret statistical tests. </a:t>
            </a:r>
          </a:p>
          <a:p>
            <a:endParaRPr lang="en-US" baseline="0" dirty="0"/>
          </a:p>
          <a:p>
            <a:r>
              <a:rPr lang="en-US" baseline="0" dirty="0"/>
              <a:t>Statistical tests include two hypothesis, one is null hypothesis means no statistical significance or difference, indicating the happening of this event is by chance.</a:t>
            </a:r>
          </a:p>
          <a:p>
            <a:r>
              <a:rPr lang="en-US" baseline="0" dirty="0"/>
              <a:t>The alternative hypothesis means there is statistical significance or difference, indicating the happening of this event is not by chance. It is happened.</a:t>
            </a:r>
          </a:p>
          <a:p>
            <a:endParaRPr lang="en-US" baseline="0" dirty="0"/>
          </a:p>
          <a:p>
            <a:r>
              <a:rPr lang="en-US" dirty="0"/>
              <a:t>If we</a:t>
            </a:r>
            <a:r>
              <a:rPr lang="en-US" baseline="0" dirty="0"/>
              <a:t> accept the null hypothesis, this suggests there is no</a:t>
            </a:r>
            <a:r>
              <a:rPr lang="en-US" dirty="0"/>
              <a:t> statistical significance or</a:t>
            </a:r>
            <a:r>
              <a:rPr lang="en-US" baseline="0" dirty="0"/>
              <a:t> that the results were not significant. In contrast, if the null hypothesis is rejected, this suggests statistical significance or difference. </a:t>
            </a:r>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39</a:t>
            </a:fld>
            <a:endParaRPr lang="en-US"/>
          </a:p>
        </p:txBody>
      </p:sp>
    </p:spTree>
    <p:extLst>
      <p:ext uri="{BB962C8B-B14F-4D97-AF65-F5344CB8AC3E}">
        <p14:creationId xmlns:p14="http://schemas.microsoft.com/office/powerpoint/2010/main" val="12386244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baseline="0" dirty="0"/>
              <a:t>We usually use p value to decide whether to accept null hypothesis or not.</a:t>
            </a:r>
          </a:p>
          <a:p>
            <a:endParaRPr lang="en-US" baseline="0" dirty="0"/>
          </a:p>
          <a:p>
            <a:r>
              <a:rPr lang="en-US" dirty="0"/>
              <a:t>A </a:t>
            </a:r>
            <a:r>
              <a:rPr lang="en-US" i="1" dirty="0"/>
              <a:t>p</a:t>
            </a:r>
            <a:r>
              <a:rPr lang="en-US" dirty="0"/>
              <a:t>-value of 0.01 suggest that there is less than a 1% change of obtaining the result by random chance. It means it is more than 99% chance that the result happens is not by chance. So the result is significant. We need to reject the null hypothesis and accept the alternative hypothesis.</a:t>
            </a:r>
          </a:p>
          <a:p>
            <a:endParaRPr lang="en-US" dirty="0"/>
          </a:p>
          <a:p>
            <a:r>
              <a:rPr lang="en-US" dirty="0"/>
              <a:t>A p-value of 0.05 and 0.1 are also commonly used. In this section, if the p-value less 0.1 to reject null hypothesis.</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 specific statistical test will commonly produce a statistic or index.</a:t>
            </a:r>
            <a:r>
              <a:rPr lang="en-US" baseline="0" dirty="0"/>
              <a:t> </a:t>
            </a:r>
            <a:r>
              <a:rPr lang="en-US" dirty="0"/>
              <a:t>This is then compared to a distribution, such as a z-distribution or normal distribution.</a:t>
            </a:r>
            <a:r>
              <a:rPr lang="en-US" baseline="0" dirty="0"/>
              <a:t> </a:t>
            </a:r>
            <a:r>
              <a:rPr lang="en-US" dirty="0"/>
              <a:t>Comparison</a:t>
            </a:r>
            <a:r>
              <a:rPr lang="en-US" baseline="0" dirty="0"/>
              <a:t> to this distribution will allow for the calculation of a </a:t>
            </a:r>
            <a:r>
              <a:rPr lang="en-US" i="1" baseline="0" dirty="0"/>
              <a:t>p</a:t>
            </a:r>
            <a:r>
              <a:rPr lang="en-US" baseline="0" dirty="0"/>
              <a:t>-value.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40</a:t>
            </a:fld>
            <a:endParaRPr lang="en-US"/>
          </a:p>
        </p:txBody>
      </p:sp>
    </p:spTree>
    <p:extLst>
      <p:ext uri="{BB962C8B-B14F-4D97-AF65-F5344CB8AC3E}">
        <p14:creationId xmlns:p14="http://schemas.microsoft.com/office/powerpoint/2010/main" val="38225181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dirty="0"/>
              <a:t>Ok, the</a:t>
            </a:r>
            <a:r>
              <a:rPr lang="en-US" baseline="0" dirty="0"/>
              <a:t> first analyzing patterns method that we will explore is average nearest neighbor. This test is used to determine if a point pattern or distribution is random, clustered, or dispersed.</a:t>
            </a:r>
          </a:p>
          <a:p>
            <a:endParaRPr lang="en-US" baseline="0" dirty="0"/>
          </a:p>
          <a:p>
            <a:r>
              <a:rPr lang="en-US" baseline="0" dirty="0"/>
              <a:t>The null hypothesis is that the pattern is random. While the alternative hypothesis is that the points are not random, or that they are clustered or dispersed.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41</a:t>
            </a:fld>
            <a:endParaRPr lang="en-US"/>
          </a:p>
        </p:txBody>
      </p:sp>
    </p:spTree>
    <p:extLst>
      <p:ext uri="{BB962C8B-B14F-4D97-AF65-F5344CB8AC3E}">
        <p14:creationId xmlns:p14="http://schemas.microsoft.com/office/powerpoint/2010/main" val="13734777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baseline="0" dirty="0"/>
              <a:t>Let’s see how it works.</a:t>
            </a:r>
          </a:p>
          <a:p>
            <a:endParaRPr lang="en-US" baseline="0" dirty="0"/>
          </a:p>
          <a:p>
            <a:r>
              <a:rPr lang="en-US" baseline="0" dirty="0"/>
              <a:t>Here are point locations. We can measure distance between each location and its nearest neighbor. We go through all of these points and get all of the distances. Then we average this distance and compare it with expected average distance. We calculate a ratio. If the ratio is significantly less than 1, the points are clustered, if it is significantly large than 1, the points are dispersed. </a:t>
            </a:r>
          </a:p>
          <a:p>
            <a:r>
              <a:rPr lang="en-US" baseline="0" dirty="0"/>
              <a:t> </a:t>
            </a:r>
          </a:p>
          <a:p>
            <a:r>
              <a:rPr lang="en-US" baseline="0" dirty="0"/>
              <a:t>This is based on the calculation of the nearest neighbor ratio, which is based on a comparison of the actual point distribution to a hypothetical one. Distances in this test can be calculated using Euclidean distance or Manhattan distance. </a:t>
            </a:r>
          </a:p>
          <a:p>
            <a:endParaRPr lang="en-US" baseline="0" dirty="0"/>
          </a:p>
          <a:p>
            <a:r>
              <a:rPr lang="en-US" baseline="0" dirty="0"/>
              <a:t>Note that this test does not consider the actual attributes stored on the points. It only looks at the point pattern. </a:t>
            </a:r>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42</a:t>
            </a:fld>
            <a:endParaRPr lang="en-US"/>
          </a:p>
        </p:txBody>
      </p:sp>
    </p:spTree>
    <p:extLst>
      <p:ext uri="{BB962C8B-B14F-4D97-AF65-F5344CB8AC3E}">
        <p14:creationId xmlns:p14="http://schemas.microsoft.com/office/powerpoint/2010/main" val="34417309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dirty="0"/>
              <a:t>We need to pay attention is that this test only…</a:t>
            </a:r>
          </a:p>
          <a:p>
            <a:r>
              <a:rPr lang="en-US" dirty="0"/>
              <a:t>For example, if the points means the location of a school. So the point has x and y values and number of students in this school. So in here, we only consider x and y values, but not number of students. </a:t>
            </a:r>
          </a:p>
          <a:p>
            <a:endParaRPr lang="en-US" dirty="0"/>
          </a:p>
          <a:p>
            <a:r>
              <a:rPr lang="en-US" baseline="0" dirty="0"/>
              <a:t>Distances in this test can be calculated using Euclidean distance or Manhattan distance.  In our example, we use Euclidean distance.</a:t>
            </a:r>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43</a:t>
            </a:fld>
            <a:endParaRPr lang="en-US"/>
          </a:p>
        </p:txBody>
      </p:sp>
    </p:spTree>
    <p:extLst>
      <p:ext uri="{BB962C8B-B14F-4D97-AF65-F5344CB8AC3E}">
        <p14:creationId xmlns:p14="http://schemas.microsoft.com/office/powerpoint/2010/main" val="11524774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dirty="0"/>
              <a:t>Here is an example output</a:t>
            </a:r>
            <a:r>
              <a:rPr lang="en-US" baseline="0" dirty="0"/>
              <a:t> for average nearest neighbor for the point distribution. Can anyone tell it is clustered, random, or dispersed? </a:t>
            </a:r>
          </a:p>
          <a:p>
            <a:endParaRPr lang="en-US" baseline="0" dirty="0"/>
          </a:p>
          <a:p>
            <a:r>
              <a:rPr lang="en-US" baseline="0" dirty="0"/>
              <a:t>The nearest neighbor ratio is greater than 1 and the </a:t>
            </a:r>
            <a:r>
              <a:rPr lang="en-US" i="1" baseline="0" dirty="0"/>
              <a:t>p</a:t>
            </a:r>
            <a:r>
              <a:rPr lang="en-US" baseline="0" dirty="0"/>
              <a:t>-value is 0.062. This suggest it is dispersed. </a:t>
            </a:r>
          </a:p>
          <a:p>
            <a:endParaRPr lang="en-US" baseline="0" dirty="0"/>
          </a:p>
          <a:p>
            <a:r>
              <a:rPr lang="en-US" baseline="0" dirty="0"/>
              <a:t>However, this is not statistically significant at the 95% confidence interval. </a:t>
            </a:r>
          </a:p>
        </p:txBody>
      </p:sp>
      <p:sp>
        <p:nvSpPr>
          <p:cNvPr id="4" name="Slide Number Placeholder 3"/>
          <p:cNvSpPr>
            <a:spLocks noGrp="1"/>
          </p:cNvSpPr>
          <p:nvPr>
            <p:ph type="sldNum" sz="quarter" idx="10"/>
          </p:nvPr>
        </p:nvSpPr>
        <p:spPr/>
        <p:txBody>
          <a:bodyPr/>
          <a:lstStyle/>
          <a:p>
            <a:fld id="{01F2A70B-78F2-4DCF-B53B-C990D2FAFB8A}" type="slidenum">
              <a:rPr lang="en-US" smtClean="0"/>
              <a:t>44</a:t>
            </a:fld>
            <a:endParaRPr lang="en-US"/>
          </a:p>
        </p:txBody>
      </p:sp>
    </p:spTree>
    <p:extLst>
      <p:ext uri="{BB962C8B-B14F-4D97-AF65-F5344CB8AC3E}">
        <p14:creationId xmlns:p14="http://schemas.microsoft.com/office/powerpoint/2010/main" val="21262052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dirty="0"/>
              <a:t>How about this one?</a:t>
            </a:r>
          </a:p>
          <a:p>
            <a:endParaRPr lang="en-US" dirty="0"/>
          </a:p>
          <a:p>
            <a:r>
              <a:rPr lang="en-US" dirty="0"/>
              <a:t>This is a perfectly dispersed pattern. The</a:t>
            </a:r>
            <a:r>
              <a:rPr lang="en-US" baseline="0" dirty="0"/>
              <a:t> nearest neighbor ratio is greater than 1 and the </a:t>
            </a:r>
            <a:r>
              <a:rPr lang="en-US" i="1" baseline="0" dirty="0"/>
              <a:t>p</a:t>
            </a:r>
            <a:r>
              <a:rPr lang="en-US" baseline="0" dirty="0"/>
              <a:t>-value is 0, suggesting stronger significance. </a:t>
            </a:r>
          </a:p>
          <a:p>
            <a:endParaRPr lang="en-US" baseline="0" dirty="0"/>
          </a:p>
          <a:p>
            <a:r>
              <a:rPr lang="en-US" baseline="0" dirty="0"/>
              <a:t>So this pattern is suggested to be disperse.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45</a:t>
            </a:fld>
            <a:endParaRPr lang="en-US"/>
          </a:p>
        </p:txBody>
      </p:sp>
    </p:spTree>
    <p:extLst>
      <p:ext uri="{BB962C8B-B14F-4D97-AF65-F5344CB8AC3E}">
        <p14:creationId xmlns:p14="http://schemas.microsoft.com/office/powerpoint/2010/main" val="7321484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lstStyle/>
          <a:p>
            <a:r>
              <a:rPr lang="en-US" dirty="0"/>
              <a:t>How about this one?</a:t>
            </a:r>
          </a:p>
          <a:p>
            <a:endParaRPr lang="en-US" dirty="0"/>
          </a:p>
          <a:p>
            <a:r>
              <a:rPr lang="en-US" dirty="0"/>
              <a:t>For this result, the nearest neighbor ratio</a:t>
            </a:r>
            <a:r>
              <a:rPr lang="en-US" baseline="0" dirty="0"/>
              <a:t> is less than 1 and the </a:t>
            </a:r>
            <a:r>
              <a:rPr lang="en-US" i="1" baseline="0" dirty="0"/>
              <a:t>p</a:t>
            </a:r>
            <a:r>
              <a:rPr lang="en-US" baseline="0" dirty="0"/>
              <a:t>-value is zero, suggesting strong significance for a clustered pattern.</a:t>
            </a:r>
          </a:p>
          <a:p>
            <a:endParaRPr lang="en-US" baseline="0" dirty="0"/>
          </a:p>
          <a:p>
            <a:r>
              <a:rPr lang="en-US" baseline="0" dirty="0"/>
              <a:t>So far, did I make sense?</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46</a:t>
            </a:fld>
            <a:endParaRPr lang="en-US"/>
          </a:p>
        </p:txBody>
      </p:sp>
    </p:spTree>
    <p:extLst>
      <p:ext uri="{BB962C8B-B14F-4D97-AF65-F5344CB8AC3E}">
        <p14:creationId xmlns:p14="http://schemas.microsoft.com/office/powerpoint/2010/main" val="33893202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47</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17220" y="1597820"/>
            <a:ext cx="6995160" cy="1102519"/>
          </a:xfrm>
        </p:spPr>
        <p:txBody>
          <a:bodyPr/>
          <a:lstStyle/>
          <a:p>
            <a:r>
              <a:rPr lang="en-US"/>
              <a:t>Click to edit Master title style</a:t>
            </a:r>
          </a:p>
        </p:txBody>
      </p:sp>
      <p:sp>
        <p:nvSpPr>
          <p:cNvPr id="3" name="Subtitle 2"/>
          <p:cNvSpPr>
            <a:spLocks noGrp="1"/>
          </p:cNvSpPr>
          <p:nvPr>
            <p:ph type="subTitle" idx="1"/>
          </p:nvPr>
        </p:nvSpPr>
        <p:spPr>
          <a:xfrm>
            <a:off x="1234440" y="2914650"/>
            <a:ext cx="5760720" cy="1314450"/>
          </a:xfrm>
        </p:spPr>
        <p:txBody>
          <a:bodyPr/>
          <a:lstStyle>
            <a:lvl1pPr marL="0" indent="0" algn="ctr">
              <a:buNone/>
              <a:defRPr>
                <a:solidFill>
                  <a:schemeClr val="tx1">
                    <a:tint val="75000"/>
                  </a:schemeClr>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230B379-9948-4704-829E-96416ED18FAC}" type="datetime1">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45916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C81144-EC15-4DAB-9726-04B41B9F18FB}" type="datetime1">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82469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0082" y="3305176"/>
            <a:ext cx="6995160" cy="1021556"/>
          </a:xfrm>
        </p:spPr>
        <p:txBody>
          <a:bodyPr anchor="t"/>
          <a:lstStyle>
            <a:lvl1pPr algn="l">
              <a:defRPr sz="3600" b="1" cap="all"/>
            </a:lvl1pPr>
          </a:lstStyle>
          <a:p>
            <a:r>
              <a:rPr lang="en-US"/>
              <a:t>Click to edit Master title style</a:t>
            </a:r>
          </a:p>
        </p:txBody>
      </p:sp>
      <p:sp>
        <p:nvSpPr>
          <p:cNvPr id="3" name="Text Placeholder 2"/>
          <p:cNvSpPr>
            <a:spLocks noGrp="1"/>
          </p:cNvSpPr>
          <p:nvPr>
            <p:ph type="body" idx="1"/>
          </p:nvPr>
        </p:nvSpPr>
        <p:spPr>
          <a:xfrm>
            <a:off x="650082" y="2180035"/>
            <a:ext cx="6995160" cy="1125140"/>
          </a:xfrm>
        </p:spPr>
        <p:txBody>
          <a:bodyPr anchor="b"/>
          <a:lstStyle>
            <a:lvl1pPr marL="0" indent="0">
              <a:buNone/>
              <a:defRPr sz="1800">
                <a:solidFill>
                  <a:schemeClr val="tx1">
                    <a:tint val="75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239131-62C9-4B89-A722-55460DF88A4D}" type="datetime1">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414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480" y="1200151"/>
            <a:ext cx="3634740" cy="3394472"/>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183380" y="1200151"/>
            <a:ext cx="3634740" cy="3394472"/>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8F8044D-B4ED-4091-A1E9-8C9771548798}" type="datetime1">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052044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11480" y="1151335"/>
            <a:ext cx="3636169" cy="47982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11480" y="1631156"/>
            <a:ext cx="3636169" cy="2963466"/>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180524" y="1151335"/>
            <a:ext cx="3637598" cy="47982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180524" y="1631156"/>
            <a:ext cx="3637598" cy="2963466"/>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EECC301-9208-457A-9254-D5EF94991E67}" type="datetime1">
              <a:rPr lang="en-US" smtClean="0"/>
              <a:t>2/23/2026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34329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29D4E83-B44F-4E53-A049-35B5BAA3706E}" type="datetime1">
              <a:rPr lang="en-US" smtClean="0"/>
              <a:t>2/23/2026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74429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F8F4F4-65D1-40EC-BA6E-A6819C22A79F}" type="datetime1">
              <a:rPr lang="en-US" smtClean="0"/>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04835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1481" y="204787"/>
            <a:ext cx="2707482" cy="871538"/>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217545" y="204789"/>
            <a:ext cx="4600575" cy="4389835"/>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11481" y="1076327"/>
            <a:ext cx="2707482" cy="3518297"/>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p:txBody>
          <a:bodyPr/>
          <a:lstStyle/>
          <a:p>
            <a:fld id="{F398486D-9E4D-4DFC-BA37-9058990A0FA8}" type="datetime1">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4184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13059" y="3600450"/>
            <a:ext cx="4937760" cy="425054"/>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613059" y="459581"/>
            <a:ext cx="4937760" cy="30861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endParaRPr lang="en-US"/>
          </a:p>
        </p:txBody>
      </p:sp>
      <p:sp>
        <p:nvSpPr>
          <p:cNvPr id="4" name="Text Placeholder 3"/>
          <p:cNvSpPr>
            <a:spLocks noGrp="1"/>
          </p:cNvSpPr>
          <p:nvPr>
            <p:ph type="body" sz="half" idx="2"/>
          </p:nvPr>
        </p:nvSpPr>
        <p:spPr>
          <a:xfrm>
            <a:off x="1613059" y="4025504"/>
            <a:ext cx="4937760" cy="603647"/>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p:txBody>
          <a:bodyPr/>
          <a:lstStyle/>
          <a:p>
            <a:fld id="{E6DD762C-2B66-4409-9963-F3D4A3257E36}" type="datetime1">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6031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D74048-DB93-488D-B61C-665FD347AFEA}" type="datetime1">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50910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66460" y="205979"/>
            <a:ext cx="185166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1480" y="205979"/>
            <a:ext cx="541782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3D397B-B7A7-424C-A57E-E2BA2ACAF7A3}" type="datetime1">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64596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1480" y="205979"/>
            <a:ext cx="740664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11480" y="1200151"/>
            <a:ext cx="740664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11480" y="4767263"/>
            <a:ext cx="1920240" cy="273844"/>
          </a:xfrm>
          <a:prstGeom prst="rect">
            <a:avLst/>
          </a:prstGeom>
        </p:spPr>
        <p:txBody>
          <a:bodyPr vert="horz" lIns="91440" tIns="45720" rIns="91440" bIns="45720" rtlCol="0" anchor="ctr"/>
          <a:lstStyle>
            <a:lvl1pPr algn="l">
              <a:defRPr sz="1080">
                <a:solidFill>
                  <a:schemeClr val="tx1">
                    <a:tint val="75000"/>
                  </a:schemeClr>
                </a:solidFill>
              </a:defRPr>
            </a:lvl1pPr>
          </a:lstStyle>
          <a:p>
            <a:fld id="{D0B1DD65-E0DA-4C40-988A-23E77FAE97AF}" type="datetime1">
              <a:rPr lang="en-US" smtClean="0"/>
              <a:t>2/23/2026</a:t>
            </a:fld>
            <a:endParaRPr lang="en-US"/>
          </a:p>
        </p:txBody>
      </p:sp>
      <p:sp>
        <p:nvSpPr>
          <p:cNvPr id="5" name="Footer Placeholder 4"/>
          <p:cNvSpPr>
            <a:spLocks noGrp="1"/>
          </p:cNvSpPr>
          <p:nvPr>
            <p:ph type="ftr" sz="quarter" idx="3"/>
          </p:nvPr>
        </p:nvSpPr>
        <p:spPr>
          <a:xfrm>
            <a:off x="2811780" y="4767263"/>
            <a:ext cx="2606040" cy="273844"/>
          </a:xfrm>
          <a:prstGeom prst="rect">
            <a:avLst/>
          </a:prstGeom>
        </p:spPr>
        <p:txBody>
          <a:bodyPr vert="horz" lIns="91440" tIns="45720" rIns="91440" bIns="45720" rtlCol="0" anchor="ctr"/>
          <a:lstStyle>
            <a:lvl1pPr algn="ctr">
              <a:defRPr sz="10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897880" y="4767263"/>
            <a:ext cx="1920240" cy="273844"/>
          </a:xfrm>
          <a:prstGeom prst="rect">
            <a:avLst/>
          </a:prstGeom>
        </p:spPr>
        <p:txBody>
          <a:bodyPr vert="horz" lIns="91440" tIns="45720" rIns="91440" bIns="45720" rtlCol="0" anchor="ctr"/>
          <a:lstStyle>
            <a:lvl1pPr algn="r">
              <a:defRPr sz="1080">
                <a:solidFill>
                  <a:schemeClr val="tx1">
                    <a:tint val="75000"/>
                  </a:schemeClr>
                </a:solidFill>
              </a:defRPr>
            </a:lvl1pPr>
          </a:lstStyle>
          <a:p>
            <a:fld id="{127DDC20-79C9-9647-820E-6D40A3D210C3}" type="slidenum">
              <a:rPr lang="en-US" smtClean="0"/>
              <a:pPr/>
              <a:t>‹#›</a:t>
            </a:fld>
            <a:endParaRPr lang="en-US"/>
          </a:p>
        </p:txBody>
      </p:sp>
    </p:spTree>
    <p:extLst>
      <p:ext uri="{BB962C8B-B14F-4D97-AF65-F5344CB8AC3E}">
        <p14:creationId xmlns:p14="http://schemas.microsoft.com/office/powerpoint/2010/main" val="1428394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11480" rtl="0" eaLnBrk="1" latinLnBrk="0" hangingPunct="1">
        <a:spcBef>
          <a:spcPct val="0"/>
        </a:spcBef>
        <a:buNone/>
        <a:defRPr sz="3960" kern="1200">
          <a:solidFill>
            <a:schemeClr val="tx1"/>
          </a:solidFill>
          <a:latin typeface="+mj-lt"/>
          <a:ea typeface="+mj-ea"/>
          <a:cs typeface="+mj-cs"/>
        </a:defRPr>
      </a:lvl1pPr>
    </p:titleStyle>
    <p:body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p:bodyStyle>
    <p:otherStyle>
      <a:defPPr>
        <a:defRPr lang="en-US"/>
      </a:defPPr>
      <a:lvl1pPr marL="0" algn="l" defTabSz="411480" rtl="0" eaLnBrk="1" latinLnBrk="0" hangingPunct="1">
        <a:defRPr sz="1620" kern="1200">
          <a:solidFill>
            <a:schemeClr val="tx1"/>
          </a:solidFill>
          <a:latin typeface="+mn-lt"/>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hyperlink" Target="https://www.youtube.com/watch?v=3d_8nQpSCgE"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hyperlink" Target="http://www.ieee.ma/uaesb/pdf/distances-in-classification.pdf"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3d_8nQpSCgE"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www.youtube.com/watch?v=3d_8nQpSCgE" TargetMode="External"/><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3d_8nQpSCgE"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tif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youtube.com/watch?v=3d_8nQpSCgE"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hyperlink" Target="https://www.youtube.com/watch?v=3d_8nQpSCgE"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4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4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5091" y="158778"/>
            <a:ext cx="8001000" cy="1549772"/>
          </a:xfrm>
        </p:spPr>
        <p:txBody>
          <a:bodyPr>
            <a:normAutofit/>
          </a:bodyPr>
          <a:lstStyle/>
          <a:p>
            <a:r>
              <a:rPr lang="en-US" sz="3600" dirty="0"/>
              <a:t>GEOG 3403: Geographic </a:t>
            </a:r>
            <a:r>
              <a:rPr lang="en-US" sz="3600"/>
              <a:t>Information Systems II</a:t>
            </a:r>
            <a:endParaRPr lang="en-US" sz="3600" dirty="0"/>
          </a:p>
        </p:txBody>
      </p:sp>
      <p:sp>
        <p:nvSpPr>
          <p:cNvPr id="6" name="Subtitle 2"/>
          <p:cNvSpPr txBox="1">
            <a:spLocks/>
          </p:cNvSpPr>
          <p:nvPr/>
        </p:nvSpPr>
        <p:spPr>
          <a:xfrm>
            <a:off x="1257018" y="2967511"/>
            <a:ext cx="5760720" cy="1171497"/>
          </a:xfrm>
          <a:prstGeom prst="rect">
            <a:avLst/>
          </a:prstGeom>
        </p:spPr>
        <p:txBody>
          <a:bodyPr vert="horz" lIns="82296" tIns="41148" rIns="82296" bIns="41148" rtlCol="0">
            <a:normAutofit fontScale="25000" lnSpcReduction="20000"/>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8000">
                <a:solidFill>
                  <a:schemeClr val="tx1"/>
                </a:solidFill>
              </a:rPr>
              <a:t>Y</a:t>
            </a:r>
            <a:r>
              <a:rPr lang="en-US" altLang="zh-CN" sz="8000">
                <a:solidFill>
                  <a:schemeClr val="tx1"/>
                </a:solidFill>
              </a:rPr>
              <a:t>anan Wu</a:t>
            </a:r>
            <a:r>
              <a:rPr lang="en-US" sz="8000">
                <a:solidFill>
                  <a:schemeClr val="tx1"/>
                </a:solidFill>
              </a:rPr>
              <a:t>, </a:t>
            </a:r>
            <a:r>
              <a:rPr lang="en-US" sz="8000" dirty="0">
                <a:solidFill>
                  <a:schemeClr val="tx1"/>
                </a:solidFill>
              </a:rPr>
              <a:t>PhD</a:t>
            </a:r>
          </a:p>
          <a:p>
            <a:r>
              <a:rPr lang="en-US" sz="8000" dirty="0">
                <a:solidFill>
                  <a:schemeClr val="tx1"/>
                </a:solidFill>
              </a:rPr>
              <a:t>Assistant Professor</a:t>
            </a:r>
          </a:p>
          <a:p>
            <a:r>
              <a:rPr lang="en-US" sz="8000" dirty="0">
                <a:solidFill>
                  <a:schemeClr val="tx1"/>
                </a:solidFill>
              </a:rPr>
              <a:t>Department of Geography</a:t>
            </a:r>
          </a:p>
          <a:p>
            <a:endParaRPr lang="en-US" sz="2880" dirty="0"/>
          </a:p>
        </p:txBody>
      </p:sp>
      <p:cxnSp>
        <p:nvCxnSpPr>
          <p:cNvPr id="15" name="Straight Connector 14"/>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矩形 11"/>
          <p:cNvSpPr/>
          <p:nvPr/>
        </p:nvSpPr>
        <p:spPr>
          <a:xfrm>
            <a:off x="2072922" y="4416072"/>
            <a:ext cx="279753" cy="481132"/>
          </a:xfrm>
          <a:prstGeom prst="rect">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9C8852E4-0F7F-41A7-9B32-F40B4D3A753B}"/>
              </a:ext>
            </a:extLst>
          </p:cNvPr>
          <p:cNvSpPr txBox="1"/>
          <p:nvPr/>
        </p:nvSpPr>
        <p:spPr>
          <a:xfrm>
            <a:off x="-1" y="1708550"/>
            <a:ext cx="8196091" cy="646331"/>
          </a:xfrm>
          <a:prstGeom prst="rect">
            <a:avLst/>
          </a:prstGeom>
          <a:noFill/>
        </p:spPr>
        <p:txBody>
          <a:bodyPr wrap="square" rtlCol="0">
            <a:spAutoFit/>
          </a:bodyPr>
          <a:lstStyle/>
          <a:p>
            <a:pPr algn="ctr"/>
            <a:r>
              <a:rPr lang="en-US" sz="3600"/>
              <a:t>Lecture 08 </a:t>
            </a:r>
            <a:r>
              <a:rPr lang="en-US" sz="3600" dirty="0"/>
              <a:t>Spatial S</a:t>
            </a:r>
            <a:r>
              <a:rPr lang="en-US" altLang="zh-CN" sz="3600" dirty="0"/>
              <a:t>tatistics</a:t>
            </a:r>
            <a:endParaRPr lang="en-US" sz="3600" dirty="0"/>
          </a:p>
        </p:txBody>
      </p:sp>
      <p:pic>
        <p:nvPicPr>
          <p:cNvPr id="13" name="Picture 12" descr="Geography department logo">
            <a:extLst>
              <a:ext uri="{FF2B5EF4-FFF2-40B4-BE49-F238E27FC236}">
                <a16:creationId xmlns:a16="http://schemas.microsoft.com/office/drawing/2014/main" id="{AE401581-7A56-448D-8256-F61D9515AE30}"/>
              </a:ext>
            </a:extLst>
          </p:cNvPr>
          <p:cNvPicPr/>
          <p:nvPr/>
        </p:nvPicPr>
        <p:blipFill>
          <a:blip r:embed="rId3"/>
          <a:stretch>
            <a:fillRect/>
          </a:stretch>
        </p:blipFill>
        <p:spPr>
          <a:xfrm>
            <a:off x="152400" y="4275667"/>
            <a:ext cx="5915025" cy="758190"/>
          </a:xfrm>
          <a:prstGeom prst="rect">
            <a:avLst/>
          </a:prstGeom>
        </p:spPr>
      </p:pic>
    </p:spTree>
    <p:extLst>
      <p:ext uri="{BB962C8B-B14F-4D97-AF65-F5344CB8AC3E}">
        <p14:creationId xmlns:p14="http://schemas.microsoft.com/office/powerpoint/2010/main" val="2349219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type="body" idx="1"/>
          </p:nvPr>
        </p:nvSpPr>
        <p:spPr>
          <a:xfrm>
            <a:off x="302741" y="1029962"/>
            <a:ext cx="7679724" cy="3886200"/>
          </a:xfrm>
        </p:spPr>
        <p:txBody>
          <a:bodyPr>
            <a:normAutofit fontScale="92500" lnSpcReduction="10000"/>
          </a:bodyPr>
          <a:lstStyle/>
          <a:p>
            <a:pPr>
              <a:buFont typeface="Courier New" panose="02070309020205020404" pitchFamily="49" charset="0"/>
              <a:buChar char="o"/>
            </a:pPr>
            <a:r>
              <a:rPr lang="en-US" altLang="en-US" sz="2800" dirty="0"/>
              <a:t>Spatial statistics</a:t>
            </a:r>
          </a:p>
          <a:p>
            <a:pPr lvl="1">
              <a:buFont typeface="Wingdings" panose="05000000000000000000" pitchFamily="2" charset="2"/>
              <a:buChar char="ü"/>
            </a:pPr>
            <a:r>
              <a:rPr lang="en-US" altLang="en-US" sz="2300" dirty="0"/>
              <a:t>What is unique about geographic data</a:t>
            </a:r>
          </a:p>
          <a:p>
            <a:pPr lvl="1">
              <a:buFont typeface="Wingdings" panose="05000000000000000000" pitchFamily="2" charset="2"/>
              <a:buChar char="ü"/>
            </a:pPr>
            <a:r>
              <a:rPr lang="en-US" altLang="en-US" sz="2300" dirty="0"/>
              <a:t>Sampling</a:t>
            </a:r>
          </a:p>
          <a:p>
            <a:pPr lvl="2">
              <a:buFont typeface="Arial" panose="020B0604020202020204" pitchFamily="34" charset="0"/>
              <a:buChar char="•"/>
            </a:pPr>
            <a:r>
              <a:rPr lang="en-US" altLang="en-US" sz="1940" dirty="0"/>
              <a:t>Random, systematic sampling, systematic sampling along transects</a:t>
            </a:r>
          </a:p>
          <a:p>
            <a:pPr lvl="1">
              <a:buFont typeface="Wingdings" panose="05000000000000000000" pitchFamily="2" charset="2"/>
              <a:buChar char="ü"/>
            </a:pPr>
            <a:r>
              <a:rPr lang="en-US" sz="2200" dirty="0"/>
              <a:t>Spatial Central Tendency and Dispersion</a:t>
            </a:r>
          </a:p>
          <a:p>
            <a:pPr lvl="2">
              <a:buFont typeface="Arial" panose="020B0604020202020204" pitchFamily="34" charset="0"/>
              <a:buChar char="•"/>
            </a:pPr>
            <a:r>
              <a:rPr lang="en-US" altLang="en-US" sz="1840" dirty="0"/>
              <a:t>Central feature, mean, median, standard distance, standard deviation ellipse</a:t>
            </a:r>
          </a:p>
          <a:p>
            <a:pPr lvl="1">
              <a:buFont typeface="Wingdings" panose="05000000000000000000" pitchFamily="2" charset="2"/>
              <a:buChar char="ü"/>
            </a:pPr>
            <a:r>
              <a:rPr lang="en-US" sz="2300" dirty="0"/>
              <a:t>Analyzing point patterns</a:t>
            </a:r>
          </a:p>
          <a:p>
            <a:pPr lvl="2">
              <a:buFont typeface="Arial" panose="020B0604020202020204" pitchFamily="34" charset="0"/>
              <a:buChar char="•"/>
            </a:pPr>
            <a:r>
              <a:rPr lang="en-US" sz="1900" dirty="0"/>
              <a:t>Interpret a statistical test</a:t>
            </a:r>
          </a:p>
          <a:p>
            <a:pPr lvl="2">
              <a:buFont typeface="Arial" panose="020B0604020202020204" pitchFamily="34" charset="0"/>
              <a:buChar char="•"/>
            </a:pPr>
            <a:r>
              <a:rPr lang="en-US" sz="1900" dirty="0"/>
              <a:t>Average nearest neighbor</a:t>
            </a:r>
          </a:p>
          <a:p>
            <a:pPr lvl="2">
              <a:buFont typeface="Arial" panose="020B0604020202020204" pitchFamily="34" charset="0"/>
              <a:buChar char="•"/>
            </a:pPr>
            <a:r>
              <a:rPr lang="en-US" sz="1900" dirty="0"/>
              <a:t>Global spatial autocorrelation</a:t>
            </a:r>
          </a:p>
          <a:p>
            <a:pPr lvl="2">
              <a:buFont typeface="Arial" panose="020B0604020202020204" pitchFamily="34" charset="0"/>
              <a:buChar char="•"/>
            </a:pPr>
            <a:r>
              <a:rPr lang="en-US" sz="1900" dirty="0"/>
              <a:t>Local spatial autocorrelation</a:t>
            </a:r>
          </a:p>
          <a:p>
            <a:pPr marL="822960" lvl="2" indent="0">
              <a:buNone/>
            </a:pPr>
            <a:endParaRPr lang="en-US" sz="1900" dirty="0"/>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2</a:t>
            </a:fld>
            <a:endParaRPr lang="en-US"/>
          </a:p>
        </p:txBody>
      </p:sp>
    </p:spTree>
    <p:extLst>
      <p:ext uri="{BB962C8B-B14F-4D97-AF65-F5344CB8AC3E}">
        <p14:creationId xmlns:p14="http://schemas.microsoft.com/office/powerpoint/2010/main" val="1265286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2890" y="1200151"/>
            <a:ext cx="7555230" cy="3394472"/>
          </a:xfrm>
        </p:spPr>
        <p:txBody>
          <a:bodyPr/>
          <a:lstStyle/>
          <a:p>
            <a:pPr>
              <a:buFont typeface="Courier New" panose="02070309020205020404" pitchFamily="49" charset="0"/>
              <a:buChar char="o"/>
            </a:pPr>
            <a:r>
              <a:rPr lang="en-US" dirty="0"/>
              <a:t>Occurs over a map surface</a:t>
            </a:r>
          </a:p>
          <a:p>
            <a:pPr>
              <a:buFont typeface="Courier New" panose="02070309020205020404" pitchFamily="49" charset="0"/>
              <a:buChar char="o"/>
            </a:pPr>
            <a:r>
              <a:rPr lang="en-US" dirty="0"/>
              <a:t>Spatial heterogeneity/spatial autocorrelation</a:t>
            </a:r>
          </a:p>
          <a:p>
            <a:pPr>
              <a:buFont typeface="Courier New" panose="02070309020205020404" pitchFamily="49" charset="0"/>
              <a:buChar char="o"/>
            </a:pPr>
            <a:r>
              <a:rPr lang="en-US" dirty="0"/>
              <a:t>Temporal heterogeneity/temporal autocorrelation</a:t>
            </a:r>
          </a:p>
          <a:p>
            <a:pPr>
              <a:buFont typeface="Courier New" panose="02070309020205020404" pitchFamily="49" charset="0"/>
              <a:buChar char="o"/>
            </a:pPr>
            <a:r>
              <a:rPr lang="en-US" dirty="0"/>
              <a:t>Modifiable areal unit problem</a:t>
            </a:r>
          </a:p>
        </p:txBody>
      </p:sp>
      <p:cxnSp>
        <p:nvCxnSpPr>
          <p:cNvPr id="4" name="Straight Connector 3">
            <a:extLst>
              <a:ext uri="{FF2B5EF4-FFF2-40B4-BE49-F238E27FC236}">
                <a16:creationId xmlns:a16="http://schemas.microsoft.com/office/drawing/2014/main" id="{32D8B855-C006-4EC6-A875-0DF1756C192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F04C4174-78C6-436A-A295-60B4DC671159}"/>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unique about geographic data?</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19F57C3E-DB39-AF30-9C71-BF35F40CAAF8}"/>
              </a:ext>
            </a:extLst>
          </p:cNvPr>
          <p:cNvSpPr>
            <a:spLocks noGrp="1"/>
          </p:cNvSpPr>
          <p:nvPr>
            <p:ph type="sldNum" sz="quarter" idx="12"/>
          </p:nvPr>
        </p:nvSpPr>
        <p:spPr/>
        <p:txBody>
          <a:bodyPr/>
          <a:lstStyle/>
          <a:p>
            <a:fld id="{127DDC20-79C9-9647-820E-6D40A3D210C3}" type="slidenum">
              <a:rPr lang="en-US" smtClean="0"/>
              <a:pPr/>
              <a:t>3</a:t>
            </a:fld>
            <a:endParaRPr lang="en-US"/>
          </a:p>
        </p:txBody>
      </p:sp>
    </p:spTree>
    <p:extLst>
      <p:ext uri="{BB962C8B-B14F-4D97-AF65-F5344CB8AC3E}">
        <p14:creationId xmlns:p14="http://schemas.microsoft.com/office/powerpoint/2010/main" val="2266407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1480" y="962844"/>
            <a:ext cx="7406640" cy="1022301"/>
          </a:xfrm>
        </p:spPr>
        <p:txBody>
          <a:bodyPr>
            <a:normAutofit/>
          </a:bodyPr>
          <a:lstStyle/>
          <a:p>
            <a:pPr>
              <a:buFont typeface="Courier New" panose="02070309020205020404" pitchFamily="49" charset="0"/>
              <a:buChar char="o"/>
            </a:pPr>
            <a:r>
              <a:rPr lang="en-US" dirty="0"/>
              <a:t>A sample is a set of measurements taken from a larger group or population. </a:t>
            </a:r>
          </a:p>
          <a:p>
            <a:endParaRPr lang="en-US" dirty="0"/>
          </a:p>
          <a:p>
            <a:pPr marL="0" indent="0">
              <a:buNone/>
            </a:pPr>
            <a:endParaRPr lang="en-US" dirty="0"/>
          </a:p>
        </p:txBody>
      </p:sp>
      <p:cxnSp>
        <p:nvCxnSpPr>
          <p:cNvPr id="4" name="Straight Connector 3">
            <a:extLst>
              <a:ext uri="{FF2B5EF4-FFF2-40B4-BE49-F238E27FC236}">
                <a16:creationId xmlns:a16="http://schemas.microsoft.com/office/drawing/2014/main" id="{BACEE479-C5FF-40DA-ACE9-187CCDF35BE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F48817D2-056A-4FD8-9390-302C69D047C2}"/>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Sampling</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551BF9B1-015B-5757-52EC-069F78780F1B}"/>
              </a:ext>
            </a:extLst>
          </p:cNvPr>
          <p:cNvSpPr>
            <a:spLocks noGrp="1"/>
          </p:cNvSpPr>
          <p:nvPr>
            <p:ph type="sldNum" sz="quarter" idx="12"/>
          </p:nvPr>
        </p:nvSpPr>
        <p:spPr/>
        <p:txBody>
          <a:bodyPr/>
          <a:lstStyle/>
          <a:p>
            <a:fld id="{127DDC20-79C9-9647-820E-6D40A3D210C3}" type="slidenum">
              <a:rPr lang="en-US" smtClean="0"/>
              <a:pPr/>
              <a:t>4</a:t>
            </a:fld>
            <a:endParaRPr lang="en-US"/>
          </a:p>
        </p:txBody>
      </p:sp>
      <p:pic>
        <p:nvPicPr>
          <p:cNvPr id="7" name="Picture 6">
            <a:extLst>
              <a:ext uri="{FF2B5EF4-FFF2-40B4-BE49-F238E27FC236}">
                <a16:creationId xmlns:a16="http://schemas.microsoft.com/office/drawing/2014/main" id="{668A9298-2314-6962-738E-8495F49B51A6}"/>
              </a:ext>
            </a:extLst>
          </p:cNvPr>
          <p:cNvPicPr>
            <a:picLocks noChangeAspect="1"/>
          </p:cNvPicPr>
          <p:nvPr/>
        </p:nvPicPr>
        <p:blipFill>
          <a:blip r:embed="rId3"/>
          <a:stretch>
            <a:fillRect/>
          </a:stretch>
        </p:blipFill>
        <p:spPr>
          <a:xfrm>
            <a:off x="1257300" y="2056519"/>
            <a:ext cx="5094514" cy="2659152"/>
          </a:xfrm>
          <a:prstGeom prst="rect">
            <a:avLst/>
          </a:prstGeom>
        </p:spPr>
      </p:pic>
    </p:spTree>
    <p:extLst>
      <p:ext uri="{BB962C8B-B14F-4D97-AF65-F5344CB8AC3E}">
        <p14:creationId xmlns:p14="http://schemas.microsoft.com/office/powerpoint/2010/main" val="3929508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629CE-68CE-6FB3-1ABC-1AE00DF7C4B2}"/>
              </a:ext>
            </a:extLst>
          </p:cNvPr>
          <p:cNvSpPr>
            <a:spLocks noGrp="1"/>
          </p:cNvSpPr>
          <p:nvPr>
            <p:ph type="title"/>
          </p:nvPr>
        </p:nvSpPr>
        <p:spPr/>
        <p:txBody>
          <a:bodyPr/>
          <a:lstStyle/>
          <a:p>
            <a:r>
              <a:rPr lang="en-US" altLang="zh-CN" dirty="0"/>
              <a:t>Population vs Sample</a:t>
            </a:r>
            <a:endParaRPr lang="en-US" dirty="0"/>
          </a:p>
        </p:txBody>
      </p:sp>
      <p:sp>
        <p:nvSpPr>
          <p:cNvPr id="3" name="Content Placeholder 2">
            <a:extLst>
              <a:ext uri="{FF2B5EF4-FFF2-40B4-BE49-F238E27FC236}">
                <a16:creationId xmlns:a16="http://schemas.microsoft.com/office/drawing/2014/main" id="{E2B4098D-CC7A-E872-5865-13426ECD43F1}"/>
              </a:ext>
            </a:extLst>
          </p:cNvPr>
          <p:cNvSpPr>
            <a:spLocks noGrp="1"/>
          </p:cNvSpPr>
          <p:nvPr>
            <p:ph idx="1"/>
          </p:nvPr>
        </p:nvSpPr>
        <p:spPr>
          <a:xfrm>
            <a:off x="411480" y="1200151"/>
            <a:ext cx="7406640" cy="1992085"/>
          </a:xfrm>
        </p:spPr>
        <p:txBody>
          <a:bodyPr/>
          <a:lstStyle/>
          <a:p>
            <a:r>
              <a:rPr lang="en-US" dirty="0"/>
              <a:t>UCA wants to determine how many hours per day its students spend studying. The university randomly surveyed 300 students. In this case, what are the population and the sample?</a:t>
            </a:r>
          </a:p>
        </p:txBody>
      </p:sp>
      <p:sp>
        <p:nvSpPr>
          <p:cNvPr id="4" name="Slide Number Placeholder 3">
            <a:extLst>
              <a:ext uri="{FF2B5EF4-FFF2-40B4-BE49-F238E27FC236}">
                <a16:creationId xmlns:a16="http://schemas.microsoft.com/office/drawing/2014/main" id="{5C7B568D-DD2C-DCEB-2E8F-601256942BCF}"/>
              </a:ext>
            </a:extLst>
          </p:cNvPr>
          <p:cNvSpPr>
            <a:spLocks noGrp="1"/>
          </p:cNvSpPr>
          <p:nvPr>
            <p:ph type="sldNum" sz="quarter" idx="12"/>
          </p:nvPr>
        </p:nvSpPr>
        <p:spPr/>
        <p:txBody>
          <a:bodyPr/>
          <a:lstStyle/>
          <a:p>
            <a:fld id="{127DDC20-79C9-9647-820E-6D40A3D210C3}" type="slidenum">
              <a:rPr lang="en-US" smtClean="0"/>
              <a:pPr/>
              <a:t>5</a:t>
            </a:fld>
            <a:endParaRPr lang="en-US"/>
          </a:p>
        </p:txBody>
      </p:sp>
      <p:sp>
        <p:nvSpPr>
          <p:cNvPr id="6" name="TextBox 5">
            <a:extLst>
              <a:ext uri="{FF2B5EF4-FFF2-40B4-BE49-F238E27FC236}">
                <a16:creationId xmlns:a16="http://schemas.microsoft.com/office/drawing/2014/main" id="{E6910277-1E24-765E-C1A0-B776E2030EAB}"/>
              </a:ext>
            </a:extLst>
          </p:cNvPr>
          <p:cNvSpPr txBox="1"/>
          <p:nvPr/>
        </p:nvSpPr>
        <p:spPr>
          <a:xfrm>
            <a:off x="669471" y="311438"/>
            <a:ext cx="4114800" cy="646331"/>
          </a:xfrm>
          <a:prstGeom prst="rect">
            <a:avLst/>
          </a:prstGeom>
          <a:noFill/>
        </p:spPr>
        <p:txBody>
          <a:bodyPr wrap="square">
            <a:spAutoFit/>
          </a:bodyPr>
          <a:lstStyle/>
          <a:p>
            <a:r>
              <a:rPr lang="en-US" sz="3600" dirty="0"/>
              <a:t>🤔</a:t>
            </a:r>
          </a:p>
        </p:txBody>
      </p:sp>
    </p:spTree>
    <p:extLst>
      <p:ext uri="{BB962C8B-B14F-4D97-AF65-F5344CB8AC3E}">
        <p14:creationId xmlns:p14="http://schemas.microsoft.com/office/powerpoint/2010/main" val="2267483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37D6AC-351D-B58B-09A7-762151B5D4FA}"/>
              </a:ext>
            </a:extLst>
          </p:cNvPr>
          <p:cNvSpPr>
            <a:spLocks noGrp="1"/>
          </p:cNvSpPr>
          <p:nvPr>
            <p:ph idx="1"/>
          </p:nvPr>
        </p:nvSpPr>
        <p:spPr/>
        <p:txBody>
          <a:bodyPr/>
          <a:lstStyle/>
          <a:p>
            <a:pPr>
              <a:buFont typeface="Courier New" panose="02070309020205020404" pitchFamily="49" charset="0"/>
              <a:buChar char="o"/>
            </a:pPr>
            <a:r>
              <a:rPr lang="en-US" dirty="0"/>
              <a:t>Sample means and variances can serve as estimates for their population.</a:t>
            </a:r>
          </a:p>
          <a:p>
            <a:endParaRPr lang="en-US" dirty="0"/>
          </a:p>
          <a:p>
            <a:pPr>
              <a:buFont typeface="Courier New" panose="02070309020205020404" pitchFamily="49" charset="0"/>
              <a:buChar char="o"/>
            </a:pPr>
            <a:r>
              <a:rPr lang="en-US" dirty="0"/>
              <a:t>Easier to measure with samples, then draw conclusions about entire population.</a:t>
            </a:r>
          </a:p>
          <a:p>
            <a:endParaRPr lang="en-US" dirty="0"/>
          </a:p>
        </p:txBody>
      </p:sp>
      <p:sp>
        <p:nvSpPr>
          <p:cNvPr id="4" name="Slide Number Placeholder 3">
            <a:extLst>
              <a:ext uri="{FF2B5EF4-FFF2-40B4-BE49-F238E27FC236}">
                <a16:creationId xmlns:a16="http://schemas.microsoft.com/office/drawing/2014/main" id="{996D4B8C-137A-3E43-92C5-0A5E396B4DDB}"/>
              </a:ext>
            </a:extLst>
          </p:cNvPr>
          <p:cNvSpPr>
            <a:spLocks noGrp="1"/>
          </p:cNvSpPr>
          <p:nvPr>
            <p:ph type="sldNum" sz="quarter" idx="12"/>
          </p:nvPr>
        </p:nvSpPr>
        <p:spPr/>
        <p:txBody>
          <a:bodyPr/>
          <a:lstStyle/>
          <a:p>
            <a:fld id="{127DDC20-79C9-9647-820E-6D40A3D210C3}" type="slidenum">
              <a:rPr lang="en-US" smtClean="0"/>
              <a:pPr/>
              <a:t>6</a:t>
            </a:fld>
            <a:endParaRPr lang="en-US"/>
          </a:p>
        </p:txBody>
      </p:sp>
      <p:sp>
        <p:nvSpPr>
          <p:cNvPr id="5" name="Title 1">
            <a:extLst>
              <a:ext uri="{FF2B5EF4-FFF2-40B4-BE49-F238E27FC236}">
                <a16:creationId xmlns:a16="http://schemas.microsoft.com/office/drawing/2014/main" id="{C78B598F-8C4D-3F7F-A7A8-B6BC69E81AE8}"/>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Sampling</a:t>
            </a:r>
            <a:endParaRPr lang="en-US" sz="2600" dirty="0">
              <a:solidFill>
                <a:srgbClr val="7030A0"/>
              </a:solidFill>
            </a:endParaRPr>
          </a:p>
        </p:txBody>
      </p:sp>
    </p:spTree>
    <p:extLst>
      <p:ext uri="{BB962C8B-B14F-4D97-AF65-F5344CB8AC3E}">
        <p14:creationId xmlns:p14="http://schemas.microsoft.com/office/powerpoint/2010/main" val="911286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random sampling example"/>
          <p:cNvPicPr>
            <a:picLocks noChangeAspect="1"/>
          </p:cNvPicPr>
          <p:nvPr/>
        </p:nvPicPr>
        <p:blipFill>
          <a:blip r:embed="rId3">
            <a:clrChange>
              <a:clrFrom>
                <a:srgbClr val="FFFFFF"/>
              </a:clrFrom>
              <a:clrTo>
                <a:srgbClr val="FFFFFF">
                  <a:alpha val="0"/>
                </a:srgbClr>
              </a:clrTo>
            </a:clrChange>
          </a:blip>
          <a:stretch>
            <a:fillRect/>
          </a:stretch>
        </p:blipFill>
        <p:spPr>
          <a:xfrm>
            <a:off x="204722" y="1336989"/>
            <a:ext cx="2485600" cy="2535213"/>
          </a:xfrm>
          <a:prstGeom prst="rect">
            <a:avLst/>
          </a:prstGeom>
        </p:spPr>
      </p:pic>
      <p:pic>
        <p:nvPicPr>
          <p:cNvPr id="7" name="Picture 6" descr="Systematic sampling along transects example"/>
          <p:cNvPicPr>
            <a:picLocks noChangeAspect="1"/>
          </p:cNvPicPr>
          <p:nvPr/>
        </p:nvPicPr>
        <p:blipFill>
          <a:blip r:embed="rId4">
            <a:clrChange>
              <a:clrFrom>
                <a:srgbClr val="FFFFFF"/>
              </a:clrFrom>
              <a:clrTo>
                <a:srgbClr val="FFFFFF">
                  <a:alpha val="0"/>
                </a:srgbClr>
              </a:clrTo>
            </a:clrChange>
          </a:blip>
          <a:stretch>
            <a:fillRect/>
          </a:stretch>
        </p:blipFill>
        <p:spPr>
          <a:xfrm>
            <a:off x="5599746" y="1311732"/>
            <a:ext cx="2485013" cy="2560469"/>
          </a:xfrm>
          <a:prstGeom prst="rect">
            <a:avLst/>
          </a:prstGeom>
        </p:spPr>
      </p:pic>
      <p:pic>
        <p:nvPicPr>
          <p:cNvPr id="8" name="Picture 7" descr="Systematic sampling example"/>
          <p:cNvPicPr>
            <a:picLocks noChangeAspect="1"/>
          </p:cNvPicPr>
          <p:nvPr/>
        </p:nvPicPr>
        <p:blipFill>
          <a:blip r:embed="rId5">
            <a:clrChange>
              <a:clrFrom>
                <a:srgbClr val="FFFFFF"/>
              </a:clrFrom>
              <a:clrTo>
                <a:srgbClr val="FFFFFF">
                  <a:alpha val="0"/>
                </a:srgbClr>
              </a:clrTo>
            </a:clrChange>
          </a:blip>
          <a:stretch>
            <a:fillRect/>
          </a:stretch>
        </p:blipFill>
        <p:spPr>
          <a:xfrm>
            <a:off x="2931487" y="1388437"/>
            <a:ext cx="2411091" cy="2536148"/>
          </a:xfrm>
          <a:prstGeom prst="rect">
            <a:avLst/>
          </a:prstGeom>
        </p:spPr>
      </p:pic>
      <p:sp>
        <p:nvSpPr>
          <p:cNvPr id="9" name="TextBox 8"/>
          <p:cNvSpPr txBox="1"/>
          <p:nvPr/>
        </p:nvSpPr>
        <p:spPr>
          <a:xfrm>
            <a:off x="217728" y="3963620"/>
            <a:ext cx="2619288" cy="316690"/>
          </a:xfrm>
          <a:prstGeom prst="rect">
            <a:avLst/>
          </a:prstGeom>
          <a:noFill/>
        </p:spPr>
        <p:txBody>
          <a:bodyPr wrap="square" rtlCol="0">
            <a:spAutoFit/>
          </a:bodyPr>
          <a:lstStyle/>
          <a:p>
            <a:pPr>
              <a:lnSpc>
                <a:spcPct val="90000"/>
              </a:lnSpc>
            </a:pPr>
            <a:r>
              <a:rPr lang="en-US" sz="1620" b="1" dirty="0">
                <a:solidFill>
                  <a:srgbClr val="E3874F"/>
                </a:solidFill>
              </a:rPr>
              <a:t>Simple Random Sampling</a:t>
            </a:r>
          </a:p>
        </p:txBody>
      </p:sp>
      <p:sp>
        <p:nvSpPr>
          <p:cNvPr id="10" name="TextBox 9"/>
          <p:cNvSpPr txBox="1"/>
          <p:nvPr/>
        </p:nvSpPr>
        <p:spPr>
          <a:xfrm>
            <a:off x="3159513" y="3924585"/>
            <a:ext cx="2057936" cy="316690"/>
          </a:xfrm>
          <a:prstGeom prst="rect">
            <a:avLst/>
          </a:prstGeom>
          <a:noFill/>
        </p:spPr>
        <p:txBody>
          <a:bodyPr wrap="square" rtlCol="0">
            <a:spAutoFit/>
          </a:bodyPr>
          <a:lstStyle/>
          <a:p>
            <a:pPr>
              <a:lnSpc>
                <a:spcPct val="90000"/>
              </a:lnSpc>
            </a:pPr>
            <a:r>
              <a:rPr lang="en-US" sz="1620" b="1" dirty="0">
                <a:solidFill>
                  <a:srgbClr val="E3874F"/>
                </a:solidFill>
              </a:rPr>
              <a:t>Systematic Sampling</a:t>
            </a:r>
          </a:p>
        </p:txBody>
      </p:sp>
      <p:sp>
        <p:nvSpPr>
          <p:cNvPr id="11" name="TextBox 10"/>
          <p:cNvSpPr txBox="1"/>
          <p:nvPr/>
        </p:nvSpPr>
        <p:spPr>
          <a:xfrm>
            <a:off x="5998318" y="3851442"/>
            <a:ext cx="1952599" cy="541046"/>
          </a:xfrm>
          <a:prstGeom prst="rect">
            <a:avLst/>
          </a:prstGeom>
          <a:noFill/>
        </p:spPr>
        <p:txBody>
          <a:bodyPr wrap="square" rtlCol="0">
            <a:spAutoFit/>
          </a:bodyPr>
          <a:lstStyle/>
          <a:p>
            <a:pPr>
              <a:lnSpc>
                <a:spcPct val="90000"/>
              </a:lnSpc>
            </a:pPr>
            <a:r>
              <a:rPr lang="en-US" sz="1620" b="1" dirty="0">
                <a:solidFill>
                  <a:srgbClr val="E3874F"/>
                </a:solidFill>
              </a:rPr>
              <a:t>Systematic Sampling Along Transects</a:t>
            </a:r>
          </a:p>
        </p:txBody>
      </p:sp>
      <p:cxnSp>
        <p:nvCxnSpPr>
          <p:cNvPr id="12" name="Straight Connector 11">
            <a:extLst>
              <a:ext uri="{FF2B5EF4-FFF2-40B4-BE49-F238E27FC236}">
                <a16:creationId xmlns:a16="http://schemas.microsoft.com/office/drawing/2014/main" id="{297E6E5F-A1F4-4168-9730-150A548E294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3" name="Title 1">
            <a:extLst>
              <a:ext uri="{FF2B5EF4-FFF2-40B4-BE49-F238E27FC236}">
                <a16:creationId xmlns:a16="http://schemas.microsoft.com/office/drawing/2014/main" id="{5EEF4B5B-1610-4F53-9CAE-C03AF7258733}"/>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Types of Sampling</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BAB76986-6313-C377-F2E4-680232623689}"/>
              </a:ext>
            </a:extLst>
          </p:cNvPr>
          <p:cNvSpPr>
            <a:spLocks noGrp="1"/>
          </p:cNvSpPr>
          <p:nvPr>
            <p:ph type="sldNum" sz="quarter" idx="12"/>
          </p:nvPr>
        </p:nvSpPr>
        <p:spPr/>
        <p:txBody>
          <a:bodyPr/>
          <a:lstStyle/>
          <a:p>
            <a:fld id="{127DDC20-79C9-9647-820E-6D40A3D210C3}" type="slidenum">
              <a:rPr lang="en-US" smtClean="0"/>
              <a:pPr/>
              <a:t>7</a:t>
            </a:fld>
            <a:endParaRPr lang="en-US" dirty="0"/>
          </a:p>
        </p:txBody>
      </p:sp>
    </p:spTree>
    <p:extLst>
      <p:ext uri="{BB962C8B-B14F-4D97-AF65-F5344CB8AC3E}">
        <p14:creationId xmlns:p14="http://schemas.microsoft.com/office/powerpoint/2010/main" val="905276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19F9F-B450-4269-5F8D-8CC60C736235}"/>
              </a:ext>
            </a:extLst>
          </p:cNvPr>
          <p:cNvSpPr>
            <a:spLocks noGrp="1"/>
          </p:cNvSpPr>
          <p:nvPr>
            <p:ph type="title"/>
          </p:nvPr>
        </p:nvSpPr>
        <p:spPr/>
        <p:txBody>
          <a:bodyPr>
            <a:noAutofit/>
          </a:bodyPr>
          <a:lstStyle/>
          <a:p>
            <a:r>
              <a:rPr lang="en-US" altLang="zh-CN" sz="3200" dirty="0"/>
              <a:t>Which sampling method would you choose?</a:t>
            </a:r>
            <a:endParaRPr lang="zh-CN" altLang="en-US" sz="3200" dirty="0"/>
          </a:p>
        </p:txBody>
      </p:sp>
      <p:sp>
        <p:nvSpPr>
          <p:cNvPr id="3" name="Content Placeholder 2">
            <a:extLst>
              <a:ext uri="{FF2B5EF4-FFF2-40B4-BE49-F238E27FC236}">
                <a16:creationId xmlns:a16="http://schemas.microsoft.com/office/drawing/2014/main" id="{EF31CA7C-1B23-44F6-23E3-01D0D77F58AD}"/>
              </a:ext>
            </a:extLst>
          </p:cNvPr>
          <p:cNvSpPr>
            <a:spLocks noGrp="1"/>
          </p:cNvSpPr>
          <p:nvPr>
            <p:ph idx="1"/>
          </p:nvPr>
        </p:nvSpPr>
        <p:spPr/>
        <p:txBody>
          <a:bodyPr>
            <a:normAutofit/>
          </a:bodyPr>
          <a:lstStyle/>
          <a:p>
            <a:pPr marL="514350" indent="-514350">
              <a:buFont typeface="+mj-lt"/>
              <a:buAutoNum type="arabicPeriod"/>
            </a:pPr>
            <a:r>
              <a:rPr lang="en-US" altLang="zh-CN" sz="2800" dirty="0"/>
              <a:t>You are measuring soil moisture in a large agricultural field.</a:t>
            </a:r>
          </a:p>
          <a:p>
            <a:pPr marL="514350" indent="-514350">
              <a:buFont typeface="+mj-lt"/>
              <a:buAutoNum type="arabicPeriod"/>
            </a:pPr>
            <a:endParaRPr lang="en-US" altLang="zh-CN" sz="2800" dirty="0"/>
          </a:p>
          <a:p>
            <a:pPr marL="720090" lvl="2" indent="0">
              <a:buNone/>
            </a:pPr>
            <a:r>
              <a:rPr lang="en-US" altLang="zh-CN" sz="2080" dirty="0"/>
              <a:t>A. Random</a:t>
            </a:r>
            <a:br>
              <a:rPr lang="en-US" altLang="zh-CN" sz="2080" dirty="0"/>
            </a:br>
            <a:r>
              <a:rPr lang="en-US" altLang="zh-CN" sz="2080" dirty="0"/>
              <a:t>B. Systematic grid</a:t>
            </a:r>
            <a:br>
              <a:rPr lang="en-US" altLang="zh-CN" sz="2080" dirty="0"/>
            </a:br>
            <a:r>
              <a:rPr lang="en-US" altLang="zh-CN" sz="2080" dirty="0"/>
              <a:t>C. Transect</a:t>
            </a:r>
            <a:br>
              <a:rPr lang="en-US" altLang="zh-CN" sz="2080" dirty="0"/>
            </a:br>
            <a:r>
              <a:rPr lang="en-US" altLang="zh-CN" sz="2080" dirty="0"/>
              <a:t>D. Cluster</a:t>
            </a:r>
            <a:endParaRPr lang="zh-CN" altLang="en-US" sz="2080" dirty="0"/>
          </a:p>
        </p:txBody>
      </p:sp>
      <p:sp>
        <p:nvSpPr>
          <p:cNvPr id="4" name="Slide Number Placeholder 3">
            <a:extLst>
              <a:ext uri="{FF2B5EF4-FFF2-40B4-BE49-F238E27FC236}">
                <a16:creationId xmlns:a16="http://schemas.microsoft.com/office/drawing/2014/main" id="{433B7DC0-F7DC-03C6-0002-3C337BF0DE10}"/>
              </a:ext>
            </a:extLst>
          </p:cNvPr>
          <p:cNvSpPr>
            <a:spLocks noGrp="1"/>
          </p:cNvSpPr>
          <p:nvPr>
            <p:ph type="sldNum" sz="quarter" idx="12"/>
          </p:nvPr>
        </p:nvSpPr>
        <p:spPr/>
        <p:txBody>
          <a:bodyPr/>
          <a:lstStyle/>
          <a:p>
            <a:fld id="{127DDC20-79C9-9647-820E-6D40A3D210C3}" type="slidenum">
              <a:rPr lang="en-US" smtClean="0"/>
              <a:pPr/>
              <a:t>8</a:t>
            </a:fld>
            <a:endParaRPr lang="en-US"/>
          </a:p>
        </p:txBody>
      </p:sp>
      <p:sp>
        <p:nvSpPr>
          <p:cNvPr id="6" name="TextBox 5">
            <a:extLst>
              <a:ext uri="{FF2B5EF4-FFF2-40B4-BE49-F238E27FC236}">
                <a16:creationId xmlns:a16="http://schemas.microsoft.com/office/drawing/2014/main" id="{D63841F6-6D28-2B43-BC2A-71CEB187C025}"/>
              </a:ext>
            </a:extLst>
          </p:cNvPr>
          <p:cNvSpPr txBox="1"/>
          <p:nvPr/>
        </p:nvSpPr>
        <p:spPr>
          <a:xfrm>
            <a:off x="7173141" y="1323737"/>
            <a:ext cx="644979" cy="369332"/>
          </a:xfrm>
          <a:prstGeom prst="rect">
            <a:avLst/>
          </a:prstGeom>
          <a:noFill/>
        </p:spPr>
        <p:txBody>
          <a:bodyPr wrap="square">
            <a:spAutoFit/>
          </a:bodyPr>
          <a:lstStyle/>
          <a:p>
            <a:r>
              <a:rPr lang="zh-CN" altLang="en-US" dirty="0"/>
              <a:t>🤔</a:t>
            </a:r>
          </a:p>
        </p:txBody>
      </p:sp>
    </p:spTree>
    <p:extLst>
      <p:ext uri="{BB962C8B-B14F-4D97-AF65-F5344CB8AC3E}">
        <p14:creationId xmlns:p14="http://schemas.microsoft.com/office/powerpoint/2010/main" val="1650992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748174" y="3910764"/>
            <a:ext cx="2057936" cy="765402"/>
          </a:xfrm>
          <a:prstGeom prst="rect">
            <a:avLst/>
          </a:prstGeom>
          <a:noFill/>
        </p:spPr>
        <p:txBody>
          <a:bodyPr wrap="square" rtlCol="0">
            <a:spAutoFit/>
          </a:bodyPr>
          <a:lstStyle/>
          <a:p>
            <a:pPr>
              <a:lnSpc>
                <a:spcPct val="90000"/>
              </a:lnSpc>
            </a:pPr>
            <a:r>
              <a:rPr lang="en-US" sz="1620" b="1" dirty="0">
                <a:solidFill>
                  <a:srgbClr val="E3874F"/>
                </a:solidFill>
              </a:rPr>
              <a:t>Stratified Random Sampling </a:t>
            </a:r>
            <a:r>
              <a:rPr lang="en-US" sz="1620" dirty="0"/>
              <a:t>(By land cover type)</a:t>
            </a:r>
          </a:p>
        </p:txBody>
      </p:sp>
      <p:sp>
        <p:nvSpPr>
          <p:cNvPr id="10" name="TextBox 9"/>
          <p:cNvSpPr txBox="1"/>
          <p:nvPr/>
        </p:nvSpPr>
        <p:spPr>
          <a:xfrm>
            <a:off x="4526387" y="3961276"/>
            <a:ext cx="2057936" cy="541046"/>
          </a:xfrm>
          <a:prstGeom prst="rect">
            <a:avLst/>
          </a:prstGeom>
          <a:noFill/>
        </p:spPr>
        <p:txBody>
          <a:bodyPr wrap="square" rtlCol="0">
            <a:spAutoFit/>
          </a:bodyPr>
          <a:lstStyle/>
          <a:p>
            <a:pPr>
              <a:lnSpc>
                <a:spcPct val="90000"/>
              </a:lnSpc>
            </a:pPr>
            <a:r>
              <a:rPr lang="en-US" sz="1620" b="1" dirty="0">
                <a:solidFill>
                  <a:srgbClr val="E3874F"/>
                </a:solidFill>
              </a:rPr>
              <a:t>Random Sampling within Clusters</a:t>
            </a:r>
          </a:p>
        </p:txBody>
      </p:sp>
      <p:pic>
        <p:nvPicPr>
          <p:cNvPr id="3" name="Picture 2" descr="Stratified random sampling example"/>
          <p:cNvPicPr>
            <a:picLocks noChangeAspect="1"/>
          </p:cNvPicPr>
          <p:nvPr/>
        </p:nvPicPr>
        <p:blipFill>
          <a:blip r:embed="rId3"/>
          <a:stretch>
            <a:fillRect/>
          </a:stretch>
        </p:blipFill>
        <p:spPr>
          <a:xfrm>
            <a:off x="1439483" y="1427729"/>
            <a:ext cx="2315228" cy="2406115"/>
          </a:xfrm>
          <a:prstGeom prst="rect">
            <a:avLst/>
          </a:prstGeom>
        </p:spPr>
      </p:pic>
      <p:pic>
        <p:nvPicPr>
          <p:cNvPr id="6" name="Picture 5" descr="Random sampling within clusters example"/>
          <p:cNvPicPr>
            <a:picLocks noChangeAspect="1"/>
          </p:cNvPicPr>
          <p:nvPr/>
        </p:nvPicPr>
        <p:blipFill>
          <a:blip r:embed="rId4">
            <a:clrChange>
              <a:clrFrom>
                <a:srgbClr val="FFFFFF"/>
              </a:clrFrom>
              <a:clrTo>
                <a:srgbClr val="FFFFFF">
                  <a:alpha val="0"/>
                </a:srgbClr>
              </a:clrTo>
            </a:clrChange>
          </a:blip>
          <a:stretch>
            <a:fillRect/>
          </a:stretch>
        </p:blipFill>
        <p:spPr>
          <a:xfrm>
            <a:off x="4129631" y="1336988"/>
            <a:ext cx="2500317" cy="2587597"/>
          </a:xfrm>
          <a:prstGeom prst="rect">
            <a:avLst/>
          </a:prstGeom>
        </p:spPr>
      </p:pic>
      <p:cxnSp>
        <p:nvCxnSpPr>
          <p:cNvPr id="7" name="Straight Connector 6">
            <a:extLst>
              <a:ext uri="{FF2B5EF4-FFF2-40B4-BE49-F238E27FC236}">
                <a16:creationId xmlns:a16="http://schemas.microsoft.com/office/drawing/2014/main" id="{7C63EC0D-9E2B-4163-9FDF-2DAE78C4FC7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DF61A702-3960-41F6-9222-0B6087C5121D}"/>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Types of Sampling</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A8777C33-C4FB-83C7-A317-4F07A838A631}"/>
              </a:ext>
            </a:extLst>
          </p:cNvPr>
          <p:cNvSpPr>
            <a:spLocks noGrp="1"/>
          </p:cNvSpPr>
          <p:nvPr>
            <p:ph type="sldNum" sz="quarter" idx="12"/>
          </p:nvPr>
        </p:nvSpPr>
        <p:spPr/>
        <p:txBody>
          <a:bodyPr/>
          <a:lstStyle/>
          <a:p>
            <a:fld id="{127DDC20-79C9-9647-820E-6D40A3D210C3}" type="slidenum">
              <a:rPr lang="en-US" smtClean="0"/>
              <a:pPr/>
              <a:t>9</a:t>
            </a:fld>
            <a:endParaRPr lang="en-US"/>
          </a:p>
        </p:txBody>
      </p:sp>
    </p:spTree>
    <p:extLst>
      <p:ext uri="{BB962C8B-B14F-4D97-AF65-F5344CB8AC3E}">
        <p14:creationId xmlns:p14="http://schemas.microsoft.com/office/powerpoint/2010/main" val="3571712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Font typeface="Courier New" panose="02070309020205020404" pitchFamily="49" charset="0"/>
              <a:buChar char="o"/>
            </a:pPr>
            <a:r>
              <a:rPr lang="en-US" dirty="0"/>
              <a:t>QGIS </a:t>
            </a:r>
          </a:p>
          <a:p>
            <a:pPr>
              <a:buFont typeface="Courier New" panose="02070309020205020404" pitchFamily="49" charset="0"/>
              <a:buChar char="o"/>
            </a:pPr>
            <a:r>
              <a:rPr lang="en-US" dirty="0"/>
              <a:t>R</a:t>
            </a:r>
          </a:p>
          <a:p>
            <a:pPr>
              <a:buFont typeface="Courier New" panose="02070309020205020404" pitchFamily="49" charset="0"/>
              <a:buChar char="o"/>
            </a:pPr>
            <a:r>
              <a:rPr lang="en-US" dirty="0"/>
              <a:t>ArcGIS Pro</a:t>
            </a:r>
          </a:p>
          <a:p>
            <a:pPr lvl="1">
              <a:buFont typeface="Wingdings" panose="05000000000000000000" pitchFamily="2" charset="2"/>
              <a:buChar char="ü"/>
            </a:pPr>
            <a:r>
              <a:rPr lang="en-US" dirty="0"/>
              <a:t>Generate Random Points</a:t>
            </a:r>
          </a:p>
          <a:p>
            <a:pPr lvl="1">
              <a:buFont typeface="Wingdings" panose="05000000000000000000" pitchFamily="2" charset="2"/>
              <a:buChar char="ü"/>
            </a:pPr>
            <a:r>
              <a:rPr lang="en-US" dirty="0"/>
              <a:t>Generate Points Along Line</a:t>
            </a:r>
          </a:p>
          <a:p>
            <a:pPr lvl="1">
              <a:buFont typeface="Wingdings" panose="05000000000000000000" pitchFamily="2" charset="2"/>
              <a:buChar char="ü"/>
            </a:pPr>
            <a:r>
              <a:rPr lang="en-US" dirty="0"/>
              <a:t>Generate Tessellation</a:t>
            </a:r>
          </a:p>
          <a:p>
            <a:pPr lvl="1">
              <a:buFont typeface="Wingdings" panose="05000000000000000000" pitchFamily="2" charset="2"/>
              <a:buChar char="ü"/>
            </a:pPr>
            <a:r>
              <a:rPr lang="en-US" dirty="0"/>
              <a:t>Create Fishnet</a:t>
            </a:r>
          </a:p>
        </p:txBody>
      </p:sp>
      <p:pic>
        <p:nvPicPr>
          <p:cNvPr id="4" name="Picture 3" descr="Create Random Points window"/>
          <p:cNvPicPr>
            <a:picLocks noChangeAspect="1"/>
          </p:cNvPicPr>
          <p:nvPr/>
        </p:nvPicPr>
        <p:blipFill>
          <a:blip r:embed="rId3"/>
          <a:stretch>
            <a:fillRect/>
          </a:stretch>
        </p:blipFill>
        <p:spPr>
          <a:xfrm>
            <a:off x="4788963" y="985955"/>
            <a:ext cx="2601442" cy="2306278"/>
          </a:xfrm>
          <a:prstGeom prst="rect">
            <a:avLst/>
          </a:prstGeom>
        </p:spPr>
      </p:pic>
      <p:pic>
        <p:nvPicPr>
          <p:cNvPr id="6" name="Picture 5" descr="Generate Points along lines window"/>
          <p:cNvPicPr>
            <a:picLocks noChangeAspect="1"/>
          </p:cNvPicPr>
          <p:nvPr/>
        </p:nvPicPr>
        <p:blipFill>
          <a:blip r:embed="rId4"/>
          <a:stretch>
            <a:fillRect/>
          </a:stretch>
        </p:blipFill>
        <p:spPr>
          <a:xfrm>
            <a:off x="4737556" y="3369346"/>
            <a:ext cx="2704256" cy="1702488"/>
          </a:xfrm>
          <a:prstGeom prst="rect">
            <a:avLst/>
          </a:prstGeom>
        </p:spPr>
      </p:pic>
      <p:cxnSp>
        <p:nvCxnSpPr>
          <p:cNvPr id="7" name="Straight Connector 6">
            <a:extLst>
              <a:ext uri="{FF2B5EF4-FFF2-40B4-BE49-F238E27FC236}">
                <a16:creationId xmlns:a16="http://schemas.microsoft.com/office/drawing/2014/main" id="{465B8F65-317C-46BB-A564-208380685D94}"/>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C2456E-230A-4C37-AB3F-F848C117DE64}"/>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Tools of Sampling</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CC9D1B8A-2A3C-3E90-8A0B-D724A712BAE5}"/>
              </a:ext>
            </a:extLst>
          </p:cNvPr>
          <p:cNvSpPr>
            <a:spLocks noGrp="1"/>
          </p:cNvSpPr>
          <p:nvPr>
            <p:ph type="sldNum" sz="quarter" idx="12"/>
          </p:nvPr>
        </p:nvSpPr>
        <p:spPr/>
        <p:txBody>
          <a:bodyPr/>
          <a:lstStyle/>
          <a:p>
            <a:fld id="{127DDC20-79C9-9647-820E-6D40A3D210C3}" type="slidenum">
              <a:rPr lang="en-US" smtClean="0"/>
              <a:pPr/>
              <a:t>10</a:t>
            </a:fld>
            <a:endParaRPr lang="en-US"/>
          </a:p>
        </p:txBody>
      </p:sp>
    </p:spTree>
    <p:extLst>
      <p:ext uri="{BB962C8B-B14F-4D97-AF65-F5344CB8AC3E}">
        <p14:creationId xmlns:p14="http://schemas.microsoft.com/office/powerpoint/2010/main" val="977836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2300" y="1013722"/>
            <a:ext cx="4228757" cy="3394472"/>
          </a:xfrm>
        </p:spPr>
        <p:txBody>
          <a:bodyPr/>
          <a:lstStyle/>
          <a:p>
            <a:pPr>
              <a:buFont typeface="Courier New" panose="02070309020205020404" pitchFamily="49" charset="0"/>
              <a:buChar char="o"/>
            </a:pPr>
            <a:r>
              <a:rPr lang="en-US" dirty="0"/>
              <a:t>Filling a plane completely with non-overlapping geometric shapes</a:t>
            </a:r>
          </a:p>
          <a:p>
            <a:pPr>
              <a:buFont typeface="Courier New" panose="02070309020205020404" pitchFamily="49" charset="0"/>
              <a:buChar char="o"/>
            </a:pPr>
            <a:r>
              <a:rPr lang="en-US" dirty="0"/>
              <a:t>Can use generated features as sampling or aggregation units</a:t>
            </a:r>
          </a:p>
        </p:txBody>
      </p:sp>
      <p:cxnSp>
        <p:nvCxnSpPr>
          <p:cNvPr id="8" name="Straight Connector 7">
            <a:extLst>
              <a:ext uri="{FF2B5EF4-FFF2-40B4-BE49-F238E27FC236}">
                <a16:creationId xmlns:a16="http://schemas.microsoft.com/office/drawing/2014/main" id="{1F013AEA-F30A-458D-A4BC-380D3A01205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69BDE4F4-A6BD-417D-A9D3-8080C513C0F8}"/>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Tessellation</a:t>
            </a:r>
            <a:endParaRPr lang="en-US" sz="2600" dirty="0">
              <a:solidFill>
                <a:srgbClr val="7030A0"/>
              </a:solidFill>
            </a:endParaRPr>
          </a:p>
        </p:txBody>
      </p:sp>
      <p:pic>
        <p:nvPicPr>
          <p:cNvPr id="12" name="Picture 11" descr="Tessellation example">
            <a:extLst>
              <a:ext uri="{FF2B5EF4-FFF2-40B4-BE49-F238E27FC236}">
                <a16:creationId xmlns:a16="http://schemas.microsoft.com/office/drawing/2014/main" id="{D472A8BC-4941-4B69-9D61-DE22FA3B3A25}"/>
              </a:ext>
            </a:extLst>
          </p:cNvPr>
          <p:cNvPicPr>
            <a:picLocks noChangeAspect="1"/>
          </p:cNvPicPr>
          <p:nvPr/>
        </p:nvPicPr>
        <p:blipFill>
          <a:blip r:embed="rId3"/>
          <a:stretch>
            <a:fillRect/>
          </a:stretch>
        </p:blipFill>
        <p:spPr>
          <a:xfrm>
            <a:off x="4661848" y="1253632"/>
            <a:ext cx="2830772" cy="3184619"/>
          </a:xfrm>
          <a:prstGeom prst="rect">
            <a:avLst/>
          </a:prstGeom>
        </p:spPr>
      </p:pic>
      <p:sp>
        <p:nvSpPr>
          <p:cNvPr id="14" name="TextBox 13">
            <a:extLst>
              <a:ext uri="{FF2B5EF4-FFF2-40B4-BE49-F238E27FC236}">
                <a16:creationId xmlns:a16="http://schemas.microsoft.com/office/drawing/2014/main" id="{60921AB4-76CE-44AF-A398-576015D50E0E}"/>
              </a:ext>
            </a:extLst>
          </p:cNvPr>
          <p:cNvSpPr txBox="1"/>
          <p:nvPr/>
        </p:nvSpPr>
        <p:spPr>
          <a:xfrm>
            <a:off x="4577688" y="4602168"/>
            <a:ext cx="3575712" cy="400110"/>
          </a:xfrm>
          <a:prstGeom prst="rect">
            <a:avLst/>
          </a:prstGeom>
          <a:noFill/>
        </p:spPr>
        <p:txBody>
          <a:bodyPr wrap="square">
            <a:spAutoFit/>
          </a:bodyPr>
          <a:lstStyle/>
          <a:p>
            <a:r>
              <a:rPr lang="en-US" sz="1000" dirty="0">
                <a:solidFill>
                  <a:srgbClr val="7030A0"/>
                </a:solidFill>
              </a:rPr>
              <a:t>https://pro.arcgis.com/en/pro-app/tool-reference/data-management/generatetesellation.htm</a:t>
            </a:r>
          </a:p>
        </p:txBody>
      </p:sp>
      <p:sp>
        <p:nvSpPr>
          <p:cNvPr id="2" name="Slide Number Placeholder 1">
            <a:extLst>
              <a:ext uri="{FF2B5EF4-FFF2-40B4-BE49-F238E27FC236}">
                <a16:creationId xmlns:a16="http://schemas.microsoft.com/office/drawing/2014/main" id="{592C28F4-9EFB-3E18-90E6-A234E4F939A7}"/>
              </a:ext>
            </a:extLst>
          </p:cNvPr>
          <p:cNvSpPr>
            <a:spLocks noGrp="1"/>
          </p:cNvSpPr>
          <p:nvPr>
            <p:ph type="sldNum" sz="quarter" idx="12"/>
          </p:nvPr>
        </p:nvSpPr>
        <p:spPr/>
        <p:txBody>
          <a:bodyPr/>
          <a:lstStyle/>
          <a:p>
            <a:fld id="{127DDC20-79C9-9647-820E-6D40A3D210C3}" type="slidenum">
              <a:rPr lang="en-US" smtClean="0"/>
              <a:pPr/>
              <a:t>11</a:t>
            </a:fld>
            <a:endParaRPr lang="en-US"/>
          </a:p>
        </p:txBody>
      </p:sp>
    </p:spTree>
    <p:extLst>
      <p:ext uri="{BB962C8B-B14F-4D97-AF65-F5344CB8AC3E}">
        <p14:creationId xmlns:p14="http://schemas.microsoft.com/office/powerpoint/2010/main" val="1265042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Creates a fishnet of regular cells</a:t>
            </a:r>
          </a:p>
        </p:txBody>
      </p:sp>
      <p:pic>
        <p:nvPicPr>
          <p:cNvPr id="4" name="Picture 3" descr="Fishnet example"/>
          <p:cNvPicPr>
            <a:picLocks noChangeAspect="1"/>
          </p:cNvPicPr>
          <p:nvPr/>
        </p:nvPicPr>
        <p:blipFill>
          <a:blip r:embed="rId3"/>
          <a:stretch>
            <a:fillRect/>
          </a:stretch>
        </p:blipFill>
        <p:spPr>
          <a:xfrm>
            <a:off x="4519958" y="1715806"/>
            <a:ext cx="3149971" cy="2733809"/>
          </a:xfrm>
          <a:prstGeom prst="rect">
            <a:avLst/>
          </a:prstGeom>
        </p:spPr>
      </p:pic>
      <p:pic>
        <p:nvPicPr>
          <p:cNvPr id="5" name="Picture 4" descr="Create Fishnet window"/>
          <p:cNvPicPr>
            <a:picLocks noChangeAspect="1"/>
          </p:cNvPicPr>
          <p:nvPr/>
        </p:nvPicPr>
        <p:blipFill>
          <a:blip r:embed="rId4"/>
          <a:stretch>
            <a:fillRect/>
          </a:stretch>
        </p:blipFill>
        <p:spPr>
          <a:xfrm>
            <a:off x="822103" y="1902921"/>
            <a:ext cx="2887541" cy="2617888"/>
          </a:xfrm>
          <a:prstGeom prst="rect">
            <a:avLst/>
          </a:prstGeom>
        </p:spPr>
      </p:pic>
      <p:sp>
        <p:nvSpPr>
          <p:cNvPr id="6" name="TextBox 5"/>
          <p:cNvSpPr txBox="1"/>
          <p:nvPr/>
        </p:nvSpPr>
        <p:spPr>
          <a:xfrm>
            <a:off x="5010784" y="4741571"/>
            <a:ext cx="2829662" cy="260584"/>
          </a:xfrm>
          <a:prstGeom prst="rect">
            <a:avLst/>
          </a:prstGeom>
          <a:noFill/>
        </p:spPr>
        <p:txBody>
          <a:bodyPr wrap="square" rtlCol="0">
            <a:spAutoFit/>
          </a:bodyPr>
          <a:lstStyle/>
          <a:p>
            <a:pPr>
              <a:lnSpc>
                <a:spcPct val="90000"/>
              </a:lnSpc>
            </a:pPr>
            <a:r>
              <a:rPr lang="en-US" sz="1215" dirty="0"/>
              <a:t>Imagery from ESRI </a:t>
            </a:r>
            <a:r>
              <a:rPr lang="en-US" sz="1215" dirty="0" err="1"/>
              <a:t>Basemap</a:t>
            </a:r>
            <a:endParaRPr lang="en-US" sz="1215" dirty="0"/>
          </a:p>
        </p:txBody>
      </p:sp>
      <p:cxnSp>
        <p:nvCxnSpPr>
          <p:cNvPr id="7" name="Straight Connector 6">
            <a:extLst>
              <a:ext uri="{FF2B5EF4-FFF2-40B4-BE49-F238E27FC236}">
                <a16:creationId xmlns:a16="http://schemas.microsoft.com/office/drawing/2014/main" id="{CA8F1852-11A9-479D-86D1-3A70AEF77E6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A5135510-E8C5-4EF4-AECC-85C7DBA9D199}"/>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Fishnets</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2E5F0CFE-5577-B8E0-9B00-26FA1392C3A0}"/>
              </a:ext>
            </a:extLst>
          </p:cNvPr>
          <p:cNvSpPr>
            <a:spLocks noGrp="1"/>
          </p:cNvSpPr>
          <p:nvPr>
            <p:ph type="sldNum" sz="quarter" idx="12"/>
          </p:nvPr>
        </p:nvSpPr>
        <p:spPr/>
        <p:txBody>
          <a:bodyPr/>
          <a:lstStyle/>
          <a:p>
            <a:fld id="{127DDC20-79C9-9647-820E-6D40A3D210C3}" type="slidenum">
              <a:rPr lang="en-US" smtClean="0"/>
              <a:pPr/>
              <a:t>12</a:t>
            </a:fld>
            <a:endParaRPr lang="en-US"/>
          </a:p>
        </p:txBody>
      </p:sp>
    </p:spTree>
    <p:extLst>
      <p:ext uri="{BB962C8B-B14F-4D97-AF65-F5344CB8AC3E}">
        <p14:creationId xmlns:p14="http://schemas.microsoft.com/office/powerpoint/2010/main" val="259606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17220" y="2060972"/>
            <a:ext cx="6995160" cy="1021556"/>
          </a:xfrm>
        </p:spPr>
        <p:txBody>
          <a:bodyPr>
            <a:normAutofit fontScale="90000"/>
          </a:bodyPr>
          <a:lstStyle/>
          <a:p>
            <a:pPr algn="ctr"/>
            <a:r>
              <a:rPr lang="en-US" dirty="0"/>
              <a:t>Spatial Central Tendency and Dispersion</a:t>
            </a:r>
          </a:p>
        </p:txBody>
      </p:sp>
      <p:sp>
        <p:nvSpPr>
          <p:cNvPr id="2" name="Slide Number Placeholder 1">
            <a:extLst>
              <a:ext uri="{FF2B5EF4-FFF2-40B4-BE49-F238E27FC236}">
                <a16:creationId xmlns:a16="http://schemas.microsoft.com/office/drawing/2014/main" id="{2D9A4F0C-B2C7-301A-2756-6DB96ABC8A07}"/>
              </a:ext>
            </a:extLst>
          </p:cNvPr>
          <p:cNvSpPr>
            <a:spLocks noGrp="1"/>
          </p:cNvSpPr>
          <p:nvPr>
            <p:ph type="sldNum" sz="quarter" idx="12"/>
          </p:nvPr>
        </p:nvSpPr>
        <p:spPr/>
        <p:txBody>
          <a:bodyPr/>
          <a:lstStyle/>
          <a:p>
            <a:fld id="{127DDC20-79C9-9647-820E-6D40A3D210C3}" type="slidenum">
              <a:rPr lang="en-US" smtClean="0"/>
              <a:pPr/>
              <a:t>13</a:t>
            </a:fld>
            <a:endParaRPr lang="en-US"/>
          </a:p>
        </p:txBody>
      </p:sp>
    </p:spTree>
    <p:extLst>
      <p:ext uri="{BB962C8B-B14F-4D97-AF65-F5344CB8AC3E}">
        <p14:creationId xmlns:p14="http://schemas.microsoft.com/office/powerpoint/2010/main" val="2010666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68172-DD45-592D-F1F3-90D14222C4F3}"/>
              </a:ext>
            </a:extLst>
          </p:cNvPr>
          <p:cNvSpPr>
            <a:spLocks noGrp="1"/>
          </p:cNvSpPr>
          <p:nvPr>
            <p:ph type="title"/>
          </p:nvPr>
        </p:nvSpPr>
        <p:spPr/>
        <p:txBody>
          <a:bodyPr/>
          <a:lstStyle/>
          <a:p>
            <a:r>
              <a:rPr lang="en-US" dirty="0"/>
              <a:t>Spatial Central Tendency</a:t>
            </a:r>
          </a:p>
        </p:txBody>
      </p:sp>
      <p:sp>
        <p:nvSpPr>
          <p:cNvPr id="3" name="Content Placeholder 2">
            <a:extLst>
              <a:ext uri="{FF2B5EF4-FFF2-40B4-BE49-F238E27FC236}">
                <a16:creationId xmlns:a16="http://schemas.microsoft.com/office/drawing/2014/main" id="{DA8F7947-1F22-10B6-7A31-994243B3D54C}"/>
              </a:ext>
            </a:extLst>
          </p:cNvPr>
          <p:cNvSpPr>
            <a:spLocks noGrp="1"/>
          </p:cNvSpPr>
          <p:nvPr>
            <p:ph idx="1"/>
          </p:nvPr>
        </p:nvSpPr>
        <p:spPr/>
        <p:txBody>
          <a:bodyPr/>
          <a:lstStyle/>
          <a:p>
            <a:r>
              <a:rPr lang="en-US" dirty="0"/>
              <a:t>Describes the </a:t>
            </a:r>
            <a:r>
              <a:rPr lang="en-US" b="1" dirty="0"/>
              <a:t>center or typical location</a:t>
            </a:r>
            <a:r>
              <a:rPr lang="en-US" dirty="0"/>
              <a:t> of geographic features.</a:t>
            </a:r>
          </a:p>
        </p:txBody>
      </p:sp>
      <p:sp>
        <p:nvSpPr>
          <p:cNvPr id="4" name="Slide Number Placeholder 3">
            <a:extLst>
              <a:ext uri="{FF2B5EF4-FFF2-40B4-BE49-F238E27FC236}">
                <a16:creationId xmlns:a16="http://schemas.microsoft.com/office/drawing/2014/main" id="{F3595F65-AA27-3CBD-831F-7906E97AB391}"/>
              </a:ext>
            </a:extLst>
          </p:cNvPr>
          <p:cNvSpPr>
            <a:spLocks noGrp="1"/>
          </p:cNvSpPr>
          <p:nvPr>
            <p:ph type="sldNum" sz="quarter" idx="12"/>
          </p:nvPr>
        </p:nvSpPr>
        <p:spPr/>
        <p:txBody>
          <a:bodyPr/>
          <a:lstStyle/>
          <a:p>
            <a:fld id="{127DDC20-79C9-9647-820E-6D40A3D210C3}" type="slidenum">
              <a:rPr lang="en-US" smtClean="0"/>
              <a:pPr/>
              <a:t>14</a:t>
            </a:fld>
            <a:endParaRPr lang="en-US"/>
          </a:p>
        </p:txBody>
      </p:sp>
      <p:pic>
        <p:nvPicPr>
          <p:cNvPr id="6" name="Picture 5">
            <a:extLst>
              <a:ext uri="{FF2B5EF4-FFF2-40B4-BE49-F238E27FC236}">
                <a16:creationId xmlns:a16="http://schemas.microsoft.com/office/drawing/2014/main" id="{96652B9F-C7F4-D8EE-BA93-08D54E2A583F}"/>
              </a:ext>
            </a:extLst>
          </p:cNvPr>
          <p:cNvPicPr>
            <a:picLocks noChangeAspect="1"/>
          </p:cNvPicPr>
          <p:nvPr/>
        </p:nvPicPr>
        <p:blipFill>
          <a:blip r:embed="rId2"/>
          <a:stretch>
            <a:fillRect/>
          </a:stretch>
        </p:blipFill>
        <p:spPr>
          <a:xfrm>
            <a:off x="1391370" y="2236013"/>
            <a:ext cx="5033924" cy="2358610"/>
          </a:xfrm>
          <a:prstGeom prst="rect">
            <a:avLst/>
          </a:prstGeom>
        </p:spPr>
      </p:pic>
    </p:spTree>
    <p:extLst>
      <p:ext uri="{BB962C8B-B14F-4D97-AF65-F5344CB8AC3E}">
        <p14:creationId xmlns:p14="http://schemas.microsoft.com/office/powerpoint/2010/main" val="3944060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7D53406-7D6E-4CC8-8E42-BA28A0201FF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Rectangle 2">
            <a:extLst>
              <a:ext uri="{FF2B5EF4-FFF2-40B4-BE49-F238E27FC236}">
                <a16:creationId xmlns:a16="http://schemas.microsoft.com/office/drawing/2014/main" id="{8B31BF95-C08D-4CCA-AD4A-C20DE29BC714}"/>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Central Feature</a:t>
            </a:r>
          </a:p>
        </p:txBody>
      </p:sp>
      <p:sp>
        <p:nvSpPr>
          <p:cNvPr id="10" name="TextBox 9">
            <a:extLst>
              <a:ext uri="{FF2B5EF4-FFF2-40B4-BE49-F238E27FC236}">
                <a16:creationId xmlns:a16="http://schemas.microsoft.com/office/drawing/2014/main" id="{59EFFAEF-B813-4693-898E-6D1D90841DB3}"/>
              </a:ext>
            </a:extLst>
          </p:cNvPr>
          <p:cNvSpPr txBox="1"/>
          <p:nvPr/>
        </p:nvSpPr>
        <p:spPr>
          <a:xfrm>
            <a:off x="152400" y="1052339"/>
            <a:ext cx="7200900" cy="690702"/>
          </a:xfrm>
          <a:prstGeom prst="rect">
            <a:avLst/>
          </a:prstGeom>
          <a:noFill/>
        </p:spPr>
        <p:txBody>
          <a:bodyPr wrap="square" rtlCol="0">
            <a:spAutoFit/>
          </a:bodyPr>
          <a:lstStyle/>
          <a:p>
            <a:pPr>
              <a:lnSpc>
                <a:spcPct val="90000"/>
              </a:lnSpc>
            </a:pPr>
            <a:r>
              <a:rPr lang="en-US" sz="2160" dirty="0"/>
              <a:t>Identifies the most centrally located feature in a point, line, or polygon feature class</a:t>
            </a:r>
          </a:p>
        </p:txBody>
      </p:sp>
      <p:pic>
        <p:nvPicPr>
          <p:cNvPr id="12" name="Picture 11" descr="A screenshot of a cell phone&#10;&#10;Description automatically generated">
            <a:extLst>
              <a:ext uri="{FF2B5EF4-FFF2-40B4-BE49-F238E27FC236}">
                <a16:creationId xmlns:a16="http://schemas.microsoft.com/office/drawing/2014/main" id="{9D5E062B-8A75-4FBF-BA2B-F024FFF11F50}"/>
              </a:ext>
            </a:extLst>
          </p:cNvPr>
          <p:cNvPicPr>
            <a:picLocks noChangeAspect="1"/>
          </p:cNvPicPr>
          <p:nvPr/>
        </p:nvPicPr>
        <p:blipFill>
          <a:blip r:embed="rId3"/>
          <a:stretch>
            <a:fillRect/>
          </a:stretch>
        </p:blipFill>
        <p:spPr>
          <a:xfrm>
            <a:off x="484573" y="1940638"/>
            <a:ext cx="3362415" cy="2658161"/>
          </a:xfrm>
          <a:prstGeom prst="rect">
            <a:avLst/>
          </a:prstGeom>
        </p:spPr>
      </p:pic>
      <p:pic>
        <p:nvPicPr>
          <p:cNvPr id="14" name="Picture 13" descr="A close up of a map&#10;&#10;Description automatically generated">
            <a:extLst>
              <a:ext uri="{FF2B5EF4-FFF2-40B4-BE49-F238E27FC236}">
                <a16:creationId xmlns:a16="http://schemas.microsoft.com/office/drawing/2014/main" id="{1698B8BD-1A9D-4E1B-8CB6-4B3B62C14C76}"/>
              </a:ext>
            </a:extLst>
          </p:cNvPr>
          <p:cNvPicPr>
            <a:picLocks noChangeAspect="1"/>
          </p:cNvPicPr>
          <p:nvPr/>
        </p:nvPicPr>
        <p:blipFill>
          <a:blip r:embed="rId4">
            <a:alphaModFix/>
          </a:blip>
          <a:stretch>
            <a:fillRect/>
          </a:stretch>
        </p:blipFill>
        <p:spPr>
          <a:xfrm>
            <a:off x="550674" y="1949975"/>
            <a:ext cx="3253013" cy="2699309"/>
          </a:xfrm>
          <a:prstGeom prst="rect">
            <a:avLst/>
          </a:prstGeom>
        </p:spPr>
      </p:pic>
      <p:pic>
        <p:nvPicPr>
          <p:cNvPr id="16" name="Picture 15" descr="A close up of a map&#10;&#10;Description automatically generated">
            <a:extLst>
              <a:ext uri="{FF2B5EF4-FFF2-40B4-BE49-F238E27FC236}">
                <a16:creationId xmlns:a16="http://schemas.microsoft.com/office/drawing/2014/main" id="{8A6B4487-6115-485E-BCB8-2C9097FE3FAD}"/>
              </a:ext>
            </a:extLst>
          </p:cNvPr>
          <p:cNvPicPr>
            <a:picLocks noChangeAspect="1"/>
          </p:cNvPicPr>
          <p:nvPr/>
        </p:nvPicPr>
        <p:blipFill>
          <a:blip r:embed="rId5">
            <a:alphaModFix/>
          </a:blip>
          <a:stretch>
            <a:fillRect/>
          </a:stretch>
        </p:blipFill>
        <p:spPr>
          <a:xfrm>
            <a:off x="572579" y="1969441"/>
            <a:ext cx="3208060" cy="2600554"/>
          </a:xfrm>
          <a:prstGeom prst="rect">
            <a:avLst/>
          </a:prstGeom>
        </p:spPr>
      </p:pic>
      <p:pic>
        <p:nvPicPr>
          <p:cNvPr id="20" name="Picture 19" descr="A close up of a map&#10;&#10;Description automatically generated">
            <a:extLst>
              <a:ext uri="{FF2B5EF4-FFF2-40B4-BE49-F238E27FC236}">
                <a16:creationId xmlns:a16="http://schemas.microsoft.com/office/drawing/2014/main" id="{1C618372-4A98-4082-B190-3ED5173D03D8}"/>
              </a:ext>
            </a:extLst>
          </p:cNvPr>
          <p:cNvPicPr>
            <a:picLocks noChangeAspect="1"/>
          </p:cNvPicPr>
          <p:nvPr/>
        </p:nvPicPr>
        <p:blipFill>
          <a:blip r:embed="rId6">
            <a:alphaModFix/>
          </a:blip>
          <a:stretch>
            <a:fillRect/>
          </a:stretch>
        </p:blipFill>
        <p:spPr>
          <a:xfrm>
            <a:off x="508344" y="1906444"/>
            <a:ext cx="3280781" cy="2699309"/>
          </a:xfrm>
          <a:prstGeom prst="rect">
            <a:avLst/>
          </a:prstGeom>
        </p:spPr>
      </p:pic>
      <p:pic>
        <p:nvPicPr>
          <p:cNvPr id="25" name="Picture 24" descr="A picture containing white&#10;&#10;Description automatically generated">
            <a:extLst>
              <a:ext uri="{FF2B5EF4-FFF2-40B4-BE49-F238E27FC236}">
                <a16:creationId xmlns:a16="http://schemas.microsoft.com/office/drawing/2014/main" id="{D70ECF98-8ED9-4BFF-883E-7ACC9D48EBC5}"/>
              </a:ext>
            </a:extLst>
          </p:cNvPr>
          <p:cNvPicPr>
            <a:picLocks noChangeAspect="1"/>
          </p:cNvPicPr>
          <p:nvPr/>
        </p:nvPicPr>
        <p:blipFill>
          <a:blip r:embed="rId7">
            <a:alphaModFix/>
          </a:blip>
          <a:stretch>
            <a:fillRect/>
          </a:stretch>
        </p:blipFill>
        <p:spPr>
          <a:xfrm>
            <a:off x="561749" y="1744012"/>
            <a:ext cx="5017918" cy="2880360"/>
          </a:xfrm>
          <a:prstGeom prst="rect">
            <a:avLst/>
          </a:prstGeom>
        </p:spPr>
      </p:pic>
      <p:sp>
        <p:nvSpPr>
          <p:cNvPr id="26" name="TextBox 25">
            <a:extLst>
              <a:ext uri="{FF2B5EF4-FFF2-40B4-BE49-F238E27FC236}">
                <a16:creationId xmlns:a16="http://schemas.microsoft.com/office/drawing/2014/main" id="{07867B66-2EC1-43C7-905F-D74A631EF41B}"/>
              </a:ext>
            </a:extLst>
          </p:cNvPr>
          <p:cNvSpPr txBox="1"/>
          <p:nvPr/>
        </p:nvSpPr>
        <p:spPr>
          <a:xfrm>
            <a:off x="4987337" y="1754368"/>
            <a:ext cx="287541" cy="424732"/>
          </a:xfrm>
          <a:prstGeom prst="rect">
            <a:avLst/>
          </a:prstGeom>
          <a:solidFill>
            <a:schemeClr val="bg2"/>
          </a:solidFill>
        </p:spPr>
        <p:txBody>
          <a:bodyPr wrap="square" rtlCol="0">
            <a:spAutoFit/>
          </a:bodyPr>
          <a:lstStyle/>
          <a:p>
            <a:endParaRPr lang="en-US" sz="2160" dirty="0"/>
          </a:p>
        </p:txBody>
      </p:sp>
      <p:sp>
        <p:nvSpPr>
          <p:cNvPr id="27" name="TextBox 26">
            <a:extLst>
              <a:ext uri="{FF2B5EF4-FFF2-40B4-BE49-F238E27FC236}">
                <a16:creationId xmlns:a16="http://schemas.microsoft.com/office/drawing/2014/main" id="{517170D6-102B-4C45-9721-82F3C8498B4D}"/>
              </a:ext>
            </a:extLst>
          </p:cNvPr>
          <p:cNvSpPr txBox="1"/>
          <p:nvPr/>
        </p:nvSpPr>
        <p:spPr>
          <a:xfrm>
            <a:off x="4915265" y="4530766"/>
            <a:ext cx="287541" cy="120033"/>
          </a:xfrm>
          <a:prstGeom prst="rect">
            <a:avLst/>
          </a:prstGeom>
          <a:solidFill>
            <a:schemeClr val="bg2"/>
          </a:solidFill>
        </p:spPr>
        <p:txBody>
          <a:bodyPr wrap="square" rtlCol="0">
            <a:spAutoFit/>
          </a:bodyPr>
          <a:lstStyle/>
          <a:p>
            <a:endParaRPr lang="en-US" sz="180" dirty="0"/>
          </a:p>
        </p:txBody>
      </p:sp>
      <p:pic>
        <p:nvPicPr>
          <p:cNvPr id="29" name="Picture 28" descr="A close up of a logo&#10;&#10;Description automatically generated">
            <a:extLst>
              <a:ext uri="{FF2B5EF4-FFF2-40B4-BE49-F238E27FC236}">
                <a16:creationId xmlns:a16="http://schemas.microsoft.com/office/drawing/2014/main" id="{12B65570-3A7D-43BF-9C07-589DCD3E196E}"/>
              </a:ext>
            </a:extLst>
          </p:cNvPr>
          <p:cNvPicPr>
            <a:picLocks noChangeAspect="1"/>
          </p:cNvPicPr>
          <p:nvPr/>
        </p:nvPicPr>
        <p:blipFill>
          <a:blip r:embed="rId8">
            <a:alphaModFix/>
          </a:blip>
          <a:stretch>
            <a:fillRect/>
          </a:stretch>
        </p:blipFill>
        <p:spPr>
          <a:xfrm>
            <a:off x="581396" y="1954505"/>
            <a:ext cx="3799724" cy="2633472"/>
          </a:xfrm>
          <a:prstGeom prst="rect">
            <a:avLst/>
          </a:prstGeom>
        </p:spPr>
      </p:pic>
      <p:sp>
        <p:nvSpPr>
          <p:cNvPr id="31" name="TextBox 30">
            <a:extLst>
              <a:ext uri="{FF2B5EF4-FFF2-40B4-BE49-F238E27FC236}">
                <a16:creationId xmlns:a16="http://schemas.microsoft.com/office/drawing/2014/main" id="{3F3AA4FE-08C9-4438-843F-11765CC1A5D6}"/>
              </a:ext>
            </a:extLst>
          </p:cNvPr>
          <p:cNvSpPr txBox="1"/>
          <p:nvPr/>
        </p:nvSpPr>
        <p:spPr>
          <a:xfrm>
            <a:off x="6010985" y="4127294"/>
            <a:ext cx="2171425" cy="674031"/>
          </a:xfrm>
          <a:prstGeom prst="rect">
            <a:avLst/>
          </a:prstGeom>
          <a:noFill/>
        </p:spPr>
        <p:txBody>
          <a:bodyPr wrap="square" rtlCol="0">
            <a:spAutoFit/>
          </a:bodyPr>
          <a:lstStyle/>
          <a:p>
            <a:r>
              <a:rPr lang="en-US" sz="1260" dirty="0" err="1"/>
              <a:t>Esri</a:t>
            </a:r>
            <a:r>
              <a:rPr lang="en-US" sz="1260" dirty="0"/>
              <a:t> events</a:t>
            </a:r>
          </a:p>
          <a:p>
            <a:r>
              <a:rPr lang="en-US" sz="1260" dirty="0">
                <a:hlinkClick r:id="rId9"/>
              </a:rPr>
              <a:t>https://www.youtube.com/watch?v=3d_8nQpSCgE</a:t>
            </a:r>
            <a:endParaRPr lang="en-US" sz="1260" dirty="0"/>
          </a:p>
        </p:txBody>
      </p:sp>
      <p:sp>
        <p:nvSpPr>
          <p:cNvPr id="2" name="Slide Number Placeholder 1">
            <a:extLst>
              <a:ext uri="{FF2B5EF4-FFF2-40B4-BE49-F238E27FC236}">
                <a16:creationId xmlns:a16="http://schemas.microsoft.com/office/drawing/2014/main" id="{6413BB70-5F88-FF09-A310-9F90B0431688}"/>
              </a:ext>
            </a:extLst>
          </p:cNvPr>
          <p:cNvSpPr>
            <a:spLocks noGrp="1"/>
          </p:cNvSpPr>
          <p:nvPr>
            <p:ph type="sldNum" sz="quarter" idx="12"/>
          </p:nvPr>
        </p:nvSpPr>
        <p:spPr/>
        <p:txBody>
          <a:bodyPr/>
          <a:lstStyle/>
          <a:p>
            <a:fld id="{127DDC20-79C9-9647-820E-6D40A3D210C3}" type="slidenum">
              <a:rPr lang="en-US" smtClean="0"/>
              <a:pPr/>
              <a:t>15</a:t>
            </a:fld>
            <a:endParaRPr lang="en-US"/>
          </a:p>
        </p:txBody>
      </p:sp>
    </p:spTree>
    <p:extLst>
      <p:ext uri="{BB962C8B-B14F-4D97-AF65-F5344CB8AC3E}">
        <p14:creationId xmlns:p14="http://schemas.microsoft.com/office/powerpoint/2010/main" val="1933904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60045" y="1779427"/>
            <a:ext cx="7591930" cy="2880360"/>
          </a:xfrm>
        </p:spPr>
        <p:txBody>
          <a:bodyPr>
            <a:normAutofit/>
          </a:bodyPr>
          <a:lstStyle/>
          <a:p>
            <a:r>
              <a:rPr lang="en-US" sz="2160" b="1" dirty="0">
                <a:solidFill>
                  <a:srgbClr val="E3874F"/>
                </a:solidFill>
              </a:rPr>
              <a:t>Euclidean Distance: </a:t>
            </a:r>
            <a:r>
              <a:rPr lang="en-US" sz="2160" dirty="0"/>
              <a:t>straight-line distance</a:t>
            </a:r>
          </a:p>
          <a:p>
            <a:r>
              <a:rPr lang="en-US" sz="2160" b="1" dirty="0">
                <a:solidFill>
                  <a:srgbClr val="E3874F"/>
                </a:solidFill>
              </a:rPr>
              <a:t>Manhattan Distance: </a:t>
            </a:r>
            <a:r>
              <a:rPr lang="en-US" sz="2160" dirty="0"/>
              <a:t>sum of distance in x and y directions</a:t>
            </a:r>
          </a:p>
        </p:txBody>
      </p:sp>
      <p:cxnSp>
        <p:nvCxnSpPr>
          <p:cNvPr id="8" name="Straight Connector 7">
            <a:extLst>
              <a:ext uri="{FF2B5EF4-FFF2-40B4-BE49-F238E27FC236}">
                <a16:creationId xmlns:a16="http://schemas.microsoft.com/office/drawing/2014/main" id="{A5848A1C-4E6B-4A85-86B5-6536D4124AB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Rectangle 2">
            <a:extLst>
              <a:ext uri="{FF2B5EF4-FFF2-40B4-BE49-F238E27FC236}">
                <a16:creationId xmlns:a16="http://schemas.microsoft.com/office/drawing/2014/main" id="{15221621-8CB0-483E-967A-CAE7764F12F8}"/>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Central Feature</a:t>
            </a:r>
          </a:p>
        </p:txBody>
      </p:sp>
      <p:sp>
        <p:nvSpPr>
          <p:cNvPr id="13" name="TextBox 12">
            <a:extLst>
              <a:ext uri="{FF2B5EF4-FFF2-40B4-BE49-F238E27FC236}">
                <a16:creationId xmlns:a16="http://schemas.microsoft.com/office/drawing/2014/main" id="{AE8C0465-CF0A-42F8-A8A1-B65D0073E65A}"/>
              </a:ext>
            </a:extLst>
          </p:cNvPr>
          <p:cNvSpPr txBox="1"/>
          <p:nvPr/>
        </p:nvSpPr>
        <p:spPr>
          <a:xfrm>
            <a:off x="152400" y="1052339"/>
            <a:ext cx="7200900" cy="690702"/>
          </a:xfrm>
          <a:prstGeom prst="rect">
            <a:avLst/>
          </a:prstGeom>
          <a:noFill/>
        </p:spPr>
        <p:txBody>
          <a:bodyPr wrap="square" rtlCol="0">
            <a:spAutoFit/>
          </a:bodyPr>
          <a:lstStyle/>
          <a:p>
            <a:pPr>
              <a:lnSpc>
                <a:spcPct val="90000"/>
              </a:lnSpc>
            </a:pPr>
            <a:r>
              <a:rPr lang="en-US" sz="2160" dirty="0"/>
              <a:t>Identifies the most centrally located feature in a point, line, or polygon feature class</a:t>
            </a:r>
          </a:p>
        </p:txBody>
      </p:sp>
      <p:pic>
        <p:nvPicPr>
          <p:cNvPr id="15" name="Picture 14" descr="A close up of a map&#10;&#10;Description automatically generated">
            <a:extLst>
              <a:ext uri="{FF2B5EF4-FFF2-40B4-BE49-F238E27FC236}">
                <a16:creationId xmlns:a16="http://schemas.microsoft.com/office/drawing/2014/main" id="{CDDC7E7E-EA83-483E-8F65-F615074AFE53}"/>
              </a:ext>
            </a:extLst>
          </p:cNvPr>
          <p:cNvPicPr>
            <a:picLocks noChangeAspect="1"/>
          </p:cNvPicPr>
          <p:nvPr/>
        </p:nvPicPr>
        <p:blipFill>
          <a:blip r:embed="rId3"/>
          <a:srcRect r="44596"/>
          <a:stretch>
            <a:fillRect/>
          </a:stretch>
        </p:blipFill>
        <p:spPr>
          <a:xfrm>
            <a:off x="737953" y="2803248"/>
            <a:ext cx="2380804" cy="1802282"/>
          </a:xfrm>
          <a:prstGeom prst="rect">
            <a:avLst/>
          </a:prstGeom>
        </p:spPr>
      </p:pic>
      <p:sp>
        <p:nvSpPr>
          <p:cNvPr id="16" name="TextBox 15">
            <a:extLst>
              <a:ext uri="{FF2B5EF4-FFF2-40B4-BE49-F238E27FC236}">
                <a16:creationId xmlns:a16="http://schemas.microsoft.com/office/drawing/2014/main" id="{9708BE4A-8D71-4ADA-B366-32679D9C0F7E}"/>
              </a:ext>
            </a:extLst>
          </p:cNvPr>
          <p:cNvSpPr txBox="1"/>
          <p:nvPr/>
        </p:nvSpPr>
        <p:spPr>
          <a:xfrm>
            <a:off x="1432743" y="4132647"/>
            <a:ext cx="684148" cy="507831"/>
          </a:xfrm>
          <a:prstGeom prst="rect">
            <a:avLst/>
          </a:prstGeom>
          <a:solidFill>
            <a:schemeClr val="bg1"/>
          </a:solidFill>
        </p:spPr>
        <p:txBody>
          <a:bodyPr wrap="square" rtlCol="0">
            <a:spAutoFit/>
          </a:bodyPr>
          <a:lstStyle/>
          <a:p>
            <a:endParaRPr lang="en-US" sz="2700" dirty="0">
              <a:solidFill>
                <a:schemeClr val="bg1"/>
              </a:solidFill>
            </a:endParaRPr>
          </a:p>
        </p:txBody>
      </p:sp>
      <p:sp>
        <p:nvSpPr>
          <p:cNvPr id="17" name="TextBox 16">
            <a:extLst>
              <a:ext uri="{FF2B5EF4-FFF2-40B4-BE49-F238E27FC236}">
                <a16:creationId xmlns:a16="http://schemas.microsoft.com/office/drawing/2014/main" id="{A26163FB-7AEE-4EDF-B110-4B0D47D7F48D}"/>
              </a:ext>
            </a:extLst>
          </p:cNvPr>
          <p:cNvSpPr txBox="1"/>
          <p:nvPr/>
        </p:nvSpPr>
        <p:spPr>
          <a:xfrm>
            <a:off x="3349678" y="4572038"/>
            <a:ext cx="4937760" cy="286232"/>
          </a:xfrm>
          <a:prstGeom prst="rect">
            <a:avLst/>
          </a:prstGeom>
          <a:noFill/>
        </p:spPr>
        <p:txBody>
          <a:bodyPr wrap="square" rtlCol="0">
            <a:spAutoFit/>
          </a:bodyPr>
          <a:lstStyle/>
          <a:p>
            <a:r>
              <a:rPr lang="en-US" sz="1260" dirty="0">
                <a:hlinkClick r:id="rId4"/>
              </a:rPr>
              <a:t>http://www.ieee.ma/uaesb/pdf/distances-in-classification.pdf</a:t>
            </a:r>
            <a:endParaRPr lang="en-US" sz="1260" dirty="0"/>
          </a:p>
        </p:txBody>
      </p:sp>
      <p:sp>
        <p:nvSpPr>
          <p:cNvPr id="2" name="Slide Number Placeholder 1">
            <a:extLst>
              <a:ext uri="{FF2B5EF4-FFF2-40B4-BE49-F238E27FC236}">
                <a16:creationId xmlns:a16="http://schemas.microsoft.com/office/drawing/2014/main" id="{13C0DF72-42A9-29A8-50BC-A13DCCB774F1}"/>
              </a:ext>
            </a:extLst>
          </p:cNvPr>
          <p:cNvSpPr>
            <a:spLocks noGrp="1"/>
          </p:cNvSpPr>
          <p:nvPr>
            <p:ph type="sldNum" sz="quarter" idx="12"/>
          </p:nvPr>
        </p:nvSpPr>
        <p:spPr/>
        <p:txBody>
          <a:bodyPr/>
          <a:lstStyle/>
          <a:p>
            <a:fld id="{127DDC20-79C9-9647-820E-6D40A3D210C3}" type="slidenum">
              <a:rPr lang="en-US" smtClean="0"/>
              <a:pPr/>
              <a:t>16</a:t>
            </a:fld>
            <a:endParaRPr lang="en-US"/>
          </a:p>
        </p:txBody>
      </p:sp>
      <p:pic>
        <p:nvPicPr>
          <p:cNvPr id="5" name="Picture 4">
            <a:extLst>
              <a:ext uri="{FF2B5EF4-FFF2-40B4-BE49-F238E27FC236}">
                <a16:creationId xmlns:a16="http://schemas.microsoft.com/office/drawing/2014/main" id="{9F017020-DC5D-7BCB-6CD4-DE7AC0D5AD97}"/>
              </a:ext>
            </a:extLst>
          </p:cNvPr>
          <p:cNvPicPr>
            <a:picLocks noChangeAspect="1"/>
          </p:cNvPicPr>
          <p:nvPr/>
        </p:nvPicPr>
        <p:blipFill>
          <a:blip r:embed="rId5"/>
          <a:stretch>
            <a:fillRect/>
          </a:stretch>
        </p:blipFill>
        <p:spPr>
          <a:xfrm>
            <a:off x="4041321" y="2628564"/>
            <a:ext cx="2131283" cy="1647947"/>
          </a:xfrm>
          <a:prstGeom prst="rect">
            <a:avLst/>
          </a:prstGeom>
        </p:spPr>
      </p:pic>
    </p:spTree>
    <p:extLst>
      <p:ext uri="{BB962C8B-B14F-4D97-AF65-F5344CB8AC3E}">
        <p14:creationId xmlns:p14="http://schemas.microsoft.com/office/powerpoint/2010/main" val="66985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4E4AD09-0F44-429C-9C85-20A55D755E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Mean Center</a:t>
            </a:r>
          </a:p>
        </p:txBody>
      </p:sp>
      <p:sp>
        <p:nvSpPr>
          <p:cNvPr id="14" name="TextBox 13">
            <a:extLst>
              <a:ext uri="{FF2B5EF4-FFF2-40B4-BE49-F238E27FC236}">
                <a16:creationId xmlns:a16="http://schemas.microsoft.com/office/drawing/2014/main" id="{358224A3-8272-40B3-8554-A13F08732A0E}"/>
              </a:ext>
            </a:extLst>
          </p:cNvPr>
          <p:cNvSpPr txBox="1"/>
          <p:nvPr/>
        </p:nvSpPr>
        <p:spPr>
          <a:xfrm>
            <a:off x="152400" y="1052339"/>
            <a:ext cx="7200900" cy="690702"/>
          </a:xfrm>
          <a:prstGeom prst="rect">
            <a:avLst/>
          </a:prstGeom>
          <a:noFill/>
        </p:spPr>
        <p:txBody>
          <a:bodyPr wrap="square" rtlCol="0">
            <a:spAutoFit/>
          </a:bodyPr>
          <a:lstStyle/>
          <a:p>
            <a:pPr>
              <a:lnSpc>
                <a:spcPct val="90000"/>
              </a:lnSpc>
            </a:pPr>
            <a:r>
              <a:rPr lang="en-US" sz="2160" dirty="0"/>
              <a:t>Identifies the geographic center (or the center of concentration) for a set of features</a:t>
            </a:r>
          </a:p>
        </p:txBody>
      </p:sp>
      <p:sp>
        <p:nvSpPr>
          <p:cNvPr id="15" name="Content Placeholder 3">
            <a:extLst>
              <a:ext uri="{FF2B5EF4-FFF2-40B4-BE49-F238E27FC236}">
                <a16:creationId xmlns:a16="http://schemas.microsoft.com/office/drawing/2014/main" id="{8911ABD0-0EC4-4A6A-80EC-885BE1DC1E53}"/>
              </a:ext>
            </a:extLst>
          </p:cNvPr>
          <p:cNvSpPr txBox="1">
            <a:spLocks/>
          </p:cNvSpPr>
          <p:nvPr/>
        </p:nvSpPr>
        <p:spPr>
          <a:xfrm>
            <a:off x="360045" y="1779427"/>
            <a:ext cx="7591930" cy="2880360"/>
          </a:xfrm>
          <a:prstGeom prst="rect">
            <a:avLst/>
          </a:prstGeom>
        </p:spPr>
        <p:txBody>
          <a:bodyPr vert="horz" lIns="82296" tIns="41148" rIns="82296" bIns="41148"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160" dirty="0"/>
              <a:t>A new location, one of the input features will not be selected</a:t>
            </a:r>
          </a:p>
        </p:txBody>
      </p:sp>
      <p:sp>
        <p:nvSpPr>
          <p:cNvPr id="2" name="Slide Number Placeholder 1">
            <a:extLst>
              <a:ext uri="{FF2B5EF4-FFF2-40B4-BE49-F238E27FC236}">
                <a16:creationId xmlns:a16="http://schemas.microsoft.com/office/drawing/2014/main" id="{315A16CB-84D2-9727-1C21-3C304B54F205}"/>
              </a:ext>
            </a:extLst>
          </p:cNvPr>
          <p:cNvSpPr>
            <a:spLocks noGrp="1"/>
          </p:cNvSpPr>
          <p:nvPr>
            <p:ph type="sldNum" sz="quarter" idx="12"/>
          </p:nvPr>
        </p:nvSpPr>
        <p:spPr/>
        <p:txBody>
          <a:bodyPr/>
          <a:lstStyle/>
          <a:p>
            <a:fld id="{127DDC20-79C9-9647-820E-6D40A3D210C3}" type="slidenum">
              <a:rPr lang="en-US" smtClean="0"/>
              <a:pPr/>
              <a:t>17</a:t>
            </a:fld>
            <a:endParaRPr lang="en-US"/>
          </a:p>
        </p:txBody>
      </p:sp>
    </p:spTree>
    <p:extLst>
      <p:ext uri="{BB962C8B-B14F-4D97-AF65-F5344CB8AC3E}">
        <p14:creationId xmlns:p14="http://schemas.microsoft.com/office/powerpoint/2010/main" val="1059183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7D53406-7D6E-4CC8-8E42-BA28A0201FF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Rectangle 2">
            <a:extLst>
              <a:ext uri="{FF2B5EF4-FFF2-40B4-BE49-F238E27FC236}">
                <a16:creationId xmlns:a16="http://schemas.microsoft.com/office/drawing/2014/main" id="{8B31BF95-C08D-4CCA-AD4A-C20DE29BC714}"/>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Mean Center</a:t>
            </a:r>
          </a:p>
        </p:txBody>
      </p:sp>
      <p:sp>
        <p:nvSpPr>
          <p:cNvPr id="10" name="TextBox 9">
            <a:extLst>
              <a:ext uri="{FF2B5EF4-FFF2-40B4-BE49-F238E27FC236}">
                <a16:creationId xmlns:a16="http://schemas.microsoft.com/office/drawing/2014/main" id="{59EFFAEF-B813-4693-898E-6D1D90841DB3}"/>
              </a:ext>
            </a:extLst>
          </p:cNvPr>
          <p:cNvSpPr txBox="1"/>
          <p:nvPr/>
        </p:nvSpPr>
        <p:spPr>
          <a:xfrm>
            <a:off x="152399" y="1052339"/>
            <a:ext cx="7824107" cy="690702"/>
          </a:xfrm>
          <a:prstGeom prst="rect">
            <a:avLst/>
          </a:prstGeom>
          <a:noFill/>
        </p:spPr>
        <p:txBody>
          <a:bodyPr wrap="square" rtlCol="0">
            <a:spAutoFit/>
          </a:bodyPr>
          <a:lstStyle/>
          <a:p>
            <a:pPr>
              <a:lnSpc>
                <a:spcPct val="90000"/>
              </a:lnSpc>
            </a:pPr>
            <a:r>
              <a:rPr lang="en-US" sz="2160" dirty="0"/>
              <a:t>Identifies the geographic center (or the center of concentration) for a set of features</a:t>
            </a:r>
          </a:p>
        </p:txBody>
      </p:sp>
      <p:sp>
        <p:nvSpPr>
          <p:cNvPr id="27" name="TextBox 26">
            <a:extLst>
              <a:ext uri="{FF2B5EF4-FFF2-40B4-BE49-F238E27FC236}">
                <a16:creationId xmlns:a16="http://schemas.microsoft.com/office/drawing/2014/main" id="{517170D6-102B-4C45-9721-82F3C8498B4D}"/>
              </a:ext>
            </a:extLst>
          </p:cNvPr>
          <p:cNvSpPr txBox="1"/>
          <p:nvPr/>
        </p:nvSpPr>
        <p:spPr>
          <a:xfrm>
            <a:off x="4915265" y="4541594"/>
            <a:ext cx="287541" cy="216982"/>
          </a:xfrm>
          <a:prstGeom prst="rect">
            <a:avLst/>
          </a:prstGeom>
          <a:solidFill>
            <a:schemeClr val="bg1"/>
          </a:solidFill>
        </p:spPr>
        <p:txBody>
          <a:bodyPr wrap="square" rtlCol="0">
            <a:spAutoFit/>
          </a:bodyPr>
          <a:lstStyle/>
          <a:p>
            <a:endParaRPr lang="en-US" sz="810" dirty="0"/>
          </a:p>
        </p:txBody>
      </p:sp>
      <p:sp>
        <p:nvSpPr>
          <p:cNvPr id="31" name="TextBox 30">
            <a:extLst>
              <a:ext uri="{FF2B5EF4-FFF2-40B4-BE49-F238E27FC236}">
                <a16:creationId xmlns:a16="http://schemas.microsoft.com/office/drawing/2014/main" id="{3F3AA4FE-08C9-4438-843F-11765CC1A5D6}"/>
              </a:ext>
            </a:extLst>
          </p:cNvPr>
          <p:cNvSpPr txBox="1"/>
          <p:nvPr/>
        </p:nvSpPr>
        <p:spPr>
          <a:xfrm>
            <a:off x="6010985" y="4127294"/>
            <a:ext cx="2171425" cy="674031"/>
          </a:xfrm>
          <a:prstGeom prst="rect">
            <a:avLst/>
          </a:prstGeom>
          <a:noFill/>
        </p:spPr>
        <p:txBody>
          <a:bodyPr wrap="square" rtlCol="0">
            <a:spAutoFit/>
          </a:bodyPr>
          <a:lstStyle/>
          <a:p>
            <a:r>
              <a:rPr lang="en-US" sz="1260" dirty="0" err="1"/>
              <a:t>Esri</a:t>
            </a:r>
            <a:r>
              <a:rPr lang="en-US" sz="1260" dirty="0"/>
              <a:t> events</a:t>
            </a:r>
          </a:p>
          <a:p>
            <a:r>
              <a:rPr lang="en-US" sz="1260" dirty="0">
                <a:hlinkClick r:id="rId3"/>
              </a:rPr>
              <a:t>https://www.youtube.com/watch?v=3d_8nQpSCgE</a:t>
            </a:r>
            <a:endParaRPr lang="en-US" sz="1260" dirty="0"/>
          </a:p>
        </p:txBody>
      </p:sp>
      <p:pic>
        <p:nvPicPr>
          <p:cNvPr id="3" name="Picture 2" descr="A close up of a piece of paper&#10;&#10;Description automatically generated">
            <a:extLst>
              <a:ext uri="{FF2B5EF4-FFF2-40B4-BE49-F238E27FC236}">
                <a16:creationId xmlns:a16="http://schemas.microsoft.com/office/drawing/2014/main" id="{33F408DF-10C7-400B-B0DE-EE6AB3E8A6AE}"/>
              </a:ext>
            </a:extLst>
          </p:cNvPr>
          <p:cNvPicPr>
            <a:picLocks noChangeAspect="1"/>
          </p:cNvPicPr>
          <p:nvPr/>
        </p:nvPicPr>
        <p:blipFill>
          <a:blip r:embed="rId4"/>
          <a:stretch>
            <a:fillRect/>
          </a:stretch>
        </p:blipFill>
        <p:spPr>
          <a:xfrm>
            <a:off x="329015" y="1863185"/>
            <a:ext cx="3239171" cy="2699309"/>
          </a:xfrm>
          <a:prstGeom prst="rect">
            <a:avLst/>
          </a:prstGeom>
        </p:spPr>
      </p:pic>
      <p:pic>
        <p:nvPicPr>
          <p:cNvPr id="7" name="Picture 6" descr="A close up of a map&#10;&#10;Description automatically generated">
            <a:extLst>
              <a:ext uri="{FF2B5EF4-FFF2-40B4-BE49-F238E27FC236}">
                <a16:creationId xmlns:a16="http://schemas.microsoft.com/office/drawing/2014/main" id="{B405F077-4248-4E33-B770-5200E57B1EC0}"/>
              </a:ext>
            </a:extLst>
          </p:cNvPr>
          <p:cNvPicPr>
            <a:picLocks noChangeAspect="1"/>
          </p:cNvPicPr>
          <p:nvPr/>
        </p:nvPicPr>
        <p:blipFill rotWithShape="1">
          <a:blip r:embed="rId5">
            <a:alphaModFix/>
          </a:blip>
          <a:srcRect t="18887" r="28724"/>
          <a:stretch/>
        </p:blipFill>
        <p:spPr>
          <a:xfrm>
            <a:off x="329015" y="1854211"/>
            <a:ext cx="3993411" cy="2699309"/>
          </a:xfrm>
          <a:prstGeom prst="rect">
            <a:avLst/>
          </a:prstGeom>
        </p:spPr>
      </p:pic>
      <p:pic>
        <p:nvPicPr>
          <p:cNvPr id="11" name="Picture 10" descr="A close up of a map&#10;&#10;Description automatically generated">
            <a:extLst>
              <a:ext uri="{FF2B5EF4-FFF2-40B4-BE49-F238E27FC236}">
                <a16:creationId xmlns:a16="http://schemas.microsoft.com/office/drawing/2014/main" id="{0A077561-CC60-4F71-9C04-CB57F3088436}"/>
              </a:ext>
            </a:extLst>
          </p:cNvPr>
          <p:cNvPicPr>
            <a:picLocks noChangeAspect="1"/>
          </p:cNvPicPr>
          <p:nvPr/>
        </p:nvPicPr>
        <p:blipFill rotWithShape="1">
          <a:blip r:embed="rId5"/>
          <a:srcRect l="77904"/>
          <a:stretch/>
        </p:blipFill>
        <p:spPr>
          <a:xfrm>
            <a:off x="4659168" y="1863185"/>
            <a:ext cx="1004158" cy="2699309"/>
          </a:xfrm>
          <a:prstGeom prst="rect">
            <a:avLst/>
          </a:prstGeom>
        </p:spPr>
      </p:pic>
      <p:sp>
        <p:nvSpPr>
          <p:cNvPr id="2" name="Slide Number Placeholder 1">
            <a:extLst>
              <a:ext uri="{FF2B5EF4-FFF2-40B4-BE49-F238E27FC236}">
                <a16:creationId xmlns:a16="http://schemas.microsoft.com/office/drawing/2014/main" id="{D8C9CDAC-031A-9AF1-13D2-ABA1D7AD7970}"/>
              </a:ext>
            </a:extLst>
          </p:cNvPr>
          <p:cNvSpPr>
            <a:spLocks noGrp="1"/>
          </p:cNvSpPr>
          <p:nvPr>
            <p:ph type="sldNum" sz="quarter" idx="12"/>
          </p:nvPr>
        </p:nvSpPr>
        <p:spPr/>
        <p:txBody>
          <a:bodyPr/>
          <a:lstStyle/>
          <a:p>
            <a:fld id="{127DDC20-79C9-9647-820E-6D40A3D210C3}" type="slidenum">
              <a:rPr lang="en-US" smtClean="0"/>
              <a:pPr/>
              <a:t>18</a:t>
            </a:fld>
            <a:endParaRPr lang="en-US"/>
          </a:p>
        </p:txBody>
      </p:sp>
    </p:spTree>
    <p:extLst>
      <p:ext uri="{BB962C8B-B14F-4D97-AF65-F5344CB8AC3E}">
        <p14:creationId xmlns:p14="http://schemas.microsoft.com/office/powerpoint/2010/main" val="3204663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4FB23D-70E9-7111-D9C6-DD9727AD2819}"/>
              </a:ext>
            </a:extLst>
          </p:cNvPr>
          <p:cNvSpPr>
            <a:spLocks noGrp="1"/>
          </p:cNvSpPr>
          <p:nvPr>
            <p:ph idx="1"/>
          </p:nvPr>
        </p:nvSpPr>
        <p:spPr>
          <a:xfrm>
            <a:off x="1913708" y="874514"/>
            <a:ext cx="4176849" cy="3394472"/>
          </a:xfrm>
        </p:spPr>
        <p:txBody>
          <a:bodyPr/>
          <a:lstStyle/>
          <a:p>
            <a:r>
              <a:rPr lang="en-US" altLang="zh-CN" dirty="0"/>
              <a:t>Mean Center results in:</a:t>
            </a:r>
          </a:p>
          <a:p>
            <a:endParaRPr lang="en-US" altLang="zh-CN" dirty="0"/>
          </a:p>
          <a:p>
            <a:pPr marL="360045" lvl="1" indent="0">
              <a:buNone/>
            </a:pPr>
            <a:r>
              <a:rPr lang="en-US" altLang="zh-CN" sz="2040" dirty="0"/>
              <a:t>A. Always an existing point</a:t>
            </a:r>
            <a:br>
              <a:rPr lang="en-US" altLang="zh-CN" sz="2040" dirty="0"/>
            </a:br>
            <a:r>
              <a:rPr lang="en-US" altLang="zh-CN" sz="2040" dirty="0"/>
              <a:t>B. A new coordinate</a:t>
            </a:r>
            <a:br>
              <a:rPr lang="en-US" altLang="zh-CN" sz="2040" dirty="0"/>
            </a:br>
            <a:r>
              <a:rPr lang="en-US" altLang="zh-CN" sz="2040" dirty="0"/>
              <a:t>C. The densest point</a:t>
            </a:r>
            <a:br>
              <a:rPr lang="en-US" altLang="zh-CN" sz="2040" dirty="0"/>
            </a:br>
            <a:r>
              <a:rPr lang="en-US" altLang="zh-CN" sz="2040" dirty="0"/>
              <a:t>D. The median point</a:t>
            </a:r>
            <a:endParaRPr lang="zh-CN" altLang="en-US" sz="2040" dirty="0"/>
          </a:p>
        </p:txBody>
      </p:sp>
      <p:sp>
        <p:nvSpPr>
          <p:cNvPr id="4" name="Slide Number Placeholder 3">
            <a:extLst>
              <a:ext uri="{FF2B5EF4-FFF2-40B4-BE49-F238E27FC236}">
                <a16:creationId xmlns:a16="http://schemas.microsoft.com/office/drawing/2014/main" id="{CDF774E3-00BC-C6A3-5938-7D5F3AD31180}"/>
              </a:ext>
            </a:extLst>
          </p:cNvPr>
          <p:cNvSpPr>
            <a:spLocks noGrp="1"/>
          </p:cNvSpPr>
          <p:nvPr>
            <p:ph type="sldNum" sz="quarter" idx="12"/>
          </p:nvPr>
        </p:nvSpPr>
        <p:spPr/>
        <p:txBody>
          <a:bodyPr/>
          <a:lstStyle/>
          <a:p>
            <a:fld id="{127DDC20-79C9-9647-820E-6D40A3D210C3}" type="slidenum">
              <a:rPr lang="en-US" smtClean="0"/>
              <a:pPr/>
              <a:t>19</a:t>
            </a:fld>
            <a:endParaRPr lang="en-US"/>
          </a:p>
        </p:txBody>
      </p:sp>
      <p:sp>
        <p:nvSpPr>
          <p:cNvPr id="6" name="TextBox 5">
            <a:extLst>
              <a:ext uri="{FF2B5EF4-FFF2-40B4-BE49-F238E27FC236}">
                <a16:creationId xmlns:a16="http://schemas.microsoft.com/office/drawing/2014/main" id="{8E16DF65-0042-2DB5-DD47-E9990F89727B}"/>
              </a:ext>
            </a:extLst>
          </p:cNvPr>
          <p:cNvSpPr txBox="1"/>
          <p:nvPr/>
        </p:nvSpPr>
        <p:spPr>
          <a:xfrm>
            <a:off x="351065" y="842845"/>
            <a:ext cx="4114800" cy="369332"/>
          </a:xfrm>
          <a:prstGeom prst="rect">
            <a:avLst/>
          </a:prstGeom>
          <a:noFill/>
        </p:spPr>
        <p:txBody>
          <a:bodyPr wrap="square">
            <a:spAutoFit/>
          </a:bodyPr>
          <a:lstStyle/>
          <a:p>
            <a:r>
              <a:rPr lang="zh-CN" altLang="en-US" dirty="0"/>
              <a:t>🤔</a:t>
            </a:r>
          </a:p>
        </p:txBody>
      </p:sp>
    </p:spTree>
    <p:extLst>
      <p:ext uri="{BB962C8B-B14F-4D97-AF65-F5344CB8AC3E}">
        <p14:creationId xmlns:p14="http://schemas.microsoft.com/office/powerpoint/2010/main" val="3561271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4E4AD09-0F44-429C-9C85-20A55D755E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Median Center</a:t>
            </a:r>
          </a:p>
        </p:txBody>
      </p:sp>
      <p:sp>
        <p:nvSpPr>
          <p:cNvPr id="14" name="TextBox 13">
            <a:extLst>
              <a:ext uri="{FF2B5EF4-FFF2-40B4-BE49-F238E27FC236}">
                <a16:creationId xmlns:a16="http://schemas.microsoft.com/office/drawing/2014/main" id="{358224A3-8272-40B3-8554-A13F08732A0E}"/>
              </a:ext>
            </a:extLst>
          </p:cNvPr>
          <p:cNvSpPr txBox="1"/>
          <p:nvPr/>
        </p:nvSpPr>
        <p:spPr>
          <a:xfrm>
            <a:off x="152400" y="1052339"/>
            <a:ext cx="7200900" cy="690702"/>
          </a:xfrm>
          <a:prstGeom prst="rect">
            <a:avLst/>
          </a:prstGeom>
          <a:noFill/>
        </p:spPr>
        <p:txBody>
          <a:bodyPr wrap="square" rtlCol="0">
            <a:spAutoFit/>
          </a:bodyPr>
          <a:lstStyle/>
          <a:p>
            <a:pPr>
              <a:lnSpc>
                <a:spcPct val="90000"/>
              </a:lnSpc>
            </a:pPr>
            <a:r>
              <a:rPr lang="en-US" sz="2160" dirty="0"/>
              <a:t>Identifies the geographic center (or the center of concentration) for a set of features</a:t>
            </a:r>
          </a:p>
        </p:txBody>
      </p:sp>
      <p:pic>
        <p:nvPicPr>
          <p:cNvPr id="3" name="Picture 2" descr="A close up of a piece of paper&#10;&#10;Description automatically generated">
            <a:extLst>
              <a:ext uri="{FF2B5EF4-FFF2-40B4-BE49-F238E27FC236}">
                <a16:creationId xmlns:a16="http://schemas.microsoft.com/office/drawing/2014/main" id="{6078D93F-AC54-468B-B5CE-B575B0E8C7F8}"/>
              </a:ext>
            </a:extLst>
          </p:cNvPr>
          <p:cNvPicPr>
            <a:picLocks noChangeAspect="1"/>
          </p:cNvPicPr>
          <p:nvPr/>
        </p:nvPicPr>
        <p:blipFill>
          <a:blip r:embed="rId3"/>
          <a:stretch>
            <a:fillRect/>
          </a:stretch>
        </p:blipFill>
        <p:spPr>
          <a:xfrm>
            <a:off x="513679" y="1863185"/>
            <a:ext cx="3239171" cy="2699309"/>
          </a:xfrm>
          <a:prstGeom prst="rect">
            <a:avLst/>
          </a:prstGeom>
        </p:spPr>
      </p:pic>
      <p:pic>
        <p:nvPicPr>
          <p:cNvPr id="5" name="Picture 4" descr="Median calculation example">
            <a:extLst>
              <a:ext uri="{FF2B5EF4-FFF2-40B4-BE49-F238E27FC236}">
                <a16:creationId xmlns:a16="http://schemas.microsoft.com/office/drawing/2014/main" id="{BC0F5317-0D4C-4072-8602-398AF9D3D859}"/>
              </a:ext>
            </a:extLst>
          </p:cNvPr>
          <p:cNvPicPr>
            <a:picLocks noChangeAspect="1"/>
          </p:cNvPicPr>
          <p:nvPr/>
        </p:nvPicPr>
        <p:blipFill>
          <a:blip r:embed="rId4"/>
          <a:stretch>
            <a:fillRect/>
          </a:stretch>
        </p:blipFill>
        <p:spPr>
          <a:xfrm>
            <a:off x="4722987" y="1963562"/>
            <a:ext cx="2992935" cy="1234440"/>
          </a:xfrm>
          <a:prstGeom prst="rect">
            <a:avLst/>
          </a:prstGeom>
        </p:spPr>
      </p:pic>
      <p:pic>
        <p:nvPicPr>
          <p:cNvPr id="7" name="Picture 6" descr="A close up of text on a white background&#10;&#10;Description automatically generated">
            <a:extLst>
              <a:ext uri="{FF2B5EF4-FFF2-40B4-BE49-F238E27FC236}">
                <a16:creationId xmlns:a16="http://schemas.microsoft.com/office/drawing/2014/main" id="{5EE35F3B-B74F-470A-8A60-9788934EC945}"/>
              </a:ext>
            </a:extLst>
          </p:cNvPr>
          <p:cNvPicPr>
            <a:picLocks noChangeAspect="1"/>
          </p:cNvPicPr>
          <p:nvPr/>
        </p:nvPicPr>
        <p:blipFill>
          <a:blip r:embed="rId5">
            <a:alphaModFix/>
          </a:blip>
          <a:stretch>
            <a:fillRect/>
          </a:stretch>
        </p:blipFill>
        <p:spPr>
          <a:xfrm>
            <a:off x="493848" y="1877900"/>
            <a:ext cx="4055776" cy="2674620"/>
          </a:xfrm>
          <a:prstGeom prst="rect">
            <a:avLst/>
          </a:prstGeom>
        </p:spPr>
      </p:pic>
      <p:sp>
        <p:nvSpPr>
          <p:cNvPr id="12" name="TextBox 11">
            <a:extLst>
              <a:ext uri="{FF2B5EF4-FFF2-40B4-BE49-F238E27FC236}">
                <a16:creationId xmlns:a16="http://schemas.microsoft.com/office/drawing/2014/main" id="{4FF05AE2-F888-48FE-8F50-5D423151B623}"/>
              </a:ext>
            </a:extLst>
          </p:cNvPr>
          <p:cNvSpPr txBox="1"/>
          <p:nvPr/>
        </p:nvSpPr>
        <p:spPr>
          <a:xfrm>
            <a:off x="3291840" y="1863185"/>
            <a:ext cx="1257784" cy="461665"/>
          </a:xfrm>
          <a:prstGeom prst="rect">
            <a:avLst/>
          </a:prstGeom>
          <a:solidFill>
            <a:schemeClr val="bg2"/>
          </a:solidFill>
        </p:spPr>
        <p:txBody>
          <a:bodyPr wrap="square" rtlCol="0">
            <a:spAutoFit/>
          </a:bodyPr>
          <a:lstStyle/>
          <a:p>
            <a:endParaRPr lang="en-US" sz="2400" dirty="0"/>
          </a:p>
        </p:txBody>
      </p:sp>
      <p:sp>
        <p:nvSpPr>
          <p:cNvPr id="16" name="TextBox 15">
            <a:extLst>
              <a:ext uri="{FF2B5EF4-FFF2-40B4-BE49-F238E27FC236}">
                <a16:creationId xmlns:a16="http://schemas.microsoft.com/office/drawing/2014/main" id="{D3C8BF51-DAC1-4F81-A758-BA106138DFF1}"/>
              </a:ext>
            </a:extLst>
          </p:cNvPr>
          <p:cNvSpPr txBox="1"/>
          <p:nvPr/>
        </p:nvSpPr>
        <p:spPr>
          <a:xfrm>
            <a:off x="6010985" y="4127294"/>
            <a:ext cx="2171425" cy="674031"/>
          </a:xfrm>
          <a:prstGeom prst="rect">
            <a:avLst/>
          </a:prstGeom>
          <a:noFill/>
        </p:spPr>
        <p:txBody>
          <a:bodyPr wrap="square" rtlCol="0">
            <a:spAutoFit/>
          </a:bodyPr>
          <a:lstStyle/>
          <a:p>
            <a:r>
              <a:rPr lang="en-US" sz="1260" dirty="0" err="1"/>
              <a:t>Esri</a:t>
            </a:r>
            <a:r>
              <a:rPr lang="en-US" sz="1260" dirty="0"/>
              <a:t> events</a:t>
            </a:r>
          </a:p>
          <a:p>
            <a:r>
              <a:rPr lang="en-US" sz="1260" dirty="0">
                <a:hlinkClick r:id="rId6"/>
              </a:rPr>
              <a:t>https://www.youtube.com/watch?v=3d_8nQpSCgE</a:t>
            </a:r>
            <a:endParaRPr lang="en-US" sz="1260" dirty="0"/>
          </a:p>
        </p:txBody>
      </p:sp>
      <p:sp>
        <p:nvSpPr>
          <p:cNvPr id="2" name="TextBox 1">
            <a:extLst>
              <a:ext uri="{FF2B5EF4-FFF2-40B4-BE49-F238E27FC236}">
                <a16:creationId xmlns:a16="http://schemas.microsoft.com/office/drawing/2014/main" id="{4042E73A-7F5A-4614-BCA8-AE8139D476B0}"/>
              </a:ext>
            </a:extLst>
          </p:cNvPr>
          <p:cNvSpPr txBox="1"/>
          <p:nvPr/>
        </p:nvSpPr>
        <p:spPr>
          <a:xfrm>
            <a:off x="3499556" y="2571750"/>
            <a:ext cx="1050068" cy="369332"/>
          </a:xfrm>
          <a:prstGeom prst="rect">
            <a:avLst/>
          </a:prstGeom>
          <a:solidFill>
            <a:schemeClr val="bg2"/>
          </a:solidFill>
        </p:spPr>
        <p:txBody>
          <a:bodyPr wrap="square" rtlCol="0">
            <a:spAutoFit/>
          </a:bodyPr>
          <a:lstStyle/>
          <a:p>
            <a:endParaRPr lang="en-US" dirty="0"/>
          </a:p>
        </p:txBody>
      </p:sp>
      <p:sp>
        <p:nvSpPr>
          <p:cNvPr id="4" name="Slide Number Placeholder 3">
            <a:extLst>
              <a:ext uri="{FF2B5EF4-FFF2-40B4-BE49-F238E27FC236}">
                <a16:creationId xmlns:a16="http://schemas.microsoft.com/office/drawing/2014/main" id="{A87A8E39-E7B0-8620-2570-264BAFFE28A5}"/>
              </a:ext>
            </a:extLst>
          </p:cNvPr>
          <p:cNvSpPr>
            <a:spLocks noGrp="1"/>
          </p:cNvSpPr>
          <p:nvPr>
            <p:ph type="sldNum" sz="quarter" idx="12"/>
          </p:nvPr>
        </p:nvSpPr>
        <p:spPr/>
        <p:txBody>
          <a:bodyPr/>
          <a:lstStyle/>
          <a:p>
            <a:fld id="{127DDC20-79C9-9647-820E-6D40A3D210C3}" type="slidenum">
              <a:rPr lang="en-US" smtClean="0"/>
              <a:pPr/>
              <a:t>20</a:t>
            </a:fld>
            <a:endParaRPr lang="en-US"/>
          </a:p>
        </p:txBody>
      </p:sp>
    </p:spTree>
    <p:extLst>
      <p:ext uri="{BB962C8B-B14F-4D97-AF65-F5344CB8AC3E}">
        <p14:creationId xmlns:p14="http://schemas.microsoft.com/office/powerpoint/2010/main" val="3651869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4E4AD09-0F44-429C-9C85-20A55D755E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Median Center</a:t>
            </a:r>
          </a:p>
        </p:txBody>
      </p:sp>
      <p:sp>
        <p:nvSpPr>
          <p:cNvPr id="14" name="TextBox 13">
            <a:extLst>
              <a:ext uri="{FF2B5EF4-FFF2-40B4-BE49-F238E27FC236}">
                <a16:creationId xmlns:a16="http://schemas.microsoft.com/office/drawing/2014/main" id="{358224A3-8272-40B3-8554-A13F08732A0E}"/>
              </a:ext>
            </a:extLst>
          </p:cNvPr>
          <p:cNvSpPr txBox="1"/>
          <p:nvPr/>
        </p:nvSpPr>
        <p:spPr>
          <a:xfrm>
            <a:off x="152400" y="1052339"/>
            <a:ext cx="7200900" cy="690702"/>
          </a:xfrm>
          <a:prstGeom prst="rect">
            <a:avLst/>
          </a:prstGeom>
          <a:noFill/>
        </p:spPr>
        <p:txBody>
          <a:bodyPr wrap="square" rtlCol="0">
            <a:spAutoFit/>
          </a:bodyPr>
          <a:lstStyle/>
          <a:p>
            <a:pPr>
              <a:lnSpc>
                <a:spcPct val="90000"/>
              </a:lnSpc>
            </a:pPr>
            <a:r>
              <a:rPr lang="en-US" sz="2160" dirty="0"/>
              <a:t>Identifies the geographic center (or the center of concentration) for a set of features</a:t>
            </a:r>
          </a:p>
        </p:txBody>
      </p:sp>
      <p:sp>
        <p:nvSpPr>
          <p:cNvPr id="15" name="Content Placeholder 3">
            <a:extLst>
              <a:ext uri="{FF2B5EF4-FFF2-40B4-BE49-F238E27FC236}">
                <a16:creationId xmlns:a16="http://schemas.microsoft.com/office/drawing/2014/main" id="{8911ABD0-0EC4-4A6A-80EC-885BE1DC1E53}"/>
              </a:ext>
            </a:extLst>
          </p:cNvPr>
          <p:cNvSpPr txBox="1">
            <a:spLocks/>
          </p:cNvSpPr>
          <p:nvPr/>
        </p:nvSpPr>
        <p:spPr>
          <a:xfrm>
            <a:off x="360045" y="1779427"/>
            <a:ext cx="7591930" cy="2880360"/>
          </a:xfrm>
          <a:prstGeom prst="rect">
            <a:avLst/>
          </a:prstGeom>
        </p:spPr>
        <p:txBody>
          <a:bodyPr vert="horz" lIns="82296" tIns="41148" rIns="82296" bIns="41148"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160" dirty="0"/>
              <a:t>A new location, one of the input features will not be selected</a:t>
            </a:r>
          </a:p>
          <a:p>
            <a:r>
              <a:rPr lang="en-US" sz="2160" dirty="0"/>
              <a:t>Median is more robust to outliers</a:t>
            </a:r>
          </a:p>
        </p:txBody>
      </p:sp>
      <p:pic>
        <p:nvPicPr>
          <p:cNvPr id="12" name="Picture 11" descr="Median calculation example">
            <a:extLst>
              <a:ext uri="{FF2B5EF4-FFF2-40B4-BE49-F238E27FC236}">
                <a16:creationId xmlns:a16="http://schemas.microsoft.com/office/drawing/2014/main" id="{E2A07DCF-01CD-4D9D-8A99-A97B216C5BFA}"/>
              </a:ext>
            </a:extLst>
          </p:cNvPr>
          <p:cNvPicPr>
            <a:picLocks noChangeAspect="1"/>
          </p:cNvPicPr>
          <p:nvPr/>
        </p:nvPicPr>
        <p:blipFill>
          <a:blip r:embed="rId3"/>
          <a:stretch>
            <a:fillRect/>
          </a:stretch>
        </p:blipFill>
        <p:spPr>
          <a:xfrm>
            <a:off x="1104122" y="2683177"/>
            <a:ext cx="4520617" cy="1864535"/>
          </a:xfrm>
          <a:prstGeom prst="rect">
            <a:avLst/>
          </a:prstGeom>
        </p:spPr>
      </p:pic>
      <p:sp>
        <p:nvSpPr>
          <p:cNvPr id="2" name="TextBox 1">
            <a:extLst>
              <a:ext uri="{FF2B5EF4-FFF2-40B4-BE49-F238E27FC236}">
                <a16:creationId xmlns:a16="http://schemas.microsoft.com/office/drawing/2014/main" id="{75D27F95-1B9A-44D8-821B-3B1E46BF455F}"/>
              </a:ext>
            </a:extLst>
          </p:cNvPr>
          <p:cNvSpPr txBox="1"/>
          <p:nvPr/>
        </p:nvSpPr>
        <p:spPr>
          <a:xfrm>
            <a:off x="5897880" y="2696984"/>
            <a:ext cx="1337310" cy="424732"/>
          </a:xfrm>
          <a:prstGeom prst="rect">
            <a:avLst/>
          </a:prstGeom>
          <a:noFill/>
          <a:ln>
            <a:noFill/>
          </a:ln>
        </p:spPr>
        <p:txBody>
          <a:bodyPr wrap="square" rtlCol="0">
            <a:spAutoFit/>
          </a:bodyPr>
          <a:lstStyle/>
          <a:p>
            <a:r>
              <a:rPr lang="en-US" sz="2160" dirty="0">
                <a:solidFill>
                  <a:srgbClr val="7030A0"/>
                </a:solidFill>
              </a:rPr>
              <a:t>1</a:t>
            </a:r>
          </a:p>
        </p:txBody>
      </p:sp>
      <p:sp>
        <p:nvSpPr>
          <p:cNvPr id="13" name="TextBox 12">
            <a:extLst>
              <a:ext uri="{FF2B5EF4-FFF2-40B4-BE49-F238E27FC236}">
                <a16:creationId xmlns:a16="http://schemas.microsoft.com/office/drawing/2014/main" id="{67D53C00-AAE9-49C2-9A7D-8CB51B8E274F}"/>
              </a:ext>
            </a:extLst>
          </p:cNvPr>
          <p:cNvSpPr txBox="1"/>
          <p:nvPr/>
        </p:nvSpPr>
        <p:spPr>
          <a:xfrm>
            <a:off x="5897880" y="3343810"/>
            <a:ext cx="1337310" cy="424732"/>
          </a:xfrm>
          <a:prstGeom prst="rect">
            <a:avLst/>
          </a:prstGeom>
          <a:noFill/>
          <a:ln>
            <a:noFill/>
          </a:ln>
        </p:spPr>
        <p:txBody>
          <a:bodyPr wrap="square" rtlCol="0">
            <a:spAutoFit/>
          </a:bodyPr>
          <a:lstStyle/>
          <a:p>
            <a:r>
              <a:rPr lang="en-US" sz="2160" dirty="0">
                <a:solidFill>
                  <a:srgbClr val="7030A0"/>
                </a:solidFill>
              </a:rPr>
              <a:t>0</a:t>
            </a:r>
          </a:p>
        </p:txBody>
      </p:sp>
      <p:sp>
        <p:nvSpPr>
          <p:cNvPr id="3" name="Oval 2" descr="Red circle">
            <a:extLst>
              <a:ext uri="{FF2B5EF4-FFF2-40B4-BE49-F238E27FC236}">
                <a16:creationId xmlns:a16="http://schemas.microsoft.com/office/drawing/2014/main" id="{348CDC21-8800-4A90-BA63-14AF20B72EC9}"/>
              </a:ext>
            </a:extLst>
          </p:cNvPr>
          <p:cNvSpPr/>
          <p:nvPr/>
        </p:nvSpPr>
        <p:spPr>
          <a:xfrm>
            <a:off x="5187587" y="2683177"/>
            <a:ext cx="437152" cy="415499"/>
          </a:xfrm>
          <a:prstGeom prst="ellipse">
            <a:avLst/>
          </a:prstGeom>
          <a:no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20">
              <a:solidFill>
                <a:srgbClr val="7030A0"/>
              </a:solidFill>
            </a:endParaRPr>
          </a:p>
        </p:txBody>
      </p:sp>
      <p:sp>
        <p:nvSpPr>
          <p:cNvPr id="16" name="Oval 15" descr="Red circle">
            <a:extLst>
              <a:ext uri="{FF2B5EF4-FFF2-40B4-BE49-F238E27FC236}">
                <a16:creationId xmlns:a16="http://schemas.microsoft.com/office/drawing/2014/main" id="{9E378AC8-2230-4D08-8454-8FDB54D6696F}"/>
              </a:ext>
            </a:extLst>
          </p:cNvPr>
          <p:cNvSpPr/>
          <p:nvPr/>
        </p:nvSpPr>
        <p:spPr>
          <a:xfrm>
            <a:off x="5187587" y="3291633"/>
            <a:ext cx="437152" cy="415499"/>
          </a:xfrm>
          <a:prstGeom prst="ellipse">
            <a:avLst/>
          </a:prstGeom>
          <a:no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20">
              <a:solidFill>
                <a:srgbClr val="7030A0"/>
              </a:solidFill>
            </a:endParaRPr>
          </a:p>
        </p:txBody>
      </p:sp>
      <p:sp>
        <p:nvSpPr>
          <p:cNvPr id="4" name="Slide Number Placeholder 3">
            <a:extLst>
              <a:ext uri="{FF2B5EF4-FFF2-40B4-BE49-F238E27FC236}">
                <a16:creationId xmlns:a16="http://schemas.microsoft.com/office/drawing/2014/main" id="{B0447CBD-1817-FFDD-C7AE-B5E90987E5AB}"/>
              </a:ext>
            </a:extLst>
          </p:cNvPr>
          <p:cNvSpPr>
            <a:spLocks noGrp="1"/>
          </p:cNvSpPr>
          <p:nvPr>
            <p:ph type="sldNum" sz="quarter" idx="12"/>
          </p:nvPr>
        </p:nvSpPr>
        <p:spPr/>
        <p:txBody>
          <a:bodyPr/>
          <a:lstStyle/>
          <a:p>
            <a:fld id="{127DDC20-79C9-9647-820E-6D40A3D210C3}" type="slidenum">
              <a:rPr lang="en-US" smtClean="0"/>
              <a:pPr/>
              <a:t>21</a:t>
            </a:fld>
            <a:endParaRPr lang="en-US"/>
          </a:p>
        </p:txBody>
      </p:sp>
    </p:spTree>
    <p:extLst>
      <p:ext uri="{BB962C8B-B14F-4D97-AF65-F5344CB8AC3E}">
        <p14:creationId xmlns:p14="http://schemas.microsoft.com/office/powerpoint/2010/main" val="865077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down)">
                                      <p:cBhvr>
                                        <p:cTn id="10" dur="500"/>
                                        <p:tgtEl>
                                          <p:spTgt spid="1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down)">
                                      <p:cBhvr>
                                        <p:cTn id="16" dur="500"/>
                                        <p:tgtEl>
                                          <p:spTgt spid="2"/>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down)">
                                      <p:cBhvr>
                                        <p:cTn id="1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animBg="1"/>
      <p:bldP spid="3" grpId="0" animBg="1"/>
      <p:bldP spid="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2400" y="4138712"/>
            <a:ext cx="8153400" cy="391517"/>
          </a:xfrm>
          <a:prstGeom prst="rect">
            <a:avLst/>
          </a:prstGeom>
          <a:noFill/>
        </p:spPr>
        <p:txBody>
          <a:bodyPr wrap="square" rtlCol="0">
            <a:spAutoFit/>
          </a:bodyPr>
          <a:lstStyle/>
          <a:p>
            <a:pPr>
              <a:lnSpc>
                <a:spcPct val="90000"/>
              </a:lnSpc>
            </a:pPr>
            <a:r>
              <a:rPr lang="en-US" sz="2160" dirty="0">
                <a:solidFill>
                  <a:srgbClr val="0070C0"/>
                </a:solidFill>
                <a:highlight>
                  <a:srgbClr val="000000"/>
                </a:highlight>
              </a:rPr>
              <a:t>Blue= Central Feature  </a:t>
            </a:r>
            <a:r>
              <a:rPr lang="en-US" sz="2160" dirty="0">
                <a:solidFill>
                  <a:srgbClr val="00B050"/>
                </a:solidFill>
                <a:highlight>
                  <a:srgbClr val="000000"/>
                </a:highlight>
              </a:rPr>
              <a:t>Green = Mean Center</a:t>
            </a:r>
            <a:r>
              <a:rPr lang="en-US" sz="2160" dirty="0">
                <a:highlight>
                  <a:srgbClr val="000000"/>
                </a:highlight>
              </a:rPr>
              <a:t>   </a:t>
            </a:r>
            <a:r>
              <a:rPr lang="en-US" sz="2160" dirty="0">
                <a:solidFill>
                  <a:srgbClr val="FFFF00"/>
                </a:solidFill>
                <a:highlight>
                  <a:srgbClr val="000000"/>
                </a:highlight>
              </a:rPr>
              <a:t>Yellow = Median Center</a:t>
            </a:r>
          </a:p>
        </p:txBody>
      </p:sp>
      <p:cxnSp>
        <p:nvCxnSpPr>
          <p:cNvPr id="9" name="Straight Connector 8">
            <a:extLst>
              <a:ext uri="{FF2B5EF4-FFF2-40B4-BE49-F238E27FC236}">
                <a16:creationId xmlns:a16="http://schemas.microsoft.com/office/drawing/2014/main" id="{F4E4AD09-0F44-429C-9C85-20A55D755E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Examples</a:t>
            </a:r>
          </a:p>
        </p:txBody>
      </p:sp>
      <p:pic>
        <p:nvPicPr>
          <p:cNvPr id="13" name="Picture 12" descr="A close up of a map&#10;&#10;Description automatically generated">
            <a:extLst>
              <a:ext uri="{FF2B5EF4-FFF2-40B4-BE49-F238E27FC236}">
                <a16:creationId xmlns:a16="http://schemas.microsoft.com/office/drawing/2014/main" id="{CF96EDD0-FCB8-4F75-BBDF-5EB0F2613444}"/>
              </a:ext>
            </a:extLst>
          </p:cNvPr>
          <p:cNvPicPr>
            <a:picLocks noChangeAspect="1"/>
          </p:cNvPicPr>
          <p:nvPr/>
        </p:nvPicPr>
        <p:blipFill>
          <a:blip r:embed="rId3"/>
          <a:stretch>
            <a:fillRect/>
          </a:stretch>
        </p:blipFill>
        <p:spPr>
          <a:xfrm>
            <a:off x="152400" y="1635634"/>
            <a:ext cx="2459755" cy="2057400"/>
          </a:xfrm>
          <a:prstGeom prst="rect">
            <a:avLst/>
          </a:prstGeom>
        </p:spPr>
      </p:pic>
      <p:pic>
        <p:nvPicPr>
          <p:cNvPr id="17" name="Picture 16" descr="A close up of a map&#10;&#10;Description automatically generated">
            <a:extLst>
              <a:ext uri="{FF2B5EF4-FFF2-40B4-BE49-F238E27FC236}">
                <a16:creationId xmlns:a16="http://schemas.microsoft.com/office/drawing/2014/main" id="{95074D27-0274-4EC5-B289-61C12B22357C}"/>
              </a:ext>
            </a:extLst>
          </p:cNvPr>
          <p:cNvPicPr>
            <a:picLocks noChangeAspect="1"/>
          </p:cNvPicPr>
          <p:nvPr/>
        </p:nvPicPr>
        <p:blipFill>
          <a:blip r:embed="rId4"/>
          <a:stretch>
            <a:fillRect/>
          </a:stretch>
        </p:blipFill>
        <p:spPr>
          <a:xfrm>
            <a:off x="2779487" y="1635634"/>
            <a:ext cx="2468051" cy="2057400"/>
          </a:xfrm>
          <a:prstGeom prst="rect">
            <a:avLst/>
          </a:prstGeom>
        </p:spPr>
      </p:pic>
      <p:pic>
        <p:nvPicPr>
          <p:cNvPr id="19" name="Picture 18" descr="A close up of a map&#10;&#10;Description automatically generated">
            <a:extLst>
              <a:ext uri="{FF2B5EF4-FFF2-40B4-BE49-F238E27FC236}">
                <a16:creationId xmlns:a16="http://schemas.microsoft.com/office/drawing/2014/main" id="{1D45E477-182E-48BA-BCBB-AD871544919E}"/>
              </a:ext>
            </a:extLst>
          </p:cNvPr>
          <p:cNvPicPr>
            <a:picLocks noChangeAspect="1"/>
          </p:cNvPicPr>
          <p:nvPr/>
        </p:nvPicPr>
        <p:blipFill>
          <a:blip r:embed="rId5"/>
          <a:stretch>
            <a:fillRect/>
          </a:stretch>
        </p:blipFill>
        <p:spPr>
          <a:xfrm>
            <a:off x="5617445" y="1635634"/>
            <a:ext cx="2459755" cy="2057400"/>
          </a:xfrm>
          <a:prstGeom prst="rect">
            <a:avLst/>
          </a:prstGeom>
        </p:spPr>
      </p:pic>
      <p:sp>
        <p:nvSpPr>
          <p:cNvPr id="2" name="Slide Number Placeholder 1">
            <a:extLst>
              <a:ext uri="{FF2B5EF4-FFF2-40B4-BE49-F238E27FC236}">
                <a16:creationId xmlns:a16="http://schemas.microsoft.com/office/drawing/2014/main" id="{A83931B5-6544-ADBE-5A0F-BE40FEE626BE}"/>
              </a:ext>
            </a:extLst>
          </p:cNvPr>
          <p:cNvSpPr>
            <a:spLocks noGrp="1"/>
          </p:cNvSpPr>
          <p:nvPr>
            <p:ph type="sldNum" sz="quarter" idx="12"/>
          </p:nvPr>
        </p:nvSpPr>
        <p:spPr/>
        <p:txBody>
          <a:bodyPr/>
          <a:lstStyle/>
          <a:p>
            <a:fld id="{127DDC20-79C9-9647-820E-6D40A3D210C3}" type="slidenum">
              <a:rPr lang="en-US" smtClean="0"/>
              <a:pPr/>
              <a:t>22</a:t>
            </a:fld>
            <a:endParaRPr lang="en-US"/>
          </a:p>
        </p:txBody>
      </p:sp>
      <p:sp>
        <p:nvSpPr>
          <p:cNvPr id="4" name="TextBox 3">
            <a:extLst>
              <a:ext uri="{FF2B5EF4-FFF2-40B4-BE49-F238E27FC236}">
                <a16:creationId xmlns:a16="http://schemas.microsoft.com/office/drawing/2014/main" id="{3750A3C3-F1CE-DA52-F6CC-5F47265F565D}"/>
              </a:ext>
            </a:extLst>
          </p:cNvPr>
          <p:cNvSpPr txBox="1"/>
          <p:nvPr/>
        </p:nvSpPr>
        <p:spPr>
          <a:xfrm>
            <a:off x="1126671" y="1097288"/>
            <a:ext cx="7026729" cy="369332"/>
          </a:xfrm>
          <a:prstGeom prst="rect">
            <a:avLst/>
          </a:prstGeom>
          <a:noFill/>
        </p:spPr>
        <p:txBody>
          <a:bodyPr wrap="square">
            <a:spAutoFit/>
          </a:bodyPr>
          <a:lstStyle/>
          <a:p>
            <a:r>
              <a:rPr lang="en-US" altLang="zh-CN" dirty="0"/>
              <a:t>If building a new facility is NOT allowed, which measure is most useful?</a:t>
            </a:r>
            <a:endParaRPr lang="zh-CN" altLang="en-US" dirty="0"/>
          </a:p>
        </p:txBody>
      </p:sp>
      <p:sp>
        <p:nvSpPr>
          <p:cNvPr id="7" name="TextBox 6">
            <a:extLst>
              <a:ext uri="{FF2B5EF4-FFF2-40B4-BE49-F238E27FC236}">
                <a16:creationId xmlns:a16="http://schemas.microsoft.com/office/drawing/2014/main" id="{0D2878E5-B981-3D98-2DB0-2766ADF2B2DB}"/>
              </a:ext>
            </a:extLst>
          </p:cNvPr>
          <p:cNvSpPr txBox="1"/>
          <p:nvPr/>
        </p:nvSpPr>
        <p:spPr>
          <a:xfrm>
            <a:off x="749885" y="1097288"/>
            <a:ext cx="508643" cy="369332"/>
          </a:xfrm>
          <a:prstGeom prst="rect">
            <a:avLst/>
          </a:prstGeom>
          <a:noFill/>
        </p:spPr>
        <p:txBody>
          <a:bodyPr wrap="square">
            <a:spAutoFit/>
          </a:bodyPr>
          <a:lstStyle/>
          <a:p>
            <a:r>
              <a:rPr lang="zh-CN" altLang="en-US" dirty="0"/>
              <a:t>🤔</a:t>
            </a:r>
          </a:p>
        </p:txBody>
      </p:sp>
    </p:spTree>
    <p:extLst>
      <p:ext uri="{BB962C8B-B14F-4D97-AF65-F5344CB8AC3E}">
        <p14:creationId xmlns:p14="http://schemas.microsoft.com/office/powerpoint/2010/main" val="4033163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BCBFC-E110-A048-605F-E3824DF4D82F}"/>
              </a:ext>
            </a:extLst>
          </p:cNvPr>
          <p:cNvSpPr>
            <a:spLocks noGrp="1"/>
          </p:cNvSpPr>
          <p:nvPr>
            <p:ph type="title"/>
          </p:nvPr>
        </p:nvSpPr>
        <p:spPr/>
        <p:txBody>
          <a:bodyPr/>
          <a:lstStyle/>
          <a:p>
            <a:r>
              <a:rPr lang="en-US" dirty="0"/>
              <a:t>Dispersion</a:t>
            </a:r>
          </a:p>
        </p:txBody>
      </p:sp>
      <p:sp>
        <p:nvSpPr>
          <p:cNvPr id="3" name="Content Placeholder 2">
            <a:extLst>
              <a:ext uri="{FF2B5EF4-FFF2-40B4-BE49-F238E27FC236}">
                <a16:creationId xmlns:a16="http://schemas.microsoft.com/office/drawing/2014/main" id="{2C511357-E1F0-A168-6884-D501FCC337BF}"/>
              </a:ext>
            </a:extLst>
          </p:cNvPr>
          <p:cNvSpPr>
            <a:spLocks noGrp="1"/>
          </p:cNvSpPr>
          <p:nvPr>
            <p:ph idx="1"/>
          </p:nvPr>
        </p:nvSpPr>
        <p:spPr/>
        <p:txBody>
          <a:bodyPr/>
          <a:lstStyle/>
          <a:p>
            <a:r>
              <a:rPr lang="en-US" dirty="0"/>
              <a:t>Describes </a:t>
            </a:r>
            <a:r>
              <a:rPr lang="en-US" b="1" dirty="0"/>
              <a:t>how spread out or clustered</a:t>
            </a:r>
            <a:r>
              <a:rPr lang="en-US" dirty="0"/>
              <a:t> the features are.</a:t>
            </a:r>
          </a:p>
        </p:txBody>
      </p:sp>
      <p:sp>
        <p:nvSpPr>
          <p:cNvPr id="4" name="Slide Number Placeholder 3">
            <a:extLst>
              <a:ext uri="{FF2B5EF4-FFF2-40B4-BE49-F238E27FC236}">
                <a16:creationId xmlns:a16="http://schemas.microsoft.com/office/drawing/2014/main" id="{E8F5D7EB-867C-C466-79E6-DA2CBA6D4215}"/>
              </a:ext>
            </a:extLst>
          </p:cNvPr>
          <p:cNvSpPr>
            <a:spLocks noGrp="1"/>
          </p:cNvSpPr>
          <p:nvPr>
            <p:ph type="sldNum" sz="quarter" idx="12"/>
          </p:nvPr>
        </p:nvSpPr>
        <p:spPr/>
        <p:txBody>
          <a:bodyPr/>
          <a:lstStyle/>
          <a:p>
            <a:fld id="{127DDC20-79C9-9647-820E-6D40A3D210C3}" type="slidenum">
              <a:rPr lang="en-US" smtClean="0"/>
              <a:pPr/>
              <a:t>23</a:t>
            </a:fld>
            <a:endParaRPr lang="en-US"/>
          </a:p>
        </p:txBody>
      </p:sp>
    </p:spTree>
    <p:extLst>
      <p:ext uri="{BB962C8B-B14F-4D97-AF65-F5344CB8AC3E}">
        <p14:creationId xmlns:p14="http://schemas.microsoft.com/office/powerpoint/2010/main" val="8790584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A close up of a map&#10;&#10;Description automatically generated">
            <a:extLst>
              <a:ext uri="{FF2B5EF4-FFF2-40B4-BE49-F238E27FC236}">
                <a16:creationId xmlns:a16="http://schemas.microsoft.com/office/drawing/2014/main" id="{53BC7B92-8231-4A7E-A44B-5970D2978B81}"/>
              </a:ext>
            </a:extLst>
          </p:cNvPr>
          <p:cNvPicPr>
            <a:picLocks noChangeAspect="1"/>
          </p:cNvPicPr>
          <p:nvPr/>
        </p:nvPicPr>
        <p:blipFill>
          <a:blip r:embed="rId3"/>
          <a:stretch>
            <a:fillRect/>
          </a:stretch>
        </p:blipFill>
        <p:spPr>
          <a:xfrm>
            <a:off x="301246" y="1385059"/>
            <a:ext cx="4328737" cy="3489350"/>
          </a:xfrm>
          <a:prstGeom prst="rect">
            <a:avLst/>
          </a:prstGeom>
        </p:spPr>
      </p:pic>
      <p:sp>
        <p:nvSpPr>
          <p:cNvPr id="6" name="TextBox 5">
            <a:extLst>
              <a:ext uri="{FF2B5EF4-FFF2-40B4-BE49-F238E27FC236}">
                <a16:creationId xmlns:a16="http://schemas.microsoft.com/office/drawing/2014/main" id="{40BED331-A16B-46FB-8A6F-84DC212CD744}"/>
              </a:ext>
            </a:extLst>
          </p:cNvPr>
          <p:cNvSpPr txBox="1"/>
          <p:nvPr/>
        </p:nvSpPr>
        <p:spPr>
          <a:xfrm>
            <a:off x="301246" y="254681"/>
            <a:ext cx="6982499" cy="424732"/>
          </a:xfrm>
          <a:prstGeom prst="rect">
            <a:avLst/>
          </a:prstGeom>
          <a:noFill/>
        </p:spPr>
        <p:txBody>
          <a:bodyPr wrap="square" rtlCol="0">
            <a:spAutoFit/>
          </a:bodyPr>
          <a:lstStyle/>
          <a:p>
            <a:r>
              <a:rPr lang="en-US" sz="2160" dirty="0"/>
              <a:t>How does the fire stations distribute spatially?</a:t>
            </a:r>
          </a:p>
        </p:txBody>
      </p:sp>
      <p:sp>
        <p:nvSpPr>
          <p:cNvPr id="2" name="Slide Number Placeholder 1">
            <a:extLst>
              <a:ext uri="{FF2B5EF4-FFF2-40B4-BE49-F238E27FC236}">
                <a16:creationId xmlns:a16="http://schemas.microsoft.com/office/drawing/2014/main" id="{1BB969EF-72A8-9FC2-2F5E-EE3A86928F7B}"/>
              </a:ext>
            </a:extLst>
          </p:cNvPr>
          <p:cNvSpPr>
            <a:spLocks noGrp="1"/>
          </p:cNvSpPr>
          <p:nvPr>
            <p:ph type="sldNum" sz="quarter" idx="12"/>
          </p:nvPr>
        </p:nvSpPr>
        <p:spPr/>
        <p:txBody>
          <a:bodyPr/>
          <a:lstStyle/>
          <a:p>
            <a:fld id="{127DDC20-79C9-9647-820E-6D40A3D210C3}" type="slidenum">
              <a:rPr lang="en-US" smtClean="0"/>
              <a:pPr/>
              <a:t>24</a:t>
            </a:fld>
            <a:endParaRPr lang="en-US"/>
          </a:p>
        </p:txBody>
      </p:sp>
      <p:sp>
        <p:nvSpPr>
          <p:cNvPr id="3" name="TextBox 2">
            <a:extLst>
              <a:ext uri="{FF2B5EF4-FFF2-40B4-BE49-F238E27FC236}">
                <a16:creationId xmlns:a16="http://schemas.microsoft.com/office/drawing/2014/main" id="{3578F990-AD31-F72D-C0DE-D459AC8C8FBB}"/>
              </a:ext>
            </a:extLst>
          </p:cNvPr>
          <p:cNvSpPr txBox="1"/>
          <p:nvPr/>
        </p:nvSpPr>
        <p:spPr>
          <a:xfrm>
            <a:off x="4980215" y="2013766"/>
            <a:ext cx="2482775" cy="1754326"/>
          </a:xfrm>
          <a:prstGeom prst="rect">
            <a:avLst/>
          </a:prstGeom>
          <a:noFill/>
        </p:spPr>
        <p:txBody>
          <a:bodyPr wrap="square" rtlCol="0">
            <a:spAutoFit/>
          </a:bodyPr>
          <a:lstStyle/>
          <a:p>
            <a:r>
              <a:rPr lang="en-US" dirty="0"/>
              <a:t>Are fire stations evenly distributed across Ohio?</a:t>
            </a:r>
          </a:p>
          <a:p>
            <a:endParaRPr lang="en-US" dirty="0"/>
          </a:p>
          <a:p>
            <a:r>
              <a:rPr lang="en-US" dirty="0"/>
              <a:t>Are there areas with fewer fire stations compared to others?</a:t>
            </a:r>
          </a:p>
        </p:txBody>
      </p:sp>
    </p:spTree>
    <p:extLst>
      <p:ext uri="{BB962C8B-B14F-4D97-AF65-F5344CB8AC3E}">
        <p14:creationId xmlns:p14="http://schemas.microsoft.com/office/powerpoint/2010/main" val="143366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7D53406-7D6E-4CC8-8E42-BA28A0201FF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Rectangle 2">
            <a:extLst>
              <a:ext uri="{FF2B5EF4-FFF2-40B4-BE49-F238E27FC236}">
                <a16:creationId xmlns:a16="http://schemas.microsoft.com/office/drawing/2014/main" id="{8B31BF95-C08D-4CCA-AD4A-C20DE29BC714}"/>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Standard Distance</a:t>
            </a:r>
          </a:p>
        </p:txBody>
      </p:sp>
      <p:sp>
        <p:nvSpPr>
          <p:cNvPr id="10" name="TextBox 9">
            <a:extLst>
              <a:ext uri="{FF2B5EF4-FFF2-40B4-BE49-F238E27FC236}">
                <a16:creationId xmlns:a16="http://schemas.microsoft.com/office/drawing/2014/main" id="{59EFFAEF-B813-4693-898E-6D1D90841DB3}"/>
              </a:ext>
            </a:extLst>
          </p:cNvPr>
          <p:cNvSpPr txBox="1"/>
          <p:nvPr/>
        </p:nvSpPr>
        <p:spPr>
          <a:xfrm>
            <a:off x="152400" y="1052339"/>
            <a:ext cx="7200900" cy="690702"/>
          </a:xfrm>
          <a:prstGeom prst="rect">
            <a:avLst/>
          </a:prstGeom>
          <a:noFill/>
        </p:spPr>
        <p:txBody>
          <a:bodyPr wrap="square" rtlCol="0">
            <a:spAutoFit/>
          </a:bodyPr>
          <a:lstStyle/>
          <a:p>
            <a:pPr>
              <a:lnSpc>
                <a:spcPct val="90000"/>
              </a:lnSpc>
            </a:pPr>
            <a:r>
              <a:rPr lang="en-US" sz="2160" dirty="0"/>
              <a:t>Measures the degree to which features are concentrated or dispersed around the geometric </a:t>
            </a:r>
            <a:r>
              <a:rPr lang="en-US" sz="2160" dirty="0">
                <a:solidFill>
                  <a:srgbClr val="7030A0"/>
                </a:solidFill>
              </a:rPr>
              <a:t>mean</a:t>
            </a:r>
            <a:r>
              <a:rPr lang="en-US" sz="2160" dirty="0"/>
              <a:t> center</a:t>
            </a:r>
          </a:p>
        </p:txBody>
      </p:sp>
      <p:sp>
        <p:nvSpPr>
          <p:cNvPr id="31" name="TextBox 30">
            <a:extLst>
              <a:ext uri="{FF2B5EF4-FFF2-40B4-BE49-F238E27FC236}">
                <a16:creationId xmlns:a16="http://schemas.microsoft.com/office/drawing/2014/main" id="{3F3AA4FE-08C9-4438-843F-11765CC1A5D6}"/>
              </a:ext>
            </a:extLst>
          </p:cNvPr>
          <p:cNvSpPr txBox="1"/>
          <p:nvPr/>
        </p:nvSpPr>
        <p:spPr>
          <a:xfrm>
            <a:off x="6010985" y="4127294"/>
            <a:ext cx="2171425" cy="674031"/>
          </a:xfrm>
          <a:prstGeom prst="rect">
            <a:avLst/>
          </a:prstGeom>
          <a:noFill/>
        </p:spPr>
        <p:txBody>
          <a:bodyPr wrap="square" rtlCol="0">
            <a:spAutoFit/>
          </a:bodyPr>
          <a:lstStyle/>
          <a:p>
            <a:r>
              <a:rPr lang="en-US" sz="1260" dirty="0" err="1"/>
              <a:t>Esri</a:t>
            </a:r>
            <a:r>
              <a:rPr lang="en-US" sz="1260" dirty="0"/>
              <a:t> events</a:t>
            </a:r>
          </a:p>
          <a:p>
            <a:r>
              <a:rPr lang="en-US" sz="1260" dirty="0">
                <a:hlinkClick r:id="rId3"/>
              </a:rPr>
              <a:t>https://www.youtube.com/watch?v=3d_8nQpSCgE</a:t>
            </a:r>
            <a:endParaRPr lang="en-US" sz="1260" dirty="0"/>
          </a:p>
        </p:txBody>
      </p:sp>
      <p:pic>
        <p:nvPicPr>
          <p:cNvPr id="13" name="Picture 12" descr="A close up of a piece of paper&#10;&#10;Description automatically generated">
            <a:extLst>
              <a:ext uri="{FF2B5EF4-FFF2-40B4-BE49-F238E27FC236}">
                <a16:creationId xmlns:a16="http://schemas.microsoft.com/office/drawing/2014/main" id="{FB9A046A-64F9-4840-8AEE-F468A13B1959}"/>
              </a:ext>
            </a:extLst>
          </p:cNvPr>
          <p:cNvPicPr>
            <a:picLocks noChangeAspect="1"/>
          </p:cNvPicPr>
          <p:nvPr/>
        </p:nvPicPr>
        <p:blipFill>
          <a:blip r:embed="rId4"/>
          <a:stretch>
            <a:fillRect/>
          </a:stretch>
        </p:blipFill>
        <p:spPr>
          <a:xfrm>
            <a:off x="493697" y="1810420"/>
            <a:ext cx="3293331" cy="2699309"/>
          </a:xfrm>
          <a:prstGeom prst="rect">
            <a:avLst/>
          </a:prstGeom>
        </p:spPr>
      </p:pic>
      <p:pic>
        <p:nvPicPr>
          <p:cNvPr id="11" name="Picture 10" descr="A picture containing clock&#10;&#10;Description automatically generated">
            <a:extLst>
              <a:ext uri="{FF2B5EF4-FFF2-40B4-BE49-F238E27FC236}">
                <a16:creationId xmlns:a16="http://schemas.microsoft.com/office/drawing/2014/main" id="{F7B65ACC-E397-4F84-97C0-3B77CDE0339D}"/>
              </a:ext>
            </a:extLst>
          </p:cNvPr>
          <p:cNvPicPr>
            <a:picLocks noChangeAspect="1"/>
          </p:cNvPicPr>
          <p:nvPr/>
        </p:nvPicPr>
        <p:blipFill>
          <a:blip r:embed="rId5">
            <a:alphaModFix amt="70000"/>
          </a:blip>
          <a:stretch>
            <a:fillRect/>
          </a:stretch>
        </p:blipFill>
        <p:spPr>
          <a:xfrm>
            <a:off x="537012" y="1799592"/>
            <a:ext cx="3271508" cy="2691079"/>
          </a:xfrm>
          <a:prstGeom prst="rect">
            <a:avLst/>
          </a:prstGeom>
        </p:spPr>
      </p:pic>
      <p:sp>
        <p:nvSpPr>
          <p:cNvPr id="2" name="Slide Number Placeholder 1">
            <a:extLst>
              <a:ext uri="{FF2B5EF4-FFF2-40B4-BE49-F238E27FC236}">
                <a16:creationId xmlns:a16="http://schemas.microsoft.com/office/drawing/2014/main" id="{BC39FBBC-B8DE-D82A-99F8-2C8F58048882}"/>
              </a:ext>
            </a:extLst>
          </p:cNvPr>
          <p:cNvSpPr>
            <a:spLocks noGrp="1"/>
          </p:cNvSpPr>
          <p:nvPr>
            <p:ph type="sldNum" sz="quarter" idx="12"/>
          </p:nvPr>
        </p:nvSpPr>
        <p:spPr/>
        <p:txBody>
          <a:bodyPr/>
          <a:lstStyle/>
          <a:p>
            <a:fld id="{127DDC20-79C9-9647-820E-6D40A3D210C3}" type="slidenum">
              <a:rPr lang="en-US" smtClean="0"/>
              <a:pPr/>
              <a:t>25</a:t>
            </a:fld>
            <a:endParaRPr lang="en-US"/>
          </a:p>
        </p:txBody>
      </p:sp>
    </p:spTree>
    <p:extLst>
      <p:ext uri="{BB962C8B-B14F-4D97-AF65-F5344CB8AC3E}">
        <p14:creationId xmlns:p14="http://schemas.microsoft.com/office/powerpoint/2010/main" val="2621826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descr="A screenshot of a cell phone&#10;&#10;Description automatically generated">
            <a:extLst>
              <a:ext uri="{FF2B5EF4-FFF2-40B4-BE49-F238E27FC236}">
                <a16:creationId xmlns:a16="http://schemas.microsoft.com/office/drawing/2014/main" id="{B6F80294-116E-41EE-BC93-A38FC648E010}"/>
              </a:ext>
            </a:extLst>
          </p:cNvPr>
          <p:cNvPicPr>
            <a:picLocks noChangeAspect="1"/>
          </p:cNvPicPr>
          <p:nvPr/>
        </p:nvPicPr>
        <p:blipFill>
          <a:blip r:embed="rId2"/>
          <a:stretch>
            <a:fillRect/>
          </a:stretch>
        </p:blipFill>
        <p:spPr>
          <a:xfrm>
            <a:off x="1576986" y="763345"/>
            <a:ext cx="5075628" cy="3146547"/>
          </a:xfrm>
          <a:prstGeom prst="rect">
            <a:avLst/>
          </a:prstGeom>
        </p:spPr>
      </p:pic>
      <p:sp>
        <p:nvSpPr>
          <p:cNvPr id="2" name="Slide Number Placeholder 1">
            <a:extLst>
              <a:ext uri="{FF2B5EF4-FFF2-40B4-BE49-F238E27FC236}">
                <a16:creationId xmlns:a16="http://schemas.microsoft.com/office/drawing/2014/main" id="{B3C8ED66-14DA-02B0-F7B9-48A702EF8836}"/>
              </a:ext>
            </a:extLst>
          </p:cNvPr>
          <p:cNvSpPr>
            <a:spLocks noGrp="1"/>
          </p:cNvSpPr>
          <p:nvPr>
            <p:ph type="sldNum" sz="quarter" idx="12"/>
          </p:nvPr>
        </p:nvSpPr>
        <p:spPr/>
        <p:txBody>
          <a:bodyPr/>
          <a:lstStyle/>
          <a:p>
            <a:fld id="{127DDC20-79C9-9647-820E-6D40A3D210C3}" type="slidenum">
              <a:rPr lang="en-US" smtClean="0"/>
              <a:pPr/>
              <a:t>26</a:t>
            </a:fld>
            <a:endParaRPr lang="en-US"/>
          </a:p>
        </p:txBody>
      </p:sp>
    </p:spTree>
    <p:extLst>
      <p:ext uri="{BB962C8B-B14F-4D97-AF65-F5344CB8AC3E}">
        <p14:creationId xmlns:p14="http://schemas.microsoft.com/office/powerpoint/2010/main" val="15598578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7D53406-7D6E-4CC8-8E42-BA28A0201FF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Rectangle 2">
            <a:extLst>
              <a:ext uri="{FF2B5EF4-FFF2-40B4-BE49-F238E27FC236}">
                <a16:creationId xmlns:a16="http://schemas.microsoft.com/office/drawing/2014/main" id="{8B31BF95-C08D-4CCA-AD4A-C20DE29BC714}"/>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Standard Distance</a:t>
            </a:r>
          </a:p>
        </p:txBody>
      </p:sp>
      <p:sp>
        <p:nvSpPr>
          <p:cNvPr id="10" name="TextBox 9">
            <a:extLst>
              <a:ext uri="{FF2B5EF4-FFF2-40B4-BE49-F238E27FC236}">
                <a16:creationId xmlns:a16="http://schemas.microsoft.com/office/drawing/2014/main" id="{59EFFAEF-B813-4693-898E-6D1D90841DB3}"/>
              </a:ext>
            </a:extLst>
          </p:cNvPr>
          <p:cNvSpPr txBox="1"/>
          <p:nvPr/>
        </p:nvSpPr>
        <p:spPr>
          <a:xfrm>
            <a:off x="152400" y="1052339"/>
            <a:ext cx="7200900" cy="690702"/>
          </a:xfrm>
          <a:prstGeom prst="rect">
            <a:avLst/>
          </a:prstGeom>
          <a:noFill/>
        </p:spPr>
        <p:txBody>
          <a:bodyPr wrap="square" rtlCol="0">
            <a:spAutoFit/>
          </a:bodyPr>
          <a:lstStyle/>
          <a:p>
            <a:pPr>
              <a:lnSpc>
                <a:spcPct val="90000"/>
              </a:lnSpc>
            </a:pPr>
            <a:r>
              <a:rPr lang="en-US" sz="2160" dirty="0"/>
              <a:t>Measures the degree to which features are concentrated or dispersed around the geometric mean center</a:t>
            </a:r>
          </a:p>
        </p:txBody>
      </p:sp>
      <p:sp>
        <p:nvSpPr>
          <p:cNvPr id="12" name="Content Placeholder 3">
            <a:extLst>
              <a:ext uri="{FF2B5EF4-FFF2-40B4-BE49-F238E27FC236}">
                <a16:creationId xmlns:a16="http://schemas.microsoft.com/office/drawing/2014/main" id="{228669F5-0850-4BE6-B824-4B306D30D66A}"/>
              </a:ext>
            </a:extLst>
          </p:cNvPr>
          <p:cNvSpPr txBox="1">
            <a:spLocks/>
          </p:cNvSpPr>
          <p:nvPr/>
        </p:nvSpPr>
        <p:spPr>
          <a:xfrm>
            <a:off x="360045" y="1779427"/>
            <a:ext cx="7591930" cy="2880360"/>
          </a:xfrm>
          <a:prstGeom prst="rect">
            <a:avLst/>
          </a:prstGeom>
        </p:spPr>
        <p:txBody>
          <a:bodyPr vert="horz" lIns="82296" tIns="41148" rIns="82296" bIns="41148"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160" dirty="0"/>
              <a:t>Larger = more spatial dispersion</a:t>
            </a:r>
          </a:p>
          <a:p>
            <a:r>
              <a:rPr lang="en-US" sz="2160" dirty="0"/>
              <a:t>Smaller = less spatial dispersion</a:t>
            </a:r>
          </a:p>
          <a:p>
            <a:r>
              <a:rPr lang="en-US" sz="2160" dirty="0"/>
              <a:t>Center = mean center</a:t>
            </a:r>
          </a:p>
          <a:p>
            <a:r>
              <a:rPr lang="en-US" sz="2160" dirty="0"/>
              <a:t>Can specify the number of standard deviations</a:t>
            </a:r>
          </a:p>
        </p:txBody>
      </p:sp>
      <p:sp>
        <p:nvSpPr>
          <p:cNvPr id="2" name="Slide Number Placeholder 1">
            <a:extLst>
              <a:ext uri="{FF2B5EF4-FFF2-40B4-BE49-F238E27FC236}">
                <a16:creationId xmlns:a16="http://schemas.microsoft.com/office/drawing/2014/main" id="{218EF7CB-F43B-A1A4-FBE0-CCE886E989C1}"/>
              </a:ext>
            </a:extLst>
          </p:cNvPr>
          <p:cNvSpPr>
            <a:spLocks noGrp="1"/>
          </p:cNvSpPr>
          <p:nvPr>
            <p:ph type="sldNum" sz="quarter" idx="12"/>
          </p:nvPr>
        </p:nvSpPr>
        <p:spPr/>
        <p:txBody>
          <a:bodyPr/>
          <a:lstStyle/>
          <a:p>
            <a:fld id="{127DDC20-79C9-9647-820E-6D40A3D210C3}" type="slidenum">
              <a:rPr lang="en-US" smtClean="0"/>
              <a:pPr/>
              <a:t>27</a:t>
            </a:fld>
            <a:endParaRPr lang="en-US"/>
          </a:p>
        </p:txBody>
      </p:sp>
    </p:spTree>
    <p:extLst>
      <p:ext uri="{BB962C8B-B14F-4D97-AF65-F5344CB8AC3E}">
        <p14:creationId xmlns:p14="http://schemas.microsoft.com/office/powerpoint/2010/main" val="2479284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9C147-C686-6472-E639-DD2B945024C9}"/>
              </a:ext>
            </a:extLst>
          </p:cNvPr>
          <p:cNvSpPr>
            <a:spLocks noGrp="1"/>
          </p:cNvSpPr>
          <p:nvPr>
            <p:ph type="title"/>
          </p:nvPr>
        </p:nvSpPr>
        <p:spPr/>
        <p:txBody>
          <a:bodyPr>
            <a:normAutofit/>
          </a:bodyPr>
          <a:lstStyle/>
          <a:p>
            <a:r>
              <a:rPr lang="en-US" altLang="zh-CN" sz="4000" dirty="0">
                <a:solidFill>
                  <a:srgbClr val="008000"/>
                </a:solidFill>
                <a:ea typeface="宋体" charset="-122"/>
              </a:rPr>
              <a:t>Standard Distance</a:t>
            </a:r>
            <a:endParaRPr lang="en-US" dirty="0"/>
          </a:p>
        </p:txBody>
      </p:sp>
      <p:pic>
        <p:nvPicPr>
          <p:cNvPr id="6" name="Content Placeholder 5">
            <a:extLst>
              <a:ext uri="{FF2B5EF4-FFF2-40B4-BE49-F238E27FC236}">
                <a16:creationId xmlns:a16="http://schemas.microsoft.com/office/drawing/2014/main" id="{CA4669E3-BE54-500E-3EAD-B22BED92B89E}"/>
              </a:ext>
            </a:extLst>
          </p:cNvPr>
          <p:cNvPicPr>
            <a:picLocks noGrp="1" noChangeAspect="1"/>
          </p:cNvPicPr>
          <p:nvPr>
            <p:ph idx="1"/>
          </p:nvPr>
        </p:nvPicPr>
        <p:blipFill>
          <a:blip r:embed="rId2"/>
          <a:stretch>
            <a:fillRect/>
          </a:stretch>
        </p:blipFill>
        <p:spPr>
          <a:xfrm>
            <a:off x="88171" y="1944571"/>
            <a:ext cx="2651760" cy="2651760"/>
          </a:xfrm>
        </p:spPr>
      </p:pic>
      <p:sp>
        <p:nvSpPr>
          <p:cNvPr id="4" name="Slide Number Placeholder 3">
            <a:extLst>
              <a:ext uri="{FF2B5EF4-FFF2-40B4-BE49-F238E27FC236}">
                <a16:creationId xmlns:a16="http://schemas.microsoft.com/office/drawing/2014/main" id="{70B958A4-C4FF-82FC-8C63-441C7A832EFD}"/>
              </a:ext>
            </a:extLst>
          </p:cNvPr>
          <p:cNvSpPr>
            <a:spLocks noGrp="1"/>
          </p:cNvSpPr>
          <p:nvPr>
            <p:ph type="sldNum" sz="quarter" idx="12"/>
          </p:nvPr>
        </p:nvSpPr>
        <p:spPr/>
        <p:txBody>
          <a:bodyPr/>
          <a:lstStyle/>
          <a:p>
            <a:fld id="{127DDC20-79C9-9647-820E-6D40A3D210C3}" type="slidenum">
              <a:rPr lang="en-US" smtClean="0"/>
              <a:pPr/>
              <a:t>28</a:t>
            </a:fld>
            <a:endParaRPr lang="en-US"/>
          </a:p>
        </p:txBody>
      </p:sp>
      <p:pic>
        <p:nvPicPr>
          <p:cNvPr id="8" name="Picture 7">
            <a:extLst>
              <a:ext uri="{FF2B5EF4-FFF2-40B4-BE49-F238E27FC236}">
                <a16:creationId xmlns:a16="http://schemas.microsoft.com/office/drawing/2014/main" id="{3BAF3FB3-5101-42D2-7A45-9D5187AB9D2C}"/>
              </a:ext>
            </a:extLst>
          </p:cNvPr>
          <p:cNvPicPr>
            <a:picLocks noChangeAspect="1"/>
          </p:cNvPicPr>
          <p:nvPr/>
        </p:nvPicPr>
        <p:blipFill>
          <a:blip r:embed="rId3"/>
          <a:stretch>
            <a:fillRect/>
          </a:stretch>
        </p:blipFill>
        <p:spPr>
          <a:xfrm>
            <a:off x="2700260" y="1887421"/>
            <a:ext cx="2651760" cy="2651760"/>
          </a:xfrm>
          <a:prstGeom prst="rect">
            <a:avLst/>
          </a:prstGeom>
        </p:spPr>
      </p:pic>
      <p:pic>
        <p:nvPicPr>
          <p:cNvPr id="10" name="Picture 9">
            <a:extLst>
              <a:ext uri="{FF2B5EF4-FFF2-40B4-BE49-F238E27FC236}">
                <a16:creationId xmlns:a16="http://schemas.microsoft.com/office/drawing/2014/main" id="{E27EC87B-1481-D3FB-31DC-9086F22BB315}"/>
              </a:ext>
            </a:extLst>
          </p:cNvPr>
          <p:cNvPicPr>
            <a:picLocks noChangeAspect="1"/>
          </p:cNvPicPr>
          <p:nvPr/>
        </p:nvPicPr>
        <p:blipFill>
          <a:blip r:embed="rId4"/>
          <a:stretch>
            <a:fillRect/>
          </a:stretch>
        </p:blipFill>
        <p:spPr>
          <a:xfrm>
            <a:off x="5166360" y="1887421"/>
            <a:ext cx="2651760" cy="2651760"/>
          </a:xfrm>
          <a:prstGeom prst="rect">
            <a:avLst/>
          </a:prstGeom>
        </p:spPr>
      </p:pic>
    </p:spTree>
    <p:extLst>
      <p:ext uri="{BB962C8B-B14F-4D97-AF65-F5344CB8AC3E}">
        <p14:creationId xmlns:p14="http://schemas.microsoft.com/office/powerpoint/2010/main" val="1741425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4C4411-0035-FA62-B525-829A5BC2154F}"/>
              </a:ext>
            </a:extLst>
          </p:cNvPr>
          <p:cNvSpPr>
            <a:spLocks noGrp="1"/>
          </p:cNvSpPr>
          <p:nvPr>
            <p:ph idx="1"/>
          </p:nvPr>
        </p:nvSpPr>
        <p:spPr/>
        <p:txBody>
          <a:bodyPr/>
          <a:lstStyle/>
          <a:p>
            <a:r>
              <a:rPr lang="en-US" altLang="zh-CN" dirty="0"/>
              <a:t>What does a larger standard distance indicate?</a:t>
            </a:r>
          </a:p>
          <a:p>
            <a:pPr marL="0" indent="0">
              <a:buNone/>
            </a:pPr>
            <a:r>
              <a:rPr lang="en-US" altLang="zh-CN" dirty="0"/>
              <a:t>A. More points</a:t>
            </a:r>
            <a:br>
              <a:rPr lang="en-US" altLang="zh-CN" dirty="0"/>
            </a:br>
            <a:r>
              <a:rPr lang="en-US" altLang="zh-CN" dirty="0"/>
              <a:t>B. Greater dispersion</a:t>
            </a:r>
            <a:br>
              <a:rPr lang="en-US" altLang="zh-CN" dirty="0"/>
            </a:br>
            <a:r>
              <a:rPr lang="en-US" altLang="zh-CN" dirty="0"/>
              <a:t>C. Higher density</a:t>
            </a:r>
            <a:br>
              <a:rPr lang="en-US" altLang="zh-CN" dirty="0"/>
            </a:br>
            <a:r>
              <a:rPr lang="en-US" altLang="zh-CN" dirty="0"/>
              <a:t>D. Randomness</a:t>
            </a:r>
            <a:endParaRPr lang="zh-CN" altLang="en-US" dirty="0"/>
          </a:p>
        </p:txBody>
      </p:sp>
      <p:sp>
        <p:nvSpPr>
          <p:cNvPr id="4" name="Slide Number Placeholder 3">
            <a:extLst>
              <a:ext uri="{FF2B5EF4-FFF2-40B4-BE49-F238E27FC236}">
                <a16:creationId xmlns:a16="http://schemas.microsoft.com/office/drawing/2014/main" id="{ABC57C2C-2108-EF05-9378-9ED98E347076}"/>
              </a:ext>
            </a:extLst>
          </p:cNvPr>
          <p:cNvSpPr>
            <a:spLocks noGrp="1"/>
          </p:cNvSpPr>
          <p:nvPr>
            <p:ph type="sldNum" sz="quarter" idx="12"/>
          </p:nvPr>
        </p:nvSpPr>
        <p:spPr/>
        <p:txBody>
          <a:bodyPr/>
          <a:lstStyle/>
          <a:p>
            <a:fld id="{127DDC20-79C9-9647-820E-6D40A3D210C3}" type="slidenum">
              <a:rPr lang="en-US" smtClean="0"/>
              <a:pPr/>
              <a:t>29</a:t>
            </a:fld>
            <a:endParaRPr lang="en-US"/>
          </a:p>
        </p:txBody>
      </p:sp>
      <p:sp>
        <p:nvSpPr>
          <p:cNvPr id="5" name="TextBox 4">
            <a:extLst>
              <a:ext uri="{FF2B5EF4-FFF2-40B4-BE49-F238E27FC236}">
                <a16:creationId xmlns:a16="http://schemas.microsoft.com/office/drawing/2014/main" id="{D7C05F9B-4ADA-96ED-BF2F-B5B6402051EE}"/>
              </a:ext>
            </a:extLst>
          </p:cNvPr>
          <p:cNvSpPr txBox="1"/>
          <p:nvPr/>
        </p:nvSpPr>
        <p:spPr>
          <a:xfrm>
            <a:off x="341671" y="834093"/>
            <a:ext cx="508643" cy="369332"/>
          </a:xfrm>
          <a:prstGeom prst="rect">
            <a:avLst/>
          </a:prstGeom>
          <a:noFill/>
        </p:spPr>
        <p:txBody>
          <a:bodyPr wrap="square">
            <a:spAutoFit/>
          </a:bodyPr>
          <a:lstStyle/>
          <a:p>
            <a:r>
              <a:rPr lang="zh-CN" altLang="en-US" dirty="0"/>
              <a:t>🤔</a:t>
            </a:r>
          </a:p>
        </p:txBody>
      </p:sp>
    </p:spTree>
    <p:extLst>
      <p:ext uri="{BB962C8B-B14F-4D97-AF65-F5344CB8AC3E}">
        <p14:creationId xmlns:p14="http://schemas.microsoft.com/office/powerpoint/2010/main" val="21938710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7D53406-7D6E-4CC8-8E42-BA28A0201FF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Rectangle 2">
            <a:extLst>
              <a:ext uri="{FF2B5EF4-FFF2-40B4-BE49-F238E27FC236}">
                <a16:creationId xmlns:a16="http://schemas.microsoft.com/office/drawing/2014/main" id="{8B31BF95-C08D-4CCA-AD4A-C20DE29BC714}"/>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Standard Distance</a:t>
            </a:r>
          </a:p>
        </p:txBody>
      </p:sp>
      <p:sp>
        <p:nvSpPr>
          <p:cNvPr id="10" name="TextBox 9">
            <a:extLst>
              <a:ext uri="{FF2B5EF4-FFF2-40B4-BE49-F238E27FC236}">
                <a16:creationId xmlns:a16="http://schemas.microsoft.com/office/drawing/2014/main" id="{59EFFAEF-B813-4693-898E-6D1D90841DB3}"/>
              </a:ext>
            </a:extLst>
          </p:cNvPr>
          <p:cNvSpPr txBox="1"/>
          <p:nvPr/>
        </p:nvSpPr>
        <p:spPr>
          <a:xfrm>
            <a:off x="152400" y="1052339"/>
            <a:ext cx="7200900" cy="690702"/>
          </a:xfrm>
          <a:prstGeom prst="rect">
            <a:avLst/>
          </a:prstGeom>
          <a:noFill/>
        </p:spPr>
        <p:txBody>
          <a:bodyPr wrap="square" rtlCol="0">
            <a:spAutoFit/>
          </a:bodyPr>
          <a:lstStyle/>
          <a:p>
            <a:pPr>
              <a:lnSpc>
                <a:spcPct val="90000"/>
              </a:lnSpc>
            </a:pPr>
            <a:r>
              <a:rPr lang="en-US" sz="2160" dirty="0"/>
              <a:t>Measures the degree to which features are concentrated or dispersed around the geometric mean center</a:t>
            </a:r>
          </a:p>
        </p:txBody>
      </p:sp>
      <p:pic>
        <p:nvPicPr>
          <p:cNvPr id="12" name="Picture 11">
            <a:extLst>
              <a:ext uri="{FF2B5EF4-FFF2-40B4-BE49-F238E27FC236}">
                <a16:creationId xmlns:a16="http://schemas.microsoft.com/office/drawing/2014/main" id="{8222ED6F-5250-4C7D-BBE8-EAD694FA0E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0841" y="1708286"/>
            <a:ext cx="4704543" cy="2962656"/>
          </a:xfrm>
          <a:prstGeom prst="rect">
            <a:avLst/>
          </a:prstGeom>
        </p:spPr>
      </p:pic>
      <p:sp>
        <p:nvSpPr>
          <p:cNvPr id="2" name="Slide Number Placeholder 1">
            <a:extLst>
              <a:ext uri="{FF2B5EF4-FFF2-40B4-BE49-F238E27FC236}">
                <a16:creationId xmlns:a16="http://schemas.microsoft.com/office/drawing/2014/main" id="{C7DC3513-F0B9-9E89-B2CA-B1B27590658F}"/>
              </a:ext>
            </a:extLst>
          </p:cNvPr>
          <p:cNvSpPr>
            <a:spLocks noGrp="1"/>
          </p:cNvSpPr>
          <p:nvPr>
            <p:ph type="sldNum" sz="quarter" idx="12"/>
          </p:nvPr>
        </p:nvSpPr>
        <p:spPr/>
        <p:txBody>
          <a:bodyPr/>
          <a:lstStyle/>
          <a:p>
            <a:fld id="{127DDC20-79C9-9647-820E-6D40A3D210C3}" type="slidenum">
              <a:rPr lang="en-US" smtClean="0"/>
              <a:pPr/>
              <a:t>30</a:t>
            </a:fld>
            <a:endParaRPr lang="en-US"/>
          </a:p>
        </p:txBody>
      </p:sp>
    </p:spTree>
    <p:extLst>
      <p:ext uri="{BB962C8B-B14F-4D97-AF65-F5344CB8AC3E}">
        <p14:creationId xmlns:p14="http://schemas.microsoft.com/office/powerpoint/2010/main" val="2043536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4E4AD09-0F44-429C-9C85-20A55D755E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Examples</a:t>
            </a:r>
          </a:p>
        </p:txBody>
      </p:sp>
      <p:pic>
        <p:nvPicPr>
          <p:cNvPr id="4" name="Picture 3" descr="A close up of a map&#10;&#10;Description automatically generated">
            <a:extLst>
              <a:ext uri="{FF2B5EF4-FFF2-40B4-BE49-F238E27FC236}">
                <a16:creationId xmlns:a16="http://schemas.microsoft.com/office/drawing/2014/main" id="{1C3D3FA7-BF4E-4BD4-B7B8-5401FFD2313A}"/>
              </a:ext>
            </a:extLst>
          </p:cNvPr>
          <p:cNvPicPr>
            <a:picLocks noChangeAspect="1"/>
          </p:cNvPicPr>
          <p:nvPr/>
        </p:nvPicPr>
        <p:blipFill>
          <a:blip r:embed="rId3"/>
          <a:stretch>
            <a:fillRect/>
          </a:stretch>
        </p:blipFill>
        <p:spPr>
          <a:xfrm>
            <a:off x="1745667" y="959372"/>
            <a:ext cx="4452785" cy="3785616"/>
          </a:xfrm>
          <a:prstGeom prst="rect">
            <a:avLst/>
          </a:prstGeom>
        </p:spPr>
      </p:pic>
      <p:sp>
        <p:nvSpPr>
          <p:cNvPr id="2" name="Slide Number Placeholder 1">
            <a:extLst>
              <a:ext uri="{FF2B5EF4-FFF2-40B4-BE49-F238E27FC236}">
                <a16:creationId xmlns:a16="http://schemas.microsoft.com/office/drawing/2014/main" id="{5310918C-1CA8-4616-ACA8-C315E5424BA2}"/>
              </a:ext>
            </a:extLst>
          </p:cNvPr>
          <p:cNvSpPr>
            <a:spLocks noGrp="1"/>
          </p:cNvSpPr>
          <p:nvPr>
            <p:ph type="sldNum" sz="quarter" idx="12"/>
          </p:nvPr>
        </p:nvSpPr>
        <p:spPr/>
        <p:txBody>
          <a:bodyPr/>
          <a:lstStyle/>
          <a:p>
            <a:fld id="{127DDC20-79C9-9647-820E-6D40A3D210C3}" type="slidenum">
              <a:rPr lang="en-US" smtClean="0"/>
              <a:pPr/>
              <a:t>31</a:t>
            </a:fld>
            <a:endParaRPr lang="en-US"/>
          </a:p>
        </p:txBody>
      </p:sp>
    </p:spTree>
    <p:extLst>
      <p:ext uri="{BB962C8B-B14F-4D97-AF65-F5344CB8AC3E}">
        <p14:creationId xmlns:p14="http://schemas.microsoft.com/office/powerpoint/2010/main" val="3565914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7D53406-7D6E-4CC8-8E42-BA28A0201FF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Rectangle 2">
            <a:extLst>
              <a:ext uri="{FF2B5EF4-FFF2-40B4-BE49-F238E27FC236}">
                <a16:creationId xmlns:a16="http://schemas.microsoft.com/office/drawing/2014/main" id="{8B31BF95-C08D-4CCA-AD4A-C20DE29BC714}"/>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Standard deviation ellipse</a:t>
            </a:r>
          </a:p>
        </p:txBody>
      </p:sp>
      <p:sp>
        <p:nvSpPr>
          <p:cNvPr id="10" name="TextBox 9">
            <a:extLst>
              <a:ext uri="{FF2B5EF4-FFF2-40B4-BE49-F238E27FC236}">
                <a16:creationId xmlns:a16="http://schemas.microsoft.com/office/drawing/2014/main" id="{59EFFAEF-B813-4693-898E-6D1D90841DB3}"/>
              </a:ext>
            </a:extLst>
          </p:cNvPr>
          <p:cNvSpPr txBox="1"/>
          <p:nvPr/>
        </p:nvSpPr>
        <p:spPr>
          <a:xfrm>
            <a:off x="152400" y="1052339"/>
            <a:ext cx="7200900" cy="690702"/>
          </a:xfrm>
          <a:prstGeom prst="rect">
            <a:avLst/>
          </a:prstGeom>
          <a:noFill/>
        </p:spPr>
        <p:txBody>
          <a:bodyPr wrap="square" rtlCol="0">
            <a:spAutoFit/>
          </a:bodyPr>
          <a:lstStyle/>
          <a:p>
            <a:pPr>
              <a:lnSpc>
                <a:spcPct val="90000"/>
              </a:lnSpc>
            </a:pPr>
            <a:r>
              <a:rPr lang="en-US" sz="2160" dirty="0"/>
              <a:t>Creates an ellipse that summarizes: spatial central tendency, spatial dispersion, and directional trends</a:t>
            </a:r>
          </a:p>
        </p:txBody>
      </p:sp>
      <p:sp>
        <p:nvSpPr>
          <p:cNvPr id="31" name="TextBox 30">
            <a:extLst>
              <a:ext uri="{FF2B5EF4-FFF2-40B4-BE49-F238E27FC236}">
                <a16:creationId xmlns:a16="http://schemas.microsoft.com/office/drawing/2014/main" id="{3F3AA4FE-08C9-4438-843F-11765CC1A5D6}"/>
              </a:ext>
            </a:extLst>
          </p:cNvPr>
          <p:cNvSpPr txBox="1"/>
          <p:nvPr/>
        </p:nvSpPr>
        <p:spPr>
          <a:xfrm>
            <a:off x="6010985" y="4127294"/>
            <a:ext cx="2171425" cy="674031"/>
          </a:xfrm>
          <a:prstGeom prst="rect">
            <a:avLst/>
          </a:prstGeom>
          <a:noFill/>
        </p:spPr>
        <p:txBody>
          <a:bodyPr wrap="square" rtlCol="0">
            <a:spAutoFit/>
          </a:bodyPr>
          <a:lstStyle/>
          <a:p>
            <a:r>
              <a:rPr lang="en-US" sz="1260" dirty="0" err="1"/>
              <a:t>Esri</a:t>
            </a:r>
            <a:r>
              <a:rPr lang="en-US" sz="1260" dirty="0"/>
              <a:t> events</a:t>
            </a:r>
          </a:p>
          <a:p>
            <a:r>
              <a:rPr lang="en-US" sz="1260" dirty="0">
                <a:hlinkClick r:id="rId3"/>
              </a:rPr>
              <a:t>https://www.youtube.com/watch?v=3d_8nQpSCgE</a:t>
            </a:r>
            <a:endParaRPr lang="en-US" sz="1260" dirty="0"/>
          </a:p>
        </p:txBody>
      </p:sp>
      <p:pic>
        <p:nvPicPr>
          <p:cNvPr id="3" name="Picture 2" descr="A close up of a piece of paper&#10;&#10;Description automatically generated">
            <a:extLst>
              <a:ext uri="{FF2B5EF4-FFF2-40B4-BE49-F238E27FC236}">
                <a16:creationId xmlns:a16="http://schemas.microsoft.com/office/drawing/2014/main" id="{8A8909B0-9120-41BD-B456-6DBFEA2CF4DB}"/>
              </a:ext>
            </a:extLst>
          </p:cNvPr>
          <p:cNvPicPr>
            <a:picLocks noChangeAspect="1"/>
          </p:cNvPicPr>
          <p:nvPr/>
        </p:nvPicPr>
        <p:blipFill>
          <a:blip r:embed="rId4"/>
          <a:stretch>
            <a:fillRect/>
          </a:stretch>
        </p:blipFill>
        <p:spPr>
          <a:xfrm>
            <a:off x="428175" y="1889866"/>
            <a:ext cx="3265294" cy="2699309"/>
          </a:xfrm>
          <a:prstGeom prst="rect">
            <a:avLst/>
          </a:prstGeom>
        </p:spPr>
      </p:pic>
      <p:pic>
        <p:nvPicPr>
          <p:cNvPr id="7" name="Picture 6" descr="A picture containing clock&#10;&#10;Description automatically generated">
            <a:extLst>
              <a:ext uri="{FF2B5EF4-FFF2-40B4-BE49-F238E27FC236}">
                <a16:creationId xmlns:a16="http://schemas.microsoft.com/office/drawing/2014/main" id="{398669B2-D0B0-463D-BD19-31D270A9DFAC}"/>
              </a:ext>
            </a:extLst>
          </p:cNvPr>
          <p:cNvPicPr>
            <a:picLocks noChangeAspect="1"/>
          </p:cNvPicPr>
          <p:nvPr/>
        </p:nvPicPr>
        <p:blipFill>
          <a:blip r:embed="rId5">
            <a:alphaModFix amt="70000"/>
          </a:blip>
          <a:stretch>
            <a:fillRect/>
          </a:stretch>
        </p:blipFill>
        <p:spPr>
          <a:xfrm>
            <a:off x="428175" y="1889866"/>
            <a:ext cx="3258389" cy="2699309"/>
          </a:xfrm>
          <a:prstGeom prst="rect">
            <a:avLst/>
          </a:prstGeom>
        </p:spPr>
      </p:pic>
      <p:pic>
        <p:nvPicPr>
          <p:cNvPr id="12" name="Picture 11" descr="A close up of a map&#10;&#10;Description automatically generated">
            <a:extLst>
              <a:ext uri="{FF2B5EF4-FFF2-40B4-BE49-F238E27FC236}">
                <a16:creationId xmlns:a16="http://schemas.microsoft.com/office/drawing/2014/main" id="{E8448489-DBB1-4E48-9598-14A3CFCC90AC}"/>
              </a:ext>
            </a:extLst>
          </p:cNvPr>
          <p:cNvPicPr>
            <a:picLocks noChangeAspect="1"/>
          </p:cNvPicPr>
          <p:nvPr/>
        </p:nvPicPr>
        <p:blipFill>
          <a:blip r:embed="rId6">
            <a:alphaModFix amt="70000"/>
          </a:blip>
          <a:stretch>
            <a:fillRect/>
          </a:stretch>
        </p:blipFill>
        <p:spPr>
          <a:xfrm>
            <a:off x="411481" y="1895831"/>
            <a:ext cx="3285836" cy="2682850"/>
          </a:xfrm>
          <a:prstGeom prst="rect">
            <a:avLst/>
          </a:prstGeom>
        </p:spPr>
      </p:pic>
      <p:sp>
        <p:nvSpPr>
          <p:cNvPr id="2" name="Slide Number Placeholder 1">
            <a:extLst>
              <a:ext uri="{FF2B5EF4-FFF2-40B4-BE49-F238E27FC236}">
                <a16:creationId xmlns:a16="http://schemas.microsoft.com/office/drawing/2014/main" id="{6F0E9A52-CF43-AF55-4294-C5D433A1D31D}"/>
              </a:ext>
            </a:extLst>
          </p:cNvPr>
          <p:cNvSpPr>
            <a:spLocks noGrp="1"/>
          </p:cNvSpPr>
          <p:nvPr>
            <p:ph type="sldNum" sz="quarter" idx="12"/>
          </p:nvPr>
        </p:nvSpPr>
        <p:spPr/>
        <p:txBody>
          <a:bodyPr/>
          <a:lstStyle/>
          <a:p>
            <a:fld id="{127DDC20-79C9-9647-820E-6D40A3D210C3}" type="slidenum">
              <a:rPr lang="en-US" smtClean="0"/>
              <a:pPr/>
              <a:t>32</a:t>
            </a:fld>
            <a:endParaRPr lang="en-US"/>
          </a:p>
        </p:txBody>
      </p:sp>
      <p:sp>
        <p:nvSpPr>
          <p:cNvPr id="6" name="TextBox 5">
            <a:extLst>
              <a:ext uri="{FF2B5EF4-FFF2-40B4-BE49-F238E27FC236}">
                <a16:creationId xmlns:a16="http://schemas.microsoft.com/office/drawing/2014/main" id="{421EA960-FD7C-7ABA-5615-4B7C42471189}"/>
              </a:ext>
            </a:extLst>
          </p:cNvPr>
          <p:cNvSpPr txBox="1"/>
          <p:nvPr/>
        </p:nvSpPr>
        <p:spPr>
          <a:xfrm>
            <a:off x="3912764" y="2045357"/>
            <a:ext cx="4196442" cy="1477328"/>
          </a:xfrm>
          <a:prstGeom prst="rect">
            <a:avLst/>
          </a:prstGeom>
          <a:noFill/>
        </p:spPr>
        <p:txBody>
          <a:bodyPr wrap="square">
            <a:spAutoFit/>
          </a:bodyPr>
          <a:lstStyle/>
          <a:p>
            <a:r>
              <a:rPr lang="en-US" altLang="zh-CN" dirty="0"/>
              <a:t>Ellipse long axis represents? </a:t>
            </a:r>
          </a:p>
          <a:p>
            <a:r>
              <a:rPr lang="en-US" altLang="zh-CN" dirty="0"/>
              <a:t>A. Density</a:t>
            </a:r>
            <a:br>
              <a:rPr lang="en-US" altLang="zh-CN" dirty="0"/>
            </a:br>
            <a:r>
              <a:rPr lang="en-US" altLang="zh-CN" dirty="0"/>
              <a:t>B. Directional trend</a:t>
            </a:r>
            <a:br>
              <a:rPr lang="en-US" altLang="zh-CN" dirty="0"/>
            </a:br>
            <a:r>
              <a:rPr lang="en-US" altLang="zh-CN" dirty="0"/>
              <a:t>C. Outliers</a:t>
            </a:r>
            <a:br>
              <a:rPr lang="en-US" altLang="zh-CN" dirty="0"/>
            </a:br>
            <a:r>
              <a:rPr lang="en-US" altLang="zh-CN" dirty="0"/>
              <a:t>D. Sample size</a:t>
            </a:r>
            <a:endParaRPr lang="zh-CN" altLang="en-US" dirty="0"/>
          </a:p>
        </p:txBody>
      </p:sp>
      <p:sp>
        <p:nvSpPr>
          <p:cNvPr id="8" name="TextBox 7">
            <a:extLst>
              <a:ext uri="{FF2B5EF4-FFF2-40B4-BE49-F238E27FC236}">
                <a16:creationId xmlns:a16="http://schemas.microsoft.com/office/drawing/2014/main" id="{179A9F2D-616A-8B63-9CBA-BBFFCD21480B}"/>
              </a:ext>
            </a:extLst>
          </p:cNvPr>
          <p:cNvSpPr txBox="1"/>
          <p:nvPr/>
        </p:nvSpPr>
        <p:spPr>
          <a:xfrm>
            <a:off x="6726142" y="2045357"/>
            <a:ext cx="508643" cy="369332"/>
          </a:xfrm>
          <a:prstGeom prst="rect">
            <a:avLst/>
          </a:prstGeom>
          <a:noFill/>
        </p:spPr>
        <p:txBody>
          <a:bodyPr wrap="square">
            <a:spAutoFit/>
          </a:bodyPr>
          <a:lstStyle/>
          <a:p>
            <a:r>
              <a:rPr lang="zh-CN" altLang="en-US" dirty="0"/>
              <a:t>🤔</a:t>
            </a:r>
          </a:p>
        </p:txBody>
      </p:sp>
    </p:spTree>
    <p:extLst>
      <p:ext uri="{BB962C8B-B14F-4D97-AF65-F5344CB8AC3E}">
        <p14:creationId xmlns:p14="http://schemas.microsoft.com/office/powerpoint/2010/main" val="1918899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3999D-4C1B-61ED-8FB8-DBB3ABE6983F}"/>
              </a:ext>
            </a:extLst>
          </p:cNvPr>
          <p:cNvSpPr>
            <a:spLocks noGrp="1"/>
          </p:cNvSpPr>
          <p:nvPr>
            <p:ph type="title"/>
          </p:nvPr>
        </p:nvSpPr>
        <p:spPr>
          <a:xfrm>
            <a:off x="411480" y="205978"/>
            <a:ext cx="7406640" cy="1214607"/>
          </a:xfrm>
        </p:spPr>
        <p:txBody>
          <a:bodyPr>
            <a:normAutofit fontScale="90000"/>
          </a:bodyPr>
          <a:lstStyle/>
          <a:p>
            <a:r>
              <a:rPr lang="en-US" altLang="zh-CN" sz="4000" dirty="0"/>
              <a:t>Dispersion in different directional trends</a:t>
            </a:r>
            <a:endParaRPr lang="zh-CN" altLang="en-US" dirty="0"/>
          </a:p>
        </p:txBody>
      </p:sp>
      <p:pic>
        <p:nvPicPr>
          <p:cNvPr id="6" name="Content Placeholder 5">
            <a:extLst>
              <a:ext uri="{FF2B5EF4-FFF2-40B4-BE49-F238E27FC236}">
                <a16:creationId xmlns:a16="http://schemas.microsoft.com/office/drawing/2014/main" id="{5577575E-129D-C489-8030-1FC2F1288D04}"/>
              </a:ext>
            </a:extLst>
          </p:cNvPr>
          <p:cNvPicPr preferRelativeResize="0">
            <a:picLocks noGrp="1"/>
          </p:cNvPicPr>
          <p:nvPr>
            <p:ph idx="1"/>
          </p:nvPr>
        </p:nvPicPr>
        <p:blipFill>
          <a:blip r:embed="rId2"/>
          <a:stretch>
            <a:fillRect/>
          </a:stretch>
        </p:blipFill>
        <p:spPr>
          <a:xfrm>
            <a:off x="272607" y="1683431"/>
            <a:ext cx="3240000" cy="2880000"/>
          </a:xfrm>
          <a:prstGeom prst="rect">
            <a:avLst/>
          </a:prstGeom>
        </p:spPr>
      </p:pic>
      <p:sp>
        <p:nvSpPr>
          <p:cNvPr id="4" name="Slide Number Placeholder 3">
            <a:extLst>
              <a:ext uri="{FF2B5EF4-FFF2-40B4-BE49-F238E27FC236}">
                <a16:creationId xmlns:a16="http://schemas.microsoft.com/office/drawing/2014/main" id="{B3628DAD-B288-0CD0-98EC-682786885C9F}"/>
              </a:ext>
            </a:extLst>
          </p:cNvPr>
          <p:cNvSpPr>
            <a:spLocks noGrp="1"/>
          </p:cNvSpPr>
          <p:nvPr>
            <p:ph type="sldNum" sz="quarter" idx="12"/>
          </p:nvPr>
        </p:nvSpPr>
        <p:spPr/>
        <p:txBody>
          <a:bodyPr/>
          <a:lstStyle/>
          <a:p>
            <a:fld id="{127DDC20-79C9-9647-820E-6D40A3D210C3}" type="slidenum">
              <a:rPr lang="en-US" smtClean="0"/>
              <a:pPr/>
              <a:t>33</a:t>
            </a:fld>
            <a:endParaRPr lang="en-US"/>
          </a:p>
        </p:txBody>
      </p:sp>
      <p:pic>
        <p:nvPicPr>
          <p:cNvPr id="8" name="Picture 7">
            <a:extLst>
              <a:ext uri="{FF2B5EF4-FFF2-40B4-BE49-F238E27FC236}">
                <a16:creationId xmlns:a16="http://schemas.microsoft.com/office/drawing/2014/main" id="{3AC5B78F-FD67-7FCE-4A00-C65132BBBAD3}"/>
              </a:ext>
            </a:extLst>
          </p:cNvPr>
          <p:cNvPicPr preferRelativeResize="0">
            <a:picLocks/>
          </p:cNvPicPr>
          <p:nvPr/>
        </p:nvPicPr>
        <p:blipFill>
          <a:blip r:embed="rId3"/>
          <a:stretch>
            <a:fillRect/>
          </a:stretch>
        </p:blipFill>
        <p:spPr>
          <a:xfrm>
            <a:off x="4114800" y="1683431"/>
            <a:ext cx="3240000" cy="2880000"/>
          </a:xfrm>
          <a:prstGeom prst="rect">
            <a:avLst/>
          </a:prstGeom>
        </p:spPr>
      </p:pic>
    </p:spTree>
    <p:extLst>
      <p:ext uri="{BB962C8B-B14F-4D97-AF65-F5344CB8AC3E}">
        <p14:creationId xmlns:p14="http://schemas.microsoft.com/office/powerpoint/2010/main" val="35180798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descr="A screenshot of a cell phone&#10;&#10;Description automatically generated">
            <a:extLst>
              <a:ext uri="{FF2B5EF4-FFF2-40B4-BE49-F238E27FC236}">
                <a16:creationId xmlns:a16="http://schemas.microsoft.com/office/drawing/2014/main" id="{EBDDEE3D-C708-44FC-A1D9-2EF6C3A44AD7}"/>
              </a:ext>
            </a:extLst>
          </p:cNvPr>
          <p:cNvPicPr>
            <a:picLocks noChangeAspect="1"/>
          </p:cNvPicPr>
          <p:nvPr/>
        </p:nvPicPr>
        <p:blipFill>
          <a:blip r:embed="rId2"/>
          <a:stretch>
            <a:fillRect/>
          </a:stretch>
        </p:blipFill>
        <p:spPr>
          <a:xfrm>
            <a:off x="2401958" y="257175"/>
            <a:ext cx="3425684" cy="4629150"/>
          </a:xfrm>
          <a:prstGeom prst="rect">
            <a:avLst/>
          </a:prstGeom>
        </p:spPr>
      </p:pic>
      <p:sp>
        <p:nvSpPr>
          <p:cNvPr id="2" name="Slide Number Placeholder 1">
            <a:extLst>
              <a:ext uri="{FF2B5EF4-FFF2-40B4-BE49-F238E27FC236}">
                <a16:creationId xmlns:a16="http://schemas.microsoft.com/office/drawing/2014/main" id="{6B828C27-7B94-954D-6A13-AA9216EE93DA}"/>
              </a:ext>
            </a:extLst>
          </p:cNvPr>
          <p:cNvSpPr>
            <a:spLocks noGrp="1"/>
          </p:cNvSpPr>
          <p:nvPr>
            <p:ph type="sldNum" sz="quarter" idx="12"/>
          </p:nvPr>
        </p:nvSpPr>
        <p:spPr/>
        <p:txBody>
          <a:bodyPr/>
          <a:lstStyle/>
          <a:p>
            <a:fld id="{127DDC20-79C9-9647-820E-6D40A3D210C3}" type="slidenum">
              <a:rPr lang="en-US" smtClean="0"/>
              <a:pPr/>
              <a:t>34</a:t>
            </a:fld>
            <a:endParaRPr lang="en-US"/>
          </a:p>
        </p:txBody>
      </p:sp>
    </p:spTree>
    <p:extLst>
      <p:ext uri="{BB962C8B-B14F-4D97-AF65-F5344CB8AC3E}">
        <p14:creationId xmlns:p14="http://schemas.microsoft.com/office/powerpoint/2010/main" val="16929098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4E4AD09-0F44-429C-9C85-20A55D755E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Examples</a:t>
            </a:r>
          </a:p>
        </p:txBody>
      </p:sp>
      <p:pic>
        <p:nvPicPr>
          <p:cNvPr id="4" name="Picture 3" descr="A close up of a map&#10;&#10;Description automatically generated">
            <a:extLst>
              <a:ext uri="{FF2B5EF4-FFF2-40B4-BE49-F238E27FC236}">
                <a16:creationId xmlns:a16="http://schemas.microsoft.com/office/drawing/2014/main" id="{4995E830-76F9-4151-84CA-E83A7B0DC4F7}"/>
              </a:ext>
            </a:extLst>
          </p:cNvPr>
          <p:cNvPicPr>
            <a:picLocks noChangeAspect="1"/>
          </p:cNvPicPr>
          <p:nvPr/>
        </p:nvPicPr>
        <p:blipFill>
          <a:blip r:embed="rId3"/>
          <a:stretch>
            <a:fillRect/>
          </a:stretch>
        </p:blipFill>
        <p:spPr>
          <a:xfrm>
            <a:off x="189133" y="1014565"/>
            <a:ext cx="4458205" cy="3752698"/>
          </a:xfrm>
          <a:prstGeom prst="rect">
            <a:avLst/>
          </a:prstGeom>
        </p:spPr>
      </p:pic>
      <p:cxnSp>
        <p:nvCxnSpPr>
          <p:cNvPr id="6" name="Straight Arrow Connector 5">
            <a:extLst>
              <a:ext uri="{FF2B5EF4-FFF2-40B4-BE49-F238E27FC236}">
                <a16:creationId xmlns:a16="http://schemas.microsoft.com/office/drawing/2014/main" id="{771AF061-76A5-4056-84E8-713333FFD7D7}"/>
              </a:ext>
            </a:extLst>
          </p:cNvPr>
          <p:cNvCxnSpPr>
            <a:cxnSpLocks/>
          </p:cNvCxnSpPr>
          <p:nvPr/>
        </p:nvCxnSpPr>
        <p:spPr>
          <a:xfrm>
            <a:off x="1671241" y="1665566"/>
            <a:ext cx="1399031" cy="1795477"/>
          </a:xfrm>
          <a:prstGeom prst="straightConnector1">
            <a:avLst/>
          </a:prstGeom>
          <a:ln w="38100">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C079BEBC-0A64-4391-A64C-DB90E28D59BE}"/>
              </a:ext>
            </a:extLst>
          </p:cNvPr>
          <p:cNvCxnSpPr>
            <a:cxnSpLocks/>
          </p:cNvCxnSpPr>
          <p:nvPr/>
        </p:nvCxnSpPr>
        <p:spPr>
          <a:xfrm flipV="1">
            <a:off x="721671" y="1564279"/>
            <a:ext cx="3215875" cy="2025748"/>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F4FF8E8F-AB53-08C0-97C7-67216410B626}"/>
              </a:ext>
            </a:extLst>
          </p:cNvPr>
          <p:cNvSpPr>
            <a:spLocks noGrp="1"/>
          </p:cNvSpPr>
          <p:nvPr>
            <p:ph type="sldNum" sz="quarter" idx="12"/>
          </p:nvPr>
        </p:nvSpPr>
        <p:spPr/>
        <p:txBody>
          <a:bodyPr/>
          <a:lstStyle/>
          <a:p>
            <a:fld id="{127DDC20-79C9-9647-820E-6D40A3D210C3}" type="slidenum">
              <a:rPr lang="en-US" smtClean="0"/>
              <a:pPr/>
              <a:t>35</a:t>
            </a:fld>
            <a:endParaRPr lang="en-US"/>
          </a:p>
        </p:txBody>
      </p:sp>
      <p:sp>
        <p:nvSpPr>
          <p:cNvPr id="5" name="TextBox 4">
            <a:extLst>
              <a:ext uri="{FF2B5EF4-FFF2-40B4-BE49-F238E27FC236}">
                <a16:creationId xmlns:a16="http://schemas.microsoft.com/office/drawing/2014/main" id="{64A5C377-DB81-0551-45C5-409C0B0DAF2E}"/>
              </a:ext>
            </a:extLst>
          </p:cNvPr>
          <p:cNvSpPr txBox="1"/>
          <p:nvPr/>
        </p:nvSpPr>
        <p:spPr>
          <a:xfrm>
            <a:off x="4736893" y="1241113"/>
            <a:ext cx="3081227" cy="646331"/>
          </a:xfrm>
          <a:prstGeom prst="rect">
            <a:avLst/>
          </a:prstGeom>
          <a:noFill/>
        </p:spPr>
        <p:txBody>
          <a:bodyPr wrap="square">
            <a:spAutoFit/>
          </a:bodyPr>
          <a:lstStyle/>
          <a:p>
            <a:r>
              <a:rPr lang="en-US" altLang="zh-CN"/>
              <a:t>If ellipse is circular, what does that suggest?</a:t>
            </a:r>
            <a:endParaRPr lang="zh-CN" altLang="en-US" dirty="0"/>
          </a:p>
        </p:txBody>
      </p:sp>
      <p:sp>
        <p:nvSpPr>
          <p:cNvPr id="8" name="TextBox 7">
            <a:extLst>
              <a:ext uri="{FF2B5EF4-FFF2-40B4-BE49-F238E27FC236}">
                <a16:creationId xmlns:a16="http://schemas.microsoft.com/office/drawing/2014/main" id="{B198B117-9C06-8768-3769-99AD438DDCAB}"/>
              </a:ext>
            </a:extLst>
          </p:cNvPr>
          <p:cNvSpPr txBox="1"/>
          <p:nvPr/>
        </p:nvSpPr>
        <p:spPr>
          <a:xfrm>
            <a:off x="4660693" y="2290749"/>
            <a:ext cx="3492707" cy="1200329"/>
          </a:xfrm>
          <a:prstGeom prst="rect">
            <a:avLst/>
          </a:prstGeom>
          <a:noFill/>
        </p:spPr>
        <p:txBody>
          <a:bodyPr wrap="square">
            <a:spAutoFit/>
          </a:bodyPr>
          <a:lstStyle/>
          <a:p>
            <a:r>
              <a:rPr lang="en-US" altLang="zh-CN" dirty="0"/>
              <a:t>A. No dispersion</a:t>
            </a:r>
            <a:br>
              <a:rPr lang="en-US" altLang="zh-CN" dirty="0"/>
            </a:br>
            <a:r>
              <a:rPr lang="en-US" altLang="zh-CN" dirty="0"/>
              <a:t>B. Equal dispersion in all directions</a:t>
            </a:r>
            <a:br>
              <a:rPr lang="en-US" altLang="zh-CN" dirty="0"/>
            </a:br>
            <a:r>
              <a:rPr lang="en-US" altLang="zh-CN" dirty="0"/>
              <a:t>C. Random pattern</a:t>
            </a:r>
            <a:br>
              <a:rPr lang="en-US" altLang="zh-CN" dirty="0"/>
            </a:br>
            <a:r>
              <a:rPr lang="en-US" altLang="zh-CN" dirty="0"/>
              <a:t>D. Error</a:t>
            </a:r>
            <a:endParaRPr lang="zh-CN" altLang="en-US" dirty="0"/>
          </a:p>
        </p:txBody>
      </p:sp>
    </p:spTree>
    <p:extLst>
      <p:ext uri="{BB962C8B-B14F-4D97-AF65-F5344CB8AC3E}">
        <p14:creationId xmlns:p14="http://schemas.microsoft.com/office/powerpoint/2010/main" val="1913350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A close up of a map&#10;&#10;Description automatically generated">
            <a:extLst>
              <a:ext uri="{FF2B5EF4-FFF2-40B4-BE49-F238E27FC236}">
                <a16:creationId xmlns:a16="http://schemas.microsoft.com/office/drawing/2014/main" id="{53BC7B92-8231-4A7E-A44B-5970D2978B81}"/>
              </a:ext>
            </a:extLst>
          </p:cNvPr>
          <p:cNvPicPr>
            <a:picLocks noChangeAspect="1"/>
          </p:cNvPicPr>
          <p:nvPr/>
        </p:nvPicPr>
        <p:blipFill>
          <a:blip r:embed="rId3"/>
          <a:stretch>
            <a:fillRect/>
          </a:stretch>
        </p:blipFill>
        <p:spPr>
          <a:xfrm>
            <a:off x="1950432" y="1396975"/>
            <a:ext cx="4328737" cy="3489350"/>
          </a:xfrm>
          <a:prstGeom prst="rect">
            <a:avLst/>
          </a:prstGeom>
        </p:spPr>
      </p:pic>
      <p:sp>
        <p:nvSpPr>
          <p:cNvPr id="6" name="TextBox 5">
            <a:extLst>
              <a:ext uri="{FF2B5EF4-FFF2-40B4-BE49-F238E27FC236}">
                <a16:creationId xmlns:a16="http://schemas.microsoft.com/office/drawing/2014/main" id="{40BED331-A16B-46FB-8A6F-84DC212CD744}"/>
              </a:ext>
            </a:extLst>
          </p:cNvPr>
          <p:cNvSpPr txBox="1"/>
          <p:nvPr/>
        </p:nvSpPr>
        <p:spPr>
          <a:xfrm>
            <a:off x="152400" y="369509"/>
            <a:ext cx="6982499" cy="461665"/>
          </a:xfrm>
          <a:prstGeom prst="rect">
            <a:avLst/>
          </a:prstGeom>
          <a:noFill/>
        </p:spPr>
        <p:txBody>
          <a:bodyPr wrap="square" rtlCol="0">
            <a:spAutoFit/>
          </a:bodyPr>
          <a:lstStyle/>
          <a:p>
            <a:r>
              <a:rPr lang="en-US" sz="2400" dirty="0"/>
              <a:t>Are fire stations concentrated on one or two places? </a:t>
            </a:r>
          </a:p>
        </p:txBody>
      </p:sp>
      <p:sp>
        <p:nvSpPr>
          <p:cNvPr id="2" name="Slide Number Placeholder 1">
            <a:extLst>
              <a:ext uri="{FF2B5EF4-FFF2-40B4-BE49-F238E27FC236}">
                <a16:creationId xmlns:a16="http://schemas.microsoft.com/office/drawing/2014/main" id="{B1780FB1-0580-0D8A-F9F1-182A09DCF439}"/>
              </a:ext>
            </a:extLst>
          </p:cNvPr>
          <p:cNvSpPr>
            <a:spLocks noGrp="1"/>
          </p:cNvSpPr>
          <p:nvPr>
            <p:ph type="sldNum" sz="quarter" idx="12"/>
          </p:nvPr>
        </p:nvSpPr>
        <p:spPr/>
        <p:txBody>
          <a:bodyPr/>
          <a:lstStyle/>
          <a:p>
            <a:fld id="{127DDC20-79C9-9647-820E-6D40A3D210C3}" type="slidenum">
              <a:rPr lang="en-US" smtClean="0"/>
              <a:pPr/>
              <a:t>36</a:t>
            </a:fld>
            <a:endParaRPr lang="en-US"/>
          </a:p>
        </p:txBody>
      </p:sp>
    </p:spTree>
    <p:extLst>
      <p:ext uri="{BB962C8B-B14F-4D97-AF65-F5344CB8AC3E}">
        <p14:creationId xmlns:p14="http://schemas.microsoft.com/office/powerpoint/2010/main" val="15137575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36936" y="2231765"/>
            <a:ext cx="6119208" cy="679970"/>
          </a:xfrm>
        </p:spPr>
        <p:txBody>
          <a:bodyPr/>
          <a:lstStyle/>
          <a:p>
            <a:r>
              <a:rPr lang="en-US" dirty="0"/>
              <a:t>Analyzing Point Patterns</a:t>
            </a:r>
          </a:p>
        </p:txBody>
      </p:sp>
      <p:sp>
        <p:nvSpPr>
          <p:cNvPr id="2" name="Slide Number Placeholder 1">
            <a:extLst>
              <a:ext uri="{FF2B5EF4-FFF2-40B4-BE49-F238E27FC236}">
                <a16:creationId xmlns:a16="http://schemas.microsoft.com/office/drawing/2014/main" id="{CE280110-D240-E07F-1CB5-6ED12A6313D5}"/>
              </a:ext>
            </a:extLst>
          </p:cNvPr>
          <p:cNvSpPr>
            <a:spLocks noGrp="1"/>
          </p:cNvSpPr>
          <p:nvPr>
            <p:ph type="sldNum" sz="quarter" idx="12"/>
          </p:nvPr>
        </p:nvSpPr>
        <p:spPr/>
        <p:txBody>
          <a:bodyPr/>
          <a:lstStyle/>
          <a:p>
            <a:fld id="{127DDC20-79C9-9647-820E-6D40A3D210C3}" type="slidenum">
              <a:rPr lang="en-US" smtClean="0"/>
              <a:pPr/>
              <a:t>37</a:t>
            </a:fld>
            <a:endParaRPr lang="en-US"/>
          </a:p>
        </p:txBody>
      </p:sp>
    </p:spTree>
    <p:extLst>
      <p:ext uri="{BB962C8B-B14F-4D97-AF65-F5344CB8AC3E}">
        <p14:creationId xmlns:p14="http://schemas.microsoft.com/office/powerpoint/2010/main" val="2545706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6BC8A-C503-2533-D5C8-25CB188C8C7A}"/>
              </a:ext>
            </a:extLst>
          </p:cNvPr>
          <p:cNvSpPr>
            <a:spLocks noGrp="1"/>
          </p:cNvSpPr>
          <p:nvPr>
            <p:ph type="title"/>
          </p:nvPr>
        </p:nvSpPr>
        <p:spPr>
          <a:xfrm>
            <a:off x="68580" y="10036"/>
            <a:ext cx="3703320" cy="857250"/>
          </a:xfrm>
        </p:spPr>
        <p:txBody>
          <a:bodyPr/>
          <a:lstStyle/>
          <a:p>
            <a:r>
              <a:rPr lang="en-US" altLang="zh-CN" dirty="0"/>
              <a:t>Point Pattern</a:t>
            </a:r>
            <a:endParaRPr lang="zh-CN" altLang="en-US" dirty="0"/>
          </a:p>
        </p:txBody>
      </p:sp>
      <p:pic>
        <p:nvPicPr>
          <p:cNvPr id="6" name="Content Placeholder 5">
            <a:extLst>
              <a:ext uri="{FF2B5EF4-FFF2-40B4-BE49-F238E27FC236}">
                <a16:creationId xmlns:a16="http://schemas.microsoft.com/office/drawing/2014/main" id="{32E61239-A904-EF27-A666-459F868B2854}"/>
              </a:ext>
            </a:extLst>
          </p:cNvPr>
          <p:cNvPicPr>
            <a:picLocks noGrp="1" noChangeAspect="1"/>
          </p:cNvPicPr>
          <p:nvPr>
            <p:ph idx="1"/>
          </p:nvPr>
        </p:nvPicPr>
        <p:blipFill>
          <a:blip r:embed="rId2"/>
          <a:stretch>
            <a:fillRect/>
          </a:stretch>
        </p:blipFill>
        <p:spPr>
          <a:xfrm>
            <a:off x="1300325" y="970839"/>
            <a:ext cx="5628949" cy="4070268"/>
          </a:xfrm>
          <a:prstGeom prst="rect">
            <a:avLst/>
          </a:prstGeom>
        </p:spPr>
      </p:pic>
      <p:sp>
        <p:nvSpPr>
          <p:cNvPr id="4" name="Slide Number Placeholder 3">
            <a:extLst>
              <a:ext uri="{FF2B5EF4-FFF2-40B4-BE49-F238E27FC236}">
                <a16:creationId xmlns:a16="http://schemas.microsoft.com/office/drawing/2014/main" id="{7DB743BA-72B1-1650-4048-7D2D1FBE5FCE}"/>
              </a:ext>
            </a:extLst>
          </p:cNvPr>
          <p:cNvSpPr>
            <a:spLocks noGrp="1"/>
          </p:cNvSpPr>
          <p:nvPr>
            <p:ph type="sldNum" sz="quarter" idx="12"/>
          </p:nvPr>
        </p:nvSpPr>
        <p:spPr/>
        <p:txBody>
          <a:bodyPr/>
          <a:lstStyle/>
          <a:p>
            <a:fld id="{127DDC20-79C9-9647-820E-6D40A3D210C3}" type="slidenum">
              <a:rPr lang="en-US" smtClean="0"/>
              <a:pPr/>
              <a:t>38</a:t>
            </a:fld>
            <a:endParaRPr lang="en-US"/>
          </a:p>
        </p:txBody>
      </p:sp>
    </p:spTree>
    <p:extLst>
      <p:ext uri="{BB962C8B-B14F-4D97-AF65-F5344CB8AC3E}">
        <p14:creationId xmlns:p14="http://schemas.microsoft.com/office/powerpoint/2010/main" val="24098926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4E4AD09-0F44-429C-9C85-20A55D755E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Interpret a Statistical Test</a:t>
            </a:r>
          </a:p>
        </p:txBody>
      </p:sp>
      <p:graphicFrame>
        <p:nvGraphicFramePr>
          <p:cNvPr id="2" name="Table 2">
            <a:extLst>
              <a:ext uri="{FF2B5EF4-FFF2-40B4-BE49-F238E27FC236}">
                <a16:creationId xmlns:a16="http://schemas.microsoft.com/office/drawing/2014/main" id="{50762D0A-FF9C-404E-8398-24A8A7BD0808}"/>
              </a:ext>
            </a:extLst>
          </p:cNvPr>
          <p:cNvGraphicFramePr>
            <a:graphicFrameLocks noGrp="1"/>
          </p:cNvGraphicFramePr>
          <p:nvPr/>
        </p:nvGraphicFramePr>
        <p:xfrm>
          <a:off x="281940" y="1133982"/>
          <a:ext cx="7665721" cy="2259168"/>
        </p:xfrm>
        <a:graphic>
          <a:graphicData uri="http://schemas.openxmlformats.org/drawingml/2006/table">
            <a:tbl>
              <a:tblPr firstRow="1" bandRow="1">
                <a:tableStyleId>{5C22544A-7EE6-4342-B048-85BDC9FD1C3A}</a:tableStyleId>
              </a:tblPr>
              <a:tblGrid>
                <a:gridCol w="2555240">
                  <a:extLst>
                    <a:ext uri="{9D8B030D-6E8A-4147-A177-3AD203B41FA5}">
                      <a16:colId xmlns:a16="http://schemas.microsoft.com/office/drawing/2014/main" val="3020100628"/>
                    </a:ext>
                  </a:extLst>
                </a:gridCol>
                <a:gridCol w="5110481">
                  <a:extLst>
                    <a:ext uri="{9D8B030D-6E8A-4147-A177-3AD203B41FA5}">
                      <a16:colId xmlns:a16="http://schemas.microsoft.com/office/drawing/2014/main" val="1185360157"/>
                    </a:ext>
                  </a:extLst>
                </a:gridCol>
              </a:tblGrid>
              <a:tr h="753056">
                <a:tc>
                  <a:txBody>
                    <a:bodyPr/>
                    <a:lstStyle/>
                    <a:p>
                      <a:r>
                        <a:rPr lang="en-US" sz="2200" dirty="0"/>
                        <a:t>Concepts</a:t>
                      </a:r>
                    </a:p>
                  </a:txBody>
                  <a:tcPr marL="82296" marR="82296" marT="41148" marB="41148"/>
                </a:tc>
                <a:tc>
                  <a:txBody>
                    <a:bodyPr/>
                    <a:lstStyle/>
                    <a:p>
                      <a:r>
                        <a:rPr lang="en-US" sz="2200" dirty="0"/>
                        <a:t>Meaning</a:t>
                      </a:r>
                    </a:p>
                  </a:txBody>
                  <a:tcPr marL="82296" marR="82296" marT="41148" marB="41148"/>
                </a:tc>
                <a:extLst>
                  <a:ext uri="{0D108BD9-81ED-4DB2-BD59-A6C34878D82A}">
                    <a16:rowId xmlns:a16="http://schemas.microsoft.com/office/drawing/2014/main" val="2528490114"/>
                  </a:ext>
                </a:extLst>
              </a:tr>
              <a:tr h="753056">
                <a:tc>
                  <a:txBody>
                    <a:bodyPr/>
                    <a:lstStyle/>
                    <a:p>
                      <a:r>
                        <a:rPr lang="en-US" sz="2200" b="1" dirty="0">
                          <a:solidFill>
                            <a:srgbClr val="E3874F"/>
                          </a:solidFill>
                        </a:rPr>
                        <a:t>Null Hypothesis (H</a:t>
                      </a:r>
                      <a:r>
                        <a:rPr lang="en-US" sz="2200" b="1" baseline="-25000" dirty="0">
                          <a:solidFill>
                            <a:srgbClr val="E3874F"/>
                          </a:solidFill>
                        </a:rPr>
                        <a:t>0</a:t>
                      </a:r>
                      <a:r>
                        <a:rPr lang="en-US" sz="2200" b="1" dirty="0">
                          <a:solidFill>
                            <a:srgbClr val="E3874F"/>
                          </a:solidFill>
                        </a:rPr>
                        <a:t>)</a:t>
                      </a:r>
                      <a:endParaRPr lang="en-US" sz="2200" dirty="0"/>
                    </a:p>
                  </a:txBody>
                  <a:tcPr marL="82296" marR="82296" marT="41148" marB="41148"/>
                </a:tc>
                <a:tc>
                  <a:txBody>
                    <a:bodyPr/>
                    <a:lstStyle/>
                    <a:p>
                      <a:r>
                        <a:rPr lang="en-US" sz="2200" b="1" dirty="0">
                          <a:solidFill>
                            <a:srgbClr val="FF0000"/>
                          </a:solidFill>
                        </a:rPr>
                        <a:t>NO</a:t>
                      </a:r>
                      <a:r>
                        <a:rPr lang="en-US" sz="2200" dirty="0"/>
                        <a:t> statistical significance or difference</a:t>
                      </a:r>
                    </a:p>
                  </a:txBody>
                  <a:tcPr marL="82296" marR="82296" marT="41148" marB="41148"/>
                </a:tc>
                <a:extLst>
                  <a:ext uri="{0D108BD9-81ED-4DB2-BD59-A6C34878D82A}">
                    <a16:rowId xmlns:a16="http://schemas.microsoft.com/office/drawing/2014/main" val="3169031087"/>
                  </a:ext>
                </a:extLst>
              </a:tr>
              <a:tr h="753056">
                <a:tc>
                  <a:txBody>
                    <a:bodyPr/>
                    <a:lstStyle/>
                    <a:p>
                      <a:r>
                        <a:rPr lang="en-US" sz="2200" b="1" dirty="0">
                          <a:solidFill>
                            <a:srgbClr val="E3874F"/>
                          </a:solidFill>
                        </a:rPr>
                        <a:t>Alternative Hypothesis (H</a:t>
                      </a:r>
                      <a:r>
                        <a:rPr lang="en-US" sz="2200" b="1" baseline="-25000" dirty="0">
                          <a:solidFill>
                            <a:srgbClr val="E3874F"/>
                          </a:solidFill>
                        </a:rPr>
                        <a:t>a</a:t>
                      </a:r>
                      <a:r>
                        <a:rPr lang="en-US" sz="2200" b="1" dirty="0">
                          <a:solidFill>
                            <a:srgbClr val="E3874F"/>
                          </a:solidFill>
                        </a:rPr>
                        <a:t>) </a:t>
                      </a:r>
                      <a:endParaRPr lang="en-US" sz="2200" dirty="0"/>
                    </a:p>
                  </a:txBody>
                  <a:tcPr marL="82296" marR="82296" marT="41148" marB="41148"/>
                </a:tc>
                <a:tc>
                  <a:txBody>
                    <a:bodyPr/>
                    <a:lstStyle/>
                    <a:p>
                      <a:r>
                        <a:rPr lang="en-US" sz="2200" b="1" dirty="0">
                          <a:solidFill>
                            <a:srgbClr val="FF0000"/>
                          </a:solidFill>
                        </a:rPr>
                        <a:t>There is </a:t>
                      </a:r>
                      <a:r>
                        <a:rPr lang="en-US" sz="2200" dirty="0"/>
                        <a:t>statistical significance or difference</a:t>
                      </a:r>
                    </a:p>
                  </a:txBody>
                  <a:tcPr marL="82296" marR="82296" marT="41148" marB="41148"/>
                </a:tc>
                <a:extLst>
                  <a:ext uri="{0D108BD9-81ED-4DB2-BD59-A6C34878D82A}">
                    <a16:rowId xmlns:a16="http://schemas.microsoft.com/office/drawing/2014/main" val="1372851597"/>
                  </a:ext>
                </a:extLst>
              </a:tr>
            </a:tbl>
          </a:graphicData>
        </a:graphic>
      </p:graphicFrame>
      <p:sp>
        <p:nvSpPr>
          <p:cNvPr id="3" name="Slide Number Placeholder 2">
            <a:extLst>
              <a:ext uri="{FF2B5EF4-FFF2-40B4-BE49-F238E27FC236}">
                <a16:creationId xmlns:a16="http://schemas.microsoft.com/office/drawing/2014/main" id="{D0D195C6-E496-99CA-2D00-45C84D629395}"/>
              </a:ext>
            </a:extLst>
          </p:cNvPr>
          <p:cNvSpPr>
            <a:spLocks noGrp="1"/>
          </p:cNvSpPr>
          <p:nvPr>
            <p:ph type="sldNum" sz="quarter" idx="12"/>
          </p:nvPr>
        </p:nvSpPr>
        <p:spPr/>
        <p:txBody>
          <a:bodyPr/>
          <a:lstStyle/>
          <a:p>
            <a:fld id="{127DDC20-79C9-9647-820E-6D40A3D210C3}" type="slidenum">
              <a:rPr lang="en-US" smtClean="0"/>
              <a:pPr/>
              <a:t>39</a:t>
            </a:fld>
            <a:endParaRPr lang="en-US"/>
          </a:p>
        </p:txBody>
      </p:sp>
    </p:spTree>
    <p:extLst>
      <p:ext uri="{BB962C8B-B14F-4D97-AF65-F5344CB8AC3E}">
        <p14:creationId xmlns:p14="http://schemas.microsoft.com/office/powerpoint/2010/main" val="1424345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4E4AD09-0F44-429C-9C85-20A55D755E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Interpret a Statistical Test</a:t>
            </a:r>
          </a:p>
        </p:txBody>
      </p:sp>
      <p:graphicFrame>
        <p:nvGraphicFramePr>
          <p:cNvPr id="2" name="Table 2">
            <a:extLst>
              <a:ext uri="{FF2B5EF4-FFF2-40B4-BE49-F238E27FC236}">
                <a16:creationId xmlns:a16="http://schemas.microsoft.com/office/drawing/2014/main" id="{50762D0A-FF9C-404E-8398-24A8A7BD0808}"/>
              </a:ext>
            </a:extLst>
          </p:cNvPr>
          <p:cNvGraphicFramePr>
            <a:graphicFrameLocks noGrp="1"/>
          </p:cNvGraphicFramePr>
          <p:nvPr/>
        </p:nvGraphicFramePr>
        <p:xfrm>
          <a:off x="281940" y="1133981"/>
          <a:ext cx="7665721" cy="3012224"/>
        </p:xfrm>
        <a:graphic>
          <a:graphicData uri="http://schemas.openxmlformats.org/drawingml/2006/table">
            <a:tbl>
              <a:tblPr firstRow="1" bandRow="1">
                <a:tableStyleId>{5C22544A-7EE6-4342-B048-85BDC9FD1C3A}</a:tableStyleId>
              </a:tblPr>
              <a:tblGrid>
                <a:gridCol w="2555240">
                  <a:extLst>
                    <a:ext uri="{9D8B030D-6E8A-4147-A177-3AD203B41FA5}">
                      <a16:colId xmlns:a16="http://schemas.microsoft.com/office/drawing/2014/main" val="3020100628"/>
                    </a:ext>
                  </a:extLst>
                </a:gridCol>
                <a:gridCol w="5110481">
                  <a:extLst>
                    <a:ext uri="{9D8B030D-6E8A-4147-A177-3AD203B41FA5}">
                      <a16:colId xmlns:a16="http://schemas.microsoft.com/office/drawing/2014/main" val="1185360157"/>
                    </a:ext>
                  </a:extLst>
                </a:gridCol>
              </a:tblGrid>
              <a:tr h="753056">
                <a:tc>
                  <a:txBody>
                    <a:bodyPr/>
                    <a:lstStyle/>
                    <a:p>
                      <a:r>
                        <a:rPr lang="en-US" sz="2200" dirty="0"/>
                        <a:t>Concepts</a:t>
                      </a:r>
                    </a:p>
                  </a:txBody>
                  <a:tcPr marL="82296" marR="82296" marT="41148" marB="41148"/>
                </a:tc>
                <a:tc>
                  <a:txBody>
                    <a:bodyPr/>
                    <a:lstStyle/>
                    <a:p>
                      <a:r>
                        <a:rPr lang="en-US" sz="2200" dirty="0"/>
                        <a:t>Meaning</a:t>
                      </a:r>
                    </a:p>
                  </a:txBody>
                  <a:tcPr marL="82296" marR="82296" marT="41148" marB="41148"/>
                </a:tc>
                <a:extLst>
                  <a:ext uri="{0D108BD9-81ED-4DB2-BD59-A6C34878D82A}">
                    <a16:rowId xmlns:a16="http://schemas.microsoft.com/office/drawing/2014/main" val="2528490114"/>
                  </a:ext>
                </a:extLst>
              </a:tr>
              <a:tr h="753056">
                <a:tc>
                  <a:txBody>
                    <a:bodyPr/>
                    <a:lstStyle/>
                    <a:p>
                      <a:r>
                        <a:rPr lang="en-US" sz="2200" b="1" dirty="0">
                          <a:solidFill>
                            <a:srgbClr val="E3874F"/>
                          </a:solidFill>
                        </a:rPr>
                        <a:t>Null Hypothesis (H</a:t>
                      </a:r>
                      <a:r>
                        <a:rPr lang="en-US" sz="2200" b="1" baseline="-25000" dirty="0">
                          <a:solidFill>
                            <a:srgbClr val="E3874F"/>
                          </a:solidFill>
                        </a:rPr>
                        <a:t>0</a:t>
                      </a:r>
                      <a:r>
                        <a:rPr lang="en-US" sz="2200" b="1" dirty="0">
                          <a:solidFill>
                            <a:srgbClr val="E3874F"/>
                          </a:solidFill>
                        </a:rPr>
                        <a:t>)</a:t>
                      </a:r>
                      <a:endParaRPr lang="en-US" sz="2200" dirty="0"/>
                    </a:p>
                  </a:txBody>
                  <a:tcPr marL="82296" marR="82296" marT="41148" marB="41148"/>
                </a:tc>
                <a:tc>
                  <a:txBody>
                    <a:bodyPr/>
                    <a:lstStyle/>
                    <a:p>
                      <a:r>
                        <a:rPr lang="en-US" sz="2200" b="1" dirty="0">
                          <a:solidFill>
                            <a:srgbClr val="FF0000"/>
                          </a:solidFill>
                        </a:rPr>
                        <a:t>NO</a:t>
                      </a:r>
                      <a:r>
                        <a:rPr lang="en-US" sz="2200" dirty="0"/>
                        <a:t> statistical significance or difference</a:t>
                      </a:r>
                    </a:p>
                  </a:txBody>
                  <a:tcPr marL="82296" marR="82296" marT="41148" marB="41148"/>
                </a:tc>
                <a:extLst>
                  <a:ext uri="{0D108BD9-81ED-4DB2-BD59-A6C34878D82A}">
                    <a16:rowId xmlns:a16="http://schemas.microsoft.com/office/drawing/2014/main" val="3169031087"/>
                  </a:ext>
                </a:extLst>
              </a:tr>
              <a:tr h="753056">
                <a:tc>
                  <a:txBody>
                    <a:bodyPr/>
                    <a:lstStyle/>
                    <a:p>
                      <a:r>
                        <a:rPr lang="en-US" sz="2200" b="1" dirty="0">
                          <a:solidFill>
                            <a:srgbClr val="E3874F"/>
                          </a:solidFill>
                        </a:rPr>
                        <a:t>Alternative Hypothesis (H</a:t>
                      </a:r>
                      <a:r>
                        <a:rPr lang="en-US" sz="2200" b="1" baseline="-25000" dirty="0">
                          <a:solidFill>
                            <a:srgbClr val="E3874F"/>
                          </a:solidFill>
                        </a:rPr>
                        <a:t>a</a:t>
                      </a:r>
                      <a:r>
                        <a:rPr lang="en-US" sz="2200" b="1" dirty="0">
                          <a:solidFill>
                            <a:srgbClr val="E3874F"/>
                          </a:solidFill>
                        </a:rPr>
                        <a:t>) </a:t>
                      </a:r>
                      <a:endParaRPr lang="en-US" sz="2200" dirty="0"/>
                    </a:p>
                  </a:txBody>
                  <a:tcPr marL="82296" marR="82296" marT="41148" marB="41148"/>
                </a:tc>
                <a:tc>
                  <a:txBody>
                    <a:bodyPr/>
                    <a:lstStyle/>
                    <a:p>
                      <a:r>
                        <a:rPr lang="en-US" sz="2200" b="1" dirty="0">
                          <a:solidFill>
                            <a:srgbClr val="FF0000"/>
                          </a:solidFill>
                        </a:rPr>
                        <a:t>There is </a:t>
                      </a:r>
                      <a:r>
                        <a:rPr lang="en-US" sz="2200" dirty="0"/>
                        <a:t>statistical significance or difference</a:t>
                      </a:r>
                    </a:p>
                  </a:txBody>
                  <a:tcPr marL="82296" marR="82296" marT="41148" marB="41148"/>
                </a:tc>
                <a:extLst>
                  <a:ext uri="{0D108BD9-81ED-4DB2-BD59-A6C34878D82A}">
                    <a16:rowId xmlns:a16="http://schemas.microsoft.com/office/drawing/2014/main" val="1372851597"/>
                  </a:ext>
                </a:extLst>
              </a:tr>
              <a:tr h="75305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200" i="1" dirty="0"/>
                        <a:t>P</a:t>
                      </a:r>
                      <a:r>
                        <a:rPr lang="en-US" sz="2200" dirty="0"/>
                        <a:t>-value (0.01, 0.05, 0.1)</a:t>
                      </a:r>
                    </a:p>
                  </a:txBody>
                  <a:tcPr marL="82296" marR="82296" marT="41148" marB="41148"/>
                </a:tc>
                <a:tc>
                  <a:txBody>
                    <a:bodyPr/>
                    <a:lstStyle/>
                    <a:p>
                      <a:r>
                        <a:rPr lang="en-US" sz="2200" dirty="0"/>
                        <a:t>There is less </a:t>
                      </a:r>
                      <a:r>
                        <a:rPr lang="en-US" sz="2200" b="1" dirty="0">
                          <a:solidFill>
                            <a:srgbClr val="FF0000"/>
                          </a:solidFill>
                        </a:rPr>
                        <a:t>than a 1%, 5%,10%</a:t>
                      </a:r>
                      <a:r>
                        <a:rPr lang="en-US" sz="2200" dirty="0"/>
                        <a:t> chance of obtaining the result by random chance </a:t>
                      </a:r>
                    </a:p>
                  </a:txBody>
                  <a:tcPr marL="82296" marR="82296" marT="41148" marB="41148"/>
                </a:tc>
                <a:extLst>
                  <a:ext uri="{0D108BD9-81ED-4DB2-BD59-A6C34878D82A}">
                    <a16:rowId xmlns:a16="http://schemas.microsoft.com/office/drawing/2014/main" val="1754304657"/>
                  </a:ext>
                </a:extLst>
              </a:tr>
            </a:tbl>
          </a:graphicData>
        </a:graphic>
      </p:graphicFrame>
      <p:sp>
        <p:nvSpPr>
          <p:cNvPr id="3" name="TextBox 2">
            <a:extLst>
              <a:ext uri="{FF2B5EF4-FFF2-40B4-BE49-F238E27FC236}">
                <a16:creationId xmlns:a16="http://schemas.microsoft.com/office/drawing/2014/main" id="{EEF714FA-CB32-48EB-A25E-FAD7107B8726}"/>
              </a:ext>
            </a:extLst>
          </p:cNvPr>
          <p:cNvSpPr txBox="1"/>
          <p:nvPr/>
        </p:nvSpPr>
        <p:spPr>
          <a:xfrm>
            <a:off x="860943" y="4321331"/>
            <a:ext cx="5953019" cy="424732"/>
          </a:xfrm>
          <a:prstGeom prst="rect">
            <a:avLst/>
          </a:prstGeom>
          <a:noFill/>
        </p:spPr>
        <p:txBody>
          <a:bodyPr wrap="square" rtlCol="0">
            <a:spAutoFit/>
          </a:bodyPr>
          <a:lstStyle/>
          <a:p>
            <a:r>
              <a:rPr lang="en-US" sz="2160" i="1" dirty="0">
                <a:solidFill>
                  <a:srgbClr val="FF0000"/>
                </a:solidFill>
              </a:rPr>
              <a:t>P</a:t>
            </a:r>
            <a:r>
              <a:rPr lang="en-US" sz="2160" dirty="0">
                <a:solidFill>
                  <a:srgbClr val="FF0000"/>
                </a:solidFill>
              </a:rPr>
              <a:t>-value &lt; 0.1                     Reject null hypothesis</a:t>
            </a:r>
          </a:p>
        </p:txBody>
      </p:sp>
      <p:sp>
        <p:nvSpPr>
          <p:cNvPr id="4" name="Arrow: Right 3" descr="Red arrow">
            <a:extLst>
              <a:ext uri="{FF2B5EF4-FFF2-40B4-BE49-F238E27FC236}">
                <a16:creationId xmlns:a16="http://schemas.microsoft.com/office/drawing/2014/main" id="{970AF763-AEDD-4723-9347-02C5C2AF3AA1}"/>
              </a:ext>
            </a:extLst>
          </p:cNvPr>
          <p:cNvSpPr/>
          <p:nvPr/>
        </p:nvSpPr>
        <p:spPr>
          <a:xfrm>
            <a:off x="2595489" y="4424482"/>
            <a:ext cx="911587" cy="246460"/>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20" dirty="0"/>
          </a:p>
        </p:txBody>
      </p:sp>
      <p:sp>
        <p:nvSpPr>
          <p:cNvPr id="5" name="Slide Number Placeholder 4">
            <a:extLst>
              <a:ext uri="{FF2B5EF4-FFF2-40B4-BE49-F238E27FC236}">
                <a16:creationId xmlns:a16="http://schemas.microsoft.com/office/drawing/2014/main" id="{F8F9A574-1CEF-1B0B-78B6-BF662A4E2C91}"/>
              </a:ext>
            </a:extLst>
          </p:cNvPr>
          <p:cNvSpPr>
            <a:spLocks noGrp="1"/>
          </p:cNvSpPr>
          <p:nvPr>
            <p:ph type="sldNum" sz="quarter" idx="12"/>
          </p:nvPr>
        </p:nvSpPr>
        <p:spPr/>
        <p:txBody>
          <a:bodyPr/>
          <a:lstStyle/>
          <a:p>
            <a:fld id="{127DDC20-79C9-9647-820E-6D40A3D210C3}" type="slidenum">
              <a:rPr lang="en-US" smtClean="0"/>
              <a:pPr/>
              <a:t>40</a:t>
            </a:fld>
            <a:endParaRPr lang="en-US"/>
          </a:p>
        </p:txBody>
      </p:sp>
    </p:spTree>
    <p:extLst>
      <p:ext uri="{BB962C8B-B14F-4D97-AF65-F5344CB8AC3E}">
        <p14:creationId xmlns:p14="http://schemas.microsoft.com/office/powerpoint/2010/main" val="455187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circle(in)">
                                      <p:cBhvr>
                                        <p:cTn id="10"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4E4AD09-0F44-429C-9C85-20A55D755E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Average Nearest Neighbor</a:t>
            </a:r>
          </a:p>
        </p:txBody>
      </p:sp>
      <p:sp>
        <p:nvSpPr>
          <p:cNvPr id="7" name="TextBox 6">
            <a:extLst>
              <a:ext uri="{FF2B5EF4-FFF2-40B4-BE49-F238E27FC236}">
                <a16:creationId xmlns:a16="http://schemas.microsoft.com/office/drawing/2014/main" id="{1E751214-79C6-4100-AAA2-BFE788A37741}"/>
              </a:ext>
            </a:extLst>
          </p:cNvPr>
          <p:cNvSpPr txBox="1"/>
          <p:nvPr/>
        </p:nvSpPr>
        <p:spPr>
          <a:xfrm>
            <a:off x="152400" y="1052339"/>
            <a:ext cx="7200900" cy="690702"/>
          </a:xfrm>
          <a:prstGeom prst="rect">
            <a:avLst/>
          </a:prstGeom>
          <a:noFill/>
        </p:spPr>
        <p:txBody>
          <a:bodyPr wrap="square" rtlCol="0">
            <a:spAutoFit/>
          </a:bodyPr>
          <a:lstStyle/>
          <a:p>
            <a:pPr>
              <a:lnSpc>
                <a:spcPct val="90000"/>
              </a:lnSpc>
            </a:pPr>
            <a:r>
              <a:rPr lang="en-US" sz="2160" dirty="0"/>
              <a:t>Test to determine if a point pattern/distribution is random, clustered, or dispersed</a:t>
            </a:r>
          </a:p>
        </p:txBody>
      </p:sp>
      <p:graphicFrame>
        <p:nvGraphicFramePr>
          <p:cNvPr id="12" name="Table 2">
            <a:extLst>
              <a:ext uri="{FF2B5EF4-FFF2-40B4-BE49-F238E27FC236}">
                <a16:creationId xmlns:a16="http://schemas.microsoft.com/office/drawing/2014/main" id="{4E11090B-68DE-455C-8ED0-AE2C507CC7B5}"/>
              </a:ext>
            </a:extLst>
          </p:cNvPr>
          <p:cNvGraphicFramePr>
            <a:graphicFrameLocks noGrp="1"/>
          </p:cNvGraphicFramePr>
          <p:nvPr/>
        </p:nvGraphicFramePr>
        <p:xfrm>
          <a:off x="281940" y="1939470"/>
          <a:ext cx="7665721" cy="2259168"/>
        </p:xfrm>
        <a:graphic>
          <a:graphicData uri="http://schemas.openxmlformats.org/drawingml/2006/table">
            <a:tbl>
              <a:tblPr firstRow="1" bandRow="1">
                <a:tableStyleId>{5C22544A-7EE6-4342-B048-85BDC9FD1C3A}</a:tableStyleId>
              </a:tblPr>
              <a:tblGrid>
                <a:gridCol w="2555240">
                  <a:extLst>
                    <a:ext uri="{9D8B030D-6E8A-4147-A177-3AD203B41FA5}">
                      <a16:colId xmlns:a16="http://schemas.microsoft.com/office/drawing/2014/main" val="3020100628"/>
                    </a:ext>
                  </a:extLst>
                </a:gridCol>
                <a:gridCol w="5110481">
                  <a:extLst>
                    <a:ext uri="{9D8B030D-6E8A-4147-A177-3AD203B41FA5}">
                      <a16:colId xmlns:a16="http://schemas.microsoft.com/office/drawing/2014/main" val="1185360157"/>
                    </a:ext>
                  </a:extLst>
                </a:gridCol>
              </a:tblGrid>
              <a:tr h="753056">
                <a:tc>
                  <a:txBody>
                    <a:bodyPr/>
                    <a:lstStyle/>
                    <a:p>
                      <a:r>
                        <a:rPr lang="en-US" sz="2200" dirty="0"/>
                        <a:t>Concepts</a:t>
                      </a:r>
                    </a:p>
                  </a:txBody>
                  <a:tcPr marL="82296" marR="82296" marT="41148" marB="41148"/>
                </a:tc>
                <a:tc>
                  <a:txBody>
                    <a:bodyPr/>
                    <a:lstStyle/>
                    <a:p>
                      <a:r>
                        <a:rPr lang="en-US" sz="2200" dirty="0"/>
                        <a:t>Meaning</a:t>
                      </a:r>
                    </a:p>
                  </a:txBody>
                  <a:tcPr marL="82296" marR="82296" marT="41148" marB="41148"/>
                </a:tc>
                <a:extLst>
                  <a:ext uri="{0D108BD9-81ED-4DB2-BD59-A6C34878D82A}">
                    <a16:rowId xmlns:a16="http://schemas.microsoft.com/office/drawing/2014/main" val="2528490114"/>
                  </a:ext>
                </a:extLst>
              </a:tr>
              <a:tr h="753056">
                <a:tc>
                  <a:txBody>
                    <a:bodyPr/>
                    <a:lstStyle/>
                    <a:p>
                      <a:r>
                        <a:rPr lang="en-US" sz="2200" b="1" dirty="0">
                          <a:solidFill>
                            <a:srgbClr val="E3874F"/>
                          </a:solidFill>
                        </a:rPr>
                        <a:t>Null Hypothesis (H</a:t>
                      </a:r>
                      <a:r>
                        <a:rPr lang="en-US" sz="2200" b="1" baseline="-25000" dirty="0">
                          <a:solidFill>
                            <a:srgbClr val="E3874F"/>
                          </a:solidFill>
                        </a:rPr>
                        <a:t>0</a:t>
                      </a:r>
                      <a:r>
                        <a:rPr lang="en-US" sz="2200" b="1" dirty="0">
                          <a:solidFill>
                            <a:srgbClr val="E3874F"/>
                          </a:solidFill>
                        </a:rPr>
                        <a:t>)</a:t>
                      </a:r>
                      <a:endParaRPr lang="en-US" sz="2200" dirty="0"/>
                    </a:p>
                  </a:txBody>
                  <a:tcPr marL="82296" marR="82296" marT="41148" marB="41148"/>
                </a:tc>
                <a:tc>
                  <a:txBody>
                    <a:bodyPr/>
                    <a:lstStyle/>
                    <a:p>
                      <a:r>
                        <a:rPr lang="en-US" sz="2200" b="0" dirty="0">
                          <a:solidFill>
                            <a:schemeClr val="tx1"/>
                          </a:solidFill>
                        </a:rPr>
                        <a:t>Point pattern is </a:t>
                      </a:r>
                      <a:r>
                        <a:rPr lang="en-US" sz="2200" b="1" dirty="0">
                          <a:solidFill>
                            <a:srgbClr val="FF0000"/>
                          </a:solidFill>
                        </a:rPr>
                        <a:t>random</a:t>
                      </a:r>
                    </a:p>
                  </a:txBody>
                  <a:tcPr marL="82296" marR="82296" marT="41148" marB="41148"/>
                </a:tc>
                <a:extLst>
                  <a:ext uri="{0D108BD9-81ED-4DB2-BD59-A6C34878D82A}">
                    <a16:rowId xmlns:a16="http://schemas.microsoft.com/office/drawing/2014/main" val="3169031087"/>
                  </a:ext>
                </a:extLst>
              </a:tr>
              <a:tr h="753056">
                <a:tc>
                  <a:txBody>
                    <a:bodyPr/>
                    <a:lstStyle/>
                    <a:p>
                      <a:r>
                        <a:rPr lang="en-US" sz="2200" b="1" dirty="0">
                          <a:solidFill>
                            <a:srgbClr val="E3874F"/>
                          </a:solidFill>
                        </a:rPr>
                        <a:t>Alternative Hypothesis (H</a:t>
                      </a:r>
                      <a:r>
                        <a:rPr lang="en-US" sz="2200" b="1" baseline="-25000" dirty="0">
                          <a:solidFill>
                            <a:srgbClr val="E3874F"/>
                          </a:solidFill>
                        </a:rPr>
                        <a:t>a</a:t>
                      </a:r>
                      <a:r>
                        <a:rPr lang="en-US" sz="2200" b="1" dirty="0">
                          <a:solidFill>
                            <a:srgbClr val="E3874F"/>
                          </a:solidFill>
                        </a:rPr>
                        <a:t>) </a:t>
                      </a:r>
                      <a:endParaRPr lang="en-US" sz="2200" dirty="0"/>
                    </a:p>
                  </a:txBody>
                  <a:tcPr marL="82296" marR="82296" marT="41148" marB="41148"/>
                </a:tc>
                <a:tc>
                  <a:txBody>
                    <a:bodyPr/>
                    <a:lstStyle/>
                    <a:p>
                      <a:r>
                        <a:rPr lang="en-US" sz="2200" b="0" dirty="0">
                          <a:solidFill>
                            <a:schemeClr val="tx1"/>
                          </a:solidFill>
                        </a:rPr>
                        <a:t>Point pattern is </a:t>
                      </a:r>
                      <a:r>
                        <a:rPr lang="en-US" sz="2200" b="1" dirty="0">
                          <a:solidFill>
                            <a:srgbClr val="FF0000"/>
                          </a:solidFill>
                        </a:rPr>
                        <a:t>NOT random </a:t>
                      </a:r>
                      <a:r>
                        <a:rPr lang="en-US" sz="2200" b="0" dirty="0">
                          <a:solidFill>
                            <a:schemeClr val="tx1"/>
                          </a:solidFill>
                        </a:rPr>
                        <a:t>(clustered or dispersed)</a:t>
                      </a:r>
                    </a:p>
                  </a:txBody>
                  <a:tcPr marL="82296" marR="82296" marT="41148" marB="41148"/>
                </a:tc>
                <a:extLst>
                  <a:ext uri="{0D108BD9-81ED-4DB2-BD59-A6C34878D82A}">
                    <a16:rowId xmlns:a16="http://schemas.microsoft.com/office/drawing/2014/main" val="1372851597"/>
                  </a:ext>
                </a:extLst>
              </a:tr>
            </a:tbl>
          </a:graphicData>
        </a:graphic>
      </p:graphicFrame>
      <p:sp>
        <p:nvSpPr>
          <p:cNvPr id="2" name="Slide Number Placeholder 1">
            <a:extLst>
              <a:ext uri="{FF2B5EF4-FFF2-40B4-BE49-F238E27FC236}">
                <a16:creationId xmlns:a16="http://schemas.microsoft.com/office/drawing/2014/main" id="{A6A4F6EC-D4AF-633B-8811-14351CB9009E}"/>
              </a:ext>
            </a:extLst>
          </p:cNvPr>
          <p:cNvSpPr>
            <a:spLocks noGrp="1"/>
          </p:cNvSpPr>
          <p:nvPr>
            <p:ph type="sldNum" sz="quarter" idx="12"/>
          </p:nvPr>
        </p:nvSpPr>
        <p:spPr/>
        <p:txBody>
          <a:bodyPr/>
          <a:lstStyle/>
          <a:p>
            <a:fld id="{127DDC20-79C9-9647-820E-6D40A3D210C3}" type="slidenum">
              <a:rPr lang="en-US" smtClean="0"/>
              <a:pPr/>
              <a:t>41</a:t>
            </a:fld>
            <a:endParaRPr lang="en-US"/>
          </a:p>
        </p:txBody>
      </p:sp>
    </p:spTree>
    <p:extLst>
      <p:ext uri="{BB962C8B-B14F-4D97-AF65-F5344CB8AC3E}">
        <p14:creationId xmlns:p14="http://schemas.microsoft.com/office/powerpoint/2010/main" val="580244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4E4AD09-0F44-429C-9C85-20A55D755E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Average Nearest Neighbor</a:t>
            </a:r>
          </a:p>
        </p:txBody>
      </p:sp>
      <p:sp>
        <p:nvSpPr>
          <p:cNvPr id="7" name="TextBox 6">
            <a:extLst>
              <a:ext uri="{FF2B5EF4-FFF2-40B4-BE49-F238E27FC236}">
                <a16:creationId xmlns:a16="http://schemas.microsoft.com/office/drawing/2014/main" id="{1E751214-79C6-4100-AAA2-BFE788A37741}"/>
              </a:ext>
            </a:extLst>
          </p:cNvPr>
          <p:cNvSpPr txBox="1"/>
          <p:nvPr/>
        </p:nvSpPr>
        <p:spPr>
          <a:xfrm>
            <a:off x="152400" y="1052339"/>
            <a:ext cx="7200900" cy="690702"/>
          </a:xfrm>
          <a:prstGeom prst="rect">
            <a:avLst/>
          </a:prstGeom>
          <a:noFill/>
        </p:spPr>
        <p:txBody>
          <a:bodyPr wrap="square" rtlCol="0">
            <a:spAutoFit/>
          </a:bodyPr>
          <a:lstStyle/>
          <a:p>
            <a:pPr>
              <a:lnSpc>
                <a:spcPct val="90000"/>
              </a:lnSpc>
            </a:pPr>
            <a:r>
              <a:rPr lang="en-US" sz="2160" dirty="0"/>
              <a:t>Test to determine if a point pattern/distribution is random, clustered, or dispersed</a:t>
            </a:r>
          </a:p>
        </p:txBody>
      </p:sp>
      <p:pic>
        <p:nvPicPr>
          <p:cNvPr id="3" name="Picture 2" descr="A picture containing kite, standing, flying, cat&#10;&#10;Description automatically generated">
            <a:extLst>
              <a:ext uri="{FF2B5EF4-FFF2-40B4-BE49-F238E27FC236}">
                <a16:creationId xmlns:a16="http://schemas.microsoft.com/office/drawing/2014/main" id="{379E151E-B3C6-4F4C-80FB-16C5FDF34309}"/>
              </a:ext>
            </a:extLst>
          </p:cNvPr>
          <p:cNvPicPr>
            <a:picLocks noChangeAspect="1"/>
          </p:cNvPicPr>
          <p:nvPr/>
        </p:nvPicPr>
        <p:blipFill>
          <a:blip r:embed="rId3"/>
          <a:stretch>
            <a:fillRect/>
          </a:stretch>
        </p:blipFill>
        <p:spPr>
          <a:xfrm>
            <a:off x="411481" y="1848403"/>
            <a:ext cx="4099958" cy="2699309"/>
          </a:xfrm>
          <a:prstGeom prst="rect">
            <a:avLst/>
          </a:prstGeom>
        </p:spPr>
      </p:pic>
      <p:pic>
        <p:nvPicPr>
          <p:cNvPr id="5" name="Picture 4" descr="A picture containing indoor, kite, standing, flying&#10;&#10;Description automatically generated">
            <a:extLst>
              <a:ext uri="{FF2B5EF4-FFF2-40B4-BE49-F238E27FC236}">
                <a16:creationId xmlns:a16="http://schemas.microsoft.com/office/drawing/2014/main" id="{407C97DC-0D9B-4301-B4F6-C80CC367A179}"/>
              </a:ext>
            </a:extLst>
          </p:cNvPr>
          <p:cNvPicPr>
            <a:picLocks noChangeAspect="1"/>
          </p:cNvPicPr>
          <p:nvPr/>
        </p:nvPicPr>
        <p:blipFill>
          <a:blip r:embed="rId4">
            <a:alphaModFix/>
          </a:blip>
          <a:stretch>
            <a:fillRect/>
          </a:stretch>
        </p:blipFill>
        <p:spPr>
          <a:xfrm>
            <a:off x="400652" y="1870061"/>
            <a:ext cx="4107735" cy="2649931"/>
          </a:xfrm>
          <a:prstGeom prst="rect">
            <a:avLst/>
          </a:prstGeom>
        </p:spPr>
      </p:pic>
      <p:pic>
        <p:nvPicPr>
          <p:cNvPr id="13" name="Picture 12" descr="A picture containing object&#10;&#10;Description automatically generated">
            <a:extLst>
              <a:ext uri="{FF2B5EF4-FFF2-40B4-BE49-F238E27FC236}">
                <a16:creationId xmlns:a16="http://schemas.microsoft.com/office/drawing/2014/main" id="{BA10B1C1-981F-4548-8B1F-C4D0F9C898A7}"/>
              </a:ext>
            </a:extLst>
          </p:cNvPr>
          <p:cNvPicPr>
            <a:picLocks noChangeAspect="1"/>
          </p:cNvPicPr>
          <p:nvPr/>
        </p:nvPicPr>
        <p:blipFill>
          <a:blip r:embed="rId5"/>
          <a:stretch>
            <a:fillRect/>
          </a:stretch>
        </p:blipFill>
        <p:spPr>
          <a:xfrm>
            <a:off x="400651" y="1831512"/>
            <a:ext cx="4678353" cy="2699309"/>
          </a:xfrm>
          <a:prstGeom prst="rect">
            <a:avLst/>
          </a:prstGeom>
        </p:spPr>
      </p:pic>
      <p:pic>
        <p:nvPicPr>
          <p:cNvPr id="15" name="Picture 14" descr="A picture containing object, clock&#10;&#10;Description automatically generated">
            <a:extLst>
              <a:ext uri="{FF2B5EF4-FFF2-40B4-BE49-F238E27FC236}">
                <a16:creationId xmlns:a16="http://schemas.microsoft.com/office/drawing/2014/main" id="{B31DA151-CB9B-49E5-85CD-632A7F5A6570}"/>
              </a:ext>
            </a:extLst>
          </p:cNvPr>
          <p:cNvPicPr>
            <a:picLocks noChangeAspect="1"/>
          </p:cNvPicPr>
          <p:nvPr/>
        </p:nvPicPr>
        <p:blipFill>
          <a:blip r:embed="rId6"/>
          <a:stretch>
            <a:fillRect/>
          </a:stretch>
        </p:blipFill>
        <p:spPr>
          <a:xfrm>
            <a:off x="411480" y="1836918"/>
            <a:ext cx="5498858" cy="2699309"/>
          </a:xfrm>
          <a:prstGeom prst="rect">
            <a:avLst/>
          </a:prstGeom>
        </p:spPr>
      </p:pic>
      <p:sp>
        <p:nvSpPr>
          <p:cNvPr id="16" name="TextBox 15">
            <a:extLst>
              <a:ext uri="{FF2B5EF4-FFF2-40B4-BE49-F238E27FC236}">
                <a16:creationId xmlns:a16="http://schemas.microsoft.com/office/drawing/2014/main" id="{3E1B111C-2F37-451D-BC33-9F2A92AA20D7}"/>
              </a:ext>
            </a:extLst>
          </p:cNvPr>
          <p:cNvSpPr txBox="1"/>
          <p:nvPr/>
        </p:nvSpPr>
        <p:spPr>
          <a:xfrm>
            <a:off x="530593" y="3669620"/>
            <a:ext cx="974558" cy="341632"/>
          </a:xfrm>
          <a:prstGeom prst="rect">
            <a:avLst/>
          </a:prstGeom>
          <a:solidFill>
            <a:schemeClr val="bg1"/>
          </a:solidFill>
        </p:spPr>
        <p:txBody>
          <a:bodyPr wrap="square" rtlCol="0">
            <a:spAutoFit/>
          </a:bodyPr>
          <a:lstStyle/>
          <a:p>
            <a:r>
              <a:rPr lang="en-US" sz="1620" dirty="0">
                <a:solidFill>
                  <a:srgbClr val="FF0000"/>
                </a:solidFill>
              </a:rPr>
              <a:t>Clustered</a:t>
            </a:r>
          </a:p>
        </p:txBody>
      </p:sp>
      <p:sp>
        <p:nvSpPr>
          <p:cNvPr id="17" name="TextBox 16">
            <a:extLst>
              <a:ext uri="{FF2B5EF4-FFF2-40B4-BE49-F238E27FC236}">
                <a16:creationId xmlns:a16="http://schemas.microsoft.com/office/drawing/2014/main" id="{B61861F7-789A-4585-9C25-4D1D1DC57986}"/>
              </a:ext>
            </a:extLst>
          </p:cNvPr>
          <p:cNvSpPr txBox="1"/>
          <p:nvPr/>
        </p:nvSpPr>
        <p:spPr>
          <a:xfrm>
            <a:off x="4818648" y="3669620"/>
            <a:ext cx="1090061" cy="341632"/>
          </a:xfrm>
          <a:prstGeom prst="rect">
            <a:avLst/>
          </a:prstGeom>
          <a:solidFill>
            <a:schemeClr val="bg1"/>
          </a:solidFill>
        </p:spPr>
        <p:txBody>
          <a:bodyPr wrap="square" rtlCol="0">
            <a:spAutoFit/>
          </a:bodyPr>
          <a:lstStyle/>
          <a:p>
            <a:pPr algn="ctr"/>
            <a:r>
              <a:rPr lang="en-US" sz="1620" dirty="0">
                <a:solidFill>
                  <a:srgbClr val="FF0000"/>
                </a:solidFill>
              </a:rPr>
              <a:t>Dispersed</a:t>
            </a:r>
          </a:p>
        </p:txBody>
      </p:sp>
      <p:sp>
        <p:nvSpPr>
          <p:cNvPr id="20" name="TextBox 19">
            <a:extLst>
              <a:ext uri="{FF2B5EF4-FFF2-40B4-BE49-F238E27FC236}">
                <a16:creationId xmlns:a16="http://schemas.microsoft.com/office/drawing/2014/main" id="{CDF16F8F-678C-4D12-B172-22C526DF110F}"/>
              </a:ext>
            </a:extLst>
          </p:cNvPr>
          <p:cNvSpPr txBox="1"/>
          <p:nvPr/>
        </p:nvSpPr>
        <p:spPr>
          <a:xfrm>
            <a:off x="6010985" y="4127294"/>
            <a:ext cx="2171425" cy="674031"/>
          </a:xfrm>
          <a:prstGeom prst="rect">
            <a:avLst/>
          </a:prstGeom>
          <a:noFill/>
        </p:spPr>
        <p:txBody>
          <a:bodyPr wrap="square" rtlCol="0">
            <a:spAutoFit/>
          </a:bodyPr>
          <a:lstStyle/>
          <a:p>
            <a:r>
              <a:rPr lang="en-US" sz="1260" dirty="0" err="1"/>
              <a:t>Esri</a:t>
            </a:r>
            <a:r>
              <a:rPr lang="en-US" sz="1260" dirty="0"/>
              <a:t> events</a:t>
            </a:r>
          </a:p>
          <a:p>
            <a:r>
              <a:rPr lang="en-US" sz="1260" dirty="0">
                <a:hlinkClick r:id="rId7"/>
              </a:rPr>
              <a:t>https://www.youtube.com/watch?v=3d_8nQpSCgE</a:t>
            </a:r>
            <a:endParaRPr lang="en-US" sz="1260" dirty="0"/>
          </a:p>
        </p:txBody>
      </p:sp>
      <p:sp>
        <p:nvSpPr>
          <p:cNvPr id="2" name="Slide Number Placeholder 1">
            <a:extLst>
              <a:ext uri="{FF2B5EF4-FFF2-40B4-BE49-F238E27FC236}">
                <a16:creationId xmlns:a16="http://schemas.microsoft.com/office/drawing/2014/main" id="{77336D0A-55CA-5A96-EB47-5DD0BED4EDF8}"/>
              </a:ext>
            </a:extLst>
          </p:cNvPr>
          <p:cNvSpPr>
            <a:spLocks noGrp="1"/>
          </p:cNvSpPr>
          <p:nvPr>
            <p:ph type="sldNum" sz="quarter" idx="12"/>
          </p:nvPr>
        </p:nvSpPr>
        <p:spPr/>
        <p:txBody>
          <a:bodyPr/>
          <a:lstStyle/>
          <a:p>
            <a:fld id="{127DDC20-79C9-9647-820E-6D40A3D210C3}" type="slidenum">
              <a:rPr lang="en-US" smtClean="0"/>
              <a:pPr/>
              <a:t>42</a:t>
            </a:fld>
            <a:endParaRPr lang="en-US"/>
          </a:p>
        </p:txBody>
      </p:sp>
      <p:sp>
        <p:nvSpPr>
          <p:cNvPr id="6" name="TextBox 5">
            <a:extLst>
              <a:ext uri="{FF2B5EF4-FFF2-40B4-BE49-F238E27FC236}">
                <a16:creationId xmlns:a16="http://schemas.microsoft.com/office/drawing/2014/main" id="{D9A0B8BB-6AD2-DEBA-51CA-61271DD17877}"/>
              </a:ext>
            </a:extLst>
          </p:cNvPr>
          <p:cNvSpPr txBox="1"/>
          <p:nvPr/>
        </p:nvSpPr>
        <p:spPr>
          <a:xfrm>
            <a:off x="6137692" y="1593783"/>
            <a:ext cx="2044718" cy="369332"/>
          </a:xfrm>
          <a:prstGeom prst="rect">
            <a:avLst/>
          </a:prstGeom>
          <a:noFill/>
        </p:spPr>
        <p:txBody>
          <a:bodyPr wrap="square">
            <a:spAutoFit/>
          </a:bodyPr>
          <a:lstStyle/>
          <a:p>
            <a:r>
              <a:rPr lang="en-US" altLang="zh-CN" dirty="0"/>
              <a:t>ANN &gt; 1 suggests:</a:t>
            </a:r>
            <a:endParaRPr lang="zh-CN" altLang="en-US" dirty="0"/>
          </a:p>
        </p:txBody>
      </p:sp>
      <p:sp>
        <p:nvSpPr>
          <p:cNvPr id="10" name="TextBox 9">
            <a:extLst>
              <a:ext uri="{FF2B5EF4-FFF2-40B4-BE49-F238E27FC236}">
                <a16:creationId xmlns:a16="http://schemas.microsoft.com/office/drawing/2014/main" id="{95ACCC2A-672D-2DB8-89AA-855794BFDEC1}"/>
              </a:ext>
            </a:extLst>
          </p:cNvPr>
          <p:cNvSpPr txBox="1"/>
          <p:nvPr/>
        </p:nvSpPr>
        <p:spPr>
          <a:xfrm>
            <a:off x="6270171" y="2048905"/>
            <a:ext cx="1477735" cy="923330"/>
          </a:xfrm>
          <a:prstGeom prst="rect">
            <a:avLst/>
          </a:prstGeom>
          <a:noFill/>
        </p:spPr>
        <p:txBody>
          <a:bodyPr wrap="square">
            <a:spAutoFit/>
          </a:bodyPr>
          <a:lstStyle/>
          <a:p>
            <a:r>
              <a:rPr lang="en-US" altLang="zh-CN" dirty="0"/>
              <a:t>A. Clustered</a:t>
            </a:r>
            <a:br>
              <a:rPr lang="en-US" altLang="zh-CN" dirty="0"/>
            </a:br>
            <a:r>
              <a:rPr lang="en-US" altLang="zh-CN" dirty="0"/>
              <a:t>B. Random</a:t>
            </a:r>
            <a:br>
              <a:rPr lang="en-US" altLang="zh-CN" dirty="0"/>
            </a:br>
            <a:r>
              <a:rPr lang="en-US" altLang="zh-CN" dirty="0"/>
              <a:t>C. Dispersed</a:t>
            </a:r>
            <a:endParaRPr lang="zh-CN" altLang="en-US" dirty="0"/>
          </a:p>
        </p:txBody>
      </p:sp>
      <p:sp>
        <p:nvSpPr>
          <p:cNvPr id="12" name="TextBox 11">
            <a:extLst>
              <a:ext uri="{FF2B5EF4-FFF2-40B4-BE49-F238E27FC236}">
                <a16:creationId xmlns:a16="http://schemas.microsoft.com/office/drawing/2014/main" id="{81AC0CE0-9A34-0A7B-0505-FFAAFD186F0E}"/>
              </a:ext>
            </a:extLst>
          </p:cNvPr>
          <p:cNvSpPr txBox="1"/>
          <p:nvPr/>
        </p:nvSpPr>
        <p:spPr>
          <a:xfrm>
            <a:off x="2873296" y="3416208"/>
            <a:ext cx="1090061" cy="341632"/>
          </a:xfrm>
          <a:prstGeom prst="rect">
            <a:avLst/>
          </a:prstGeom>
          <a:solidFill>
            <a:schemeClr val="bg1"/>
          </a:solidFill>
        </p:spPr>
        <p:txBody>
          <a:bodyPr wrap="square" rtlCol="0">
            <a:spAutoFit/>
          </a:bodyPr>
          <a:lstStyle/>
          <a:p>
            <a:pPr algn="ctr"/>
            <a:r>
              <a:rPr lang="en-US" sz="1620" dirty="0">
                <a:solidFill>
                  <a:srgbClr val="FF0000"/>
                </a:solidFill>
              </a:rPr>
              <a:t>random</a:t>
            </a:r>
          </a:p>
        </p:txBody>
      </p:sp>
    </p:spTree>
    <p:extLst>
      <p:ext uri="{BB962C8B-B14F-4D97-AF65-F5344CB8AC3E}">
        <p14:creationId xmlns:p14="http://schemas.microsoft.com/office/powerpoint/2010/main" val="839660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4E4AD09-0F44-429C-9C85-20A55D755E0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Average Nearest Neighbor</a:t>
            </a:r>
          </a:p>
        </p:txBody>
      </p:sp>
      <p:sp>
        <p:nvSpPr>
          <p:cNvPr id="7" name="TextBox 6">
            <a:extLst>
              <a:ext uri="{FF2B5EF4-FFF2-40B4-BE49-F238E27FC236}">
                <a16:creationId xmlns:a16="http://schemas.microsoft.com/office/drawing/2014/main" id="{1E751214-79C6-4100-AAA2-BFE788A37741}"/>
              </a:ext>
            </a:extLst>
          </p:cNvPr>
          <p:cNvSpPr txBox="1"/>
          <p:nvPr/>
        </p:nvSpPr>
        <p:spPr>
          <a:xfrm>
            <a:off x="152400" y="1052339"/>
            <a:ext cx="7200900" cy="690702"/>
          </a:xfrm>
          <a:prstGeom prst="rect">
            <a:avLst/>
          </a:prstGeom>
          <a:noFill/>
        </p:spPr>
        <p:txBody>
          <a:bodyPr wrap="square" rtlCol="0">
            <a:spAutoFit/>
          </a:bodyPr>
          <a:lstStyle/>
          <a:p>
            <a:pPr>
              <a:lnSpc>
                <a:spcPct val="90000"/>
              </a:lnSpc>
            </a:pPr>
            <a:r>
              <a:rPr lang="en-US" sz="2160" dirty="0"/>
              <a:t>Test to determine if a point pattern/distribution is random, clustered, or dispersed</a:t>
            </a:r>
          </a:p>
        </p:txBody>
      </p:sp>
      <p:sp>
        <p:nvSpPr>
          <p:cNvPr id="13" name="Content Placeholder 3">
            <a:extLst>
              <a:ext uri="{FF2B5EF4-FFF2-40B4-BE49-F238E27FC236}">
                <a16:creationId xmlns:a16="http://schemas.microsoft.com/office/drawing/2014/main" id="{DEEDB9AE-B272-4265-B112-0E5736F94660}"/>
              </a:ext>
            </a:extLst>
          </p:cNvPr>
          <p:cNvSpPr txBox="1">
            <a:spLocks/>
          </p:cNvSpPr>
          <p:nvPr/>
        </p:nvSpPr>
        <p:spPr>
          <a:xfrm>
            <a:off x="360045" y="1779427"/>
            <a:ext cx="7591930" cy="2880360"/>
          </a:xfrm>
          <a:prstGeom prst="rect">
            <a:avLst/>
          </a:prstGeom>
        </p:spPr>
        <p:txBody>
          <a:bodyPr vert="horz" lIns="82296" tIns="41148" rIns="82296" bIns="41148"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160" dirty="0"/>
              <a:t>Only looks at the spatial distribution of points, not the attributes stored on the points</a:t>
            </a:r>
          </a:p>
          <a:p>
            <a:r>
              <a:rPr lang="en-US" sz="2160" dirty="0"/>
              <a:t>Can calculate distance using the Euclidean or Manhattan method</a:t>
            </a:r>
          </a:p>
          <a:p>
            <a:endParaRPr lang="en-US" sz="2160" dirty="0"/>
          </a:p>
        </p:txBody>
      </p:sp>
      <p:sp>
        <p:nvSpPr>
          <p:cNvPr id="2" name="Slide Number Placeholder 1">
            <a:extLst>
              <a:ext uri="{FF2B5EF4-FFF2-40B4-BE49-F238E27FC236}">
                <a16:creationId xmlns:a16="http://schemas.microsoft.com/office/drawing/2014/main" id="{D61E7849-29EF-641F-78DC-3E1BADF728CA}"/>
              </a:ext>
            </a:extLst>
          </p:cNvPr>
          <p:cNvSpPr>
            <a:spLocks noGrp="1"/>
          </p:cNvSpPr>
          <p:nvPr>
            <p:ph type="sldNum" sz="quarter" idx="12"/>
          </p:nvPr>
        </p:nvSpPr>
        <p:spPr/>
        <p:txBody>
          <a:bodyPr/>
          <a:lstStyle/>
          <a:p>
            <a:fld id="{127DDC20-79C9-9647-820E-6D40A3D210C3}" type="slidenum">
              <a:rPr lang="en-US" smtClean="0"/>
              <a:pPr/>
              <a:t>43</a:t>
            </a:fld>
            <a:endParaRPr lang="en-US"/>
          </a:p>
        </p:txBody>
      </p:sp>
    </p:spTree>
    <p:extLst>
      <p:ext uri="{BB962C8B-B14F-4D97-AF65-F5344CB8AC3E}">
        <p14:creationId xmlns:p14="http://schemas.microsoft.com/office/powerpoint/2010/main" val="1207678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verage nearest neighbor results"/>
          <p:cNvPicPr>
            <a:picLocks noChangeAspect="1"/>
          </p:cNvPicPr>
          <p:nvPr/>
        </p:nvPicPr>
        <p:blipFill>
          <a:blip r:embed="rId3"/>
          <a:stretch>
            <a:fillRect/>
          </a:stretch>
        </p:blipFill>
        <p:spPr>
          <a:xfrm>
            <a:off x="907620" y="1234440"/>
            <a:ext cx="2344849" cy="2337370"/>
          </a:xfrm>
          <a:prstGeom prst="rect">
            <a:avLst/>
          </a:prstGeom>
        </p:spPr>
      </p:pic>
      <p:pic>
        <p:nvPicPr>
          <p:cNvPr id="6" name="Picture 5" descr="Average nearest neighbor results"/>
          <p:cNvPicPr>
            <a:picLocks noChangeAspect="1"/>
          </p:cNvPicPr>
          <p:nvPr/>
        </p:nvPicPr>
        <p:blipFill>
          <a:blip r:embed="rId4"/>
          <a:stretch>
            <a:fillRect/>
          </a:stretch>
        </p:blipFill>
        <p:spPr>
          <a:xfrm>
            <a:off x="373165" y="3674681"/>
            <a:ext cx="3322091" cy="1067815"/>
          </a:xfrm>
          <a:prstGeom prst="rect">
            <a:avLst/>
          </a:prstGeom>
        </p:spPr>
      </p:pic>
      <p:pic>
        <p:nvPicPr>
          <p:cNvPr id="7" name="Picture 6" descr="Original data"/>
          <p:cNvPicPr>
            <a:picLocks noChangeAspect="1"/>
          </p:cNvPicPr>
          <p:nvPr/>
        </p:nvPicPr>
        <p:blipFill>
          <a:blip r:embed="rId5">
            <a:clrChange>
              <a:clrFrom>
                <a:srgbClr val="FFFFFF"/>
              </a:clrFrom>
              <a:clrTo>
                <a:srgbClr val="FFFFFF">
                  <a:alpha val="0"/>
                </a:srgbClr>
              </a:clrTo>
            </a:clrChange>
          </a:blip>
          <a:stretch>
            <a:fillRect/>
          </a:stretch>
        </p:blipFill>
        <p:spPr>
          <a:xfrm>
            <a:off x="4114800" y="1388745"/>
            <a:ext cx="3550071" cy="3207166"/>
          </a:xfrm>
          <a:prstGeom prst="rect">
            <a:avLst/>
          </a:prstGeom>
        </p:spPr>
      </p:pic>
      <p:cxnSp>
        <p:nvCxnSpPr>
          <p:cNvPr id="9" name="Straight Connector 8">
            <a:extLst>
              <a:ext uri="{FF2B5EF4-FFF2-40B4-BE49-F238E27FC236}">
                <a16:creationId xmlns:a16="http://schemas.microsoft.com/office/drawing/2014/main" id="{83641E27-52C2-496C-B17F-DB4C1C0F9224}"/>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BAC3101E-FCE0-4A4D-A514-4C19D1B8C829}"/>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Average Nearest Neighbor</a:t>
            </a:r>
          </a:p>
        </p:txBody>
      </p:sp>
      <p:sp>
        <p:nvSpPr>
          <p:cNvPr id="12" name="TextBox 11" descr="white box">
            <a:extLst>
              <a:ext uri="{FF2B5EF4-FFF2-40B4-BE49-F238E27FC236}">
                <a16:creationId xmlns:a16="http://schemas.microsoft.com/office/drawing/2014/main" id="{0A47F1E2-D02A-49D5-8962-3B4AD32B3867}"/>
              </a:ext>
            </a:extLst>
          </p:cNvPr>
          <p:cNvSpPr txBox="1"/>
          <p:nvPr/>
        </p:nvSpPr>
        <p:spPr>
          <a:xfrm>
            <a:off x="1359223" y="2710712"/>
            <a:ext cx="1591778" cy="563231"/>
          </a:xfrm>
          <a:prstGeom prst="rect">
            <a:avLst/>
          </a:prstGeom>
          <a:solidFill>
            <a:schemeClr val="bg1"/>
          </a:solidFill>
        </p:spPr>
        <p:txBody>
          <a:bodyPr wrap="square" rtlCol="0">
            <a:spAutoFit/>
          </a:bodyPr>
          <a:lstStyle/>
          <a:p>
            <a:endParaRPr lang="en-US" sz="3060" dirty="0"/>
          </a:p>
        </p:txBody>
      </p:sp>
      <p:sp>
        <p:nvSpPr>
          <p:cNvPr id="2" name="Slide Number Placeholder 1">
            <a:extLst>
              <a:ext uri="{FF2B5EF4-FFF2-40B4-BE49-F238E27FC236}">
                <a16:creationId xmlns:a16="http://schemas.microsoft.com/office/drawing/2014/main" id="{13BF15FC-5FE5-E95F-1253-E8B2777F9343}"/>
              </a:ext>
            </a:extLst>
          </p:cNvPr>
          <p:cNvSpPr>
            <a:spLocks noGrp="1"/>
          </p:cNvSpPr>
          <p:nvPr>
            <p:ph type="sldNum" sz="quarter" idx="12"/>
          </p:nvPr>
        </p:nvSpPr>
        <p:spPr/>
        <p:txBody>
          <a:bodyPr/>
          <a:lstStyle/>
          <a:p>
            <a:fld id="{127DDC20-79C9-9647-820E-6D40A3D210C3}" type="slidenum">
              <a:rPr lang="en-US" smtClean="0"/>
              <a:pPr/>
              <a:t>44</a:t>
            </a:fld>
            <a:endParaRPr lang="en-US"/>
          </a:p>
        </p:txBody>
      </p:sp>
    </p:spTree>
    <p:extLst>
      <p:ext uri="{BB962C8B-B14F-4D97-AF65-F5344CB8AC3E}">
        <p14:creationId xmlns:p14="http://schemas.microsoft.com/office/powerpoint/2010/main" val="4095474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original data"/>
          <p:cNvPicPr>
            <a:picLocks noChangeAspect="1"/>
          </p:cNvPicPr>
          <p:nvPr/>
        </p:nvPicPr>
        <p:blipFill>
          <a:blip r:embed="rId3">
            <a:clrChange>
              <a:clrFrom>
                <a:srgbClr val="FFFFFF"/>
              </a:clrFrom>
              <a:clrTo>
                <a:srgbClr val="FFFFFF">
                  <a:alpha val="0"/>
                </a:srgbClr>
              </a:clrTo>
            </a:clrChange>
          </a:blip>
          <a:stretch>
            <a:fillRect/>
          </a:stretch>
        </p:blipFill>
        <p:spPr>
          <a:xfrm>
            <a:off x="4269106" y="1440180"/>
            <a:ext cx="3533176" cy="3188970"/>
          </a:xfrm>
          <a:prstGeom prst="rect">
            <a:avLst/>
          </a:prstGeom>
        </p:spPr>
      </p:pic>
      <p:pic>
        <p:nvPicPr>
          <p:cNvPr id="5" name="Picture 4" descr="Average nearest neighbor results"/>
          <p:cNvPicPr>
            <a:picLocks noChangeAspect="1"/>
          </p:cNvPicPr>
          <p:nvPr/>
        </p:nvPicPr>
        <p:blipFill>
          <a:blip r:embed="rId4"/>
          <a:stretch>
            <a:fillRect/>
          </a:stretch>
        </p:blipFill>
        <p:spPr>
          <a:xfrm>
            <a:off x="997856" y="1231226"/>
            <a:ext cx="2331257" cy="2211705"/>
          </a:xfrm>
          <a:prstGeom prst="rect">
            <a:avLst/>
          </a:prstGeom>
        </p:spPr>
      </p:pic>
      <p:pic>
        <p:nvPicPr>
          <p:cNvPr id="6" name="Picture 5" descr="Average nearest neighbor results"/>
          <p:cNvPicPr>
            <a:picLocks noChangeAspect="1"/>
          </p:cNvPicPr>
          <p:nvPr/>
        </p:nvPicPr>
        <p:blipFill>
          <a:blip r:embed="rId5"/>
          <a:stretch>
            <a:fillRect/>
          </a:stretch>
        </p:blipFill>
        <p:spPr>
          <a:xfrm>
            <a:off x="154305" y="3542586"/>
            <a:ext cx="4018360" cy="1247299"/>
          </a:xfrm>
          <a:prstGeom prst="rect">
            <a:avLst/>
          </a:prstGeom>
        </p:spPr>
      </p:pic>
      <p:cxnSp>
        <p:nvCxnSpPr>
          <p:cNvPr id="9" name="Straight Connector 8">
            <a:extLst>
              <a:ext uri="{FF2B5EF4-FFF2-40B4-BE49-F238E27FC236}">
                <a16:creationId xmlns:a16="http://schemas.microsoft.com/office/drawing/2014/main" id="{132399C5-B4DE-4403-A870-2DB24F54E132}"/>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FB24592D-8E37-4447-92EF-53A527367D6F}"/>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Average Nearest Neighbor</a:t>
            </a:r>
          </a:p>
        </p:txBody>
      </p:sp>
      <p:sp>
        <p:nvSpPr>
          <p:cNvPr id="12" name="TextBox 11" descr="white box">
            <a:extLst>
              <a:ext uri="{FF2B5EF4-FFF2-40B4-BE49-F238E27FC236}">
                <a16:creationId xmlns:a16="http://schemas.microsoft.com/office/drawing/2014/main" id="{40F1580F-0C9B-4C90-90A2-253B3766AA3C}"/>
              </a:ext>
            </a:extLst>
          </p:cNvPr>
          <p:cNvSpPr txBox="1"/>
          <p:nvPr/>
        </p:nvSpPr>
        <p:spPr>
          <a:xfrm>
            <a:off x="1353552" y="2574449"/>
            <a:ext cx="1591778" cy="563231"/>
          </a:xfrm>
          <a:prstGeom prst="rect">
            <a:avLst/>
          </a:prstGeom>
          <a:solidFill>
            <a:schemeClr val="bg1"/>
          </a:solidFill>
        </p:spPr>
        <p:txBody>
          <a:bodyPr wrap="square" rtlCol="0">
            <a:spAutoFit/>
          </a:bodyPr>
          <a:lstStyle/>
          <a:p>
            <a:endParaRPr lang="en-US" sz="3060" dirty="0"/>
          </a:p>
        </p:txBody>
      </p:sp>
      <p:sp>
        <p:nvSpPr>
          <p:cNvPr id="2" name="Slide Number Placeholder 1">
            <a:extLst>
              <a:ext uri="{FF2B5EF4-FFF2-40B4-BE49-F238E27FC236}">
                <a16:creationId xmlns:a16="http://schemas.microsoft.com/office/drawing/2014/main" id="{3FAC4FFF-76D6-44B4-7EDA-88A36CF0D6A0}"/>
              </a:ext>
            </a:extLst>
          </p:cNvPr>
          <p:cNvSpPr>
            <a:spLocks noGrp="1"/>
          </p:cNvSpPr>
          <p:nvPr>
            <p:ph type="sldNum" sz="quarter" idx="12"/>
          </p:nvPr>
        </p:nvSpPr>
        <p:spPr/>
        <p:txBody>
          <a:bodyPr/>
          <a:lstStyle/>
          <a:p>
            <a:fld id="{127DDC20-79C9-9647-820E-6D40A3D210C3}" type="slidenum">
              <a:rPr lang="en-US" smtClean="0"/>
              <a:pPr/>
              <a:t>45</a:t>
            </a:fld>
            <a:endParaRPr lang="en-US"/>
          </a:p>
        </p:txBody>
      </p:sp>
    </p:spTree>
    <p:extLst>
      <p:ext uri="{BB962C8B-B14F-4D97-AF65-F5344CB8AC3E}">
        <p14:creationId xmlns:p14="http://schemas.microsoft.com/office/powerpoint/2010/main" val="858353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original data"/>
          <p:cNvPicPr>
            <a:picLocks noChangeAspect="1"/>
          </p:cNvPicPr>
          <p:nvPr/>
        </p:nvPicPr>
        <p:blipFill>
          <a:blip r:embed="rId3">
            <a:clrChange>
              <a:clrFrom>
                <a:srgbClr val="FFFFFF"/>
              </a:clrFrom>
              <a:clrTo>
                <a:srgbClr val="FFFFFF">
                  <a:alpha val="0"/>
                </a:srgbClr>
              </a:clrTo>
            </a:clrChange>
          </a:blip>
          <a:stretch>
            <a:fillRect/>
          </a:stretch>
        </p:blipFill>
        <p:spPr>
          <a:xfrm>
            <a:off x="4526282" y="1440180"/>
            <a:ext cx="3424101" cy="3086100"/>
          </a:xfrm>
          <a:prstGeom prst="rect">
            <a:avLst/>
          </a:prstGeom>
        </p:spPr>
      </p:pic>
      <p:pic>
        <p:nvPicPr>
          <p:cNvPr id="5" name="Picture 4" descr="Average nearest neighbor results"/>
          <p:cNvPicPr>
            <a:picLocks noChangeAspect="1"/>
          </p:cNvPicPr>
          <p:nvPr/>
        </p:nvPicPr>
        <p:blipFill>
          <a:blip r:embed="rId4"/>
          <a:stretch>
            <a:fillRect/>
          </a:stretch>
        </p:blipFill>
        <p:spPr>
          <a:xfrm>
            <a:off x="1234441" y="1337311"/>
            <a:ext cx="2463382" cy="2330648"/>
          </a:xfrm>
          <a:prstGeom prst="rect">
            <a:avLst/>
          </a:prstGeom>
        </p:spPr>
      </p:pic>
      <p:pic>
        <p:nvPicPr>
          <p:cNvPr id="6" name="Picture 5" descr="Average nearest neighbor results"/>
          <p:cNvPicPr>
            <a:picLocks noChangeAspect="1"/>
          </p:cNvPicPr>
          <p:nvPr/>
        </p:nvPicPr>
        <p:blipFill>
          <a:blip r:embed="rId5"/>
          <a:stretch>
            <a:fillRect/>
          </a:stretch>
        </p:blipFill>
        <p:spPr>
          <a:xfrm>
            <a:off x="874395" y="3770828"/>
            <a:ext cx="3288625" cy="1055739"/>
          </a:xfrm>
          <a:prstGeom prst="rect">
            <a:avLst/>
          </a:prstGeom>
        </p:spPr>
      </p:pic>
      <p:cxnSp>
        <p:nvCxnSpPr>
          <p:cNvPr id="9" name="Straight Connector 8">
            <a:extLst>
              <a:ext uri="{FF2B5EF4-FFF2-40B4-BE49-F238E27FC236}">
                <a16:creationId xmlns:a16="http://schemas.microsoft.com/office/drawing/2014/main" id="{E9936E87-10B8-4A43-90F5-343F113FCB84}"/>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EE9C9B67-3FCD-4B36-AE60-DA20F7B2FD32}"/>
              </a:ext>
            </a:extLst>
          </p:cNvPr>
          <p:cNvSpPr txBox="1">
            <a:spLocks noChangeArrowheads="1"/>
          </p:cNvSpPr>
          <p:nvPr/>
        </p:nvSpPr>
        <p:spPr>
          <a:xfrm>
            <a:off x="0" y="392636"/>
            <a:ext cx="8229600" cy="493812"/>
          </a:xfrm>
          <a:prstGeom prst="rect">
            <a:avLst/>
          </a:prstGeom>
        </p:spPr>
        <p:txBody>
          <a:bodyPr vert="horz" lIns="82296" tIns="41148" rIns="82296" bIns="41148"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3600" dirty="0">
                <a:solidFill>
                  <a:srgbClr val="008000"/>
                </a:solidFill>
                <a:ea typeface="宋体" charset="-122"/>
              </a:rPr>
              <a:t>Average Nearest Neighbor</a:t>
            </a:r>
          </a:p>
        </p:txBody>
      </p:sp>
      <p:sp>
        <p:nvSpPr>
          <p:cNvPr id="12" name="TextBox 11" descr="white box">
            <a:extLst>
              <a:ext uri="{FF2B5EF4-FFF2-40B4-BE49-F238E27FC236}">
                <a16:creationId xmlns:a16="http://schemas.microsoft.com/office/drawing/2014/main" id="{D57D7A64-B9F8-42E8-BE45-14CAEC1E6E77}"/>
              </a:ext>
            </a:extLst>
          </p:cNvPr>
          <p:cNvSpPr txBox="1"/>
          <p:nvPr/>
        </p:nvSpPr>
        <p:spPr>
          <a:xfrm>
            <a:off x="1700061" y="2758538"/>
            <a:ext cx="1591778" cy="563231"/>
          </a:xfrm>
          <a:prstGeom prst="rect">
            <a:avLst/>
          </a:prstGeom>
          <a:solidFill>
            <a:schemeClr val="bg1"/>
          </a:solidFill>
        </p:spPr>
        <p:txBody>
          <a:bodyPr wrap="square" rtlCol="0">
            <a:spAutoFit/>
          </a:bodyPr>
          <a:lstStyle/>
          <a:p>
            <a:endParaRPr lang="en-US" sz="3060" dirty="0"/>
          </a:p>
        </p:txBody>
      </p:sp>
      <p:sp>
        <p:nvSpPr>
          <p:cNvPr id="2" name="Slide Number Placeholder 1">
            <a:extLst>
              <a:ext uri="{FF2B5EF4-FFF2-40B4-BE49-F238E27FC236}">
                <a16:creationId xmlns:a16="http://schemas.microsoft.com/office/drawing/2014/main" id="{DF860F56-F621-9BBE-FAF5-62A83AD6B897}"/>
              </a:ext>
            </a:extLst>
          </p:cNvPr>
          <p:cNvSpPr>
            <a:spLocks noGrp="1"/>
          </p:cNvSpPr>
          <p:nvPr>
            <p:ph type="sldNum" sz="quarter" idx="12"/>
          </p:nvPr>
        </p:nvSpPr>
        <p:spPr/>
        <p:txBody>
          <a:bodyPr/>
          <a:lstStyle/>
          <a:p>
            <a:fld id="{127DDC20-79C9-9647-820E-6D40A3D210C3}" type="slidenum">
              <a:rPr lang="en-US" smtClean="0"/>
              <a:pPr/>
              <a:t>46</a:t>
            </a:fld>
            <a:endParaRPr lang="en-US"/>
          </a:p>
        </p:txBody>
      </p:sp>
    </p:spTree>
    <p:extLst>
      <p:ext uri="{BB962C8B-B14F-4D97-AF65-F5344CB8AC3E}">
        <p14:creationId xmlns:p14="http://schemas.microsoft.com/office/powerpoint/2010/main" val="2623344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09405" y="1731477"/>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47</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9707</TotalTime>
  <Words>3535</Words>
  <Application>Microsoft Office PowerPoint</Application>
  <PresentationFormat>Custom</PresentationFormat>
  <Paragraphs>377</Paragraphs>
  <Slides>47</Slides>
  <Notes>33</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宋体</vt:lpstr>
      <vt:lpstr>Arial</vt:lpstr>
      <vt:lpstr>Calibri</vt:lpstr>
      <vt:lpstr>Courier New</vt:lpstr>
      <vt:lpstr>Wingdings</vt:lpstr>
      <vt:lpstr>Office Theme</vt:lpstr>
      <vt:lpstr>GEOG 3403: Geographic Information Systems II</vt:lpstr>
      <vt:lpstr>PowerPoint Presentation</vt:lpstr>
      <vt:lpstr>PowerPoint Presentation</vt:lpstr>
      <vt:lpstr>PowerPoint Presentation</vt:lpstr>
      <vt:lpstr>Population vs Sample</vt:lpstr>
      <vt:lpstr>PowerPoint Presentation</vt:lpstr>
      <vt:lpstr>PowerPoint Presentation</vt:lpstr>
      <vt:lpstr>Which sampling method would you choose?</vt:lpstr>
      <vt:lpstr>PowerPoint Presentation</vt:lpstr>
      <vt:lpstr>PowerPoint Presentation</vt:lpstr>
      <vt:lpstr>PowerPoint Presentation</vt:lpstr>
      <vt:lpstr>PowerPoint Presentation</vt:lpstr>
      <vt:lpstr>Spatial Central Tendency and Dispersion</vt:lpstr>
      <vt:lpstr>Spatial Central Tendency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Dispersion</vt:lpstr>
      <vt:lpstr>PowerPoint Presentation</vt:lpstr>
      <vt:lpstr>PowerPoint Presentation</vt:lpstr>
      <vt:lpstr>PowerPoint Presentation</vt:lpstr>
      <vt:lpstr>PowerPoint Presentation</vt:lpstr>
      <vt:lpstr>Standard Distance</vt:lpstr>
      <vt:lpstr>PowerPoint Presentation</vt:lpstr>
      <vt:lpstr>PowerPoint Presentation</vt:lpstr>
      <vt:lpstr>PowerPoint Presentation</vt:lpstr>
      <vt:lpstr>PowerPoint Presentation</vt:lpstr>
      <vt:lpstr>Dispersion in different directional trends</vt:lpstr>
      <vt:lpstr>PowerPoint Presentation</vt:lpstr>
      <vt:lpstr>PowerPoint Presentation</vt:lpstr>
      <vt:lpstr>PowerPoint Presentation</vt:lpstr>
      <vt:lpstr>Analyzing Point Patterns</vt:lpstr>
      <vt:lpstr>Point Pattern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Wu, Yanan</cp:lastModifiedBy>
  <cp:revision>669</cp:revision>
  <cp:lastPrinted>2020-03-26T12:59:04Z</cp:lastPrinted>
  <dcterms:created xsi:type="dcterms:W3CDTF">2020-03-24T14:51:54Z</dcterms:created>
  <dcterms:modified xsi:type="dcterms:W3CDTF">2026-02-24T05:57:42Z</dcterms:modified>
</cp:coreProperties>
</file>