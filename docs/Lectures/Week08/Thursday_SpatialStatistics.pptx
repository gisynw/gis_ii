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602" r:id="rId2"/>
    <p:sldId id="754" r:id="rId3"/>
    <p:sldId id="482" r:id="rId4"/>
    <p:sldId id="763" r:id="rId5"/>
    <p:sldId id="769" r:id="rId6"/>
    <p:sldId id="761" r:id="rId7"/>
    <p:sldId id="513" r:id="rId8"/>
    <p:sldId id="764" r:id="rId9"/>
    <p:sldId id="514" r:id="rId10"/>
    <p:sldId id="771" r:id="rId11"/>
    <p:sldId id="518" r:id="rId12"/>
    <p:sldId id="768" r:id="rId13"/>
    <p:sldId id="767" r:id="rId14"/>
    <p:sldId id="766" r:id="rId15"/>
    <p:sldId id="758" r:id="rId16"/>
    <p:sldId id="538" r:id="rId17"/>
    <p:sldId id="755" r:id="rId18"/>
    <p:sldId id="305" r:id="rId19"/>
    <p:sldId id="279" r:id="rId20"/>
    <p:sldId id="333" r:id="rId21"/>
    <p:sldId id="7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339" autoAdjust="0"/>
  </p:normalViewPr>
  <p:slideViewPr>
    <p:cSldViewPr snapToGrid="0">
      <p:cViewPr varScale="1">
        <p:scale>
          <a:sx n="78" d="100"/>
          <a:sy n="78" d="100"/>
        </p:scale>
        <p:origin x="18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64E661-7ECF-4951-8F26-3C645B1E8A9F}" type="datetimeFigureOut">
              <a:rPr lang="zh-CN" altLang="en-US" smtClean="0"/>
              <a:t>2026/2/26</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7C06AE-03FD-4C52-A49A-FE1F33A4A1C3}" type="slidenum">
              <a:rPr lang="zh-CN" altLang="en-US" smtClean="0"/>
              <a:t>‹#›</a:t>
            </a:fld>
            <a:endParaRPr lang="zh-CN" altLang="en-US"/>
          </a:p>
        </p:txBody>
      </p:sp>
    </p:spTree>
    <p:extLst>
      <p:ext uri="{BB962C8B-B14F-4D97-AF65-F5344CB8AC3E}">
        <p14:creationId xmlns:p14="http://schemas.microsoft.com/office/powerpoint/2010/main" val="1628006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en.wikipedia.org/wiki/Standard_score"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5963" y="696913"/>
            <a:ext cx="5578475" cy="3486150"/>
          </a:xfrm>
        </p:spPr>
      </p:sp>
      <p:sp>
        <p:nvSpPr>
          <p:cNvPr id="3" name="Notes Placeholder 2"/>
          <p:cNvSpPr>
            <a:spLocks noGrp="1"/>
          </p:cNvSpPr>
          <p:nvPr>
            <p:ph type="body" idx="1"/>
          </p:nvPr>
        </p:nvSpPr>
        <p:spPr/>
        <p:txBody>
          <a:bodyPr/>
          <a:lstStyle/>
          <a:p>
            <a:pPr defTabSz="465887">
              <a:defRPr/>
            </a:pPr>
            <a:endParaRPr lang="en-US" dirty="0"/>
          </a:p>
        </p:txBody>
      </p:sp>
      <p:sp>
        <p:nvSpPr>
          <p:cNvPr id="4" name="Slide Number Placeholder 3"/>
          <p:cNvSpPr>
            <a:spLocks noGrp="1"/>
          </p:cNvSpPr>
          <p:nvPr>
            <p:ph type="sldNum" sz="quarter" idx="10"/>
          </p:nvPr>
        </p:nvSpPr>
        <p:spPr/>
        <p:txBody>
          <a:bodyPr/>
          <a:lstStyle/>
          <a:p>
            <a:fld id="{56507943-197E-CE46-82F0-5A323A24AE7A}" type="slidenum">
              <a:rPr lang="en-US" smtClean="0"/>
              <a:pPr/>
              <a:t>1</a:t>
            </a:fld>
            <a:endParaRPr lang="en-US"/>
          </a:p>
        </p:txBody>
      </p:sp>
    </p:spTree>
    <p:extLst>
      <p:ext uri="{BB962C8B-B14F-4D97-AF65-F5344CB8AC3E}">
        <p14:creationId xmlns:p14="http://schemas.microsoft.com/office/powerpoint/2010/main" val="197350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One key</a:t>
            </a:r>
            <a:r>
              <a:rPr lang="en-US" baseline="0" dirty="0"/>
              <a:t> concept in geography is Tobler’s First Law of Geography that states that everything is related to everything else, but near things are more related than distant things.</a:t>
            </a:r>
          </a:p>
          <a:p>
            <a:endParaRPr lang="en-US" baseline="0" dirty="0"/>
          </a:p>
          <a:p>
            <a:r>
              <a:rPr lang="en-US" baseline="0" dirty="0"/>
              <a:t>For example, we are all gathering into this classroom, as we have more similar interests in remote sensing and GIS courses than the students outside this classroom.</a:t>
            </a:r>
          </a:p>
          <a:p>
            <a:endParaRPr lang="en-US" baseline="0" dirty="0"/>
          </a:p>
          <a:p>
            <a:r>
              <a:rPr lang="en-US" baseline="0" dirty="0"/>
              <a:t>You would also expect individuals that have clustered into Flyers communities to have more similar beliefs and customs than individuals in different communities. </a:t>
            </a:r>
          </a:p>
          <a:p>
            <a:endParaRPr lang="en-US" baseline="0" dirty="0"/>
          </a:p>
          <a:p>
            <a:r>
              <a:rPr lang="en-US" baseline="0" dirty="0"/>
              <a:t>This suggests that there are patterns across geographic space that can be explored and studied. </a:t>
            </a:r>
          </a:p>
          <a:p>
            <a:endParaRPr lang="en-US" baseline="0" dirty="0"/>
          </a:p>
          <a:p>
            <a:r>
              <a:rPr lang="en-US" baseline="0" dirty="0"/>
              <a:t>This is the concept behind spatial statistics.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3698556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One key</a:t>
            </a:r>
            <a:r>
              <a:rPr lang="en-US" baseline="0" dirty="0"/>
              <a:t> concept in geography is Tobler’s First Law of Geography that states that everything is related to everything else, but near things are more related than distant things.</a:t>
            </a:r>
          </a:p>
          <a:p>
            <a:endParaRPr lang="en-US" baseline="0" dirty="0"/>
          </a:p>
          <a:p>
            <a:r>
              <a:rPr lang="en-US" baseline="0" dirty="0"/>
              <a:t>For example, we are all gathering into this classroom, as we have more similar interests in remote sensing and GIS courses than the students outside this classroom.</a:t>
            </a:r>
          </a:p>
          <a:p>
            <a:endParaRPr lang="en-US" baseline="0" dirty="0"/>
          </a:p>
          <a:p>
            <a:r>
              <a:rPr lang="en-US" baseline="0" dirty="0"/>
              <a:t>You would also expect individuals that have clustered into Flyers communities to have more similar beliefs and customs than individuals in different communities. </a:t>
            </a:r>
          </a:p>
          <a:p>
            <a:endParaRPr lang="en-US" baseline="0" dirty="0"/>
          </a:p>
          <a:p>
            <a:r>
              <a:rPr lang="en-US" baseline="0" dirty="0"/>
              <a:t>This suggests that there are patterns across geographic space that can be explored and studied. </a:t>
            </a:r>
          </a:p>
          <a:p>
            <a:endParaRPr lang="en-US" baseline="0" dirty="0"/>
          </a:p>
          <a:p>
            <a:r>
              <a:rPr lang="en-US" baseline="0" dirty="0"/>
              <a:t>This is the concept behind spatial statistics.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3161584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We will first see what is spatial autocorrelation. This figures show three spatial autocorrelation patterns. </a:t>
            </a:r>
          </a:p>
          <a:p>
            <a:endParaRPr lang="en-US" dirty="0"/>
          </a:p>
          <a:p>
            <a:r>
              <a:rPr lang="en-US" baseline="0" dirty="0"/>
              <a:t>Positive spatial autocorrelation suggests clustering, that near features are more similar than features that are more separated. </a:t>
            </a:r>
          </a:p>
          <a:p>
            <a:r>
              <a:rPr lang="en-US" baseline="0" dirty="0"/>
              <a:t>The first example provided here is an example of clustering since all the red cells are on one side and all the blue cells are on the other. </a:t>
            </a:r>
          </a:p>
          <a:p>
            <a:endParaRPr lang="en-US" baseline="0" dirty="0"/>
          </a:p>
          <a:p>
            <a:r>
              <a:rPr lang="en-US" baseline="0" dirty="0"/>
              <a:t>Negative spatial autocorrelation suggests dispersion, that more similar values are actually more separated over space. For example, the dispersed example above is dispersed because the different colors are as spread out as they can be.</a:t>
            </a:r>
          </a:p>
          <a:p>
            <a:endParaRPr lang="en-US" baseline="0" dirty="0"/>
          </a:p>
          <a:p>
            <a:r>
              <a:rPr lang="en-US" baseline="0" dirty="0"/>
              <a:t>No spatial autocorrelation is Random patterns, implying no patterns across space. </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3686921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Average Nearest Neighbor </a:t>
            </a:r>
            <a:r>
              <a:rPr lang="en-US" baseline="0" dirty="0"/>
              <a:t>is only dealing with locations, Moran’s I measures…</a:t>
            </a:r>
          </a:p>
          <a:p>
            <a:endParaRPr lang="en-US" baseline="0" dirty="0"/>
          </a:p>
          <a:p>
            <a:r>
              <a:rPr lang="en-US" baseline="0" dirty="0"/>
              <a:t>For example, we have some points and the points have some values and locations. For example, the 14 is 20 kilometers away from the 32, and 14 is 3 kilometers away from 16. There is also data space, 14 is 18 away from 32, and is 2 away from 16. So we look for correlation in these values and distances. </a:t>
            </a:r>
          </a:p>
          <a:p>
            <a:endParaRPr lang="en-US" baseline="0" dirty="0"/>
          </a:p>
          <a:p>
            <a:r>
              <a:rPr lang="en-US" baseline="0" dirty="0"/>
              <a:t>We want to see if these points get father apart, do their values become more similar or less similar.</a:t>
            </a:r>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3976021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Moran’s I is the same idea. The difference is that Moran’s I incorporates a spatial weight between locations I and j, in order to get one value for the entire maps.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spatial weight can be calculated using inverse distance, so that the near things will have larger weight and far away things will have less weight.</a:t>
            </a:r>
          </a:p>
          <a:p>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Values of </a:t>
            </a:r>
            <a:r>
              <a:rPr lang="en-US" sz="1200" b="0" i="1" kern="1200" dirty="0">
                <a:solidFill>
                  <a:schemeClr val="tx1"/>
                </a:solidFill>
                <a:effectLst/>
                <a:latin typeface="+mn-lt"/>
                <a:ea typeface="+mn-ea"/>
                <a:cs typeface="+mn-cs"/>
              </a:rPr>
              <a:t>I</a:t>
            </a:r>
            <a:r>
              <a:rPr lang="en-US" sz="1200" b="0" i="0" kern="1200" dirty="0">
                <a:solidFill>
                  <a:schemeClr val="tx1"/>
                </a:solidFill>
                <a:effectLst/>
                <a:latin typeface="+mn-lt"/>
                <a:ea typeface="+mn-ea"/>
                <a:cs typeface="+mn-cs"/>
              </a:rPr>
              <a:t> usually range from −1 to +1. Positive spatial autocorrelation will show values that are clustered. Negative autocorrelation is dispersed. Random is close to zero.</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Moran’s I index will be a value between -1 and 1. The </a:t>
            </a:r>
            <a:r>
              <a:rPr lang="en-US" sz="1200" b="0" i="0" kern="1200" dirty="0" err="1">
                <a:solidFill>
                  <a:schemeClr val="tx1"/>
                </a:solidFill>
                <a:effectLst/>
                <a:latin typeface="+mn-lt"/>
                <a:ea typeface="+mn-ea"/>
                <a:cs typeface="+mn-cs"/>
              </a:rPr>
              <a:t>moran’s</a:t>
            </a:r>
            <a:r>
              <a:rPr lang="en-US" sz="1200" b="0" i="0" kern="1200" dirty="0">
                <a:solidFill>
                  <a:schemeClr val="tx1"/>
                </a:solidFill>
                <a:effectLst/>
                <a:latin typeface="+mn-lt"/>
                <a:ea typeface="+mn-ea"/>
                <a:cs typeface="+mn-cs"/>
              </a:rPr>
              <a:t> I near -1 indicates negative spatial auto-correlation and the Moran’s I near 1 indicated positive spatial auto-correlation.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Values significantly below -1/(N-1) indicate negative spatial autocorrelation and values significantly above -1/(N-1) indicate positive spatial autocorrelation. For statistical hypothesis testing, Moran's </a:t>
            </a:r>
            <a:r>
              <a:rPr lang="en-US" sz="1200" b="0" i="1" kern="1200" dirty="0">
                <a:solidFill>
                  <a:schemeClr val="tx1"/>
                </a:solidFill>
                <a:effectLst/>
                <a:latin typeface="+mn-lt"/>
                <a:ea typeface="+mn-ea"/>
                <a:cs typeface="+mn-cs"/>
              </a:rPr>
              <a:t>I</a:t>
            </a:r>
            <a:r>
              <a:rPr lang="en-US" sz="1200" b="0" i="0" kern="1200" dirty="0">
                <a:solidFill>
                  <a:schemeClr val="tx1"/>
                </a:solidFill>
                <a:effectLst/>
                <a:latin typeface="+mn-lt"/>
                <a:ea typeface="+mn-ea"/>
                <a:cs typeface="+mn-cs"/>
              </a:rPr>
              <a:t> values can be transformed to </a:t>
            </a:r>
            <a:r>
              <a:rPr lang="en-US" sz="1200" b="0" i="0" u="none" strike="noStrike" kern="1200" dirty="0">
                <a:solidFill>
                  <a:schemeClr val="tx1"/>
                </a:solidFill>
                <a:effectLst/>
                <a:latin typeface="+mn-lt"/>
                <a:ea typeface="+mn-ea"/>
                <a:cs typeface="+mn-cs"/>
                <a:hlinkClick r:id="rId3" tooltip="Standard score"/>
              </a:rPr>
              <a:t>z-scores</a:t>
            </a:r>
            <a:r>
              <a:rPr lang="en-US" sz="1200" b="0" i="0" kern="1200" dirty="0">
                <a:solidFill>
                  <a:schemeClr val="tx1"/>
                </a:solidFill>
                <a:effectLst/>
                <a:latin typeface="+mn-lt"/>
                <a:ea typeface="+mn-ea"/>
                <a:cs typeface="+mn-cs"/>
              </a:rPr>
              <a:t>.</a:t>
            </a:r>
            <a:endParaRPr lang="en-US" dirty="0"/>
          </a:p>
          <a:p>
            <a:endParaRPr lang="en-US" baseline="0"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42124518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Since Moran’s I requires that</a:t>
            </a:r>
            <a:r>
              <a:rPr lang="en-US" baseline="0" dirty="0"/>
              <a:t> values associated with a feature be compared to values for nearby features, you must define what you mean by neighboring or near features. </a:t>
            </a:r>
          </a:p>
          <a:p>
            <a:endParaRPr lang="en-US" baseline="0" dirty="0"/>
          </a:p>
          <a:p>
            <a:r>
              <a:rPr lang="en-US" baseline="0" dirty="0"/>
              <a:t>Different methods are available, as describe on this slide. </a:t>
            </a:r>
          </a:p>
          <a:p>
            <a:endParaRPr lang="en-US" baseline="0" dirty="0"/>
          </a:p>
          <a:p>
            <a:r>
              <a:rPr lang="en-US" baseline="0" dirty="0"/>
              <a:t>As an example, when using inverse distance nearby neighbors have a larger influence on the computations for a target feature than features that are further away. </a:t>
            </a:r>
          </a:p>
          <a:p>
            <a:endParaRPr lang="en-US" baseline="0" dirty="0"/>
          </a:p>
          <a:p>
            <a:r>
              <a:rPr lang="en-US" baseline="0" dirty="0"/>
              <a:t>When a fixed distance band is used only features within a defined distance are considered. </a:t>
            </a:r>
          </a:p>
          <a:p>
            <a:endParaRPr lang="en-US" baseline="0" dirty="0"/>
          </a:p>
          <a:p>
            <a:r>
              <a:rPr lang="en-US" baseline="0" dirty="0"/>
              <a:t>For zone of indifference, features within a critical distance are assigned a weight of 1. The weight diminishes with distance past the critical distance. </a:t>
            </a:r>
          </a:p>
          <a:p>
            <a:endParaRPr lang="en-US" baseline="0" dirty="0"/>
          </a:p>
          <a:p>
            <a:r>
              <a:rPr lang="en-US" baseline="0" dirty="0"/>
              <a:t>When contiguity edges only is used only features that share a boundary or overlap will be considered in the computation for the target feature. </a:t>
            </a:r>
          </a:p>
          <a:p>
            <a:endParaRPr lang="en-US" baseline="0" dirty="0"/>
          </a:p>
          <a:p>
            <a:r>
              <a:rPr lang="en-US" baseline="0" dirty="0"/>
              <a:t>There is not necessarily a correct method to use, as this is case specific. However, you should make and attempt to justify your decision based on the nature of the data and the question being investigated.</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20422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an example</a:t>
            </a:r>
            <a:r>
              <a:rPr lang="en-US" baseline="0" dirty="0"/>
              <a:t> result for Moran’s I. Specifically, we are investigating spatial autocorrelation for percent poverty at the census tract scale. Can anyone tell me this pattern?</a:t>
            </a:r>
          </a:p>
          <a:p>
            <a:endParaRPr lang="en-US" baseline="0" dirty="0"/>
          </a:p>
          <a:p>
            <a:r>
              <a:rPr lang="en-US" baseline="0" dirty="0"/>
              <a:t>Here, a positive Moran’s I of 0.25 is obtained and a </a:t>
            </a:r>
            <a:r>
              <a:rPr lang="en-US" i="1" baseline="0" dirty="0"/>
              <a:t>p</a:t>
            </a:r>
            <a:r>
              <a:rPr lang="en-US" baseline="0" dirty="0"/>
              <a:t>-value of 0. This indicates that there is clustering or positive spatial autocorrelation globally for percent poverty as summarized on census tracts. </a:t>
            </a:r>
          </a:p>
          <a:p>
            <a:endParaRPr lang="en-US" baseline="0" dirty="0"/>
          </a:p>
          <a:p>
            <a:r>
              <a:rPr lang="en-US" baseline="0" dirty="0"/>
              <a:t>Near census tracts tend to have more similar percent poverty rates. </a:t>
            </a:r>
          </a:p>
          <a:p>
            <a:endParaRPr lang="en-US" baseline="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Used contiguity edges only</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3803090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a:t>
            </a:r>
            <a:r>
              <a:rPr lang="en-US" baseline="0" dirty="0"/>
              <a:t> nearest neighbor offers a global assessment of the point pattern. However, different patterns could exist at different spatial scales. </a:t>
            </a:r>
          </a:p>
          <a:p>
            <a:endParaRPr lang="en-US" baseline="0" dirty="0"/>
          </a:p>
          <a:p>
            <a:r>
              <a:rPr lang="en-US" baseline="0" dirty="0"/>
              <a:t>Ripley’s K provides this comparison at different scales. This test will be performed at a variety of different distances. </a:t>
            </a:r>
          </a:p>
          <a:p>
            <a:endParaRPr lang="en-US" baseline="0" dirty="0"/>
          </a:p>
          <a:p>
            <a:r>
              <a:rPr lang="en-US" dirty="0"/>
              <a:t>When the observed K value is larger than the expected K value for a particular distance, the distribution is more clustered than a random distribution at that distance.</a:t>
            </a:r>
          </a:p>
          <a:p>
            <a:endParaRPr lang="en-US" dirty="0"/>
          </a:p>
          <a:p>
            <a:r>
              <a:rPr lang="en-US" dirty="0"/>
              <a:t>When the observed K value is smaller than the expected K value, the distribution is more dispersed than a random distribution at that distance.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1536541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Getis</a:t>
            </a:r>
            <a:r>
              <a:rPr lang="en-US" dirty="0"/>
              <a:t>-Ord</a:t>
            </a:r>
            <a:r>
              <a:rPr lang="en-US" baseline="0" dirty="0"/>
              <a:t> </a:t>
            </a:r>
            <a:r>
              <a:rPr lang="en-US" baseline="0" dirty="0" err="1"/>
              <a:t>Gi</a:t>
            </a:r>
            <a:r>
              <a:rPr lang="en-US" baseline="0" dirty="0"/>
              <a:t>* provides a local version of the </a:t>
            </a:r>
            <a:r>
              <a:rPr lang="en-US" baseline="0" dirty="0" err="1"/>
              <a:t>Getis</a:t>
            </a:r>
            <a:r>
              <a:rPr lang="en-US" baseline="0" dirty="0"/>
              <a:t>-Ord General G. This test is also known as hot spot analysis. </a:t>
            </a:r>
          </a:p>
          <a:p>
            <a:endParaRPr lang="en-US" baseline="0" dirty="0"/>
          </a:p>
          <a:p>
            <a:r>
              <a:rPr lang="en-US" baseline="0" dirty="0"/>
              <a:t>It is used to find local clusters of high values, called hot spots, or local clusters of low values, called cold spots. </a:t>
            </a:r>
          </a:p>
          <a:p>
            <a:endParaRPr lang="en-US" baseline="0" dirty="0"/>
          </a:p>
          <a:p>
            <a:r>
              <a:rPr lang="en-US" baseline="0" dirty="0"/>
              <a:t>The null hypothesis is that there are no local clusters of high or low values while the alternative is that there are hot and/or cold spots.</a:t>
            </a:r>
          </a:p>
          <a:p>
            <a:endParaRPr lang="en-US" baseline="0" dirty="0"/>
          </a:p>
          <a:p>
            <a:r>
              <a:rPr lang="en-US" baseline="0" dirty="0"/>
              <a:t>The provided example represents an assessment of population change between 2000 and 2010. Red indicates hot spots, or clusters of counties that have seen population growth during this time period. Blue areas indicate clusters of counties that have seen population decreases during this time period. Tan indicates no pattern. </a:t>
            </a:r>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3106850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another example, this slide represents</a:t>
            </a:r>
            <a:r>
              <a:rPr lang="en-US" baseline="0" dirty="0"/>
              <a:t> results for a hot spot analysis of percent poverty at the census tract scale. </a:t>
            </a:r>
          </a:p>
          <a:p>
            <a:endParaRPr lang="en-US" baseline="0" dirty="0"/>
          </a:p>
          <a:p>
            <a:r>
              <a:rPr lang="en-US" baseline="0" dirty="0"/>
              <a:t>Red indicates clusters of high poverty while blue indicates clusters of low poverty. White suggests no pattern.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1556936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548626" indent="0" algn="ctr">
              <a:buNone/>
              <a:defRPr>
                <a:solidFill>
                  <a:schemeClr val="tx1">
                    <a:tint val="75000"/>
                  </a:schemeClr>
                </a:solidFill>
              </a:defRPr>
            </a:lvl2pPr>
            <a:lvl3pPr marL="1097253" indent="0" algn="ctr">
              <a:buNone/>
              <a:defRPr>
                <a:solidFill>
                  <a:schemeClr val="tx1">
                    <a:tint val="75000"/>
                  </a:schemeClr>
                </a:solidFill>
              </a:defRPr>
            </a:lvl3pPr>
            <a:lvl4pPr marL="1645879" indent="0" algn="ctr">
              <a:buNone/>
              <a:defRPr>
                <a:solidFill>
                  <a:schemeClr val="tx1">
                    <a:tint val="75000"/>
                  </a:schemeClr>
                </a:solidFill>
              </a:defRPr>
            </a:lvl4pPr>
            <a:lvl5pPr marL="2194505" indent="0" algn="ctr">
              <a:buNone/>
              <a:defRPr>
                <a:solidFill>
                  <a:schemeClr val="tx1">
                    <a:tint val="75000"/>
                  </a:schemeClr>
                </a:solidFill>
              </a:defRPr>
            </a:lvl5pPr>
            <a:lvl6pPr marL="2743131" indent="0" algn="ctr">
              <a:buNone/>
              <a:defRPr>
                <a:solidFill>
                  <a:schemeClr val="tx1">
                    <a:tint val="75000"/>
                  </a:schemeClr>
                </a:solidFill>
              </a:defRPr>
            </a:lvl6pPr>
            <a:lvl7pPr marL="3291758" indent="0" algn="ctr">
              <a:buNone/>
              <a:defRPr>
                <a:solidFill>
                  <a:schemeClr val="tx1">
                    <a:tint val="75000"/>
                  </a:schemeClr>
                </a:solidFill>
              </a:defRPr>
            </a:lvl7pPr>
            <a:lvl8pPr marL="3840384" indent="0" algn="ctr">
              <a:buNone/>
              <a:defRPr>
                <a:solidFill>
                  <a:schemeClr val="tx1">
                    <a:tint val="75000"/>
                  </a:schemeClr>
                </a:solidFill>
              </a:defRPr>
            </a:lvl8pPr>
            <a:lvl9pPr marL="438901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3720668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1492146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8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400">
                <a:solidFill>
                  <a:schemeClr val="tx1">
                    <a:tint val="75000"/>
                  </a:schemeClr>
                </a:solidFill>
              </a:defRPr>
            </a:lvl1pPr>
            <a:lvl2pPr marL="548626" indent="0">
              <a:buNone/>
              <a:defRPr sz="2160">
                <a:solidFill>
                  <a:schemeClr val="tx1">
                    <a:tint val="75000"/>
                  </a:schemeClr>
                </a:solidFill>
              </a:defRPr>
            </a:lvl2pPr>
            <a:lvl3pPr marL="1097253" indent="0">
              <a:buNone/>
              <a:defRPr sz="1920">
                <a:solidFill>
                  <a:schemeClr val="tx1">
                    <a:tint val="75000"/>
                  </a:schemeClr>
                </a:solidFill>
              </a:defRPr>
            </a:lvl3pPr>
            <a:lvl4pPr marL="1645879" indent="0">
              <a:buNone/>
              <a:defRPr sz="1680">
                <a:solidFill>
                  <a:schemeClr val="tx1">
                    <a:tint val="75000"/>
                  </a:schemeClr>
                </a:solidFill>
              </a:defRPr>
            </a:lvl4pPr>
            <a:lvl5pPr marL="2194505" indent="0">
              <a:buNone/>
              <a:defRPr sz="1680">
                <a:solidFill>
                  <a:schemeClr val="tx1">
                    <a:tint val="75000"/>
                  </a:schemeClr>
                </a:solidFill>
              </a:defRPr>
            </a:lvl5pPr>
            <a:lvl6pPr marL="2743131" indent="0">
              <a:buNone/>
              <a:defRPr sz="1680">
                <a:solidFill>
                  <a:schemeClr val="tx1">
                    <a:tint val="75000"/>
                  </a:schemeClr>
                </a:solidFill>
              </a:defRPr>
            </a:lvl6pPr>
            <a:lvl7pPr marL="3291758" indent="0">
              <a:buNone/>
              <a:defRPr sz="1680">
                <a:solidFill>
                  <a:schemeClr val="tx1">
                    <a:tint val="75000"/>
                  </a:schemeClr>
                </a:solidFill>
              </a:defRPr>
            </a:lvl7pPr>
            <a:lvl8pPr marL="3840384" indent="0">
              <a:buNone/>
              <a:defRPr sz="1680">
                <a:solidFill>
                  <a:schemeClr val="tx1">
                    <a:tint val="75000"/>
                  </a:schemeClr>
                </a:solidFill>
              </a:defRPr>
            </a:lvl8pPr>
            <a:lvl9pPr marL="438901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702635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2476774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1" y="1535113"/>
            <a:ext cx="5386917" cy="639763"/>
          </a:xfrm>
        </p:spPr>
        <p:txBody>
          <a:bodyPr anchor="b"/>
          <a:lstStyle>
            <a:lvl1pPr marL="0" indent="0">
              <a:buNone/>
              <a:defRPr sz="2880" b="1"/>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en-US"/>
              <a:t>Click to edit Master text styles</a:t>
            </a:r>
          </a:p>
        </p:txBody>
      </p:sp>
      <p:sp>
        <p:nvSpPr>
          <p:cNvPr id="4" name="Content Placeholder 3"/>
          <p:cNvSpPr>
            <a:spLocks noGrp="1"/>
          </p:cNvSpPr>
          <p:nvPr>
            <p:ph sz="half" idx="2"/>
          </p:nvPr>
        </p:nvSpPr>
        <p:spPr>
          <a:xfrm>
            <a:off x="609601" y="2174875"/>
            <a:ext cx="5386917"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4" cy="639763"/>
          </a:xfrm>
        </p:spPr>
        <p:txBody>
          <a:bodyPr anchor="b"/>
          <a:lstStyle>
            <a:lvl1pPr marL="0" indent="0">
              <a:buNone/>
              <a:defRPr sz="2880" b="1"/>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6193369" y="2174875"/>
            <a:ext cx="5389034"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2752287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222754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804394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400" b="1"/>
            </a:lvl1pPr>
          </a:lstStyle>
          <a:p>
            <a:r>
              <a:rPr lang="en-US"/>
              <a:t>Click to edit Master title style</a:t>
            </a:r>
          </a:p>
        </p:txBody>
      </p:sp>
      <p:sp>
        <p:nvSpPr>
          <p:cNvPr id="3" name="Content Placeholder 2"/>
          <p:cNvSpPr>
            <a:spLocks noGrp="1"/>
          </p:cNvSpPr>
          <p:nvPr>
            <p:ph idx="1"/>
          </p:nvPr>
        </p:nvSpPr>
        <p:spPr>
          <a:xfrm>
            <a:off x="4766734" y="273053"/>
            <a:ext cx="6815667" cy="5853113"/>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68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1326838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9"/>
          </a:xfrm>
        </p:spPr>
        <p:txBody>
          <a:bodyPr anchor="b"/>
          <a:lstStyle>
            <a:lvl1pPr algn="l">
              <a:defRPr sz="24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840"/>
            </a:lvl1pPr>
            <a:lvl2pPr marL="548626" indent="0">
              <a:buNone/>
              <a:defRPr sz="3360"/>
            </a:lvl2pPr>
            <a:lvl3pPr marL="1097253" indent="0">
              <a:buNone/>
              <a:defRPr sz="2880"/>
            </a:lvl3pPr>
            <a:lvl4pPr marL="1645879" indent="0">
              <a:buNone/>
              <a:defRPr sz="2400"/>
            </a:lvl4pPr>
            <a:lvl5pPr marL="2194505" indent="0">
              <a:buNone/>
              <a:defRPr sz="2400"/>
            </a:lvl5pPr>
            <a:lvl6pPr marL="2743131" indent="0">
              <a:buNone/>
              <a:defRPr sz="2400"/>
            </a:lvl6pPr>
            <a:lvl7pPr marL="3291758" indent="0">
              <a:buNone/>
              <a:defRPr sz="2400"/>
            </a:lvl7pPr>
            <a:lvl8pPr marL="3840384" indent="0">
              <a:buNone/>
              <a:defRPr sz="2400"/>
            </a:lvl8pPr>
            <a:lvl9pPr marL="4389010" indent="0">
              <a:buNone/>
              <a:defRPr sz="2400"/>
            </a:lvl9pPr>
          </a:lstStyle>
          <a:p>
            <a:r>
              <a:rPr lang="en-US"/>
              <a:t>Click icon to add picture</a:t>
            </a:r>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68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1507334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1920147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184E673-8B1C-40CC-9D7B-A739065C492F}" type="datetimeFigureOut">
              <a:rPr lang="zh-CN" altLang="en-US" smtClean="0"/>
              <a:t>2026/2/26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2562303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440">
                <a:solidFill>
                  <a:schemeClr val="tx1">
                    <a:tint val="75000"/>
                  </a:schemeClr>
                </a:solidFill>
              </a:defRPr>
            </a:lvl1pPr>
          </a:lstStyle>
          <a:p>
            <a:fld id="{9184E673-8B1C-40CC-9D7B-A739065C492F}" type="datetimeFigureOut">
              <a:rPr lang="zh-CN" altLang="en-US" smtClean="0"/>
              <a:t>2026/2/26</a:t>
            </a:fld>
            <a:endParaRPr lang="zh-CN" alt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440">
                <a:solidFill>
                  <a:schemeClr val="tx1">
                    <a:tint val="75000"/>
                  </a:schemeClr>
                </a:solidFill>
              </a:defRPr>
            </a:lvl1pPr>
          </a:lstStyle>
          <a:p>
            <a:fld id="{7E801E9A-07A6-473E-9537-EADA4BE1C768}" type="slidenum">
              <a:rPr lang="zh-CN" altLang="en-US" smtClean="0"/>
              <a:t>‹#›</a:t>
            </a:fld>
            <a:endParaRPr lang="zh-CN" altLang="en-US"/>
          </a:p>
        </p:txBody>
      </p:sp>
    </p:spTree>
    <p:extLst>
      <p:ext uri="{BB962C8B-B14F-4D97-AF65-F5344CB8AC3E}">
        <p14:creationId xmlns:p14="http://schemas.microsoft.com/office/powerpoint/2010/main" val="7444199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548626" rtl="0" eaLnBrk="1" latinLnBrk="0" hangingPunct="1">
        <a:spcBef>
          <a:spcPct val="0"/>
        </a:spcBef>
        <a:buNone/>
        <a:defRPr sz="5280" kern="1200">
          <a:solidFill>
            <a:schemeClr val="tx1"/>
          </a:solidFill>
          <a:latin typeface="+mj-lt"/>
          <a:ea typeface="+mj-ea"/>
          <a:cs typeface="+mj-cs"/>
        </a:defRPr>
      </a:lvl1pPr>
    </p:titleStyle>
    <p:bodyStyle>
      <a:lvl1pPr marL="411470" indent="-411470" algn="l" defTabSz="548626" rtl="0" eaLnBrk="1" latinLnBrk="0" hangingPunct="1">
        <a:spcBef>
          <a:spcPct val="20000"/>
        </a:spcBef>
        <a:buFont typeface="Arial"/>
        <a:buChar char="•"/>
        <a:defRPr sz="3840" kern="1200">
          <a:solidFill>
            <a:schemeClr val="tx1"/>
          </a:solidFill>
          <a:latin typeface="+mn-lt"/>
          <a:ea typeface="+mn-ea"/>
          <a:cs typeface="+mn-cs"/>
        </a:defRPr>
      </a:lvl1pPr>
      <a:lvl2pPr marL="891518" indent="-342891" algn="l" defTabSz="548626" rtl="0" eaLnBrk="1" latinLnBrk="0" hangingPunct="1">
        <a:spcBef>
          <a:spcPct val="20000"/>
        </a:spcBef>
        <a:buFont typeface="Arial"/>
        <a:buChar char="–"/>
        <a:defRPr sz="3360" kern="1200">
          <a:solidFill>
            <a:schemeClr val="tx1"/>
          </a:solidFill>
          <a:latin typeface="+mn-lt"/>
          <a:ea typeface="+mn-ea"/>
          <a:cs typeface="+mn-cs"/>
        </a:defRPr>
      </a:lvl2pPr>
      <a:lvl3pPr marL="1371566" indent="-274313" algn="l" defTabSz="548626" rtl="0" eaLnBrk="1" latinLnBrk="0" hangingPunct="1">
        <a:spcBef>
          <a:spcPct val="20000"/>
        </a:spcBef>
        <a:buFont typeface="Arial"/>
        <a:buChar char="•"/>
        <a:defRPr sz="2880" kern="1200">
          <a:solidFill>
            <a:schemeClr val="tx1"/>
          </a:solidFill>
          <a:latin typeface="+mn-lt"/>
          <a:ea typeface="+mn-ea"/>
          <a:cs typeface="+mn-cs"/>
        </a:defRPr>
      </a:lvl3pPr>
      <a:lvl4pPr marL="1920192" indent="-274313" algn="l" defTabSz="548626" rtl="0" eaLnBrk="1" latinLnBrk="0" hangingPunct="1">
        <a:spcBef>
          <a:spcPct val="20000"/>
        </a:spcBef>
        <a:buFont typeface="Arial"/>
        <a:buChar char="–"/>
        <a:defRPr sz="2400" kern="1200">
          <a:solidFill>
            <a:schemeClr val="tx1"/>
          </a:solidFill>
          <a:latin typeface="+mn-lt"/>
          <a:ea typeface="+mn-ea"/>
          <a:cs typeface="+mn-cs"/>
        </a:defRPr>
      </a:lvl4pPr>
      <a:lvl5pPr marL="2468818" indent="-274313" algn="l" defTabSz="548626" rtl="0" eaLnBrk="1" latinLnBrk="0" hangingPunct="1">
        <a:spcBef>
          <a:spcPct val="20000"/>
        </a:spcBef>
        <a:buFont typeface="Arial"/>
        <a:buChar char="»"/>
        <a:defRPr sz="2400" kern="1200">
          <a:solidFill>
            <a:schemeClr val="tx1"/>
          </a:solidFill>
          <a:latin typeface="+mn-lt"/>
          <a:ea typeface="+mn-ea"/>
          <a:cs typeface="+mn-cs"/>
        </a:defRPr>
      </a:lvl5pPr>
      <a:lvl6pPr marL="3017445" indent="-274313" algn="l" defTabSz="548626" rtl="0" eaLnBrk="1" latinLnBrk="0" hangingPunct="1">
        <a:spcBef>
          <a:spcPct val="20000"/>
        </a:spcBef>
        <a:buFont typeface="Arial"/>
        <a:buChar char="•"/>
        <a:defRPr sz="2400" kern="1200">
          <a:solidFill>
            <a:schemeClr val="tx1"/>
          </a:solidFill>
          <a:latin typeface="+mn-lt"/>
          <a:ea typeface="+mn-ea"/>
          <a:cs typeface="+mn-cs"/>
        </a:defRPr>
      </a:lvl6pPr>
      <a:lvl7pPr marL="3566071" indent="-274313" algn="l" defTabSz="548626" rtl="0" eaLnBrk="1" latinLnBrk="0" hangingPunct="1">
        <a:spcBef>
          <a:spcPct val="20000"/>
        </a:spcBef>
        <a:buFont typeface="Arial"/>
        <a:buChar char="•"/>
        <a:defRPr sz="2400" kern="1200">
          <a:solidFill>
            <a:schemeClr val="tx1"/>
          </a:solidFill>
          <a:latin typeface="+mn-lt"/>
          <a:ea typeface="+mn-ea"/>
          <a:cs typeface="+mn-cs"/>
        </a:defRPr>
      </a:lvl7pPr>
      <a:lvl8pPr marL="4114697" indent="-274313" algn="l" defTabSz="548626" rtl="0" eaLnBrk="1" latinLnBrk="0" hangingPunct="1">
        <a:spcBef>
          <a:spcPct val="20000"/>
        </a:spcBef>
        <a:buFont typeface="Arial"/>
        <a:buChar char="•"/>
        <a:defRPr sz="2400" kern="1200">
          <a:solidFill>
            <a:schemeClr val="tx1"/>
          </a:solidFill>
          <a:latin typeface="+mn-lt"/>
          <a:ea typeface="+mn-ea"/>
          <a:cs typeface="+mn-cs"/>
        </a:defRPr>
      </a:lvl8pPr>
      <a:lvl9pPr marL="4663323" indent="-274313" algn="l" defTabSz="548626" rtl="0" eaLnBrk="1" latinLnBrk="0" hangingPunct="1">
        <a:spcBef>
          <a:spcPct val="20000"/>
        </a:spcBef>
        <a:buFont typeface="Arial"/>
        <a:buChar char="•"/>
        <a:defRPr sz="2400" kern="1200">
          <a:solidFill>
            <a:schemeClr val="tx1"/>
          </a:solidFill>
          <a:latin typeface="+mn-lt"/>
          <a:ea typeface="+mn-ea"/>
          <a:cs typeface="+mn-cs"/>
        </a:defRPr>
      </a:lvl9pPr>
    </p:bodyStyle>
    <p:otherStyle>
      <a:defPPr>
        <a:defRPr lang="en-US"/>
      </a:defPPr>
      <a:lvl1pPr marL="0" algn="l" defTabSz="548626" rtl="0" eaLnBrk="1" latinLnBrk="0" hangingPunct="1">
        <a:defRPr sz="2160" kern="1200">
          <a:solidFill>
            <a:schemeClr val="tx1"/>
          </a:solidFill>
          <a:latin typeface="+mn-lt"/>
          <a:ea typeface="+mn-ea"/>
          <a:cs typeface="+mn-cs"/>
        </a:defRPr>
      </a:lvl1pPr>
      <a:lvl2pPr marL="548626" algn="l" defTabSz="548626" rtl="0" eaLnBrk="1" latinLnBrk="0" hangingPunct="1">
        <a:defRPr sz="2160" kern="1200">
          <a:solidFill>
            <a:schemeClr val="tx1"/>
          </a:solidFill>
          <a:latin typeface="+mn-lt"/>
          <a:ea typeface="+mn-ea"/>
          <a:cs typeface="+mn-cs"/>
        </a:defRPr>
      </a:lvl2pPr>
      <a:lvl3pPr marL="1097253" algn="l" defTabSz="548626" rtl="0" eaLnBrk="1" latinLnBrk="0" hangingPunct="1">
        <a:defRPr sz="2160" kern="1200">
          <a:solidFill>
            <a:schemeClr val="tx1"/>
          </a:solidFill>
          <a:latin typeface="+mn-lt"/>
          <a:ea typeface="+mn-ea"/>
          <a:cs typeface="+mn-cs"/>
        </a:defRPr>
      </a:lvl3pPr>
      <a:lvl4pPr marL="1645879" algn="l" defTabSz="548626" rtl="0" eaLnBrk="1" latinLnBrk="0" hangingPunct="1">
        <a:defRPr sz="2160" kern="1200">
          <a:solidFill>
            <a:schemeClr val="tx1"/>
          </a:solidFill>
          <a:latin typeface="+mn-lt"/>
          <a:ea typeface="+mn-ea"/>
          <a:cs typeface="+mn-cs"/>
        </a:defRPr>
      </a:lvl4pPr>
      <a:lvl5pPr marL="2194505" algn="l" defTabSz="548626" rtl="0" eaLnBrk="1" latinLnBrk="0" hangingPunct="1">
        <a:defRPr sz="2160" kern="1200">
          <a:solidFill>
            <a:schemeClr val="tx1"/>
          </a:solidFill>
          <a:latin typeface="+mn-lt"/>
          <a:ea typeface="+mn-ea"/>
          <a:cs typeface="+mn-cs"/>
        </a:defRPr>
      </a:lvl5pPr>
      <a:lvl6pPr marL="2743131" algn="l" defTabSz="548626" rtl="0" eaLnBrk="1" latinLnBrk="0" hangingPunct="1">
        <a:defRPr sz="2160" kern="1200">
          <a:solidFill>
            <a:schemeClr val="tx1"/>
          </a:solidFill>
          <a:latin typeface="+mn-lt"/>
          <a:ea typeface="+mn-ea"/>
          <a:cs typeface="+mn-cs"/>
        </a:defRPr>
      </a:lvl6pPr>
      <a:lvl7pPr marL="3291758" algn="l" defTabSz="548626" rtl="0" eaLnBrk="1" latinLnBrk="0" hangingPunct="1">
        <a:defRPr sz="2160" kern="1200">
          <a:solidFill>
            <a:schemeClr val="tx1"/>
          </a:solidFill>
          <a:latin typeface="+mn-lt"/>
          <a:ea typeface="+mn-ea"/>
          <a:cs typeface="+mn-cs"/>
        </a:defRPr>
      </a:lvl7pPr>
      <a:lvl8pPr marL="3840384" algn="l" defTabSz="548626" rtl="0" eaLnBrk="1" latinLnBrk="0" hangingPunct="1">
        <a:defRPr sz="2160" kern="1200">
          <a:solidFill>
            <a:schemeClr val="tx1"/>
          </a:solidFill>
          <a:latin typeface="+mn-lt"/>
          <a:ea typeface="+mn-ea"/>
          <a:cs typeface="+mn-cs"/>
        </a:defRPr>
      </a:lvl8pPr>
      <a:lvl9pPr marL="4389010" algn="l" defTabSz="548626"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pro.arcgis.com/en/pro-app/tool-reference/spatial-statistics/spatial-autocorrelation.ht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69721" y="211704"/>
            <a:ext cx="10668000" cy="2066363"/>
          </a:xfrm>
        </p:spPr>
        <p:txBody>
          <a:bodyPr>
            <a:normAutofit/>
          </a:bodyPr>
          <a:lstStyle/>
          <a:p>
            <a:r>
              <a:rPr lang="en-US" sz="4800" dirty="0"/>
              <a:t>GEOG 3403: Geographic </a:t>
            </a:r>
            <a:r>
              <a:rPr lang="en-US" sz="4800"/>
              <a:t>Information Systems II</a:t>
            </a:r>
            <a:endParaRPr lang="en-US" sz="4800" dirty="0"/>
          </a:p>
        </p:txBody>
      </p:sp>
      <p:sp>
        <p:nvSpPr>
          <p:cNvPr id="6" name="Subtitle 2"/>
          <p:cNvSpPr txBox="1">
            <a:spLocks/>
          </p:cNvSpPr>
          <p:nvPr/>
        </p:nvSpPr>
        <p:spPr>
          <a:xfrm>
            <a:off x="2285624" y="3956682"/>
            <a:ext cx="7680960" cy="1561996"/>
          </a:xfrm>
          <a:prstGeom prst="rect">
            <a:avLst/>
          </a:prstGeom>
        </p:spPr>
        <p:txBody>
          <a:bodyPr vert="horz" lIns="109728" tIns="54864" rIns="109728" bIns="54864" rtlCol="0">
            <a:normAutofit fontScale="25000" lnSpcReduction="2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sz="10666">
                <a:solidFill>
                  <a:schemeClr val="tx1"/>
                </a:solidFill>
              </a:rPr>
              <a:t>Y</a:t>
            </a:r>
            <a:r>
              <a:rPr lang="en-US" altLang="zh-CN" sz="10666">
                <a:solidFill>
                  <a:schemeClr val="tx1"/>
                </a:solidFill>
              </a:rPr>
              <a:t>anan Wu</a:t>
            </a:r>
            <a:r>
              <a:rPr lang="en-US" sz="10666">
                <a:solidFill>
                  <a:schemeClr val="tx1"/>
                </a:solidFill>
              </a:rPr>
              <a:t>, </a:t>
            </a:r>
            <a:r>
              <a:rPr lang="en-US" sz="10666" dirty="0">
                <a:solidFill>
                  <a:schemeClr val="tx1"/>
                </a:solidFill>
              </a:rPr>
              <a:t>PhD</a:t>
            </a:r>
          </a:p>
          <a:p>
            <a:r>
              <a:rPr lang="en-US" sz="10666" dirty="0">
                <a:solidFill>
                  <a:schemeClr val="tx1"/>
                </a:solidFill>
              </a:rPr>
              <a:t>Assistant Professor</a:t>
            </a:r>
          </a:p>
          <a:p>
            <a:r>
              <a:rPr lang="en-US" sz="10666" dirty="0">
                <a:solidFill>
                  <a:schemeClr val="tx1"/>
                </a:solidFill>
              </a:rPr>
              <a:t>Department of Geography</a:t>
            </a:r>
          </a:p>
          <a:p>
            <a:endParaRPr lang="en-US" sz="3840" dirty="0"/>
          </a:p>
        </p:txBody>
      </p:sp>
      <p:cxnSp>
        <p:nvCxnSpPr>
          <p:cNvPr id="15" name="Straight Connector 14"/>
          <p:cNvCxnSpPr/>
          <p:nvPr/>
        </p:nvCxnSpPr>
        <p:spPr>
          <a:xfrm>
            <a:off x="812800" y="557676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矩形 11"/>
          <p:cNvSpPr/>
          <p:nvPr/>
        </p:nvSpPr>
        <p:spPr>
          <a:xfrm>
            <a:off x="3373497" y="5888096"/>
            <a:ext cx="373004" cy="641509"/>
          </a:xfrm>
          <a:prstGeom prst="rect">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sz="2400"/>
          </a:p>
        </p:txBody>
      </p:sp>
      <p:sp>
        <p:nvSpPr>
          <p:cNvPr id="4" name="TextBox 3">
            <a:extLst>
              <a:ext uri="{FF2B5EF4-FFF2-40B4-BE49-F238E27FC236}">
                <a16:creationId xmlns:a16="http://schemas.microsoft.com/office/drawing/2014/main" id="{9C8852E4-0F7F-41A7-9B32-F40B4D3A753B}"/>
              </a:ext>
            </a:extLst>
          </p:cNvPr>
          <p:cNvSpPr txBox="1"/>
          <p:nvPr/>
        </p:nvSpPr>
        <p:spPr>
          <a:xfrm>
            <a:off x="609600" y="2278067"/>
            <a:ext cx="10928121" cy="830997"/>
          </a:xfrm>
          <a:prstGeom prst="rect">
            <a:avLst/>
          </a:prstGeom>
          <a:noFill/>
        </p:spPr>
        <p:txBody>
          <a:bodyPr wrap="square" rtlCol="0">
            <a:spAutoFit/>
          </a:bodyPr>
          <a:lstStyle/>
          <a:p>
            <a:pPr algn="ctr"/>
            <a:r>
              <a:rPr lang="en-US" sz="4800" dirty="0"/>
              <a:t>Lecture 06 Spatial S</a:t>
            </a:r>
            <a:r>
              <a:rPr lang="en-US" altLang="zh-CN" sz="4800" dirty="0"/>
              <a:t>tatistics</a:t>
            </a:r>
            <a:endParaRPr lang="en-US" sz="4800" dirty="0"/>
          </a:p>
        </p:txBody>
      </p:sp>
      <p:pic>
        <p:nvPicPr>
          <p:cNvPr id="13" name="Picture 12" descr="Geography department logo">
            <a:extLst>
              <a:ext uri="{FF2B5EF4-FFF2-40B4-BE49-F238E27FC236}">
                <a16:creationId xmlns:a16="http://schemas.microsoft.com/office/drawing/2014/main" id="{AE401581-7A56-448D-8256-F61D9515AE30}"/>
              </a:ext>
            </a:extLst>
          </p:cNvPr>
          <p:cNvPicPr/>
          <p:nvPr/>
        </p:nvPicPr>
        <p:blipFill>
          <a:blip r:embed="rId3"/>
          <a:stretch>
            <a:fillRect/>
          </a:stretch>
        </p:blipFill>
        <p:spPr>
          <a:xfrm>
            <a:off x="812801" y="5700889"/>
            <a:ext cx="7886700" cy="1010920"/>
          </a:xfrm>
          <a:prstGeom prst="rect">
            <a:avLst/>
          </a:prstGeom>
        </p:spPr>
      </p:pic>
    </p:spTree>
    <p:extLst>
      <p:ext uri="{BB962C8B-B14F-4D97-AF65-F5344CB8AC3E}">
        <p14:creationId xmlns:p14="http://schemas.microsoft.com/office/powerpoint/2010/main" val="2349219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76709" y="2747963"/>
            <a:ext cx="9326880" cy="1362075"/>
          </a:xfrm>
        </p:spPr>
        <p:txBody>
          <a:bodyPr>
            <a:normAutofit fontScale="90000"/>
          </a:bodyPr>
          <a:lstStyle/>
          <a:p>
            <a:r>
              <a:rPr lang="en-US" dirty="0"/>
              <a:t>Global Spatial Autocorrelation</a:t>
            </a:r>
          </a:p>
        </p:txBody>
      </p:sp>
      <p:sp>
        <p:nvSpPr>
          <p:cNvPr id="2" name="Slide Number Placeholder 1">
            <a:extLst>
              <a:ext uri="{FF2B5EF4-FFF2-40B4-BE49-F238E27FC236}">
                <a16:creationId xmlns:a16="http://schemas.microsoft.com/office/drawing/2014/main" id="{8334CE96-FFEA-4406-AEEA-113ED3FDD159}"/>
              </a:ext>
            </a:extLst>
          </p:cNvPr>
          <p:cNvSpPr>
            <a:spLocks noGrp="1"/>
          </p:cNvSpPr>
          <p:nvPr>
            <p:ph type="sldNum" sz="quarter" idx="12"/>
          </p:nvPr>
        </p:nvSpPr>
        <p:spPr/>
        <p:txBody>
          <a:bodyPr/>
          <a:lstStyle/>
          <a:p>
            <a:fld id="{127DDC20-79C9-9647-820E-6D40A3D210C3}" type="slidenum">
              <a:rPr lang="en-US" smtClean="0"/>
              <a:pPr/>
              <a:t>2</a:t>
            </a:fld>
            <a:endParaRPr lang="en-US"/>
          </a:p>
        </p:txBody>
      </p:sp>
    </p:spTree>
    <p:extLst>
      <p:ext uri="{BB962C8B-B14F-4D97-AF65-F5344CB8AC3E}">
        <p14:creationId xmlns:p14="http://schemas.microsoft.com/office/powerpoint/2010/main" val="116243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0441" y="1641206"/>
            <a:ext cx="9875520" cy="1028700"/>
          </a:xfrm>
        </p:spPr>
        <p:txBody>
          <a:bodyPr/>
          <a:lstStyle/>
          <a:p>
            <a:r>
              <a:rPr lang="en-US" dirty="0"/>
              <a:t>Tobler’s First Law of Geography</a:t>
            </a:r>
          </a:p>
        </p:txBody>
      </p:sp>
      <p:sp>
        <p:nvSpPr>
          <p:cNvPr id="5" name="Slide Number Placeholder 4">
            <a:extLst>
              <a:ext uri="{FF2B5EF4-FFF2-40B4-BE49-F238E27FC236}">
                <a16:creationId xmlns:a16="http://schemas.microsoft.com/office/drawing/2014/main" id="{C43AEB7A-B9AD-42C2-ADA9-BA7950894EEF}"/>
              </a:ext>
            </a:extLst>
          </p:cNvPr>
          <p:cNvSpPr>
            <a:spLocks noGrp="1"/>
          </p:cNvSpPr>
          <p:nvPr>
            <p:ph type="sldNum" sz="quarter" idx="12"/>
          </p:nvPr>
        </p:nvSpPr>
        <p:spPr/>
        <p:txBody>
          <a:bodyPr/>
          <a:lstStyle/>
          <a:p>
            <a:fld id="{127DDC20-79C9-9647-820E-6D40A3D210C3}" type="slidenum">
              <a:rPr lang="en-US" smtClean="0"/>
              <a:pPr/>
              <a:t>3</a:t>
            </a:fld>
            <a:endParaRPr lang="en-US"/>
          </a:p>
        </p:txBody>
      </p:sp>
      <p:sp>
        <p:nvSpPr>
          <p:cNvPr id="3" name="TextBox 2"/>
          <p:cNvSpPr txBox="1"/>
          <p:nvPr/>
        </p:nvSpPr>
        <p:spPr>
          <a:xfrm>
            <a:off x="1564761" y="3108531"/>
            <a:ext cx="9601200" cy="2851422"/>
          </a:xfrm>
          <a:prstGeom prst="rect">
            <a:avLst/>
          </a:prstGeom>
          <a:noFill/>
        </p:spPr>
        <p:txBody>
          <a:bodyPr wrap="square" rtlCol="0">
            <a:spAutoFit/>
          </a:bodyPr>
          <a:lstStyle/>
          <a:p>
            <a:pPr>
              <a:lnSpc>
                <a:spcPct val="90000"/>
              </a:lnSpc>
            </a:pPr>
            <a:r>
              <a:rPr lang="en-US" sz="2880" i="1" dirty="0"/>
              <a:t>Everything is related to everything else, but near things are more related than distant things.</a:t>
            </a:r>
          </a:p>
          <a:p>
            <a:pPr>
              <a:lnSpc>
                <a:spcPct val="90000"/>
              </a:lnSpc>
            </a:pPr>
            <a:endParaRPr lang="en-US" sz="2160" i="1" dirty="0"/>
          </a:p>
          <a:p>
            <a:pPr>
              <a:lnSpc>
                <a:spcPct val="90000"/>
              </a:lnSpc>
            </a:pPr>
            <a:endParaRPr lang="en-US" sz="2160" i="1" dirty="0"/>
          </a:p>
          <a:p>
            <a:pPr>
              <a:lnSpc>
                <a:spcPct val="90000"/>
              </a:lnSpc>
            </a:pPr>
            <a:endParaRPr lang="en-US" sz="2160" i="1" dirty="0"/>
          </a:p>
          <a:p>
            <a:pPr>
              <a:lnSpc>
                <a:spcPct val="90000"/>
              </a:lnSpc>
            </a:pPr>
            <a:endParaRPr lang="en-US" sz="2160" i="1" dirty="0"/>
          </a:p>
          <a:p>
            <a:pPr>
              <a:lnSpc>
                <a:spcPct val="90000"/>
              </a:lnSpc>
            </a:pPr>
            <a:endParaRPr lang="en-US" sz="2160" i="1" dirty="0"/>
          </a:p>
          <a:p>
            <a:pPr>
              <a:lnSpc>
                <a:spcPct val="90000"/>
              </a:lnSpc>
            </a:pPr>
            <a:r>
              <a:rPr lang="en-US" sz="1680" dirty="0"/>
              <a:t>Tobler, W. (1970) “A computer movie simulating urban growth in the Detroit region.” </a:t>
            </a:r>
            <a:r>
              <a:rPr lang="en-US" sz="1680" i="1" dirty="0"/>
              <a:t>Economic Geography</a:t>
            </a:r>
            <a:r>
              <a:rPr lang="en-US" sz="1680" dirty="0"/>
              <a:t>, 45(2): 234-240.</a:t>
            </a:r>
          </a:p>
        </p:txBody>
      </p:sp>
      <p:cxnSp>
        <p:nvCxnSpPr>
          <p:cNvPr id="4" name="Straight Connector 3">
            <a:extLst>
              <a:ext uri="{FF2B5EF4-FFF2-40B4-BE49-F238E27FC236}">
                <a16:creationId xmlns:a16="http://schemas.microsoft.com/office/drawing/2014/main" id="{57D53406-7D6E-4CC8-8E42-BA28A0201FFB}"/>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8551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FA95F-0CB4-BC12-53BD-9F6933FBD6BF}"/>
              </a:ext>
            </a:extLst>
          </p:cNvPr>
          <p:cNvSpPr>
            <a:spLocks noGrp="1"/>
          </p:cNvSpPr>
          <p:nvPr>
            <p:ph type="title"/>
          </p:nvPr>
        </p:nvSpPr>
        <p:spPr>
          <a:xfrm>
            <a:off x="609600" y="135925"/>
            <a:ext cx="10972800" cy="950657"/>
          </a:xfrm>
        </p:spPr>
        <p:txBody>
          <a:bodyPr>
            <a:normAutofit/>
          </a:bodyPr>
          <a:lstStyle/>
          <a:p>
            <a:r>
              <a:rPr lang="en-US" b="1" dirty="0"/>
              <a:t>US Precipitation Map</a:t>
            </a:r>
            <a:endParaRPr lang="en-US" dirty="0"/>
          </a:p>
        </p:txBody>
      </p:sp>
      <p:pic>
        <p:nvPicPr>
          <p:cNvPr id="5" name="Content Placeholder 4">
            <a:extLst>
              <a:ext uri="{FF2B5EF4-FFF2-40B4-BE49-F238E27FC236}">
                <a16:creationId xmlns:a16="http://schemas.microsoft.com/office/drawing/2014/main" id="{9DB848B7-9509-EC12-EF36-62262A5B9372}"/>
              </a:ext>
            </a:extLst>
          </p:cNvPr>
          <p:cNvPicPr>
            <a:picLocks noGrp="1" noChangeAspect="1"/>
          </p:cNvPicPr>
          <p:nvPr>
            <p:ph idx="1"/>
          </p:nvPr>
        </p:nvPicPr>
        <p:blipFill>
          <a:blip r:embed="rId2"/>
          <a:stretch>
            <a:fillRect/>
          </a:stretch>
        </p:blipFill>
        <p:spPr>
          <a:xfrm>
            <a:off x="-395416" y="1358874"/>
            <a:ext cx="8379160" cy="5227277"/>
          </a:xfrm>
        </p:spPr>
      </p:pic>
      <p:sp>
        <p:nvSpPr>
          <p:cNvPr id="6" name="TextBox 5">
            <a:extLst>
              <a:ext uri="{FF2B5EF4-FFF2-40B4-BE49-F238E27FC236}">
                <a16:creationId xmlns:a16="http://schemas.microsoft.com/office/drawing/2014/main" id="{0A89A47F-C75D-E1AF-73EF-EB31D46D35B1}"/>
              </a:ext>
            </a:extLst>
          </p:cNvPr>
          <p:cNvSpPr txBox="1"/>
          <p:nvPr/>
        </p:nvSpPr>
        <p:spPr>
          <a:xfrm>
            <a:off x="6697364" y="4413751"/>
            <a:ext cx="5832388" cy="2308324"/>
          </a:xfrm>
          <a:prstGeom prst="rect">
            <a:avLst/>
          </a:prstGeom>
          <a:noFill/>
        </p:spPr>
        <p:txBody>
          <a:bodyPr wrap="square">
            <a:spAutoFit/>
          </a:bodyPr>
          <a:lstStyle/>
          <a:p>
            <a:r>
              <a:rPr lang="en-US" sz="2400" dirty="0"/>
              <a:t>Looking at the US Precipitation Map, which spatial pattern is most visible?</a:t>
            </a:r>
          </a:p>
          <a:p>
            <a:endParaRPr lang="en-US" sz="2400" dirty="0"/>
          </a:p>
          <a:p>
            <a:r>
              <a:rPr lang="en-US" sz="2400" dirty="0"/>
              <a:t>A. Random distribution</a:t>
            </a:r>
          </a:p>
          <a:p>
            <a:r>
              <a:rPr lang="en-US" sz="2400" dirty="0"/>
              <a:t>B. Clustered regions of similar precipitation</a:t>
            </a:r>
          </a:p>
          <a:p>
            <a:r>
              <a:rPr lang="en-US" sz="2400" dirty="0"/>
              <a:t>C. Perfect dispersion</a:t>
            </a:r>
          </a:p>
        </p:txBody>
      </p:sp>
      <p:sp>
        <p:nvSpPr>
          <p:cNvPr id="8" name="TextBox 7">
            <a:extLst>
              <a:ext uri="{FF2B5EF4-FFF2-40B4-BE49-F238E27FC236}">
                <a16:creationId xmlns:a16="http://schemas.microsoft.com/office/drawing/2014/main" id="{62660799-7234-2EB3-6D10-893A60ADBEE5}"/>
              </a:ext>
            </a:extLst>
          </p:cNvPr>
          <p:cNvSpPr txBox="1"/>
          <p:nvPr/>
        </p:nvSpPr>
        <p:spPr>
          <a:xfrm>
            <a:off x="7506730" y="3896295"/>
            <a:ext cx="648729" cy="461665"/>
          </a:xfrm>
          <a:prstGeom prst="rect">
            <a:avLst/>
          </a:prstGeom>
          <a:noFill/>
        </p:spPr>
        <p:txBody>
          <a:bodyPr wrap="square">
            <a:spAutoFit/>
          </a:bodyPr>
          <a:lstStyle/>
          <a:p>
            <a:r>
              <a:rPr lang="en-US" sz="2400" dirty="0"/>
              <a:t>🤔</a:t>
            </a:r>
          </a:p>
        </p:txBody>
      </p:sp>
    </p:spTree>
    <p:extLst>
      <p:ext uri="{BB962C8B-B14F-4D97-AF65-F5344CB8AC3E}">
        <p14:creationId xmlns:p14="http://schemas.microsoft.com/office/powerpoint/2010/main" val="1233697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266C8-819C-C705-5359-BE979C9FEC7F}"/>
              </a:ext>
            </a:extLst>
          </p:cNvPr>
          <p:cNvSpPr>
            <a:spLocks noGrp="1"/>
          </p:cNvSpPr>
          <p:nvPr>
            <p:ph idx="1"/>
          </p:nvPr>
        </p:nvSpPr>
        <p:spPr>
          <a:xfrm>
            <a:off x="609600" y="1427177"/>
            <a:ext cx="10972800" cy="2699950"/>
          </a:xfrm>
        </p:spPr>
        <p:txBody>
          <a:bodyPr/>
          <a:lstStyle/>
          <a:p>
            <a:pPr marL="0" indent="0">
              <a:buNone/>
            </a:pPr>
            <a:r>
              <a:rPr lang="en-US" b="1" dirty="0"/>
              <a:t>Which example best reflects Tobler’s First Law?</a:t>
            </a:r>
            <a:endParaRPr lang="en-US" dirty="0"/>
          </a:p>
          <a:p>
            <a:pPr marL="0" indent="0">
              <a:buNone/>
            </a:pPr>
            <a:r>
              <a:rPr lang="en-US" dirty="0"/>
              <a:t>A. Housing prices vary randomly</a:t>
            </a:r>
            <a:br>
              <a:rPr lang="en-US" dirty="0"/>
            </a:br>
            <a:r>
              <a:rPr lang="en-US" dirty="0"/>
              <a:t>B. Nearby neighborhoods have similar </a:t>
            </a:r>
            <a:r>
              <a:rPr lang="en-US" altLang="zh-CN" dirty="0"/>
              <a:t>housing price</a:t>
            </a:r>
            <a:br>
              <a:rPr lang="en-US" dirty="0"/>
            </a:br>
            <a:r>
              <a:rPr lang="en-US" dirty="0"/>
              <a:t>C. Location does not influence patterns</a:t>
            </a:r>
          </a:p>
          <a:p>
            <a:endParaRPr lang="en-US" dirty="0"/>
          </a:p>
        </p:txBody>
      </p:sp>
      <p:sp>
        <p:nvSpPr>
          <p:cNvPr id="2" name="TextBox 1">
            <a:extLst>
              <a:ext uri="{FF2B5EF4-FFF2-40B4-BE49-F238E27FC236}">
                <a16:creationId xmlns:a16="http://schemas.microsoft.com/office/drawing/2014/main" id="{B0BF6FA0-BDED-E9C5-0463-C73F39279C52}"/>
              </a:ext>
            </a:extLst>
          </p:cNvPr>
          <p:cNvSpPr txBox="1"/>
          <p:nvPr/>
        </p:nvSpPr>
        <p:spPr>
          <a:xfrm>
            <a:off x="609600" y="844176"/>
            <a:ext cx="648729" cy="461665"/>
          </a:xfrm>
          <a:prstGeom prst="rect">
            <a:avLst/>
          </a:prstGeom>
          <a:noFill/>
        </p:spPr>
        <p:txBody>
          <a:bodyPr wrap="square">
            <a:spAutoFit/>
          </a:bodyPr>
          <a:lstStyle/>
          <a:p>
            <a:r>
              <a:rPr lang="en-US" sz="2400" dirty="0"/>
              <a:t>🤔</a:t>
            </a:r>
          </a:p>
        </p:txBody>
      </p:sp>
    </p:spTree>
    <p:extLst>
      <p:ext uri="{BB962C8B-B14F-4D97-AF65-F5344CB8AC3E}">
        <p14:creationId xmlns:p14="http://schemas.microsoft.com/office/powerpoint/2010/main" val="1200520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7D53406-7D6E-4CC8-8E42-BA28A0201FFB}"/>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Slide Number Placeholder 4">
            <a:extLst>
              <a:ext uri="{FF2B5EF4-FFF2-40B4-BE49-F238E27FC236}">
                <a16:creationId xmlns:a16="http://schemas.microsoft.com/office/drawing/2014/main" id="{C43AEB7A-B9AD-42C2-ADA9-BA7950894EEF}"/>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8" name="Rectangle 2">
            <a:extLst>
              <a:ext uri="{FF2B5EF4-FFF2-40B4-BE49-F238E27FC236}">
                <a16:creationId xmlns:a16="http://schemas.microsoft.com/office/drawing/2014/main" id="{8889C48D-9B43-4451-BDD5-CF407DCFADA4}"/>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Spatial autocorrelation</a:t>
            </a:r>
          </a:p>
        </p:txBody>
      </p:sp>
      <p:pic>
        <p:nvPicPr>
          <p:cNvPr id="10" name="Picture 9" descr="A picture containing text, crossword puzzle&#10;&#10;Description automatically generated">
            <a:extLst>
              <a:ext uri="{FF2B5EF4-FFF2-40B4-BE49-F238E27FC236}">
                <a16:creationId xmlns:a16="http://schemas.microsoft.com/office/drawing/2014/main" id="{BB8E9587-526A-45D6-8E3B-05F594181684}"/>
              </a:ext>
            </a:extLst>
          </p:cNvPr>
          <p:cNvPicPr>
            <a:picLocks noChangeAspect="1"/>
          </p:cNvPicPr>
          <p:nvPr/>
        </p:nvPicPr>
        <p:blipFill>
          <a:blip r:embed="rId3"/>
          <a:stretch>
            <a:fillRect/>
          </a:stretch>
        </p:blipFill>
        <p:spPr>
          <a:xfrm>
            <a:off x="487477" y="1336496"/>
            <a:ext cx="5933848" cy="5384980"/>
          </a:xfrm>
          <a:prstGeom prst="rect">
            <a:avLst/>
          </a:prstGeom>
        </p:spPr>
      </p:pic>
      <p:sp>
        <p:nvSpPr>
          <p:cNvPr id="11" name="TextBox 10">
            <a:extLst>
              <a:ext uri="{FF2B5EF4-FFF2-40B4-BE49-F238E27FC236}">
                <a16:creationId xmlns:a16="http://schemas.microsoft.com/office/drawing/2014/main" id="{39A21FCC-3D90-4FCA-919E-B833BD190FD2}"/>
              </a:ext>
            </a:extLst>
          </p:cNvPr>
          <p:cNvSpPr txBox="1"/>
          <p:nvPr/>
        </p:nvSpPr>
        <p:spPr>
          <a:xfrm>
            <a:off x="137697" y="6560546"/>
            <a:ext cx="5507004" cy="297454"/>
          </a:xfrm>
          <a:prstGeom prst="rect">
            <a:avLst/>
          </a:prstGeom>
          <a:noFill/>
        </p:spPr>
        <p:txBody>
          <a:bodyPr wrap="square" rtlCol="0">
            <a:spAutoFit/>
          </a:bodyPr>
          <a:lstStyle/>
          <a:p>
            <a:r>
              <a:rPr lang="en-US" sz="1333" dirty="0" err="1">
                <a:solidFill>
                  <a:srgbClr val="7030A0"/>
                </a:solidFill>
              </a:rPr>
              <a:t>B</a:t>
            </a:r>
            <a:r>
              <a:rPr lang="en-US" altLang="zh-CN" sz="1333" dirty="0" err="1">
                <a:solidFill>
                  <a:srgbClr val="7030A0"/>
                </a:solidFill>
              </a:rPr>
              <a:t>olstad</a:t>
            </a:r>
            <a:r>
              <a:rPr lang="en-US" altLang="zh-CN" sz="1333" dirty="0">
                <a:solidFill>
                  <a:srgbClr val="7030A0"/>
                </a:solidFill>
              </a:rPr>
              <a:t> 2019</a:t>
            </a:r>
            <a:endParaRPr lang="en-US" sz="1333" dirty="0">
              <a:solidFill>
                <a:srgbClr val="7030A0"/>
              </a:solidFill>
            </a:endParaRPr>
          </a:p>
        </p:txBody>
      </p:sp>
      <p:sp>
        <p:nvSpPr>
          <p:cNvPr id="6" name="TextBox 5">
            <a:extLst>
              <a:ext uri="{FF2B5EF4-FFF2-40B4-BE49-F238E27FC236}">
                <a16:creationId xmlns:a16="http://schemas.microsoft.com/office/drawing/2014/main" id="{1B6CA839-6AED-02C4-A0C1-F538132678F5}"/>
              </a:ext>
            </a:extLst>
          </p:cNvPr>
          <p:cNvSpPr txBox="1"/>
          <p:nvPr/>
        </p:nvSpPr>
        <p:spPr>
          <a:xfrm>
            <a:off x="6771105" y="2121228"/>
            <a:ext cx="5258830" cy="3416320"/>
          </a:xfrm>
          <a:prstGeom prst="rect">
            <a:avLst/>
          </a:prstGeom>
          <a:noFill/>
        </p:spPr>
        <p:txBody>
          <a:bodyPr wrap="square">
            <a:spAutoFit/>
          </a:bodyPr>
          <a:lstStyle/>
          <a:p>
            <a:r>
              <a:rPr lang="en-US" sz="2400" dirty="0"/>
              <a:t>Spatial autocorrelation describes the degree to which the values of a variable are similar (or dissimilar) across geographic space.</a:t>
            </a:r>
          </a:p>
          <a:p>
            <a:endParaRPr lang="en-US" sz="2400" dirty="0"/>
          </a:p>
          <a:p>
            <a:r>
              <a:rPr lang="en-US" sz="2400" dirty="0"/>
              <a:t>In simple terms:</a:t>
            </a:r>
          </a:p>
          <a:p>
            <a:endParaRPr lang="en-US" sz="2400" dirty="0"/>
          </a:p>
          <a:p>
            <a:r>
              <a:rPr lang="en-US" sz="2400" b="1" dirty="0"/>
              <a:t>Do nearby locations have similar values?</a:t>
            </a:r>
          </a:p>
        </p:txBody>
      </p:sp>
    </p:spTree>
    <p:extLst>
      <p:ext uri="{BB962C8B-B14F-4D97-AF65-F5344CB8AC3E}">
        <p14:creationId xmlns:p14="http://schemas.microsoft.com/office/powerpoint/2010/main" val="3686747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Spatial autocorrelation</a:t>
            </a:r>
          </a:p>
        </p:txBody>
      </p:sp>
      <p:pic>
        <p:nvPicPr>
          <p:cNvPr id="20" name="Picture 19" descr="Cluster example">
            <a:extLst>
              <a:ext uri="{FF2B5EF4-FFF2-40B4-BE49-F238E27FC236}">
                <a16:creationId xmlns:a16="http://schemas.microsoft.com/office/drawing/2014/main" id="{190E4994-BB9E-48AC-ADF6-61E797CB685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883920" y="1949105"/>
            <a:ext cx="3017520" cy="3035044"/>
          </a:xfrm>
          <a:prstGeom prst="rect">
            <a:avLst/>
          </a:prstGeom>
        </p:spPr>
      </p:pic>
      <p:pic>
        <p:nvPicPr>
          <p:cNvPr id="21" name="Picture 20" descr="disperse example">
            <a:extLst>
              <a:ext uri="{FF2B5EF4-FFF2-40B4-BE49-F238E27FC236}">
                <a16:creationId xmlns:a16="http://schemas.microsoft.com/office/drawing/2014/main" id="{E1AACC52-F897-4B1B-BE40-32D08C5A8E6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018372" y="1929153"/>
            <a:ext cx="3055819" cy="3048760"/>
          </a:xfrm>
          <a:prstGeom prst="rect">
            <a:avLst/>
          </a:prstGeom>
        </p:spPr>
      </p:pic>
      <p:pic>
        <p:nvPicPr>
          <p:cNvPr id="22" name="Picture 21" descr="random example">
            <a:extLst>
              <a:ext uri="{FF2B5EF4-FFF2-40B4-BE49-F238E27FC236}">
                <a16:creationId xmlns:a16="http://schemas.microsoft.com/office/drawing/2014/main" id="{81620FC9-4041-470A-B02A-77070D4FDB35}"/>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450081" y="1942870"/>
            <a:ext cx="3038536" cy="3035044"/>
          </a:xfrm>
          <a:prstGeom prst="rect">
            <a:avLst/>
          </a:prstGeom>
        </p:spPr>
      </p:pic>
      <p:sp>
        <p:nvSpPr>
          <p:cNvPr id="23" name="TextBox 22">
            <a:extLst>
              <a:ext uri="{FF2B5EF4-FFF2-40B4-BE49-F238E27FC236}">
                <a16:creationId xmlns:a16="http://schemas.microsoft.com/office/drawing/2014/main" id="{39E7F54E-503B-4AF5-B57E-F4A486FB4740}"/>
              </a:ext>
            </a:extLst>
          </p:cNvPr>
          <p:cNvSpPr txBox="1"/>
          <p:nvPr/>
        </p:nvSpPr>
        <p:spPr>
          <a:xfrm>
            <a:off x="1226821" y="5172363"/>
            <a:ext cx="2537460" cy="491225"/>
          </a:xfrm>
          <a:prstGeom prst="rect">
            <a:avLst/>
          </a:prstGeom>
          <a:noFill/>
        </p:spPr>
        <p:txBody>
          <a:bodyPr wrap="square" rtlCol="0">
            <a:spAutoFit/>
          </a:bodyPr>
          <a:lstStyle/>
          <a:p>
            <a:pPr algn="ctr">
              <a:lnSpc>
                <a:spcPct val="90000"/>
              </a:lnSpc>
            </a:pPr>
            <a:r>
              <a:rPr lang="en-US" sz="2880" b="1" dirty="0"/>
              <a:t>Clustered</a:t>
            </a:r>
          </a:p>
        </p:txBody>
      </p:sp>
      <p:sp>
        <p:nvSpPr>
          <p:cNvPr id="24" name="TextBox 23">
            <a:extLst>
              <a:ext uri="{FF2B5EF4-FFF2-40B4-BE49-F238E27FC236}">
                <a16:creationId xmlns:a16="http://schemas.microsoft.com/office/drawing/2014/main" id="{FE794E65-EC7F-4DC4-B5CA-246578A6AB29}"/>
              </a:ext>
            </a:extLst>
          </p:cNvPr>
          <p:cNvSpPr txBox="1"/>
          <p:nvPr/>
        </p:nvSpPr>
        <p:spPr>
          <a:xfrm>
            <a:off x="4792981" y="5172363"/>
            <a:ext cx="2537460" cy="491225"/>
          </a:xfrm>
          <a:prstGeom prst="rect">
            <a:avLst/>
          </a:prstGeom>
          <a:noFill/>
        </p:spPr>
        <p:txBody>
          <a:bodyPr wrap="square" rtlCol="0">
            <a:spAutoFit/>
          </a:bodyPr>
          <a:lstStyle/>
          <a:p>
            <a:pPr algn="ctr">
              <a:lnSpc>
                <a:spcPct val="90000"/>
              </a:lnSpc>
            </a:pPr>
            <a:r>
              <a:rPr lang="en-US" sz="2880" b="1" dirty="0"/>
              <a:t>Random</a:t>
            </a:r>
          </a:p>
        </p:txBody>
      </p:sp>
      <p:sp>
        <p:nvSpPr>
          <p:cNvPr id="25" name="TextBox 24">
            <a:extLst>
              <a:ext uri="{FF2B5EF4-FFF2-40B4-BE49-F238E27FC236}">
                <a16:creationId xmlns:a16="http://schemas.microsoft.com/office/drawing/2014/main" id="{5D5808DB-EBAF-44E1-AD90-78D10CEB1F0F}"/>
              </a:ext>
            </a:extLst>
          </p:cNvPr>
          <p:cNvSpPr txBox="1"/>
          <p:nvPr/>
        </p:nvSpPr>
        <p:spPr>
          <a:xfrm>
            <a:off x="8375167" y="5172363"/>
            <a:ext cx="2537460" cy="491225"/>
          </a:xfrm>
          <a:prstGeom prst="rect">
            <a:avLst/>
          </a:prstGeom>
          <a:noFill/>
        </p:spPr>
        <p:txBody>
          <a:bodyPr wrap="square" rtlCol="0">
            <a:spAutoFit/>
          </a:bodyPr>
          <a:lstStyle/>
          <a:p>
            <a:pPr algn="ctr">
              <a:lnSpc>
                <a:spcPct val="90000"/>
              </a:lnSpc>
            </a:pPr>
            <a:r>
              <a:rPr lang="en-US" sz="2880" b="1" dirty="0"/>
              <a:t>Dispersed</a:t>
            </a:r>
          </a:p>
        </p:txBody>
      </p:sp>
      <p:sp>
        <p:nvSpPr>
          <p:cNvPr id="2" name="TextBox 1">
            <a:extLst>
              <a:ext uri="{FF2B5EF4-FFF2-40B4-BE49-F238E27FC236}">
                <a16:creationId xmlns:a16="http://schemas.microsoft.com/office/drawing/2014/main" id="{45B1E15C-C0AD-40D2-8457-8E4467F69A53}"/>
              </a:ext>
            </a:extLst>
          </p:cNvPr>
          <p:cNvSpPr txBox="1"/>
          <p:nvPr/>
        </p:nvSpPr>
        <p:spPr>
          <a:xfrm>
            <a:off x="9314577" y="1209023"/>
            <a:ext cx="1147891" cy="830997"/>
          </a:xfrm>
          <a:prstGeom prst="rect">
            <a:avLst/>
          </a:prstGeom>
          <a:noFill/>
        </p:spPr>
        <p:txBody>
          <a:bodyPr wrap="square" rtlCol="0">
            <a:spAutoFit/>
          </a:bodyPr>
          <a:lstStyle/>
          <a:p>
            <a:r>
              <a:rPr lang="en-US" sz="4800" dirty="0"/>
              <a:t>-</a:t>
            </a:r>
          </a:p>
        </p:txBody>
      </p:sp>
      <p:sp>
        <p:nvSpPr>
          <p:cNvPr id="3" name="TextBox 2">
            <a:extLst>
              <a:ext uri="{FF2B5EF4-FFF2-40B4-BE49-F238E27FC236}">
                <a16:creationId xmlns:a16="http://schemas.microsoft.com/office/drawing/2014/main" id="{4072454D-7C0C-4147-A87E-EAF11918FB8A}"/>
              </a:ext>
            </a:extLst>
          </p:cNvPr>
          <p:cNvSpPr txBox="1"/>
          <p:nvPr/>
        </p:nvSpPr>
        <p:spPr>
          <a:xfrm>
            <a:off x="2157901" y="1208419"/>
            <a:ext cx="1147891" cy="748988"/>
          </a:xfrm>
          <a:prstGeom prst="rect">
            <a:avLst/>
          </a:prstGeom>
          <a:noFill/>
        </p:spPr>
        <p:txBody>
          <a:bodyPr wrap="square" rtlCol="0">
            <a:spAutoFit/>
          </a:bodyPr>
          <a:lstStyle/>
          <a:p>
            <a:r>
              <a:rPr lang="en-US" sz="4267" dirty="0"/>
              <a:t>+</a:t>
            </a:r>
          </a:p>
        </p:txBody>
      </p:sp>
      <p:sp>
        <p:nvSpPr>
          <p:cNvPr id="4" name="Slide Number Placeholder 3">
            <a:extLst>
              <a:ext uri="{FF2B5EF4-FFF2-40B4-BE49-F238E27FC236}">
                <a16:creationId xmlns:a16="http://schemas.microsoft.com/office/drawing/2014/main" id="{596A5BEB-73FD-4B28-A019-FF16D8AA4684}"/>
              </a:ext>
            </a:extLst>
          </p:cNvPr>
          <p:cNvSpPr>
            <a:spLocks noGrp="1"/>
          </p:cNvSpPr>
          <p:nvPr>
            <p:ph type="sldNum" sz="quarter" idx="12"/>
          </p:nvPr>
        </p:nvSpPr>
        <p:spPr/>
        <p:txBody>
          <a:bodyPr/>
          <a:lstStyle/>
          <a:p>
            <a:fld id="{127DDC20-79C9-9647-820E-6D40A3D210C3}" type="slidenum">
              <a:rPr lang="en-US" smtClean="0"/>
              <a:pPr/>
              <a:t>7</a:t>
            </a:fld>
            <a:endParaRPr lang="en-US"/>
          </a:p>
        </p:txBody>
      </p:sp>
      <p:sp>
        <p:nvSpPr>
          <p:cNvPr id="5" name="TextBox 4">
            <a:extLst>
              <a:ext uri="{FF2B5EF4-FFF2-40B4-BE49-F238E27FC236}">
                <a16:creationId xmlns:a16="http://schemas.microsoft.com/office/drawing/2014/main" id="{7A0D5AB3-C3D8-05FF-5970-02A09F45D7BE}"/>
              </a:ext>
            </a:extLst>
          </p:cNvPr>
          <p:cNvSpPr txBox="1"/>
          <p:nvPr/>
        </p:nvSpPr>
        <p:spPr>
          <a:xfrm>
            <a:off x="384708" y="5702706"/>
            <a:ext cx="4065373" cy="830997"/>
          </a:xfrm>
          <a:prstGeom prst="rect">
            <a:avLst/>
          </a:prstGeom>
          <a:noFill/>
        </p:spPr>
        <p:txBody>
          <a:bodyPr wrap="square" rtlCol="0">
            <a:spAutoFit/>
          </a:bodyPr>
          <a:lstStyle/>
          <a:p>
            <a:pPr algn="ctr"/>
            <a:r>
              <a:rPr lang="en-US" altLang="zh-CN" sz="2400" dirty="0"/>
              <a:t>Positive </a:t>
            </a:r>
          </a:p>
          <a:p>
            <a:pPr algn="ctr"/>
            <a:r>
              <a:rPr lang="en-US" altLang="zh-CN" sz="2400" dirty="0"/>
              <a:t>spatial autocorrelation</a:t>
            </a:r>
            <a:endParaRPr lang="zh-CN" altLang="en-US" sz="2400" dirty="0"/>
          </a:p>
        </p:txBody>
      </p:sp>
      <p:sp>
        <p:nvSpPr>
          <p:cNvPr id="6" name="TextBox 5">
            <a:extLst>
              <a:ext uri="{FF2B5EF4-FFF2-40B4-BE49-F238E27FC236}">
                <a16:creationId xmlns:a16="http://schemas.microsoft.com/office/drawing/2014/main" id="{78D14F64-4D52-EA83-0482-D57CD630E11F}"/>
              </a:ext>
            </a:extLst>
          </p:cNvPr>
          <p:cNvSpPr txBox="1"/>
          <p:nvPr/>
        </p:nvSpPr>
        <p:spPr>
          <a:xfrm>
            <a:off x="7588750" y="5702706"/>
            <a:ext cx="4065373" cy="830997"/>
          </a:xfrm>
          <a:prstGeom prst="rect">
            <a:avLst/>
          </a:prstGeom>
          <a:noFill/>
        </p:spPr>
        <p:txBody>
          <a:bodyPr wrap="square" rtlCol="0">
            <a:spAutoFit/>
          </a:bodyPr>
          <a:lstStyle/>
          <a:p>
            <a:pPr algn="ctr"/>
            <a:r>
              <a:rPr lang="en-US" altLang="zh-CN" sz="2400" dirty="0"/>
              <a:t>Negative </a:t>
            </a:r>
          </a:p>
          <a:p>
            <a:pPr algn="ctr"/>
            <a:r>
              <a:rPr lang="en-US" altLang="zh-CN" sz="2400" dirty="0"/>
              <a:t>spatial autocorrelation</a:t>
            </a:r>
            <a:endParaRPr lang="zh-CN" altLang="en-US" sz="2400" dirty="0"/>
          </a:p>
        </p:txBody>
      </p:sp>
    </p:spTree>
    <p:extLst>
      <p:ext uri="{BB962C8B-B14F-4D97-AF65-F5344CB8AC3E}">
        <p14:creationId xmlns:p14="http://schemas.microsoft.com/office/powerpoint/2010/main" val="111901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FCA7A-FD8E-35B7-FCFB-74A655690BE6}"/>
              </a:ext>
            </a:extLst>
          </p:cNvPr>
          <p:cNvSpPr>
            <a:spLocks noGrp="1"/>
          </p:cNvSpPr>
          <p:nvPr>
            <p:ph type="title"/>
          </p:nvPr>
        </p:nvSpPr>
        <p:spPr>
          <a:xfrm>
            <a:off x="144164" y="37070"/>
            <a:ext cx="5173362" cy="1143000"/>
          </a:xfrm>
        </p:spPr>
        <p:txBody>
          <a:bodyPr>
            <a:normAutofit/>
          </a:bodyPr>
          <a:lstStyle/>
          <a:p>
            <a:r>
              <a:rPr lang="en-US" sz="4000" dirty="0"/>
              <a:t>H</a:t>
            </a:r>
            <a:r>
              <a:rPr lang="en-US" altLang="zh-CN" sz="4000" dirty="0"/>
              <a:t>ousing Price in Boston</a:t>
            </a:r>
            <a:endParaRPr lang="en-US" sz="4000" dirty="0"/>
          </a:p>
        </p:txBody>
      </p:sp>
      <p:pic>
        <p:nvPicPr>
          <p:cNvPr id="5" name="Content Placeholder 4">
            <a:extLst>
              <a:ext uri="{FF2B5EF4-FFF2-40B4-BE49-F238E27FC236}">
                <a16:creationId xmlns:a16="http://schemas.microsoft.com/office/drawing/2014/main" id="{0201ED72-E252-B2E1-D2A1-6CEDC1417D95}"/>
              </a:ext>
            </a:extLst>
          </p:cNvPr>
          <p:cNvPicPr>
            <a:picLocks noGrp="1" noChangeAspect="1"/>
          </p:cNvPicPr>
          <p:nvPr>
            <p:ph idx="1"/>
          </p:nvPr>
        </p:nvPicPr>
        <p:blipFill>
          <a:blip r:embed="rId2"/>
          <a:stretch>
            <a:fillRect/>
          </a:stretch>
        </p:blipFill>
        <p:spPr>
          <a:xfrm>
            <a:off x="5682759" y="608570"/>
            <a:ext cx="6365077" cy="5640859"/>
          </a:xfrm>
        </p:spPr>
      </p:pic>
      <p:sp>
        <p:nvSpPr>
          <p:cNvPr id="4" name="TextBox 3">
            <a:extLst>
              <a:ext uri="{FF2B5EF4-FFF2-40B4-BE49-F238E27FC236}">
                <a16:creationId xmlns:a16="http://schemas.microsoft.com/office/drawing/2014/main" id="{9F1510E9-5A9D-C153-37EC-C2F87577BA99}"/>
              </a:ext>
            </a:extLst>
          </p:cNvPr>
          <p:cNvSpPr txBox="1"/>
          <p:nvPr/>
        </p:nvSpPr>
        <p:spPr>
          <a:xfrm>
            <a:off x="432488" y="1637956"/>
            <a:ext cx="4596714" cy="2677656"/>
          </a:xfrm>
          <a:prstGeom prst="rect">
            <a:avLst/>
          </a:prstGeom>
          <a:noFill/>
        </p:spPr>
        <p:txBody>
          <a:bodyPr wrap="square">
            <a:spAutoFit/>
          </a:bodyPr>
          <a:lstStyle/>
          <a:p>
            <a:r>
              <a:rPr lang="en-US" altLang="zh-CN" sz="2800" dirty="0"/>
              <a:t>What spatial patterns do you observe in the housing prices?</a:t>
            </a:r>
          </a:p>
          <a:p>
            <a:endParaRPr lang="en-US" altLang="zh-CN" sz="2800" dirty="0"/>
          </a:p>
          <a:p>
            <a:pPr marL="514350" indent="-514350">
              <a:buFont typeface="+mj-lt"/>
              <a:buAutoNum type="arabicPeriod"/>
            </a:pPr>
            <a:r>
              <a:rPr lang="en-US" altLang="zh-CN" sz="2800" dirty="0"/>
              <a:t>clustered </a:t>
            </a:r>
          </a:p>
          <a:p>
            <a:pPr marL="514350" indent="-514350">
              <a:buFont typeface="+mj-lt"/>
              <a:buAutoNum type="arabicPeriod"/>
            </a:pPr>
            <a:r>
              <a:rPr lang="en-US" altLang="zh-CN" sz="2800" dirty="0"/>
              <a:t>dispersed </a:t>
            </a:r>
          </a:p>
          <a:p>
            <a:pPr marL="514350" indent="-514350">
              <a:buFont typeface="+mj-lt"/>
              <a:buAutoNum type="arabicPeriod"/>
            </a:pPr>
            <a:r>
              <a:rPr lang="en-US" altLang="zh-CN" sz="2800" dirty="0"/>
              <a:t>random</a:t>
            </a:r>
            <a:endParaRPr lang="zh-CN" altLang="en-US" sz="2800" dirty="0"/>
          </a:p>
        </p:txBody>
      </p:sp>
    </p:spTree>
    <p:extLst>
      <p:ext uri="{BB962C8B-B14F-4D97-AF65-F5344CB8AC3E}">
        <p14:creationId xmlns:p14="http://schemas.microsoft.com/office/powerpoint/2010/main" val="2939108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Moran’s I</a:t>
            </a:r>
          </a:p>
        </p:txBody>
      </p:sp>
      <p:sp>
        <p:nvSpPr>
          <p:cNvPr id="12" name="TextBox 11">
            <a:extLst>
              <a:ext uri="{FF2B5EF4-FFF2-40B4-BE49-F238E27FC236}">
                <a16:creationId xmlns:a16="http://schemas.microsoft.com/office/drawing/2014/main" id="{2390A8F1-064F-4066-B182-CD107EB33EAB}"/>
              </a:ext>
            </a:extLst>
          </p:cNvPr>
          <p:cNvSpPr txBox="1"/>
          <p:nvPr/>
        </p:nvSpPr>
        <p:spPr>
          <a:xfrm>
            <a:off x="812800" y="1403119"/>
            <a:ext cx="9601200" cy="1687898"/>
          </a:xfrm>
          <a:prstGeom prst="rect">
            <a:avLst/>
          </a:prstGeom>
          <a:noFill/>
        </p:spPr>
        <p:txBody>
          <a:bodyPr wrap="square" rtlCol="0">
            <a:spAutoFit/>
          </a:bodyPr>
          <a:lstStyle/>
          <a:p>
            <a:pPr>
              <a:lnSpc>
                <a:spcPct val="90000"/>
              </a:lnSpc>
            </a:pPr>
            <a:r>
              <a:rPr lang="en-US" sz="2880" dirty="0"/>
              <a:t>Measures spatial autocorrelation based on feature locations and </a:t>
            </a:r>
            <a:r>
              <a:rPr lang="en-US" sz="2880" dirty="0">
                <a:solidFill>
                  <a:srgbClr val="FF0000"/>
                </a:solidFill>
              </a:rPr>
              <a:t>attribute values </a:t>
            </a:r>
            <a:r>
              <a:rPr lang="en-US" sz="2880" dirty="0"/>
              <a:t>using the Global Moran’s I statistic. Moran’s I measure the spatial autocorrelation of attribute values.</a:t>
            </a:r>
          </a:p>
        </p:txBody>
      </p:sp>
      <p:sp>
        <p:nvSpPr>
          <p:cNvPr id="2" name="Slide Number Placeholder 1">
            <a:extLst>
              <a:ext uri="{FF2B5EF4-FFF2-40B4-BE49-F238E27FC236}">
                <a16:creationId xmlns:a16="http://schemas.microsoft.com/office/drawing/2014/main" id="{00DF9275-37E2-4361-8B64-B04A0DED5CF1}"/>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4" name="Picture 3">
            <a:extLst>
              <a:ext uri="{FF2B5EF4-FFF2-40B4-BE49-F238E27FC236}">
                <a16:creationId xmlns:a16="http://schemas.microsoft.com/office/drawing/2014/main" id="{A550486C-9E34-7EB6-7CED-0C948753B2FA}"/>
              </a:ext>
            </a:extLst>
          </p:cNvPr>
          <p:cNvPicPr>
            <a:picLocks noChangeAspect="1"/>
          </p:cNvPicPr>
          <p:nvPr/>
        </p:nvPicPr>
        <p:blipFill>
          <a:blip r:embed="rId3"/>
          <a:stretch>
            <a:fillRect/>
          </a:stretch>
        </p:blipFill>
        <p:spPr>
          <a:xfrm>
            <a:off x="798996" y="3711157"/>
            <a:ext cx="10594008" cy="3010319"/>
          </a:xfrm>
          <a:prstGeom prst="rect">
            <a:avLst/>
          </a:prstGeom>
        </p:spPr>
      </p:pic>
      <p:sp>
        <p:nvSpPr>
          <p:cNvPr id="3" name="TextBox 2">
            <a:extLst>
              <a:ext uri="{FF2B5EF4-FFF2-40B4-BE49-F238E27FC236}">
                <a16:creationId xmlns:a16="http://schemas.microsoft.com/office/drawing/2014/main" id="{54372A6D-0FDF-C5CA-AA1F-F47F1BBCB808}"/>
              </a:ext>
            </a:extLst>
          </p:cNvPr>
          <p:cNvSpPr txBox="1"/>
          <p:nvPr/>
        </p:nvSpPr>
        <p:spPr>
          <a:xfrm>
            <a:off x="1729945" y="3263588"/>
            <a:ext cx="864973" cy="646331"/>
          </a:xfrm>
          <a:prstGeom prst="rect">
            <a:avLst/>
          </a:prstGeom>
          <a:noFill/>
        </p:spPr>
        <p:txBody>
          <a:bodyPr wrap="square" rtlCol="0">
            <a:spAutoFit/>
          </a:bodyPr>
          <a:lstStyle/>
          <a:p>
            <a:r>
              <a:rPr lang="en-US" sz="3600" dirty="0"/>
              <a:t>-1</a:t>
            </a:r>
          </a:p>
        </p:txBody>
      </p:sp>
      <p:sp>
        <p:nvSpPr>
          <p:cNvPr id="5" name="TextBox 4">
            <a:extLst>
              <a:ext uri="{FF2B5EF4-FFF2-40B4-BE49-F238E27FC236}">
                <a16:creationId xmlns:a16="http://schemas.microsoft.com/office/drawing/2014/main" id="{05566454-BAA4-CAAB-30E2-61D8140AB3F9}"/>
              </a:ext>
            </a:extLst>
          </p:cNvPr>
          <p:cNvSpPr txBox="1"/>
          <p:nvPr/>
        </p:nvSpPr>
        <p:spPr>
          <a:xfrm>
            <a:off x="9727513" y="3387991"/>
            <a:ext cx="864973" cy="646331"/>
          </a:xfrm>
          <a:prstGeom prst="rect">
            <a:avLst/>
          </a:prstGeom>
          <a:noFill/>
        </p:spPr>
        <p:txBody>
          <a:bodyPr wrap="square" rtlCol="0">
            <a:spAutoFit/>
          </a:bodyPr>
          <a:lstStyle/>
          <a:p>
            <a:r>
              <a:rPr lang="en-US" sz="3600" dirty="0"/>
              <a:t>1</a:t>
            </a:r>
          </a:p>
        </p:txBody>
      </p:sp>
    </p:spTree>
    <p:extLst>
      <p:ext uri="{BB962C8B-B14F-4D97-AF65-F5344CB8AC3E}">
        <p14:creationId xmlns:p14="http://schemas.microsoft.com/office/powerpoint/2010/main" val="1965760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B3FB99-F66F-12B9-8069-21F853785290}"/>
              </a:ext>
            </a:extLst>
          </p:cNvPr>
          <p:cNvSpPr>
            <a:spLocks noGrp="1"/>
          </p:cNvSpPr>
          <p:nvPr>
            <p:ph idx="1"/>
          </p:nvPr>
        </p:nvSpPr>
        <p:spPr>
          <a:xfrm>
            <a:off x="720811" y="505327"/>
            <a:ext cx="10972800" cy="2793927"/>
          </a:xfrm>
        </p:spPr>
        <p:txBody>
          <a:bodyPr/>
          <a:lstStyle/>
          <a:p>
            <a:pPr marL="0" indent="0">
              <a:buNone/>
            </a:pPr>
            <a:r>
              <a:rPr lang="en-US" b="1" dirty="0"/>
              <a:t>Moran’s I close to +1 suggests:</a:t>
            </a:r>
            <a:endParaRPr lang="en-US" dirty="0"/>
          </a:p>
          <a:p>
            <a:pPr marL="0" indent="0">
              <a:buNone/>
            </a:pPr>
            <a:r>
              <a:rPr lang="en-US" dirty="0"/>
              <a:t>A. Dispersion</a:t>
            </a:r>
            <a:br>
              <a:rPr lang="en-US" dirty="0"/>
            </a:br>
            <a:r>
              <a:rPr lang="en-US" dirty="0"/>
              <a:t>B. Clustering of similar values</a:t>
            </a:r>
            <a:br>
              <a:rPr lang="en-US" dirty="0"/>
            </a:br>
            <a:r>
              <a:rPr lang="en-US" dirty="0"/>
              <a:t>C. Randomness</a:t>
            </a:r>
          </a:p>
        </p:txBody>
      </p:sp>
      <p:sp>
        <p:nvSpPr>
          <p:cNvPr id="2" name="Content Placeholder 2">
            <a:extLst>
              <a:ext uri="{FF2B5EF4-FFF2-40B4-BE49-F238E27FC236}">
                <a16:creationId xmlns:a16="http://schemas.microsoft.com/office/drawing/2014/main" id="{A8A2A354-8BDA-C067-8B9D-4C9407E7E98E}"/>
              </a:ext>
            </a:extLst>
          </p:cNvPr>
          <p:cNvSpPr txBox="1">
            <a:spLocks/>
          </p:cNvSpPr>
          <p:nvPr/>
        </p:nvSpPr>
        <p:spPr>
          <a:xfrm>
            <a:off x="609600" y="3459892"/>
            <a:ext cx="10972800" cy="2891588"/>
          </a:xfrm>
          <a:prstGeom prst="rect">
            <a:avLst/>
          </a:prstGeom>
        </p:spPr>
        <p:txBody>
          <a:bodyPr vert="horz" lIns="91440" tIns="45720" rIns="91440" bIns="45720" rtlCol="0">
            <a:normAutofit/>
          </a:bodyPr>
          <a:lstStyle>
            <a:lvl1pPr marL="411470" indent="-411470" algn="l" defTabSz="548626" rtl="0" eaLnBrk="1" latinLnBrk="0" hangingPunct="1">
              <a:spcBef>
                <a:spcPct val="20000"/>
              </a:spcBef>
              <a:buFont typeface="Arial"/>
              <a:buChar char="•"/>
              <a:defRPr sz="3840" kern="1200">
                <a:solidFill>
                  <a:schemeClr val="tx1"/>
                </a:solidFill>
                <a:latin typeface="+mn-lt"/>
                <a:ea typeface="+mn-ea"/>
                <a:cs typeface="+mn-cs"/>
              </a:defRPr>
            </a:lvl1pPr>
            <a:lvl2pPr marL="891518" indent="-342891" algn="l" defTabSz="548626" rtl="0" eaLnBrk="1" latinLnBrk="0" hangingPunct="1">
              <a:spcBef>
                <a:spcPct val="20000"/>
              </a:spcBef>
              <a:buFont typeface="Arial"/>
              <a:buChar char="–"/>
              <a:defRPr sz="3360" kern="1200">
                <a:solidFill>
                  <a:schemeClr val="tx1"/>
                </a:solidFill>
                <a:latin typeface="+mn-lt"/>
                <a:ea typeface="+mn-ea"/>
                <a:cs typeface="+mn-cs"/>
              </a:defRPr>
            </a:lvl2pPr>
            <a:lvl3pPr marL="1371566" indent="-274313" algn="l" defTabSz="548626" rtl="0" eaLnBrk="1" latinLnBrk="0" hangingPunct="1">
              <a:spcBef>
                <a:spcPct val="20000"/>
              </a:spcBef>
              <a:buFont typeface="Arial"/>
              <a:buChar char="•"/>
              <a:defRPr sz="2880" kern="1200">
                <a:solidFill>
                  <a:schemeClr val="tx1"/>
                </a:solidFill>
                <a:latin typeface="+mn-lt"/>
                <a:ea typeface="+mn-ea"/>
                <a:cs typeface="+mn-cs"/>
              </a:defRPr>
            </a:lvl3pPr>
            <a:lvl4pPr marL="1920192" indent="-274313" algn="l" defTabSz="548626" rtl="0" eaLnBrk="1" latinLnBrk="0" hangingPunct="1">
              <a:spcBef>
                <a:spcPct val="20000"/>
              </a:spcBef>
              <a:buFont typeface="Arial"/>
              <a:buChar char="–"/>
              <a:defRPr sz="2400" kern="1200">
                <a:solidFill>
                  <a:schemeClr val="tx1"/>
                </a:solidFill>
                <a:latin typeface="+mn-lt"/>
                <a:ea typeface="+mn-ea"/>
                <a:cs typeface="+mn-cs"/>
              </a:defRPr>
            </a:lvl4pPr>
            <a:lvl5pPr marL="2468818" indent="-274313" algn="l" defTabSz="548626" rtl="0" eaLnBrk="1" latinLnBrk="0" hangingPunct="1">
              <a:spcBef>
                <a:spcPct val="20000"/>
              </a:spcBef>
              <a:buFont typeface="Arial"/>
              <a:buChar char="»"/>
              <a:defRPr sz="2400" kern="1200">
                <a:solidFill>
                  <a:schemeClr val="tx1"/>
                </a:solidFill>
                <a:latin typeface="+mn-lt"/>
                <a:ea typeface="+mn-ea"/>
                <a:cs typeface="+mn-cs"/>
              </a:defRPr>
            </a:lvl5pPr>
            <a:lvl6pPr marL="3017445" indent="-274313" algn="l" defTabSz="548626" rtl="0" eaLnBrk="1" latinLnBrk="0" hangingPunct="1">
              <a:spcBef>
                <a:spcPct val="20000"/>
              </a:spcBef>
              <a:buFont typeface="Arial"/>
              <a:buChar char="•"/>
              <a:defRPr sz="2400" kern="1200">
                <a:solidFill>
                  <a:schemeClr val="tx1"/>
                </a:solidFill>
                <a:latin typeface="+mn-lt"/>
                <a:ea typeface="+mn-ea"/>
                <a:cs typeface="+mn-cs"/>
              </a:defRPr>
            </a:lvl6pPr>
            <a:lvl7pPr marL="3566071" indent="-274313" algn="l" defTabSz="548626" rtl="0" eaLnBrk="1" latinLnBrk="0" hangingPunct="1">
              <a:spcBef>
                <a:spcPct val="20000"/>
              </a:spcBef>
              <a:buFont typeface="Arial"/>
              <a:buChar char="•"/>
              <a:defRPr sz="2400" kern="1200">
                <a:solidFill>
                  <a:schemeClr val="tx1"/>
                </a:solidFill>
                <a:latin typeface="+mn-lt"/>
                <a:ea typeface="+mn-ea"/>
                <a:cs typeface="+mn-cs"/>
              </a:defRPr>
            </a:lvl7pPr>
            <a:lvl8pPr marL="4114697" indent="-274313" algn="l" defTabSz="548626" rtl="0" eaLnBrk="1" latinLnBrk="0" hangingPunct="1">
              <a:spcBef>
                <a:spcPct val="20000"/>
              </a:spcBef>
              <a:buFont typeface="Arial"/>
              <a:buChar char="•"/>
              <a:defRPr sz="2400" kern="1200">
                <a:solidFill>
                  <a:schemeClr val="tx1"/>
                </a:solidFill>
                <a:latin typeface="+mn-lt"/>
                <a:ea typeface="+mn-ea"/>
                <a:cs typeface="+mn-cs"/>
              </a:defRPr>
            </a:lvl8pPr>
            <a:lvl9pPr marL="4663323" indent="-274313" algn="l" defTabSz="548626" rtl="0" eaLnBrk="1" latinLnBrk="0" hangingPunct="1">
              <a:spcBef>
                <a:spcPct val="20000"/>
              </a:spcBef>
              <a:buFont typeface="Arial"/>
              <a:buChar char="•"/>
              <a:defRPr sz="2400" kern="1200">
                <a:solidFill>
                  <a:schemeClr val="tx1"/>
                </a:solidFill>
                <a:latin typeface="+mn-lt"/>
                <a:ea typeface="+mn-ea"/>
                <a:cs typeface="+mn-cs"/>
              </a:defRPr>
            </a:lvl9pPr>
          </a:lstStyle>
          <a:p>
            <a:pPr marL="0" indent="0">
              <a:buFont typeface="Arial"/>
              <a:buNone/>
            </a:pPr>
            <a:r>
              <a:rPr lang="en-US" b="1"/>
              <a:t>Which method uses attribute values?</a:t>
            </a:r>
            <a:endParaRPr lang="en-US"/>
          </a:p>
          <a:p>
            <a:pPr marL="0" indent="0">
              <a:buFont typeface="Arial"/>
              <a:buNone/>
            </a:pPr>
            <a:r>
              <a:rPr lang="en-US"/>
              <a:t>A. Average Nearest Neighbor</a:t>
            </a:r>
            <a:br>
              <a:rPr lang="en-US"/>
            </a:br>
            <a:r>
              <a:rPr lang="en-US"/>
              <a:t>B. Moran’s I</a:t>
            </a:r>
            <a:br>
              <a:rPr lang="en-US"/>
            </a:br>
            <a:r>
              <a:rPr lang="en-US"/>
              <a:t>C. Ripley’s K</a:t>
            </a:r>
          </a:p>
          <a:p>
            <a:endParaRPr lang="en-US" dirty="0"/>
          </a:p>
        </p:txBody>
      </p:sp>
    </p:spTree>
    <p:extLst>
      <p:ext uri="{BB962C8B-B14F-4D97-AF65-F5344CB8AC3E}">
        <p14:creationId xmlns:p14="http://schemas.microsoft.com/office/powerpoint/2010/main" val="3859298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4E4AD09-0F44-429C-9C85-20A55D755E0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Rectangle 2">
            <a:extLst>
              <a:ext uri="{FF2B5EF4-FFF2-40B4-BE49-F238E27FC236}">
                <a16:creationId xmlns:a16="http://schemas.microsoft.com/office/drawing/2014/main" id="{026441CF-743D-4A31-9EE7-AC6D8AADAAF6}"/>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Moran’s I</a:t>
            </a:r>
          </a:p>
        </p:txBody>
      </p:sp>
      <p:sp>
        <p:nvSpPr>
          <p:cNvPr id="12" name="TextBox 11">
            <a:extLst>
              <a:ext uri="{FF2B5EF4-FFF2-40B4-BE49-F238E27FC236}">
                <a16:creationId xmlns:a16="http://schemas.microsoft.com/office/drawing/2014/main" id="{2390A8F1-064F-4066-B182-CD107EB33EAB}"/>
              </a:ext>
            </a:extLst>
          </p:cNvPr>
          <p:cNvSpPr txBox="1"/>
          <p:nvPr/>
        </p:nvSpPr>
        <p:spPr>
          <a:xfrm>
            <a:off x="812800" y="1403119"/>
            <a:ext cx="9601200" cy="890115"/>
          </a:xfrm>
          <a:prstGeom prst="rect">
            <a:avLst/>
          </a:prstGeom>
          <a:noFill/>
        </p:spPr>
        <p:txBody>
          <a:bodyPr wrap="square" rtlCol="0">
            <a:spAutoFit/>
          </a:bodyPr>
          <a:lstStyle/>
          <a:p>
            <a:pPr>
              <a:lnSpc>
                <a:spcPct val="90000"/>
              </a:lnSpc>
            </a:pPr>
            <a:r>
              <a:rPr lang="en-US" sz="2880" dirty="0"/>
              <a:t>Measures spatial autocorrelation based on feature locations and </a:t>
            </a:r>
            <a:r>
              <a:rPr lang="en-US" sz="2880" dirty="0">
                <a:solidFill>
                  <a:srgbClr val="FF0000"/>
                </a:solidFill>
              </a:rPr>
              <a:t>attribute values </a:t>
            </a:r>
            <a:r>
              <a:rPr lang="en-US" sz="2880" dirty="0"/>
              <a:t>using the Global Moran’s I statistic</a:t>
            </a:r>
          </a:p>
        </p:txBody>
      </p:sp>
      <p:pic>
        <p:nvPicPr>
          <p:cNvPr id="4" name="Picture 3" descr="A close up of a watch&#10;&#10;Description automatically generated">
            <a:extLst>
              <a:ext uri="{FF2B5EF4-FFF2-40B4-BE49-F238E27FC236}">
                <a16:creationId xmlns:a16="http://schemas.microsoft.com/office/drawing/2014/main" id="{76BC92F3-FD2F-41F8-9075-A546C2A8A2FE}"/>
              </a:ext>
            </a:extLst>
          </p:cNvPr>
          <p:cNvPicPr>
            <a:picLocks noChangeAspect="1"/>
          </p:cNvPicPr>
          <p:nvPr/>
        </p:nvPicPr>
        <p:blipFill>
          <a:blip r:embed="rId3"/>
          <a:stretch>
            <a:fillRect/>
          </a:stretch>
        </p:blipFill>
        <p:spPr>
          <a:xfrm>
            <a:off x="1022687" y="2484247"/>
            <a:ext cx="4820199" cy="1097280"/>
          </a:xfrm>
          <a:prstGeom prst="rect">
            <a:avLst/>
          </a:prstGeom>
        </p:spPr>
      </p:pic>
      <p:sp>
        <p:nvSpPr>
          <p:cNvPr id="5" name="Oval 4">
            <a:extLst>
              <a:ext uri="{FF2B5EF4-FFF2-40B4-BE49-F238E27FC236}">
                <a16:creationId xmlns:a16="http://schemas.microsoft.com/office/drawing/2014/main" id="{69E8AAB3-8A2E-431B-BC51-72B170953811}"/>
              </a:ext>
            </a:extLst>
          </p:cNvPr>
          <p:cNvSpPr/>
          <p:nvPr/>
        </p:nvSpPr>
        <p:spPr>
          <a:xfrm>
            <a:off x="4388494" y="3074845"/>
            <a:ext cx="736333" cy="523620"/>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dirty="0"/>
          </a:p>
        </p:txBody>
      </p:sp>
      <p:sp>
        <p:nvSpPr>
          <p:cNvPr id="6" name="TextBox 5">
            <a:extLst>
              <a:ext uri="{FF2B5EF4-FFF2-40B4-BE49-F238E27FC236}">
                <a16:creationId xmlns:a16="http://schemas.microsoft.com/office/drawing/2014/main" id="{9952C95D-CADA-4220-8F88-FE10C7FD7035}"/>
              </a:ext>
            </a:extLst>
          </p:cNvPr>
          <p:cNvSpPr txBox="1"/>
          <p:nvPr/>
        </p:nvSpPr>
        <p:spPr>
          <a:xfrm>
            <a:off x="2325973" y="4189062"/>
            <a:ext cx="4820199" cy="978729"/>
          </a:xfrm>
          <a:prstGeom prst="rect">
            <a:avLst/>
          </a:prstGeom>
          <a:noFill/>
        </p:spPr>
        <p:txBody>
          <a:bodyPr wrap="square" rtlCol="0">
            <a:spAutoFit/>
          </a:bodyPr>
          <a:lstStyle/>
          <a:p>
            <a:r>
              <a:rPr lang="en-US" sz="2880" dirty="0"/>
              <a:t>Spatial Weight between </a:t>
            </a:r>
            <a:r>
              <a:rPr lang="en-US" sz="2880" dirty="0" err="1"/>
              <a:t>i</a:t>
            </a:r>
            <a:r>
              <a:rPr lang="en-US" sz="2880" dirty="0"/>
              <a:t> and j</a:t>
            </a:r>
          </a:p>
        </p:txBody>
      </p:sp>
      <p:sp>
        <p:nvSpPr>
          <p:cNvPr id="13" name="Arrow: Down 12">
            <a:extLst>
              <a:ext uri="{FF2B5EF4-FFF2-40B4-BE49-F238E27FC236}">
                <a16:creationId xmlns:a16="http://schemas.microsoft.com/office/drawing/2014/main" id="{19D4677B-F0DF-490E-BC73-D0447A1CC63A}"/>
              </a:ext>
            </a:extLst>
          </p:cNvPr>
          <p:cNvSpPr/>
          <p:nvPr/>
        </p:nvSpPr>
        <p:spPr>
          <a:xfrm>
            <a:off x="4599759" y="3722443"/>
            <a:ext cx="313799" cy="523620"/>
          </a:xfrm>
          <a:prstGeom prst="down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60"/>
          </a:p>
        </p:txBody>
      </p:sp>
      <p:sp>
        <p:nvSpPr>
          <p:cNvPr id="3" name="Slide Number Placeholder 2">
            <a:extLst>
              <a:ext uri="{FF2B5EF4-FFF2-40B4-BE49-F238E27FC236}">
                <a16:creationId xmlns:a16="http://schemas.microsoft.com/office/drawing/2014/main" id="{D0C8439B-46A1-413C-BD40-5497A7973C19}"/>
              </a:ext>
            </a:extLst>
          </p:cNvPr>
          <p:cNvSpPr>
            <a:spLocks noGrp="1"/>
          </p:cNvSpPr>
          <p:nvPr>
            <p:ph type="sldNum" sz="quarter" idx="12"/>
          </p:nvPr>
        </p:nvSpPr>
        <p:spPr/>
        <p:txBody>
          <a:bodyPr/>
          <a:lstStyle/>
          <a:p>
            <a:fld id="{127DDC20-79C9-9647-820E-6D40A3D210C3}" type="slidenum">
              <a:rPr lang="en-US" smtClean="0"/>
              <a:pPr/>
              <a:t>11</a:t>
            </a:fld>
            <a:endParaRPr lang="en-US"/>
          </a:p>
        </p:txBody>
      </p:sp>
      <p:sp>
        <p:nvSpPr>
          <p:cNvPr id="18" name="TextBox 17">
            <a:extLst>
              <a:ext uri="{FF2B5EF4-FFF2-40B4-BE49-F238E27FC236}">
                <a16:creationId xmlns:a16="http://schemas.microsoft.com/office/drawing/2014/main" id="{7656E916-6BE3-404B-AC0C-A4C765BBBA1E}"/>
              </a:ext>
            </a:extLst>
          </p:cNvPr>
          <p:cNvSpPr txBox="1"/>
          <p:nvPr/>
        </p:nvSpPr>
        <p:spPr>
          <a:xfrm>
            <a:off x="964869" y="3674708"/>
            <a:ext cx="5599611" cy="461665"/>
          </a:xfrm>
          <a:prstGeom prst="rect">
            <a:avLst/>
          </a:prstGeom>
          <a:noFill/>
        </p:spPr>
        <p:txBody>
          <a:bodyPr wrap="square">
            <a:spAutoFit/>
          </a:bodyPr>
          <a:lstStyle/>
          <a:p>
            <a:r>
              <a:rPr lang="pt-BR" sz="2400" dirty="0">
                <a:solidFill>
                  <a:srgbClr val="777777"/>
                </a:solidFill>
                <a:latin typeface="pt sans" panose="020B0604020202020204" pitchFamily="34" charset="0"/>
              </a:rPr>
              <a:t>s</a:t>
            </a:r>
            <a:r>
              <a:rPr lang="pt-BR" sz="2400" baseline="30000" dirty="0">
                <a:solidFill>
                  <a:srgbClr val="777777"/>
                </a:solidFill>
                <a:latin typeface="pt sans" panose="020B0604020202020204" pitchFamily="34" charset="0"/>
              </a:rPr>
              <a:t>2</a:t>
            </a:r>
            <a:r>
              <a:rPr lang="pt-BR" sz="2400" dirty="0">
                <a:solidFill>
                  <a:srgbClr val="777777"/>
                </a:solidFill>
                <a:latin typeface="pt sans" panose="020B0604020202020204" pitchFamily="34" charset="0"/>
              </a:rPr>
              <a:t> = (Σ(y</a:t>
            </a:r>
            <a:r>
              <a:rPr lang="pt-BR" sz="2400" baseline="-25000" dirty="0">
                <a:solidFill>
                  <a:srgbClr val="777777"/>
                </a:solidFill>
                <a:latin typeface="pt sans" panose="020B0604020202020204" pitchFamily="34" charset="0"/>
              </a:rPr>
              <a:t>i</a:t>
            </a:r>
            <a:r>
              <a:rPr lang="pt-BR" sz="2400" dirty="0">
                <a:solidFill>
                  <a:srgbClr val="777777"/>
                </a:solidFill>
                <a:latin typeface="pt sans" panose="020B0604020202020204" pitchFamily="34" charset="0"/>
              </a:rPr>
              <a:t>– ̄y)</a:t>
            </a:r>
            <a:r>
              <a:rPr lang="pt-BR" sz="2400" baseline="30000" dirty="0">
                <a:solidFill>
                  <a:srgbClr val="777777"/>
                </a:solidFill>
                <a:latin typeface="pt sans" panose="020B0604020202020204" pitchFamily="34" charset="0"/>
              </a:rPr>
              <a:t>2</a:t>
            </a:r>
            <a:r>
              <a:rPr lang="pt-BR" sz="2400" dirty="0">
                <a:solidFill>
                  <a:srgbClr val="777777"/>
                </a:solidFill>
                <a:latin typeface="pt sans" panose="020B0604020202020204" pitchFamily="34" charset="0"/>
              </a:rPr>
              <a:t>)/n)</a:t>
            </a:r>
            <a:endParaRPr lang="en-US" sz="2400" dirty="0"/>
          </a:p>
        </p:txBody>
      </p:sp>
      <p:pic>
        <p:nvPicPr>
          <p:cNvPr id="19" name="Picture 18">
            <a:extLst>
              <a:ext uri="{FF2B5EF4-FFF2-40B4-BE49-F238E27FC236}">
                <a16:creationId xmlns:a16="http://schemas.microsoft.com/office/drawing/2014/main" id="{9F884407-54CB-67CD-2C0B-758703EC3D1D}"/>
              </a:ext>
            </a:extLst>
          </p:cNvPr>
          <p:cNvPicPr>
            <a:picLocks noChangeAspect="1"/>
          </p:cNvPicPr>
          <p:nvPr/>
        </p:nvPicPr>
        <p:blipFill>
          <a:blip r:embed="rId4"/>
          <a:stretch>
            <a:fillRect/>
          </a:stretch>
        </p:blipFill>
        <p:spPr>
          <a:xfrm>
            <a:off x="6945631" y="2375421"/>
            <a:ext cx="4789717" cy="2228963"/>
          </a:xfrm>
          <a:prstGeom prst="rect">
            <a:avLst/>
          </a:prstGeom>
        </p:spPr>
      </p:pic>
      <p:sp>
        <p:nvSpPr>
          <p:cNvPr id="10" name="TextBox 9">
            <a:extLst>
              <a:ext uri="{FF2B5EF4-FFF2-40B4-BE49-F238E27FC236}">
                <a16:creationId xmlns:a16="http://schemas.microsoft.com/office/drawing/2014/main" id="{D329B1B9-CE1F-FC12-B155-704C58768FAE}"/>
              </a:ext>
            </a:extLst>
          </p:cNvPr>
          <p:cNvSpPr txBox="1"/>
          <p:nvPr/>
        </p:nvSpPr>
        <p:spPr>
          <a:xfrm>
            <a:off x="1400343" y="5248567"/>
            <a:ext cx="9391314" cy="584775"/>
          </a:xfrm>
          <a:prstGeom prst="rect">
            <a:avLst/>
          </a:prstGeom>
          <a:noFill/>
        </p:spPr>
        <p:txBody>
          <a:bodyPr wrap="square">
            <a:spAutoFit/>
          </a:bodyPr>
          <a:lstStyle/>
          <a:p>
            <a:pPr>
              <a:buNone/>
            </a:pPr>
            <a:r>
              <a:rPr lang="en-US" sz="3200" b="1" dirty="0"/>
              <a:t>Spatial weights define neighbor relationships</a:t>
            </a:r>
          </a:p>
        </p:txBody>
      </p:sp>
    </p:spTree>
    <p:extLst>
      <p:ext uri="{BB962C8B-B14F-4D97-AF65-F5344CB8AC3E}">
        <p14:creationId xmlns:p14="http://schemas.microsoft.com/office/powerpoint/2010/main" val="264683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ACBAA-5894-62D1-0045-201FD229CE29}"/>
              </a:ext>
            </a:extLst>
          </p:cNvPr>
          <p:cNvSpPr>
            <a:spLocks noGrp="1"/>
          </p:cNvSpPr>
          <p:nvPr>
            <p:ph type="title"/>
          </p:nvPr>
        </p:nvSpPr>
        <p:spPr>
          <a:xfrm>
            <a:off x="0" y="45322"/>
            <a:ext cx="5486400" cy="874539"/>
          </a:xfrm>
        </p:spPr>
        <p:txBody>
          <a:bodyPr>
            <a:normAutofit/>
          </a:bodyPr>
          <a:lstStyle/>
          <a:p>
            <a:r>
              <a:rPr lang="en-US" sz="4000" dirty="0"/>
              <a:t>Contiguity edges only</a:t>
            </a:r>
          </a:p>
        </p:txBody>
      </p:sp>
      <p:pic>
        <p:nvPicPr>
          <p:cNvPr id="5" name="Content Placeholder 4">
            <a:extLst>
              <a:ext uri="{FF2B5EF4-FFF2-40B4-BE49-F238E27FC236}">
                <a16:creationId xmlns:a16="http://schemas.microsoft.com/office/drawing/2014/main" id="{999266EE-4416-F5C4-8737-4B10CCA87FDF}"/>
              </a:ext>
            </a:extLst>
          </p:cNvPr>
          <p:cNvPicPr>
            <a:picLocks noGrp="1" noChangeAspect="1"/>
          </p:cNvPicPr>
          <p:nvPr>
            <p:ph idx="1"/>
          </p:nvPr>
        </p:nvPicPr>
        <p:blipFill>
          <a:blip r:embed="rId2"/>
          <a:stretch>
            <a:fillRect/>
          </a:stretch>
        </p:blipFill>
        <p:spPr>
          <a:xfrm>
            <a:off x="5232595" y="731779"/>
            <a:ext cx="6959405" cy="5394441"/>
          </a:xfrm>
        </p:spPr>
      </p:pic>
      <p:sp>
        <p:nvSpPr>
          <p:cNvPr id="4" name="TextBox 3">
            <a:extLst>
              <a:ext uri="{FF2B5EF4-FFF2-40B4-BE49-F238E27FC236}">
                <a16:creationId xmlns:a16="http://schemas.microsoft.com/office/drawing/2014/main" id="{62E962D8-DCA3-4E68-D6E6-9AAF4B3C8907}"/>
              </a:ext>
            </a:extLst>
          </p:cNvPr>
          <p:cNvSpPr txBox="1"/>
          <p:nvPr/>
        </p:nvSpPr>
        <p:spPr>
          <a:xfrm>
            <a:off x="565323" y="1398026"/>
            <a:ext cx="3907824" cy="1384995"/>
          </a:xfrm>
          <a:prstGeom prst="rect">
            <a:avLst/>
          </a:prstGeom>
          <a:noFill/>
        </p:spPr>
        <p:txBody>
          <a:bodyPr wrap="square">
            <a:spAutoFit/>
          </a:bodyPr>
          <a:lstStyle/>
          <a:p>
            <a:pPr>
              <a:buNone/>
            </a:pPr>
            <a:r>
              <a:rPr lang="en-US" altLang="zh-CN" sz="2800" dirty="0"/>
              <a:t>Contiguity-based weights connect spatial units that </a:t>
            </a:r>
            <a:r>
              <a:rPr lang="en-US" altLang="zh-CN" sz="2800" b="1" dirty="0"/>
              <a:t>share a boundary</a:t>
            </a:r>
            <a:endParaRPr lang="en-US" altLang="zh-CN" sz="2800" dirty="0"/>
          </a:p>
        </p:txBody>
      </p:sp>
      <p:sp>
        <p:nvSpPr>
          <p:cNvPr id="7" name="TextBox 6">
            <a:extLst>
              <a:ext uri="{FF2B5EF4-FFF2-40B4-BE49-F238E27FC236}">
                <a16:creationId xmlns:a16="http://schemas.microsoft.com/office/drawing/2014/main" id="{8BEFCF85-C5E9-B6FD-1CCD-E39EC5B7F334}"/>
              </a:ext>
            </a:extLst>
          </p:cNvPr>
          <p:cNvSpPr txBox="1"/>
          <p:nvPr/>
        </p:nvSpPr>
        <p:spPr>
          <a:xfrm>
            <a:off x="600602" y="4180873"/>
            <a:ext cx="4031392" cy="923330"/>
          </a:xfrm>
          <a:prstGeom prst="rect">
            <a:avLst/>
          </a:prstGeom>
          <a:noFill/>
        </p:spPr>
        <p:txBody>
          <a:bodyPr wrap="square">
            <a:spAutoFit/>
          </a:bodyPr>
          <a:lstStyle/>
          <a:p>
            <a:r>
              <a:rPr lang="en-US" altLang="zh-CN" dirty="0"/>
              <a:t>Here we define neighborhoods purely based on adjacency. Only units sharing boundaries are considered neighbors.</a:t>
            </a:r>
            <a:endParaRPr lang="zh-CN" altLang="en-US" dirty="0"/>
          </a:p>
        </p:txBody>
      </p:sp>
    </p:spTree>
    <p:extLst>
      <p:ext uri="{BB962C8B-B14F-4D97-AF65-F5344CB8AC3E}">
        <p14:creationId xmlns:p14="http://schemas.microsoft.com/office/powerpoint/2010/main" val="35112586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EB74E28-E8A2-1721-CE27-B75F92CED52B}"/>
              </a:ext>
            </a:extLst>
          </p:cNvPr>
          <p:cNvPicPr>
            <a:picLocks noGrp="1" noChangeAspect="1"/>
          </p:cNvPicPr>
          <p:nvPr>
            <p:ph idx="1"/>
          </p:nvPr>
        </p:nvPicPr>
        <p:blipFill>
          <a:blip r:embed="rId2"/>
          <a:stretch>
            <a:fillRect/>
          </a:stretch>
        </p:blipFill>
        <p:spPr>
          <a:xfrm>
            <a:off x="4635077" y="821424"/>
            <a:ext cx="7370405" cy="5394024"/>
          </a:xfrm>
        </p:spPr>
      </p:pic>
      <p:sp>
        <p:nvSpPr>
          <p:cNvPr id="4" name="Title 1">
            <a:extLst>
              <a:ext uri="{FF2B5EF4-FFF2-40B4-BE49-F238E27FC236}">
                <a16:creationId xmlns:a16="http://schemas.microsoft.com/office/drawing/2014/main" id="{E7F711BC-D5F1-F78E-48AE-AB5DA3727310}"/>
              </a:ext>
            </a:extLst>
          </p:cNvPr>
          <p:cNvSpPr>
            <a:spLocks noGrp="1"/>
          </p:cNvSpPr>
          <p:nvPr>
            <p:ph type="title"/>
          </p:nvPr>
        </p:nvSpPr>
        <p:spPr>
          <a:xfrm>
            <a:off x="148281" y="113399"/>
            <a:ext cx="5086865" cy="701546"/>
          </a:xfrm>
        </p:spPr>
        <p:txBody>
          <a:bodyPr>
            <a:normAutofit fontScale="90000"/>
          </a:bodyPr>
          <a:lstStyle/>
          <a:p>
            <a:r>
              <a:rPr lang="en-US" sz="4000" dirty="0"/>
              <a:t>Contiguity edges corners</a:t>
            </a:r>
          </a:p>
        </p:txBody>
      </p:sp>
      <p:sp>
        <p:nvSpPr>
          <p:cNvPr id="2" name="TextBox 1">
            <a:extLst>
              <a:ext uri="{FF2B5EF4-FFF2-40B4-BE49-F238E27FC236}">
                <a16:creationId xmlns:a16="http://schemas.microsoft.com/office/drawing/2014/main" id="{B451C409-DAFA-C68D-B014-9BEC31017536}"/>
              </a:ext>
            </a:extLst>
          </p:cNvPr>
          <p:cNvSpPr txBox="1"/>
          <p:nvPr/>
        </p:nvSpPr>
        <p:spPr>
          <a:xfrm>
            <a:off x="342902" y="1657518"/>
            <a:ext cx="3907824" cy="1815882"/>
          </a:xfrm>
          <a:prstGeom prst="rect">
            <a:avLst/>
          </a:prstGeom>
          <a:noFill/>
        </p:spPr>
        <p:txBody>
          <a:bodyPr wrap="square">
            <a:spAutoFit/>
          </a:bodyPr>
          <a:lstStyle/>
          <a:p>
            <a:pPr>
              <a:buNone/>
            </a:pPr>
            <a:r>
              <a:rPr lang="en-US" altLang="zh-CN" sz="2800" dirty="0"/>
              <a:t>Contiguity-based weights connect spatial units that </a:t>
            </a:r>
            <a:r>
              <a:rPr lang="en-US" altLang="zh-CN" sz="2800" b="1" dirty="0"/>
              <a:t>share a boundary or a corner (vertex)</a:t>
            </a:r>
            <a:endParaRPr lang="en-US" altLang="zh-CN" sz="2800" dirty="0"/>
          </a:p>
        </p:txBody>
      </p:sp>
    </p:spTree>
    <p:extLst>
      <p:ext uri="{BB962C8B-B14F-4D97-AF65-F5344CB8AC3E}">
        <p14:creationId xmlns:p14="http://schemas.microsoft.com/office/powerpoint/2010/main" val="4173129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20D23-F583-D1C5-38B6-0E9EBE3CC33D}"/>
              </a:ext>
            </a:extLst>
          </p:cNvPr>
          <p:cNvSpPr>
            <a:spLocks noGrp="1"/>
          </p:cNvSpPr>
          <p:nvPr>
            <p:ph type="title"/>
          </p:nvPr>
        </p:nvSpPr>
        <p:spPr>
          <a:xfrm>
            <a:off x="189470" y="274639"/>
            <a:ext cx="4666735" cy="1010464"/>
          </a:xfrm>
        </p:spPr>
        <p:txBody>
          <a:bodyPr>
            <a:normAutofit/>
          </a:bodyPr>
          <a:lstStyle/>
          <a:p>
            <a:r>
              <a:rPr lang="en-US" sz="4000" dirty="0"/>
              <a:t>K nearest neighbor</a:t>
            </a:r>
          </a:p>
        </p:txBody>
      </p:sp>
      <p:pic>
        <p:nvPicPr>
          <p:cNvPr id="5" name="Content Placeholder 4">
            <a:extLst>
              <a:ext uri="{FF2B5EF4-FFF2-40B4-BE49-F238E27FC236}">
                <a16:creationId xmlns:a16="http://schemas.microsoft.com/office/drawing/2014/main" id="{1ECC0C55-37CF-FA4C-859A-41535B2D2564}"/>
              </a:ext>
            </a:extLst>
          </p:cNvPr>
          <p:cNvPicPr>
            <a:picLocks noGrp="1" noChangeAspect="1"/>
          </p:cNvPicPr>
          <p:nvPr>
            <p:ph idx="1"/>
          </p:nvPr>
        </p:nvPicPr>
        <p:blipFill>
          <a:blip r:embed="rId2"/>
          <a:stretch>
            <a:fillRect/>
          </a:stretch>
        </p:blipFill>
        <p:spPr>
          <a:xfrm>
            <a:off x="5242715" y="472347"/>
            <a:ext cx="6949285" cy="5446539"/>
          </a:xfrm>
        </p:spPr>
      </p:pic>
      <p:sp>
        <p:nvSpPr>
          <p:cNvPr id="4" name="TextBox 3">
            <a:extLst>
              <a:ext uri="{FF2B5EF4-FFF2-40B4-BE49-F238E27FC236}">
                <a16:creationId xmlns:a16="http://schemas.microsoft.com/office/drawing/2014/main" id="{2B0D7A76-9760-7F7A-2A4D-5C963BBE6CD5}"/>
              </a:ext>
            </a:extLst>
          </p:cNvPr>
          <p:cNvSpPr txBox="1"/>
          <p:nvPr/>
        </p:nvSpPr>
        <p:spPr>
          <a:xfrm>
            <a:off x="748098" y="1613242"/>
            <a:ext cx="3549478" cy="1200329"/>
          </a:xfrm>
          <a:prstGeom prst="rect">
            <a:avLst/>
          </a:prstGeom>
          <a:noFill/>
        </p:spPr>
        <p:txBody>
          <a:bodyPr wrap="square">
            <a:spAutoFit/>
          </a:bodyPr>
          <a:lstStyle/>
          <a:p>
            <a:r>
              <a:rPr lang="en-US" altLang="zh-CN" sz="2400" dirty="0"/>
              <a:t>Each spatial unit is connected to its </a:t>
            </a:r>
            <a:r>
              <a:rPr lang="en-US" altLang="zh-CN" sz="2400" b="1" dirty="0"/>
              <a:t>K closest neighbors</a:t>
            </a:r>
            <a:endParaRPr lang="zh-CN" altLang="en-US" sz="2400" dirty="0"/>
          </a:p>
        </p:txBody>
      </p:sp>
    </p:spTree>
    <p:extLst>
      <p:ext uri="{BB962C8B-B14F-4D97-AF65-F5344CB8AC3E}">
        <p14:creationId xmlns:p14="http://schemas.microsoft.com/office/powerpoint/2010/main" val="42805225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Conceptualization of Spatial Relationships</a:t>
            </a:r>
          </a:p>
        </p:txBody>
      </p:sp>
      <p:sp>
        <p:nvSpPr>
          <p:cNvPr id="3" name="Content Placeholder 2"/>
          <p:cNvSpPr>
            <a:spLocks noGrp="1"/>
          </p:cNvSpPr>
          <p:nvPr>
            <p:ph idx="1"/>
          </p:nvPr>
        </p:nvSpPr>
        <p:spPr>
          <a:xfrm>
            <a:off x="815341" y="1920240"/>
            <a:ext cx="10561320" cy="4389120"/>
          </a:xfrm>
        </p:spPr>
        <p:txBody>
          <a:bodyPr>
            <a:normAutofit fontScale="40000" lnSpcReduction="20000"/>
          </a:bodyPr>
          <a:lstStyle/>
          <a:p>
            <a:pPr marL="0" indent="0">
              <a:buNone/>
            </a:pPr>
            <a:r>
              <a:rPr lang="en-US" b="1" dirty="0">
                <a:solidFill>
                  <a:srgbClr val="E3874F"/>
                </a:solidFill>
              </a:rPr>
              <a:t>INVERSE DISTANCE: </a:t>
            </a:r>
            <a:r>
              <a:rPr lang="en-US" dirty="0"/>
              <a:t>Nearby neighboring features have a larger influence on the computations for a target feature than features that are far away.</a:t>
            </a:r>
          </a:p>
          <a:p>
            <a:pPr marL="0" indent="0">
              <a:buNone/>
            </a:pPr>
            <a:r>
              <a:rPr lang="en-US" b="1" dirty="0">
                <a:solidFill>
                  <a:srgbClr val="E3874F"/>
                </a:solidFill>
              </a:rPr>
              <a:t>INVERSE DISTANCE SQUARED: </a:t>
            </a:r>
            <a:r>
              <a:rPr lang="en-US" dirty="0"/>
              <a:t>Same as INVERSE_DISTANCE except that the slope is sharper, so influence drops off more quickly, and only a target feature's closest neighbors will exert substantial influence on computations for that feature. </a:t>
            </a:r>
          </a:p>
          <a:p>
            <a:pPr marL="0" indent="0">
              <a:buNone/>
            </a:pPr>
            <a:r>
              <a:rPr lang="en-US" b="1" dirty="0">
                <a:solidFill>
                  <a:srgbClr val="E3874F"/>
                </a:solidFill>
              </a:rPr>
              <a:t>FIXED DISTANCE BAND: </a:t>
            </a:r>
            <a:r>
              <a:rPr lang="en-US" dirty="0"/>
              <a:t>Each feature is analyzed within the context of neighboring features. Neighboring features inside the specified critical distance (</a:t>
            </a:r>
            <a:r>
              <a:rPr lang="en-US" dirty="0" err="1"/>
              <a:t>Distance_Band_or_Threshold</a:t>
            </a:r>
            <a:r>
              <a:rPr lang="en-US" dirty="0"/>
              <a:t>) receive a weight of one and exert influence on computations for the target feature. Neighboring features outside the critical distance receive a weight of zero and have no influence on a target feature's computations. </a:t>
            </a:r>
          </a:p>
          <a:p>
            <a:pPr marL="0" indent="0">
              <a:buNone/>
            </a:pPr>
            <a:r>
              <a:rPr lang="en-US" b="1" dirty="0">
                <a:solidFill>
                  <a:srgbClr val="E3874F"/>
                </a:solidFill>
              </a:rPr>
              <a:t>ZONE OF INDIFFERENCE: </a:t>
            </a:r>
            <a:r>
              <a:rPr lang="en-US" dirty="0"/>
              <a:t>Features within the specified critical distance (</a:t>
            </a:r>
            <a:r>
              <a:rPr lang="en-US" dirty="0" err="1"/>
              <a:t>Distance_Band_or_Threshold</a:t>
            </a:r>
            <a:r>
              <a:rPr lang="en-US" dirty="0"/>
              <a:t>) of a target feature receive a weight of one and influence computations for that feature. Once the critical distance is exceeded, weights (and the influence a neighboring feature has on target feature computations) diminish with distance. </a:t>
            </a:r>
          </a:p>
          <a:p>
            <a:pPr marL="0" indent="0">
              <a:buNone/>
            </a:pPr>
            <a:r>
              <a:rPr lang="en-US" b="1" dirty="0">
                <a:solidFill>
                  <a:srgbClr val="E3874F"/>
                </a:solidFill>
              </a:rPr>
              <a:t>CONTIGUITY EDGES ONLY: </a:t>
            </a:r>
            <a:r>
              <a:rPr lang="en-US" dirty="0"/>
              <a:t>Only neighboring polygon features that share a boundary or overlap will influence computations for the target polygon feature. </a:t>
            </a:r>
          </a:p>
          <a:p>
            <a:pPr marL="0" indent="0">
              <a:buNone/>
            </a:pPr>
            <a:r>
              <a:rPr lang="en-US" b="1" dirty="0">
                <a:solidFill>
                  <a:srgbClr val="E3874F"/>
                </a:solidFill>
              </a:rPr>
              <a:t>CONTIGUITY EDGES CORNERS: </a:t>
            </a:r>
            <a:r>
              <a:rPr lang="en-US" dirty="0"/>
              <a:t>Polygon features that share a boundary, share a node, or overlap will influence computations for the target polygon feature. </a:t>
            </a:r>
          </a:p>
          <a:p>
            <a:pPr marL="0" indent="0">
              <a:buNone/>
            </a:pPr>
            <a:r>
              <a:rPr lang="en-US" b="1" dirty="0">
                <a:solidFill>
                  <a:srgbClr val="E3874F"/>
                </a:solidFill>
              </a:rPr>
              <a:t>GET SPATIAL WEIGHTS FROM FILE: </a:t>
            </a:r>
            <a:r>
              <a:rPr lang="en-US" dirty="0"/>
              <a:t>Spatial relationships are defined by a specified spatial weights file. The path to the spatial weights file is specified by the </a:t>
            </a:r>
            <a:r>
              <a:rPr lang="en-US" dirty="0" err="1"/>
              <a:t>Weights_Matrix_File</a:t>
            </a:r>
            <a:r>
              <a:rPr lang="en-US" dirty="0"/>
              <a:t> parameter.</a:t>
            </a:r>
          </a:p>
          <a:p>
            <a:endParaRPr lang="en-US" dirty="0"/>
          </a:p>
        </p:txBody>
      </p:sp>
      <p:sp>
        <p:nvSpPr>
          <p:cNvPr id="5" name="Slide Number Placeholder 4">
            <a:extLst>
              <a:ext uri="{FF2B5EF4-FFF2-40B4-BE49-F238E27FC236}">
                <a16:creationId xmlns:a16="http://schemas.microsoft.com/office/drawing/2014/main" id="{533C708E-D85F-45C6-8F2A-BC477EE49506}"/>
              </a:ext>
            </a:extLst>
          </p:cNvPr>
          <p:cNvSpPr>
            <a:spLocks noGrp="1"/>
          </p:cNvSpPr>
          <p:nvPr>
            <p:ph type="sldNum" sz="quarter" idx="12"/>
          </p:nvPr>
        </p:nvSpPr>
        <p:spPr/>
        <p:txBody>
          <a:bodyPr/>
          <a:lstStyle/>
          <a:p>
            <a:fld id="{127DDC20-79C9-9647-820E-6D40A3D210C3}" type="slidenum">
              <a:rPr lang="en-US" smtClean="0"/>
              <a:pPr/>
              <a:t>15</a:t>
            </a:fld>
            <a:endParaRPr lang="en-US"/>
          </a:p>
        </p:txBody>
      </p:sp>
      <p:sp>
        <p:nvSpPr>
          <p:cNvPr id="4" name="Rectangle 3"/>
          <p:cNvSpPr/>
          <p:nvPr/>
        </p:nvSpPr>
        <p:spPr>
          <a:xfrm>
            <a:off x="6576062" y="5872458"/>
            <a:ext cx="5483543" cy="840230"/>
          </a:xfrm>
          <a:prstGeom prst="rect">
            <a:avLst/>
          </a:prstGeom>
        </p:spPr>
        <p:txBody>
          <a:bodyPr>
            <a:spAutoFit/>
          </a:bodyPr>
          <a:lstStyle/>
          <a:p>
            <a:r>
              <a:rPr lang="en-US" sz="1620" dirty="0">
                <a:hlinkClick r:id="rId3"/>
              </a:rPr>
              <a:t>http://pro.arcgis.com/en/pro-app/tool-reference/spatial-statistics/spatial-autocorrelation.htm</a:t>
            </a:r>
            <a:endParaRPr lang="en-US" sz="1620" dirty="0"/>
          </a:p>
          <a:p>
            <a:endParaRPr lang="en-US" sz="1620" dirty="0"/>
          </a:p>
        </p:txBody>
      </p:sp>
    </p:spTree>
    <p:extLst>
      <p:ext uri="{BB962C8B-B14F-4D97-AF65-F5344CB8AC3E}">
        <p14:creationId xmlns:p14="http://schemas.microsoft.com/office/powerpoint/2010/main" val="1509852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CC99D63-BFF1-4EBE-9587-3F5A47380D9B}"/>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AE8DBC9-065F-4857-9451-EEE2DB34C3F3}"/>
              </a:ext>
            </a:extLst>
          </p:cNvPr>
          <p:cNvSpPr txBox="1"/>
          <p:nvPr/>
        </p:nvSpPr>
        <p:spPr>
          <a:xfrm>
            <a:off x="7207720" y="3807989"/>
            <a:ext cx="2237873" cy="757130"/>
          </a:xfrm>
          <a:prstGeom prst="rect">
            <a:avLst/>
          </a:prstGeom>
          <a:solidFill>
            <a:schemeClr val="bg1"/>
          </a:solidFill>
        </p:spPr>
        <p:txBody>
          <a:bodyPr wrap="square" rtlCol="0">
            <a:spAutoFit/>
          </a:bodyPr>
          <a:lstStyle/>
          <a:p>
            <a:endParaRPr lang="en-US" sz="4320" dirty="0"/>
          </a:p>
        </p:txBody>
      </p:sp>
      <p:sp>
        <p:nvSpPr>
          <p:cNvPr id="9" name="Rectangle 2">
            <a:extLst>
              <a:ext uri="{FF2B5EF4-FFF2-40B4-BE49-F238E27FC236}">
                <a16:creationId xmlns:a16="http://schemas.microsoft.com/office/drawing/2014/main" id="{37E8CB1D-3C8B-4648-9EE2-78660CC09099}"/>
              </a:ext>
            </a:extLst>
          </p:cNvPr>
          <p:cNvSpPr txBox="1">
            <a:spLocks noChangeArrowheads="1"/>
          </p:cNvSpPr>
          <p:nvPr/>
        </p:nvSpPr>
        <p:spPr>
          <a:xfrm>
            <a:off x="609600" y="523515"/>
            <a:ext cx="10972800" cy="658416"/>
          </a:xfrm>
          <a:prstGeom prst="rect">
            <a:avLst/>
          </a:prstGeom>
        </p:spPr>
        <p:txBody>
          <a:bodyPr vert="horz" lIns="109728" tIns="54864" rIns="109728" bIns="54864" rtlCol="0" anchor="ctr">
            <a:normAutofit fontScale="9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altLang="zh-CN" sz="4800" dirty="0">
                <a:solidFill>
                  <a:srgbClr val="008000"/>
                </a:solidFill>
                <a:ea typeface="宋体" charset="-122"/>
              </a:rPr>
              <a:t>Examples</a:t>
            </a:r>
          </a:p>
        </p:txBody>
      </p:sp>
      <p:sp>
        <p:nvSpPr>
          <p:cNvPr id="3" name="Slide Number Placeholder 2">
            <a:extLst>
              <a:ext uri="{FF2B5EF4-FFF2-40B4-BE49-F238E27FC236}">
                <a16:creationId xmlns:a16="http://schemas.microsoft.com/office/drawing/2014/main" id="{251E0B59-B45E-49EC-8484-2300B144F48F}"/>
              </a:ext>
            </a:extLst>
          </p:cNvPr>
          <p:cNvSpPr>
            <a:spLocks noGrp="1"/>
          </p:cNvSpPr>
          <p:nvPr>
            <p:ph type="sldNum" sz="quarter" idx="12"/>
          </p:nvPr>
        </p:nvSpPr>
        <p:spPr/>
        <p:txBody>
          <a:bodyPr/>
          <a:lstStyle/>
          <a:p>
            <a:fld id="{127DDC20-79C9-9647-820E-6D40A3D210C3}" type="slidenum">
              <a:rPr lang="en-US" smtClean="0"/>
              <a:pPr/>
              <a:t>16</a:t>
            </a:fld>
            <a:endParaRPr lang="en-US"/>
          </a:p>
        </p:txBody>
      </p:sp>
      <p:pic>
        <p:nvPicPr>
          <p:cNvPr id="5" name="Picture 4">
            <a:extLst>
              <a:ext uri="{FF2B5EF4-FFF2-40B4-BE49-F238E27FC236}">
                <a16:creationId xmlns:a16="http://schemas.microsoft.com/office/drawing/2014/main" id="{29E72CCC-B1F7-B5CA-5715-126770C328A0}"/>
              </a:ext>
            </a:extLst>
          </p:cNvPr>
          <p:cNvPicPr>
            <a:picLocks noChangeAspect="1"/>
          </p:cNvPicPr>
          <p:nvPr/>
        </p:nvPicPr>
        <p:blipFill>
          <a:blip r:embed="rId3"/>
          <a:stretch>
            <a:fillRect/>
          </a:stretch>
        </p:blipFill>
        <p:spPr>
          <a:xfrm>
            <a:off x="5958807" y="229996"/>
            <a:ext cx="5241173" cy="6398008"/>
          </a:xfrm>
          <a:prstGeom prst="rect">
            <a:avLst/>
          </a:prstGeom>
        </p:spPr>
      </p:pic>
      <p:sp>
        <p:nvSpPr>
          <p:cNvPr id="7" name="TextBox 6">
            <a:extLst>
              <a:ext uri="{FF2B5EF4-FFF2-40B4-BE49-F238E27FC236}">
                <a16:creationId xmlns:a16="http://schemas.microsoft.com/office/drawing/2014/main" id="{7755A045-E0D7-7D3B-DD89-291908B012C1}"/>
              </a:ext>
            </a:extLst>
          </p:cNvPr>
          <p:cNvSpPr txBox="1"/>
          <p:nvPr/>
        </p:nvSpPr>
        <p:spPr>
          <a:xfrm>
            <a:off x="808831" y="1309412"/>
            <a:ext cx="4950745" cy="3970318"/>
          </a:xfrm>
          <a:prstGeom prst="rect">
            <a:avLst/>
          </a:prstGeom>
          <a:noFill/>
        </p:spPr>
        <p:txBody>
          <a:bodyPr wrap="square">
            <a:spAutoFit/>
          </a:bodyPr>
          <a:lstStyle/>
          <a:p>
            <a:pPr marL="285750" indent="-285750">
              <a:buFont typeface="Wingdings" panose="05000000000000000000" pitchFamily="2" charset="2"/>
              <a:buChar char="Ø"/>
            </a:pPr>
            <a:r>
              <a:rPr lang="en-US" dirty="0"/>
              <a:t>Moran’s I assesses the clustering of similar values</a:t>
            </a:r>
          </a:p>
          <a:p>
            <a:pPr marL="285750" indent="-285750">
              <a:buFont typeface="Wingdings" panose="05000000000000000000" pitchFamily="2" charset="2"/>
              <a:buChar char="Ø"/>
            </a:pPr>
            <a:r>
              <a:rPr lang="en-US" dirty="0"/>
              <a:t>This statistic specifically looks for the clustering of high and low values globally</a:t>
            </a:r>
          </a:p>
          <a:p>
            <a:pPr marL="285750" indent="-285750">
              <a:buFont typeface="Wingdings" panose="05000000000000000000" pitchFamily="2" charset="2"/>
              <a:buChar char="Ø"/>
            </a:pPr>
            <a:r>
              <a:rPr lang="en-US" u="sng" dirty="0"/>
              <a:t>Null Hypothesis</a:t>
            </a:r>
            <a:r>
              <a:rPr lang="en-US" dirty="0"/>
              <a:t>: high values or low values aren’t clustered</a:t>
            </a:r>
          </a:p>
          <a:p>
            <a:pPr marL="285750" indent="-285750">
              <a:buFont typeface="Wingdings" panose="05000000000000000000" pitchFamily="2" charset="2"/>
              <a:buChar char="Ø"/>
            </a:pPr>
            <a:r>
              <a:rPr lang="en-US" u="sng" dirty="0"/>
              <a:t>Alternative Hypothesis</a:t>
            </a:r>
            <a:r>
              <a:rPr lang="en-US" dirty="0"/>
              <a:t>: high and/or low values are clustered</a:t>
            </a:r>
          </a:p>
          <a:p>
            <a:pPr marL="285750" indent="-285750">
              <a:buFont typeface="Wingdings" panose="05000000000000000000" pitchFamily="2" charset="2"/>
              <a:buChar char="Ø"/>
            </a:pPr>
            <a:r>
              <a:rPr lang="en-US" dirty="0"/>
              <a:t>Can use Euclidean Distance or Manhattan Distance</a:t>
            </a:r>
          </a:p>
          <a:p>
            <a:pPr marL="285750" indent="-285750">
              <a:buFont typeface="Wingdings" panose="05000000000000000000" pitchFamily="2" charset="2"/>
              <a:buChar char="Ø"/>
            </a:pPr>
            <a:r>
              <a:rPr lang="en-US" dirty="0"/>
              <a:t>Must specify  a conceptualization of spatial relationships</a:t>
            </a:r>
          </a:p>
          <a:p>
            <a:pPr marL="285750" indent="-285750">
              <a:buFont typeface="Wingdings" panose="05000000000000000000" pitchFamily="2" charset="2"/>
              <a:buChar char="Ø"/>
            </a:pPr>
            <a:r>
              <a:rPr lang="en-US" dirty="0"/>
              <a:t>Positive G = High clusters</a:t>
            </a:r>
          </a:p>
          <a:p>
            <a:pPr marL="285750" indent="-285750">
              <a:buFont typeface="Wingdings" panose="05000000000000000000" pitchFamily="2" charset="2"/>
              <a:buChar char="Ø"/>
            </a:pPr>
            <a:r>
              <a:rPr lang="en-US" dirty="0"/>
              <a:t>Negative G = Low clusters</a:t>
            </a:r>
          </a:p>
        </p:txBody>
      </p:sp>
      <p:pic>
        <p:nvPicPr>
          <p:cNvPr id="11" name="Content Placeholder 4">
            <a:extLst>
              <a:ext uri="{FF2B5EF4-FFF2-40B4-BE49-F238E27FC236}">
                <a16:creationId xmlns:a16="http://schemas.microsoft.com/office/drawing/2014/main" id="{5D813B28-3BD4-C1CF-B2A3-53C1D116D29C}"/>
              </a:ext>
            </a:extLst>
          </p:cNvPr>
          <p:cNvPicPr>
            <a:picLocks noGrp="1" noChangeAspect="1"/>
          </p:cNvPicPr>
          <p:nvPr>
            <p:ph idx="1"/>
          </p:nvPr>
        </p:nvPicPr>
        <p:blipFill>
          <a:blip r:embed="rId4"/>
          <a:stretch>
            <a:fillRect/>
          </a:stretch>
        </p:blipFill>
        <p:spPr>
          <a:xfrm>
            <a:off x="4410574" y="5407211"/>
            <a:ext cx="1349002" cy="1195513"/>
          </a:xfrm>
        </p:spPr>
      </p:pic>
      <p:sp>
        <p:nvSpPr>
          <p:cNvPr id="2" name="TextBox 1">
            <a:extLst>
              <a:ext uri="{FF2B5EF4-FFF2-40B4-BE49-F238E27FC236}">
                <a16:creationId xmlns:a16="http://schemas.microsoft.com/office/drawing/2014/main" id="{3F911711-160B-C541-13A5-8FA95CF2BD2A}"/>
              </a:ext>
            </a:extLst>
          </p:cNvPr>
          <p:cNvSpPr txBox="1"/>
          <p:nvPr/>
        </p:nvSpPr>
        <p:spPr>
          <a:xfrm>
            <a:off x="609600" y="5627453"/>
            <a:ext cx="3418554" cy="646331"/>
          </a:xfrm>
          <a:prstGeom prst="rect">
            <a:avLst/>
          </a:prstGeom>
          <a:noFill/>
        </p:spPr>
        <p:txBody>
          <a:bodyPr wrap="square" rtlCol="0">
            <a:spAutoFit/>
          </a:bodyPr>
          <a:lstStyle/>
          <a:p>
            <a:r>
              <a:rPr lang="en-US" altLang="zh-CN" dirty="0">
                <a:solidFill>
                  <a:srgbClr val="FF0000"/>
                </a:solidFill>
              </a:rPr>
              <a:t>p value &lt; 0.01, reject the null hypothesis</a:t>
            </a:r>
            <a:endParaRPr lang="zh-CN" altLang="en-US" dirty="0">
              <a:solidFill>
                <a:srgbClr val="FF0000"/>
              </a:solidFill>
            </a:endParaRPr>
          </a:p>
        </p:txBody>
      </p:sp>
    </p:spTree>
    <p:extLst>
      <p:ext uri="{BB962C8B-B14F-4D97-AF65-F5344CB8AC3E}">
        <p14:creationId xmlns:p14="http://schemas.microsoft.com/office/powerpoint/2010/main" val="145453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644" y="1437571"/>
            <a:ext cx="6563117" cy="5362987"/>
          </a:xfrm>
        </p:spPr>
        <p:txBody>
          <a:bodyPr>
            <a:normAutofit fontScale="77500" lnSpcReduction="20000"/>
          </a:bodyPr>
          <a:lstStyle/>
          <a:p>
            <a:pPr>
              <a:buFont typeface="Courier New" panose="02070309020205020404" pitchFamily="49" charset="0"/>
              <a:buChar char="o"/>
            </a:pPr>
            <a:r>
              <a:rPr lang="en-US" dirty="0"/>
              <a:t>Assess patterns at multiple scales or distances</a:t>
            </a:r>
          </a:p>
          <a:p>
            <a:pPr>
              <a:buFont typeface="Courier New" panose="02070309020205020404" pitchFamily="49" charset="0"/>
              <a:buChar char="o"/>
            </a:pPr>
            <a:r>
              <a:rPr lang="en-US" dirty="0"/>
              <a:t>When the observed K value is larger than the expected K value for a particular distance, the distribution is more clustered than a random distribution at that distance (scale of analysis). </a:t>
            </a:r>
          </a:p>
          <a:p>
            <a:pPr>
              <a:buFont typeface="Courier New" panose="02070309020205020404" pitchFamily="49" charset="0"/>
              <a:buChar char="o"/>
            </a:pPr>
            <a:r>
              <a:rPr lang="en-US" dirty="0"/>
              <a:t>When the observed K value is smaller than the expected K value, the distribution is more dispersed than a random distribution at that distance. </a:t>
            </a:r>
          </a:p>
        </p:txBody>
      </p:sp>
      <p:sp>
        <p:nvSpPr>
          <p:cNvPr id="2" name="Slide Number Placeholder 1">
            <a:extLst>
              <a:ext uri="{FF2B5EF4-FFF2-40B4-BE49-F238E27FC236}">
                <a16:creationId xmlns:a16="http://schemas.microsoft.com/office/drawing/2014/main" id="{DE503A08-7509-4858-A4A9-BE8858934E82}"/>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4" name="Picture 3"/>
          <p:cNvPicPr>
            <a:picLocks noChangeAspect="1"/>
          </p:cNvPicPr>
          <p:nvPr/>
        </p:nvPicPr>
        <p:blipFill>
          <a:blip r:embed="rId3"/>
          <a:stretch>
            <a:fillRect/>
          </a:stretch>
        </p:blipFill>
        <p:spPr>
          <a:xfrm>
            <a:off x="7330762" y="2095563"/>
            <a:ext cx="3723925" cy="3442621"/>
          </a:xfrm>
          <a:prstGeom prst="rect">
            <a:avLst/>
          </a:prstGeom>
        </p:spPr>
      </p:pic>
      <p:cxnSp>
        <p:nvCxnSpPr>
          <p:cNvPr id="5" name="Straight Connector 4">
            <a:extLst>
              <a:ext uri="{FF2B5EF4-FFF2-40B4-BE49-F238E27FC236}">
                <a16:creationId xmlns:a16="http://schemas.microsoft.com/office/drawing/2014/main" id="{A6329422-5B5C-4CE6-915B-4D90F43878E9}"/>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itle 1">
            <a:extLst>
              <a:ext uri="{FF2B5EF4-FFF2-40B4-BE49-F238E27FC236}">
                <a16:creationId xmlns:a16="http://schemas.microsoft.com/office/drawing/2014/main" id="{88E503A9-AA16-41EE-8378-5D976B4E1EA9}"/>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Ripley</a:t>
            </a:r>
            <a:r>
              <a:rPr lang="en-US" sz="3467" dirty="0">
                <a:solidFill>
                  <a:srgbClr val="7030A0"/>
                </a:solidFill>
              </a:rPr>
              <a:t>’s K</a:t>
            </a:r>
            <a:endParaRPr lang="en-US" sz="4267" dirty="0">
              <a:solidFill>
                <a:srgbClr val="7030A0"/>
              </a:solidFill>
            </a:endParaRPr>
          </a:p>
        </p:txBody>
      </p:sp>
    </p:spTree>
    <p:extLst>
      <p:ext uri="{BB962C8B-B14F-4D97-AF65-F5344CB8AC3E}">
        <p14:creationId xmlns:p14="http://schemas.microsoft.com/office/powerpoint/2010/main" val="3052497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76376" y="2747963"/>
            <a:ext cx="9326880" cy="1362075"/>
          </a:xfrm>
        </p:spPr>
        <p:txBody>
          <a:bodyPr/>
          <a:lstStyle/>
          <a:p>
            <a:r>
              <a:rPr lang="en-US" dirty="0"/>
              <a:t>Local Spatial Autocorrelation</a:t>
            </a:r>
          </a:p>
        </p:txBody>
      </p:sp>
      <p:sp>
        <p:nvSpPr>
          <p:cNvPr id="2" name="Slide Number Placeholder 1">
            <a:extLst>
              <a:ext uri="{FF2B5EF4-FFF2-40B4-BE49-F238E27FC236}">
                <a16:creationId xmlns:a16="http://schemas.microsoft.com/office/drawing/2014/main" id="{9B9BAEBB-EADD-4062-9882-DA1B51705F53}"/>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extLst>
      <p:ext uri="{BB962C8B-B14F-4D97-AF65-F5344CB8AC3E}">
        <p14:creationId xmlns:p14="http://schemas.microsoft.com/office/powerpoint/2010/main" val="212437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8405" y="1509294"/>
            <a:ext cx="9318543" cy="5192881"/>
          </a:xfrm>
        </p:spPr>
        <p:txBody>
          <a:bodyPr>
            <a:normAutofit fontScale="77500" lnSpcReduction="20000"/>
          </a:bodyPr>
          <a:lstStyle/>
          <a:p>
            <a:pPr>
              <a:buFont typeface="Courier New" panose="02070309020205020404" pitchFamily="49" charset="0"/>
              <a:buChar char="o"/>
            </a:pPr>
            <a:r>
              <a:rPr lang="en-US" dirty="0"/>
              <a:t>This is a local version of the </a:t>
            </a:r>
            <a:r>
              <a:rPr lang="en-US" dirty="0" err="1"/>
              <a:t>Getis</a:t>
            </a:r>
            <a:r>
              <a:rPr lang="en-US" dirty="0"/>
              <a:t>-Ord General G</a:t>
            </a:r>
          </a:p>
          <a:p>
            <a:pPr>
              <a:buFont typeface="Courier New" panose="02070309020205020404" pitchFamily="49" charset="0"/>
              <a:buChar char="o"/>
            </a:pPr>
            <a:r>
              <a:rPr lang="en-US" dirty="0"/>
              <a:t>It looks for local clustering of high or low values </a:t>
            </a:r>
          </a:p>
          <a:p>
            <a:pPr>
              <a:buFont typeface="Courier New" panose="02070309020205020404" pitchFamily="49" charset="0"/>
              <a:buChar char="o"/>
            </a:pPr>
            <a:r>
              <a:rPr lang="en-US" b="1" dirty="0">
                <a:solidFill>
                  <a:srgbClr val="E3874F"/>
                </a:solidFill>
              </a:rPr>
              <a:t>Hot Spot: </a:t>
            </a:r>
            <a:r>
              <a:rPr lang="en-US" dirty="0"/>
              <a:t>Cluster of high values</a:t>
            </a:r>
          </a:p>
          <a:p>
            <a:pPr>
              <a:buFont typeface="Courier New" panose="02070309020205020404" pitchFamily="49" charset="0"/>
              <a:buChar char="o"/>
            </a:pPr>
            <a:r>
              <a:rPr lang="en-US" b="1" dirty="0">
                <a:solidFill>
                  <a:srgbClr val="E3874F"/>
                </a:solidFill>
              </a:rPr>
              <a:t>Cold Spot: </a:t>
            </a:r>
            <a:r>
              <a:rPr lang="en-US" dirty="0"/>
              <a:t>Cluster of low values</a:t>
            </a:r>
          </a:p>
          <a:p>
            <a:pPr>
              <a:buFont typeface="Courier New" panose="02070309020205020404" pitchFamily="49" charset="0"/>
              <a:buChar char="o"/>
            </a:pPr>
            <a:r>
              <a:rPr lang="en-US" u="sng" dirty="0"/>
              <a:t>Null Hypothesis</a:t>
            </a:r>
            <a:r>
              <a:rPr lang="en-US" dirty="0"/>
              <a:t>: No local cluster of high or low values</a:t>
            </a:r>
          </a:p>
          <a:p>
            <a:pPr>
              <a:buFont typeface="Courier New" panose="02070309020205020404" pitchFamily="49" charset="0"/>
              <a:buChar char="o"/>
            </a:pPr>
            <a:r>
              <a:rPr lang="en-US" u="sng" dirty="0"/>
              <a:t>Alternative Hypothesis</a:t>
            </a:r>
            <a:r>
              <a:rPr lang="en-US" dirty="0"/>
              <a:t>: Local cluster of high or low values</a:t>
            </a:r>
          </a:p>
          <a:p>
            <a:pPr>
              <a:buFont typeface="Courier New" panose="02070309020205020404" pitchFamily="49" charset="0"/>
              <a:buChar char="o"/>
            </a:pPr>
            <a:r>
              <a:rPr lang="en-US" dirty="0"/>
              <a:t>Can use Euclidean Distance or Manhattan Distance</a:t>
            </a:r>
          </a:p>
          <a:p>
            <a:pPr>
              <a:buFont typeface="Courier New" panose="02070309020205020404" pitchFamily="49" charset="0"/>
              <a:buChar char="o"/>
            </a:pPr>
            <a:r>
              <a:rPr lang="en-US" dirty="0"/>
              <a:t>Must specify  a conceptualization of spatial relationships</a:t>
            </a:r>
          </a:p>
          <a:p>
            <a:pPr>
              <a:buFont typeface="Courier New" panose="02070309020205020404" pitchFamily="49" charset="0"/>
              <a:buChar char="o"/>
            </a:pPr>
            <a:r>
              <a:rPr lang="en-US" dirty="0"/>
              <a:t>Larger z-score = clustering of high values</a:t>
            </a:r>
          </a:p>
          <a:p>
            <a:pPr>
              <a:buFont typeface="Courier New" panose="02070309020205020404" pitchFamily="49" charset="0"/>
              <a:buChar char="o"/>
            </a:pPr>
            <a:r>
              <a:rPr lang="en-US" dirty="0"/>
              <a:t>Smaller z-score = clustering of low values</a:t>
            </a:r>
          </a:p>
        </p:txBody>
      </p:sp>
      <p:sp>
        <p:nvSpPr>
          <p:cNvPr id="2" name="Slide Number Placeholder 1">
            <a:extLst>
              <a:ext uri="{FF2B5EF4-FFF2-40B4-BE49-F238E27FC236}">
                <a16:creationId xmlns:a16="http://schemas.microsoft.com/office/drawing/2014/main" id="{6A162529-7298-4E8F-8EE5-833029D6680A}"/>
              </a:ext>
            </a:extLst>
          </p:cNvPr>
          <p:cNvSpPr>
            <a:spLocks noGrp="1"/>
          </p:cNvSpPr>
          <p:nvPr>
            <p:ph type="sldNum" sz="quarter" idx="12"/>
          </p:nvPr>
        </p:nvSpPr>
        <p:spPr/>
        <p:txBody>
          <a:bodyPr/>
          <a:lstStyle/>
          <a:p>
            <a:fld id="{127DDC20-79C9-9647-820E-6D40A3D210C3}" type="slidenum">
              <a:rPr lang="en-US" smtClean="0"/>
              <a:pPr/>
              <a:t>19</a:t>
            </a:fld>
            <a:endParaRPr lang="en-US"/>
          </a:p>
        </p:txBody>
      </p:sp>
      <p:cxnSp>
        <p:nvCxnSpPr>
          <p:cNvPr id="6" name="Straight Connector 5">
            <a:extLst>
              <a:ext uri="{FF2B5EF4-FFF2-40B4-BE49-F238E27FC236}">
                <a16:creationId xmlns:a16="http://schemas.microsoft.com/office/drawing/2014/main" id="{08BD1F0E-62CD-4CAB-818A-4ACCB73A4665}"/>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EB0EFE9A-7135-4759-84F6-9F8102EB3069}"/>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Hot Spot Analysis (</a:t>
            </a:r>
            <a:r>
              <a:rPr lang="en-US" sz="4267" dirty="0" err="1">
                <a:solidFill>
                  <a:srgbClr val="7030A0"/>
                </a:solidFill>
              </a:rPr>
              <a:t>Getis</a:t>
            </a:r>
            <a:r>
              <a:rPr lang="en-US" sz="4267" dirty="0">
                <a:solidFill>
                  <a:srgbClr val="7030A0"/>
                </a:solidFill>
              </a:rPr>
              <a:t>-Ord Gi*)</a:t>
            </a:r>
          </a:p>
        </p:txBody>
      </p:sp>
    </p:spTree>
    <p:extLst>
      <p:ext uri="{BB962C8B-B14F-4D97-AF65-F5344CB8AC3E}">
        <p14:creationId xmlns:p14="http://schemas.microsoft.com/office/powerpoint/2010/main" val="8445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E528892-48E4-493F-BB1E-5DA10E1C0CCC}"/>
              </a:ext>
            </a:extLst>
          </p:cNvPr>
          <p:cNvCxnSpPr/>
          <p:nvPr/>
        </p:nvCxnSpPr>
        <p:spPr>
          <a:xfrm>
            <a:off x="812800" y="1230547"/>
            <a:ext cx="10668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A1E6590-3AD2-420A-AA3A-7FC52D5AD7F3}"/>
              </a:ext>
            </a:extLst>
          </p:cNvPr>
          <p:cNvSpPr txBox="1">
            <a:spLocks/>
          </p:cNvSpPr>
          <p:nvPr/>
        </p:nvSpPr>
        <p:spPr>
          <a:xfrm>
            <a:off x="767644" y="57443"/>
            <a:ext cx="10769600" cy="1143000"/>
          </a:xfrm>
          <a:prstGeom prst="rect">
            <a:avLst/>
          </a:prstGeom>
        </p:spPr>
        <p:txBody>
          <a:bodyPr vert="horz" lIns="121920" tIns="60960" rIns="121920" bIns="6096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4267" dirty="0">
                <a:solidFill>
                  <a:srgbClr val="7030A0"/>
                </a:solidFill>
              </a:rPr>
              <a:t>Hot Spot Analysis (</a:t>
            </a:r>
            <a:r>
              <a:rPr lang="en-US" sz="4267" dirty="0" err="1">
                <a:solidFill>
                  <a:srgbClr val="7030A0"/>
                </a:solidFill>
              </a:rPr>
              <a:t>Getis</a:t>
            </a:r>
            <a:r>
              <a:rPr lang="en-US" sz="4267" dirty="0">
                <a:solidFill>
                  <a:srgbClr val="7030A0"/>
                </a:solidFill>
              </a:rPr>
              <a:t>-Ord Gi*)</a:t>
            </a:r>
          </a:p>
        </p:txBody>
      </p:sp>
      <p:sp>
        <p:nvSpPr>
          <p:cNvPr id="9" name="Slide Number Placeholder 8">
            <a:extLst>
              <a:ext uri="{FF2B5EF4-FFF2-40B4-BE49-F238E27FC236}">
                <a16:creationId xmlns:a16="http://schemas.microsoft.com/office/drawing/2014/main" id="{45427297-EBB2-4FA7-BEE1-4CAED03AB675}"/>
              </a:ext>
            </a:extLst>
          </p:cNvPr>
          <p:cNvSpPr>
            <a:spLocks noGrp="1"/>
          </p:cNvSpPr>
          <p:nvPr>
            <p:ph type="sldNum" sz="quarter" idx="12"/>
          </p:nvPr>
        </p:nvSpPr>
        <p:spPr/>
        <p:txBody>
          <a:bodyPr/>
          <a:lstStyle/>
          <a:p>
            <a:fld id="{127DDC20-79C9-9647-820E-6D40A3D210C3}" type="slidenum">
              <a:rPr lang="en-US" smtClean="0"/>
              <a:pPr/>
              <a:t>20</a:t>
            </a:fld>
            <a:endParaRPr lang="en-US"/>
          </a:p>
        </p:txBody>
      </p:sp>
      <p:pic>
        <p:nvPicPr>
          <p:cNvPr id="3" name="Picture 2">
            <a:extLst>
              <a:ext uri="{FF2B5EF4-FFF2-40B4-BE49-F238E27FC236}">
                <a16:creationId xmlns:a16="http://schemas.microsoft.com/office/drawing/2014/main" id="{84B23BF8-A4B4-F43D-9814-D534122C7E51}"/>
              </a:ext>
            </a:extLst>
          </p:cNvPr>
          <p:cNvPicPr>
            <a:picLocks noChangeAspect="1"/>
          </p:cNvPicPr>
          <p:nvPr/>
        </p:nvPicPr>
        <p:blipFill>
          <a:blip r:embed="rId3"/>
          <a:stretch>
            <a:fillRect/>
          </a:stretch>
        </p:blipFill>
        <p:spPr>
          <a:xfrm>
            <a:off x="5385159" y="1605760"/>
            <a:ext cx="5612355" cy="5252240"/>
          </a:xfrm>
          <a:prstGeom prst="rect">
            <a:avLst/>
          </a:prstGeom>
        </p:spPr>
      </p:pic>
      <p:pic>
        <p:nvPicPr>
          <p:cNvPr id="5" name="Picture 4">
            <a:extLst>
              <a:ext uri="{FF2B5EF4-FFF2-40B4-BE49-F238E27FC236}">
                <a16:creationId xmlns:a16="http://schemas.microsoft.com/office/drawing/2014/main" id="{B8DB7CB2-7C2D-7B14-178C-168ED2C08734}"/>
              </a:ext>
            </a:extLst>
          </p:cNvPr>
          <p:cNvPicPr>
            <a:picLocks noChangeAspect="1"/>
          </p:cNvPicPr>
          <p:nvPr/>
        </p:nvPicPr>
        <p:blipFill>
          <a:blip r:embed="rId4"/>
          <a:stretch>
            <a:fillRect/>
          </a:stretch>
        </p:blipFill>
        <p:spPr>
          <a:xfrm>
            <a:off x="2759886" y="4330862"/>
            <a:ext cx="2474864" cy="2390614"/>
          </a:xfrm>
          <a:prstGeom prst="rect">
            <a:avLst/>
          </a:prstGeom>
        </p:spPr>
      </p:pic>
    </p:spTree>
    <p:extLst>
      <p:ext uri="{BB962C8B-B14F-4D97-AF65-F5344CB8AC3E}">
        <p14:creationId xmlns:p14="http://schemas.microsoft.com/office/powerpoint/2010/main" val="1314670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D0BE5E-4F05-F4A4-D12C-B8B50FCC36C8}"/>
              </a:ext>
            </a:extLst>
          </p:cNvPr>
          <p:cNvSpPr>
            <a:spLocks noGrp="1"/>
          </p:cNvSpPr>
          <p:nvPr>
            <p:ph idx="1"/>
          </p:nvPr>
        </p:nvSpPr>
        <p:spPr>
          <a:xfrm>
            <a:off x="609600" y="1522971"/>
            <a:ext cx="10972800" cy="3144794"/>
          </a:xfrm>
        </p:spPr>
        <p:txBody>
          <a:bodyPr>
            <a:normAutofit lnSpcReduction="10000"/>
          </a:bodyPr>
          <a:lstStyle/>
          <a:p>
            <a:r>
              <a:rPr lang="en-US" dirty="0"/>
              <a:t>Quiz 1 — Due by midnight, Wednesday, March 4</a:t>
            </a:r>
            <a:br>
              <a:rPr lang="en-US" dirty="0"/>
            </a:br>
            <a:endParaRPr lang="en-US" dirty="0"/>
          </a:p>
          <a:p>
            <a:r>
              <a:rPr lang="en-US" dirty="0"/>
              <a:t>You have 3 hours to complete Quiz 1.</a:t>
            </a:r>
            <a:br>
              <a:rPr lang="en-US" dirty="0"/>
            </a:br>
            <a:endParaRPr lang="en-US" dirty="0"/>
          </a:p>
          <a:p>
            <a:r>
              <a:rPr lang="en-US" dirty="0"/>
              <a:t>Question types: Multiple choice and True/False</a:t>
            </a:r>
            <a:endParaRPr lang="zh-CN" altLang="en-US" dirty="0"/>
          </a:p>
        </p:txBody>
      </p:sp>
    </p:spTree>
    <p:extLst>
      <p:ext uri="{BB962C8B-B14F-4D97-AF65-F5344CB8AC3E}">
        <p14:creationId xmlns:p14="http://schemas.microsoft.com/office/powerpoint/2010/main" val="2939797394"/>
      </p:ext>
    </p:extLst>
  </p:cSld>
  <p:clrMapOvr>
    <a:masterClrMapping/>
  </p:clrMapOvr>
</p:sld>
</file>

<file path=ppt/theme/theme1.xml><?xml version="1.0" encoding="utf-8"?>
<a:theme xmlns:a="http://schemas.openxmlformats.org/drawingml/2006/main" name="Lecture08_GEOG3403_SpatialStatis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Lecture08_GEOG3403_SpatialStatistics</Template>
  <TotalTime>179</TotalTime>
  <Words>2122</Words>
  <Application>Microsoft Office PowerPoint</Application>
  <PresentationFormat>Widescreen</PresentationFormat>
  <Paragraphs>206</Paragraphs>
  <Slides>21</Slides>
  <Notes>11</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等线</vt:lpstr>
      <vt:lpstr>宋体</vt:lpstr>
      <vt:lpstr>Arial</vt:lpstr>
      <vt:lpstr>Calibri</vt:lpstr>
      <vt:lpstr>Courier New</vt:lpstr>
      <vt:lpstr>pt sans</vt:lpstr>
      <vt:lpstr>Wingdings</vt:lpstr>
      <vt:lpstr>Lecture08_GEOG3403_SpatialStatistics</vt:lpstr>
      <vt:lpstr>GEOG 3403: Geographic Information Systems II</vt:lpstr>
      <vt:lpstr>Global Spatial Autocorrelation</vt:lpstr>
      <vt:lpstr>Tobler’s First Law of Geography</vt:lpstr>
      <vt:lpstr>US Precipitation Map</vt:lpstr>
      <vt:lpstr>PowerPoint Presentation</vt:lpstr>
      <vt:lpstr>PowerPoint Presentation</vt:lpstr>
      <vt:lpstr>PowerPoint Presentation</vt:lpstr>
      <vt:lpstr>Housing Price in Boston</vt:lpstr>
      <vt:lpstr>PowerPoint Presentation</vt:lpstr>
      <vt:lpstr>PowerPoint Presentation</vt:lpstr>
      <vt:lpstr>PowerPoint Presentation</vt:lpstr>
      <vt:lpstr>Contiguity edges only</vt:lpstr>
      <vt:lpstr>Contiguity edges corners</vt:lpstr>
      <vt:lpstr>K nearest neighbor</vt:lpstr>
      <vt:lpstr>Conceptualization of Spatial Relationships</vt:lpstr>
      <vt:lpstr>PowerPoint Presentation</vt:lpstr>
      <vt:lpstr>PowerPoint Presentation</vt:lpstr>
      <vt:lpstr>Local Spatial Autocorrelation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Wu, Yanan</dc:creator>
  <cp:lastModifiedBy>Yanan Wu</cp:lastModifiedBy>
  <cp:revision>19</cp:revision>
  <dcterms:created xsi:type="dcterms:W3CDTF">2026-02-23T23:47:02Z</dcterms:created>
  <dcterms:modified xsi:type="dcterms:W3CDTF">2026-02-26T15:06:06Z</dcterms:modified>
</cp:coreProperties>
</file>