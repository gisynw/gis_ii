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754" r:id="rId2"/>
    <p:sldId id="482" r:id="rId3"/>
    <p:sldId id="761" r:id="rId4"/>
    <p:sldId id="513" r:id="rId5"/>
    <p:sldId id="514" r:id="rId6"/>
    <p:sldId id="515" r:id="rId7"/>
    <p:sldId id="516" r:id="rId8"/>
    <p:sldId id="517" r:id="rId9"/>
    <p:sldId id="756" r:id="rId10"/>
    <p:sldId id="757" r:id="rId11"/>
    <p:sldId id="762" r:id="rId12"/>
    <p:sldId id="518" r:id="rId13"/>
    <p:sldId id="758" r:id="rId14"/>
    <p:sldId id="538" r:id="rId15"/>
    <p:sldId id="755" r:id="rId16"/>
    <p:sldId id="276" r:id="rId17"/>
    <p:sldId id="305" r:id="rId18"/>
    <p:sldId id="281" r:id="rId19"/>
    <p:sldId id="332" r:id="rId20"/>
    <p:sldId id="279" r:id="rId21"/>
    <p:sldId id="333"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4E661-7ECF-4951-8F26-3C645B1E8A9F}" type="datetimeFigureOut">
              <a:rPr lang="zh-CN" altLang="en-US" smtClean="0"/>
              <a:t>2026/2/23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C06AE-03FD-4C52-A49A-FE1F33A4A1C3}" type="slidenum">
              <a:rPr lang="zh-CN" altLang="en-US" smtClean="0"/>
              <a:t>‹#›</a:t>
            </a:fld>
            <a:endParaRPr lang="zh-CN" altLang="en-US"/>
          </a:p>
        </p:txBody>
      </p:sp>
    </p:spTree>
    <p:extLst>
      <p:ext uri="{BB962C8B-B14F-4D97-AF65-F5344CB8AC3E}">
        <p14:creationId xmlns:p14="http://schemas.microsoft.com/office/powerpoint/2010/main" val="162800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en.wikipedia.org/wiki/Standard_scor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key</a:t>
            </a:r>
            <a:r>
              <a:rPr lang="en-US" baseline="0" dirty="0"/>
              <a:t> concept in geography is Tobler’s First Law of Geography that states that everything is related to everything else, but near things are more related than distant things.</a:t>
            </a:r>
          </a:p>
          <a:p>
            <a:endParaRPr lang="en-US" baseline="0" dirty="0"/>
          </a:p>
          <a:p>
            <a:r>
              <a:rPr lang="en-US" baseline="0" dirty="0"/>
              <a:t>For example, we are all gathering into this classroom, as we have more similar interests in remote sensing and GIS courses than the students outside this classroom.</a:t>
            </a:r>
          </a:p>
          <a:p>
            <a:endParaRPr lang="en-US" baseline="0" dirty="0"/>
          </a:p>
          <a:p>
            <a:r>
              <a:rPr lang="en-US" baseline="0" dirty="0"/>
              <a:t>You would also expect individuals that have clustered into Flyers communities to have more similar beliefs and customs than individuals in different communities. </a:t>
            </a:r>
          </a:p>
          <a:p>
            <a:endParaRPr lang="en-US" baseline="0" dirty="0"/>
          </a:p>
          <a:p>
            <a:r>
              <a:rPr lang="en-US" baseline="0" dirty="0"/>
              <a:t>This suggests that there are patterns across geographic space that can be explored and studied. </a:t>
            </a:r>
          </a:p>
          <a:p>
            <a:endParaRPr lang="en-US" baseline="0" dirty="0"/>
          </a:p>
          <a:p>
            <a:r>
              <a:rPr lang="en-US" baseline="0" dirty="0"/>
              <a:t>This is the concept behind spatial statistics.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a:t>
            </a:fld>
            <a:endParaRPr lang="en-US"/>
          </a:p>
        </p:txBody>
      </p:sp>
    </p:spTree>
    <p:extLst>
      <p:ext uri="{BB962C8B-B14F-4D97-AF65-F5344CB8AC3E}">
        <p14:creationId xmlns:p14="http://schemas.microsoft.com/office/powerpoint/2010/main" val="3698556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key</a:t>
            </a:r>
            <a:r>
              <a:rPr lang="en-US" baseline="0" dirty="0"/>
              <a:t> concept in geography is Tobler’s First Law of Geography that states that everything is related to everything else, but near things are more related than distant things.</a:t>
            </a:r>
          </a:p>
          <a:p>
            <a:endParaRPr lang="en-US" baseline="0" dirty="0"/>
          </a:p>
          <a:p>
            <a:r>
              <a:rPr lang="en-US" baseline="0" dirty="0"/>
              <a:t>For example, we are all gathering into this classroom, as we have more similar interests in remote sensing and GIS courses than the students outside this classroom.</a:t>
            </a:r>
          </a:p>
          <a:p>
            <a:endParaRPr lang="en-US" baseline="0" dirty="0"/>
          </a:p>
          <a:p>
            <a:r>
              <a:rPr lang="en-US" baseline="0" dirty="0"/>
              <a:t>You would also expect individuals that have clustered into Flyers communities to have more similar beliefs and customs than individuals in different communities. </a:t>
            </a:r>
          </a:p>
          <a:p>
            <a:endParaRPr lang="en-US" baseline="0" dirty="0"/>
          </a:p>
          <a:p>
            <a:r>
              <a:rPr lang="en-US" baseline="0" dirty="0"/>
              <a:t>This suggests that there are patterns across geographic space that can be explored and studied. </a:t>
            </a:r>
          </a:p>
          <a:p>
            <a:endParaRPr lang="en-US" baseline="0" dirty="0"/>
          </a:p>
          <a:p>
            <a:r>
              <a:rPr lang="en-US" baseline="0" dirty="0"/>
              <a:t>This is the concept behind spatial statistics.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3161584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will first see what is spatial autocorrelation. This figures show three spatial autocorrelation patterns. </a:t>
            </a:r>
          </a:p>
          <a:p>
            <a:endParaRPr lang="en-US" dirty="0"/>
          </a:p>
          <a:p>
            <a:r>
              <a:rPr lang="en-US" baseline="0" dirty="0"/>
              <a:t>Positive spatial autocorrelation suggests clustering, that near features are more similar than features that are more separated. </a:t>
            </a:r>
          </a:p>
          <a:p>
            <a:r>
              <a:rPr lang="en-US" baseline="0" dirty="0"/>
              <a:t>The first example provided here is an example of clustering since all the red cells are on one side and all the blue cells are on the other. </a:t>
            </a:r>
          </a:p>
          <a:p>
            <a:endParaRPr lang="en-US" baseline="0" dirty="0"/>
          </a:p>
          <a:p>
            <a:r>
              <a:rPr lang="en-US" baseline="0" dirty="0"/>
              <a:t>Negative spatial autocorrelation suggests dispersion, that more similar values are actually more separated over space. For example, the dispersed example above is dispersed because the different colors are as spread out as they can be.</a:t>
            </a:r>
          </a:p>
          <a:p>
            <a:endParaRPr lang="en-US" baseline="0" dirty="0"/>
          </a:p>
          <a:p>
            <a:r>
              <a:rPr lang="en-US" baseline="0" dirty="0"/>
              <a:t>No spatial autocorrelation is Random patterns, implying no patterns across space. </a:t>
            </a:r>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3686921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Average Nearest Neighbor </a:t>
            </a:r>
            <a:r>
              <a:rPr lang="en-US" baseline="0" dirty="0"/>
              <a:t>is only dealing with locations, Moran’s I measures…</a:t>
            </a:r>
          </a:p>
          <a:p>
            <a:endParaRPr lang="en-US" baseline="0" dirty="0"/>
          </a:p>
          <a:p>
            <a:r>
              <a:rPr lang="en-US" baseline="0" dirty="0"/>
              <a:t>For example, we have some points and the points have some values and locations. For example, the 14 is 20 kilometers away from the 32, and 14 is 3 kilometers away from 16. There is also data space, 14 is 18 away from 32, and is 2 away from 16. So we look for correlation in these values and distances. </a:t>
            </a:r>
          </a:p>
          <a:p>
            <a:endParaRPr lang="en-US" baseline="0" dirty="0"/>
          </a:p>
          <a:p>
            <a:r>
              <a:rPr lang="en-US" baseline="0" dirty="0"/>
              <a:t>We want to see if these points get father apart, do their values become more similar or less similar.</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3976021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will first see what is spatial autocorrelation.</a:t>
            </a:r>
          </a:p>
          <a:p>
            <a:endParaRPr lang="en-US" dirty="0"/>
          </a:p>
          <a:p>
            <a:r>
              <a:rPr lang="en-US" dirty="0"/>
              <a:t>Spatial autocorrelation is directly related to Tobler’s Law of Geography, near things are more related than distant things.</a:t>
            </a:r>
          </a:p>
          <a:p>
            <a:endParaRPr lang="en-US" dirty="0"/>
          </a:p>
          <a:p>
            <a:r>
              <a:rPr lang="en-US" dirty="0"/>
              <a:t>We usually use covariance to measure autocorrelation. Based on this equation, for each distance, we can get a covariance values. </a:t>
            </a:r>
          </a:p>
          <a:p>
            <a:r>
              <a:rPr lang="en-US" dirty="0"/>
              <a:t>For example, if we assume the distance between these points are 1 meter, then at distance 1 meter, we can get a covariance, </a:t>
            </a:r>
          </a:p>
          <a:p>
            <a:endParaRPr lang="en-US" baseline="0" dirty="0"/>
          </a:p>
          <a:p>
            <a:r>
              <a:rPr lang="en-US" sz="1200" b="0" i="0" kern="1200" dirty="0">
                <a:solidFill>
                  <a:schemeClr val="tx1"/>
                </a:solidFill>
                <a:effectLst/>
                <a:latin typeface="+mn-lt"/>
                <a:ea typeface="+mn-ea"/>
                <a:cs typeface="+mn-cs"/>
              </a:rPr>
              <a:t>While correlation coefficients lie between -1 and +1, covariance can take any value between -∞ and +∞</a:t>
            </a:r>
          </a:p>
          <a:p>
            <a:r>
              <a:rPr lang="en-US" sz="1200" b="0" i="0" kern="1200" baseline="0" dirty="0">
                <a:solidFill>
                  <a:schemeClr val="tx1"/>
                </a:solidFill>
                <a:effectLst/>
                <a:latin typeface="+mn-lt"/>
                <a:ea typeface="+mn-ea"/>
                <a:cs typeface="+mn-cs"/>
              </a:rPr>
              <a:t>Correlation is covariance normalized by standard deviation</a:t>
            </a:r>
          </a:p>
          <a:p>
            <a:r>
              <a:rPr lang="it-IT" sz="1200" b="0" i="0" kern="1200" dirty="0">
                <a:solidFill>
                  <a:schemeClr val="tx1"/>
                </a:solidFill>
                <a:effectLst/>
                <a:latin typeface="+mn-lt"/>
                <a:ea typeface="+mn-ea"/>
                <a:cs typeface="+mn-cs"/>
              </a:rPr>
              <a:t>γ(</a:t>
            </a:r>
            <a:r>
              <a:rPr lang="it-IT" sz="1200" b="1" i="0" kern="1200" dirty="0">
                <a:solidFill>
                  <a:schemeClr val="tx1"/>
                </a:solidFill>
                <a:effectLst/>
                <a:latin typeface="+mn-lt"/>
                <a:ea typeface="+mn-ea"/>
                <a:cs typeface="+mn-cs"/>
              </a:rPr>
              <a:t>s</a:t>
            </a:r>
            <a:r>
              <a:rPr lang="it-IT" sz="1200" b="0" i="0" kern="1200" baseline="-25000" dirty="0">
                <a:solidFill>
                  <a:schemeClr val="tx1"/>
                </a:solidFill>
                <a:effectLst/>
                <a:latin typeface="+mn-lt"/>
                <a:ea typeface="+mn-ea"/>
                <a:cs typeface="+mn-cs"/>
              </a:rPr>
              <a:t>i</a:t>
            </a:r>
            <a:r>
              <a:rPr lang="it-IT" sz="1200" b="0" i="0" kern="1200" dirty="0">
                <a:solidFill>
                  <a:schemeClr val="tx1"/>
                </a:solidFill>
                <a:effectLst/>
                <a:latin typeface="+mn-lt"/>
                <a:ea typeface="+mn-ea"/>
                <a:cs typeface="+mn-cs"/>
              </a:rPr>
              <a:t>, </a:t>
            </a:r>
            <a:r>
              <a:rPr lang="it-IT" sz="1200" b="1" i="0" kern="1200" dirty="0">
                <a:solidFill>
                  <a:schemeClr val="tx1"/>
                </a:solidFill>
                <a:effectLst/>
                <a:latin typeface="+mn-lt"/>
                <a:ea typeface="+mn-ea"/>
                <a:cs typeface="+mn-cs"/>
              </a:rPr>
              <a:t>s</a:t>
            </a:r>
            <a:r>
              <a:rPr lang="it-IT" sz="1200" b="0" i="0" kern="1200" baseline="-25000" dirty="0">
                <a:solidFill>
                  <a:schemeClr val="tx1"/>
                </a:solidFill>
                <a:effectLst/>
                <a:latin typeface="+mn-lt"/>
                <a:ea typeface="+mn-ea"/>
                <a:cs typeface="+mn-cs"/>
              </a:rPr>
              <a:t>j</a:t>
            </a:r>
            <a:r>
              <a:rPr lang="it-IT" sz="1200" b="0" i="0" kern="1200" dirty="0">
                <a:solidFill>
                  <a:schemeClr val="tx1"/>
                </a:solidFill>
                <a:effectLst/>
                <a:latin typeface="+mn-lt"/>
                <a:ea typeface="+mn-ea"/>
                <a:cs typeface="+mn-cs"/>
              </a:rPr>
              <a:t>) = sill - C(</a:t>
            </a:r>
            <a:r>
              <a:rPr lang="it-IT" sz="1200" b="1" i="0" kern="1200" dirty="0">
                <a:solidFill>
                  <a:schemeClr val="tx1"/>
                </a:solidFill>
                <a:effectLst/>
                <a:latin typeface="+mn-lt"/>
                <a:ea typeface="+mn-ea"/>
                <a:cs typeface="+mn-cs"/>
              </a:rPr>
              <a:t>s</a:t>
            </a:r>
            <a:r>
              <a:rPr lang="it-IT" sz="1200" b="0" i="0" kern="1200" baseline="-25000" dirty="0">
                <a:solidFill>
                  <a:schemeClr val="tx1"/>
                </a:solidFill>
                <a:effectLst/>
                <a:latin typeface="+mn-lt"/>
                <a:ea typeface="+mn-ea"/>
                <a:cs typeface="+mn-cs"/>
              </a:rPr>
              <a:t>i</a:t>
            </a:r>
            <a:r>
              <a:rPr lang="it-IT" sz="1200" b="0" i="0" kern="1200" dirty="0">
                <a:solidFill>
                  <a:schemeClr val="tx1"/>
                </a:solidFill>
                <a:effectLst/>
                <a:latin typeface="+mn-lt"/>
                <a:ea typeface="+mn-ea"/>
                <a:cs typeface="+mn-cs"/>
              </a:rPr>
              <a:t>, </a:t>
            </a:r>
            <a:r>
              <a:rPr lang="it-IT" sz="1200" b="1" i="0" kern="1200" dirty="0">
                <a:solidFill>
                  <a:schemeClr val="tx1"/>
                </a:solidFill>
                <a:effectLst/>
                <a:latin typeface="+mn-lt"/>
                <a:ea typeface="+mn-ea"/>
                <a:cs typeface="+mn-cs"/>
              </a:rPr>
              <a:t>s</a:t>
            </a:r>
            <a:r>
              <a:rPr lang="it-IT" sz="1200" b="0" i="0" kern="1200" baseline="-25000" dirty="0">
                <a:solidFill>
                  <a:schemeClr val="tx1"/>
                </a:solidFill>
                <a:effectLst/>
                <a:latin typeface="+mn-lt"/>
                <a:ea typeface="+mn-ea"/>
                <a:cs typeface="+mn-cs"/>
              </a:rPr>
              <a:t>j</a:t>
            </a:r>
            <a:r>
              <a:rPr lang="it-IT" sz="1200" b="0" i="0" kern="1200" dirty="0">
                <a:solidFill>
                  <a:schemeClr val="tx1"/>
                </a:solidFill>
                <a:effectLst/>
                <a:latin typeface="+mn-lt"/>
                <a:ea typeface="+mn-ea"/>
                <a:cs typeface="+mn-cs"/>
              </a:rPr>
              <a:t>)</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08190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a:t>At distance 2 meter, we can get a new covariance</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523150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go through all distance, then we plot the covariance against distance. We find the pattern looks like this, at short distance, there is higher covariance, at long distance, there is lower covariance. </a:t>
            </a:r>
          </a:p>
          <a:p>
            <a:endParaRPr lang="en-US" dirty="0"/>
          </a:p>
          <a:p>
            <a:r>
              <a:rPr lang="en-US" dirty="0"/>
              <a:t>But it is not always like this. It depends on data. </a:t>
            </a:r>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3684263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 </a:t>
            </a:r>
            <a:r>
              <a:rPr lang="en-US" sz="1200" kern="1200" dirty="0" err="1">
                <a:solidFill>
                  <a:schemeClr val="tx1"/>
                </a:solidFill>
                <a:effectLst/>
                <a:latin typeface="+mn-lt"/>
                <a:ea typeface="+mn-ea"/>
                <a:cs typeface="+mn-cs"/>
              </a:rPr>
              <a:t>semivariogram</a:t>
            </a:r>
            <a:r>
              <a:rPr lang="en-US" sz="1200" kern="1200" dirty="0">
                <a:solidFill>
                  <a:schemeClr val="tx1"/>
                </a:solidFill>
                <a:effectLst/>
                <a:latin typeface="+mn-lt"/>
                <a:ea typeface="+mn-ea"/>
                <a:cs typeface="+mn-cs"/>
              </a:rPr>
              <a:t> is a graphical representation of the concept of spatial autocorrelation.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a </a:t>
            </a:r>
            <a:r>
              <a:rPr lang="en-US" sz="1200" kern="1200" dirty="0" err="1">
                <a:solidFill>
                  <a:schemeClr val="tx1"/>
                </a:solidFill>
                <a:effectLst/>
                <a:latin typeface="+mn-lt"/>
                <a:ea typeface="+mn-ea"/>
                <a:cs typeface="+mn-cs"/>
              </a:rPr>
              <a:t>semivariogram</a:t>
            </a:r>
            <a:r>
              <a:rPr lang="en-US" sz="1200" kern="1200" dirty="0">
                <a:solidFill>
                  <a:schemeClr val="tx1"/>
                </a:solidFill>
                <a:effectLst/>
                <a:latin typeface="+mn-lt"/>
                <a:ea typeface="+mn-ea"/>
                <a:cs typeface="+mn-cs"/>
              </a:rPr>
              <a:t>, the x-axis represents distance between sample points, or lag. In the graph space, each point represents a pair of samples or observations. The x-coordinate is the lag or distance between the samples. The y-axis is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which is a measure of the spatial dependency between two samples or observations. High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suggests that the two observations or samples have very different values whereas low values of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suggest they have very similar values.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Based on Tobler’s First Law of Geography, we would expect near objects to have more similar values and further objects to have less similar values. Or, near objects are expected to have low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whereas samples that are more separated are expected to have high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This is the concept of spatial autocorrelation.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a:t>
            </a:r>
            <a:r>
              <a:rPr lang="en-US" sz="1200" kern="1200" dirty="0" err="1">
                <a:solidFill>
                  <a:schemeClr val="tx1"/>
                </a:solidFill>
                <a:effectLst/>
                <a:latin typeface="+mn-lt"/>
                <a:ea typeface="+mn-ea"/>
                <a:cs typeface="+mn-cs"/>
              </a:rPr>
              <a:t>semivariogram</a:t>
            </a:r>
            <a:r>
              <a:rPr lang="en-US" sz="1200" kern="1200" dirty="0">
                <a:solidFill>
                  <a:schemeClr val="tx1"/>
                </a:solidFill>
                <a:effectLst/>
                <a:latin typeface="+mn-lt"/>
                <a:ea typeface="+mn-ea"/>
                <a:cs typeface="+mn-cs"/>
              </a:rPr>
              <a:t> shown here represents simulated data. Real data are likely to show a more complex or noisy pattern.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next slide will explain</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key features of the </a:t>
            </a:r>
            <a:r>
              <a:rPr lang="en-US" sz="1200" kern="1200" dirty="0" err="1">
                <a:solidFill>
                  <a:schemeClr val="tx1"/>
                </a:solidFill>
                <a:effectLst/>
                <a:latin typeface="+mn-lt"/>
                <a:ea typeface="+mn-ea"/>
                <a:cs typeface="+mn-cs"/>
              </a:rPr>
              <a:t>semivariogram</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1475555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the distance at which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stops increasing is the range. This value can be determined by extrapolating from the fitted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curve to the x-axis. Samples that are closer together than this distance are spatially </a:t>
            </a:r>
            <a:r>
              <a:rPr lang="en-US" sz="1200" kern="1200" dirty="0" err="1">
                <a:solidFill>
                  <a:schemeClr val="tx1"/>
                </a:solidFill>
                <a:effectLst/>
                <a:latin typeface="+mn-lt"/>
                <a:ea typeface="+mn-ea"/>
                <a:cs typeface="+mn-cs"/>
              </a:rPr>
              <a:t>autocorrelated</a:t>
            </a:r>
            <a:r>
              <a:rPr lang="en-US" sz="1200" kern="1200" dirty="0">
                <a:solidFill>
                  <a:schemeClr val="tx1"/>
                </a:solidFill>
                <a:effectLst/>
                <a:latin typeface="+mn-lt"/>
                <a:ea typeface="+mn-ea"/>
                <a:cs typeface="+mn-cs"/>
              </a:rPr>
              <a:t>. Samples that are further than this distance are not spatially </a:t>
            </a:r>
            <a:r>
              <a:rPr lang="en-US" sz="1200" kern="1200" dirty="0" err="1">
                <a:solidFill>
                  <a:schemeClr val="tx1"/>
                </a:solidFill>
                <a:effectLst/>
                <a:latin typeface="+mn-lt"/>
                <a:ea typeface="+mn-ea"/>
                <a:cs typeface="+mn-cs"/>
              </a:rPr>
              <a:t>autocorrelated</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sill is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at the range. Or,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at the distance where spatial autocorrelation is no longer present.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would expect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at a distance or lag of zero to be zero. Or, you would expect samples at the same location to have the same value. However, this is not always the case for real data. This is known as the nugget effect. This arises due to measurement error or spatial sources of variation at distances smaller than the sampling unit.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partial sill is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obtained when the nugget is subtracted from the sill.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Again, the </a:t>
            </a:r>
            <a:r>
              <a:rPr lang="en-US" sz="1200" kern="1200" dirty="0" err="1">
                <a:solidFill>
                  <a:schemeClr val="tx1"/>
                </a:solidFill>
                <a:effectLst/>
                <a:latin typeface="+mn-lt"/>
                <a:ea typeface="+mn-ea"/>
                <a:cs typeface="+mn-cs"/>
              </a:rPr>
              <a:t>semivariogram</a:t>
            </a:r>
            <a:r>
              <a:rPr lang="en-US" sz="1200" kern="1200" dirty="0">
                <a:solidFill>
                  <a:schemeClr val="tx1"/>
                </a:solidFill>
                <a:effectLst/>
                <a:latin typeface="+mn-lt"/>
                <a:ea typeface="+mn-ea"/>
                <a:cs typeface="+mn-cs"/>
              </a:rPr>
              <a:t> can be thought of as a graphic representation of spatial autocorrelation. In this example, near features tend to have a lower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or are more correlated whereas more distant features tend to have a greater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or are less correlated. At a certain distance, the range, samples are no longer spatially </a:t>
            </a:r>
            <a:r>
              <a:rPr lang="en-US" sz="1200" kern="1200" dirty="0" err="1">
                <a:solidFill>
                  <a:schemeClr val="tx1"/>
                </a:solidFill>
                <a:effectLst/>
                <a:latin typeface="+mn-lt"/>
                <a:ea typeface="+mn-ea"/>
                <a:cs typeface="+mn-cs"/>
              </a:rPr>
              <a:t>autocorrelated</a:t>
            </a:r>
            <a:r>
              <a:rPr lang="en-US" sz="1200" kern="1200" dirty="0">
                <a:solidFill>
                  <a:schemeClr val="tx1"/>
                </a:solidFill>
                <a:effectLst/>
                <a:latin typeface="+mn-lt"/>
                <a:ea typeface="+mn-ea"/>
                <a:cs typeface="+mn-cs"/>
              </a:rPr>
              <a:t> and the </a:t>
            </a:r>
            <a:r>
              <a:rPr lang="en-US" sz="1200" kern="1200" dirty="0" err="1">
                <a:solidFill>
                  <a:schemeClr val="tx1"/>
                </a:solidFill>
                <a:effectLst/>
                <a:latin typeface="+mn-lt"/>
                <a:ea typeface="+mn-ea"/>
                <a:cs typeface="+mn-cs"/>
              </a:rPr>
              <a:t>semivariance</a:t>
            </a:r>
            <a:r>
              <a:rPr lang="en-US" sz="1200" kern="1200" dirty="0">
                <a:solidFill>
                  <a:schemeClr val="tx1"/>
                </a:solidFill>
                <a:effectLst/>
                <a:latin typeface="+mn-lt"/>
                <a:ea typeface="+mn-ea"/>
                <a:cs typeface="+mn-cs"/>
              </a:rPr>
              <a:t> stops increasing. So, near features have more similar values than observations that are more separated. Or, spatial autocorrelation is present. </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Measurement error occurs because of the error inherent in measuring devices. Natural phenomena can vary spatially over a range of scales. Variation at microscales smaller than the sampling distances will appear as part of the nugget effect. Before collecting data, it is important to gain some understanding of the scales of spatial variation.</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83879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2620719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Moran’s I is the same idea. The difference is that Moran’s I incorporates a spatial weight between locations I and j, in order to get one value for the entire maps.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spatial weight can be calculated using inverse distance, so that the near things will have larger weight and far away things will have less weight.</a:t>
            </a:r>
          </a:p>
          <a:p>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Values of </a:t>
            </a:r>
            <a:r>
              <a:rPr lang="en-US" sz="1200" b="0" i="1" kern="1200" dirty="0">
                <a:solidFill>
                  <a:schemeClr val="tx1"/>
                </a:solidFill>
                <a:effectLst/>
                <a:latin typeface="+mn-lt"/>
                <a:ea typeface="+mn-ea"/>
                <a:cs typeface="+mn-cs"/>
              </a:rPr>
              <a:t>I</a:t>
            </a:r>
            <a:r>
              <a:rPr lang="en-US" sz="1200" b="0" i="0" kern="1200" dirty="0">
                <a:solidFill>
                  <a:schemeClr val="tx1"/>
                </a:solidFill>
                <a:effectLst/>
                <a:latin typeface="+mn-lt"/>
                <a:ea typeface="+mn-ea"/>
                <a:cs typeface="+mn-cs"/>
              </a:rPr>
              <a:t> usually range from −1 to +1. Positive spatial autocorrelation will show values that are clustered. Negative autocorrelation is dispersed. Random is close to zero.</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Moran’s I index will be a value between -1 and 1. The </a:t>
            </a:r>
            <a:r>
              <a:rPr lang="en-US" sz="1200" b="0" i="0" kern="1200" dirty="0" err="1">
                <a:solidFill>
                  <a:schemeClr val="tx1"/>
                </a:solidFill>
                <a:effectLst/>
                <a:latin typeface="+mn-lt"/>
                <a:ea typeface="+mn-ea"/>
                <a:cs typeface="+mn-cs"/>
              </a:rPr>
              <a:t>moran’s</a:t>
            </a:r>
            <a:r>
              <a:rPr lang="en-US" sz="1200" b="0" i="0" kern="1200" dirty="0">
                <a:solidFill>
                  <a:schemeClr val="tx1"/>
                </a:solidFill>
                <a:effectLst/>
                <a:latin typeface="+mn-lt"/>
                <a:ea typeface="+mn-ea"/>
                <a:cs typeface="+mn-cs"/>
              </a:rPr>
              <a:t> I near -1 indicates negative spatial auto-correlation and the Moran’s I near 1 indicated positive spatial auto-correlation.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Values significantly below -1/(N-1) indicate negative spatial autocorrelation and values significantly above -1/(N-1) indicate positive spatial autocorrelation. For statistical hypothesis testing, Moran's </a:t>
            </a:r>
            <a:r>
              <a:rPr lang="en-US" sz="1200" b="0" i="1" kern="1200" dirty="0">
                <a:solidFill>
                  <a:schemeClr val="tx1"/>
                </a:solidFill>
                <a:effectLst/>
                <a:latin typeface="+mn-lt"/>
                <a:ea typeface="+mn-ea"/>
                <a:cs typeface="+mn-cs"/>
              </a:rPr>
              <a:t>I</a:t>
            </a:r>
            <a:r>
              <a:rPr lang="en-US" sz="1200" b="0" i="0" kern="1200" dirty="0">
                <a:solidFill>
                  <a:schemeClr val="tx1"/>
                </a:solidFill>
                <a:effectLst/>
                <a:latin typeface="+mn-lt"/>
                <a:ea typeface="+mn-ea"/>
                <a:cs typeface="+mn-cs"/>
              </a:rPr>
              <a:t> values can be transformed to </a:t>
            </a:r>
            <a:r>
              <a:rPr lang="en-US" sz="1200" b="0" i="0" u="none" strike="noStrike" kern="1200" dirty="0">
                <a:solidFill>
                  <a:schemeClr val="tx1"/>
                </a:solidFill>
                <a:effectLst/>
                <a:latin typeface="+mn-lt"/>
                <a:ea typeface="+mn-ea"/>
                <a:cs typeface="+mn-cs"/>
                <a:hlinkClick r:id="rId3" tooltip="Standard score"/>
              </a:rPr>
              <a:t>z-scores</a:t>
            </a:r>
            <a:r>
              <a:rPr lang="en-US" sz="1200" b="0" i="0" kern="1200" dirty="0">
                <a:solidFill>
                  <a:schemeClr val="tx1"/>
                </a:solidFill>
                <a:effectLst/>
                <a:latin typeface="+mn-lt"/>
                <a:ea typeface="+mn-ea"/>
                <a:cs typeface="+mn-cs"/>
              </a:rPr>
              <a:t>.</a:t>
            </a:r>
            <a:endParaRPr lang="en-US"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4212451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Since Moran’s I requires that</a:t>
            </a:r>
            <a:r>
              <a:rPr lang="en-US" baseline="0" dirty="0"/>
              <a:t> values associated with a feature be compared to values for nearby features, you must define what you mean by neighboring or near features. </a:t>
            </a:r>
          </a:p>
          <a:p>
            <a:endParaRPr lang="en-US" baseline="0" dirty="0"/>
          </a:p>
          <a:p>
            <a:r>
              <a:rPr lang="en-US" baseline="0" dirty="0"/>
              <a:t>Different methods are available, as describe on this slide. </a:t>
            </a:r>
          </a:p>
          <a:p>
            <a:endParaRPr lang="en-US" baseline="0" dirty="0"/>
          </a:p>
          <a:p>
            <a:r>
              <a:rPr lang="en-US" baseline="0" dirty="0"/>
              <a:t>As an example, when using inverse distance nearby neighbors have a larger influence on the computations for a target feature than features that are further away. </a:t>
            </a:r>
          </a:p>
          <a:p>
            <a:endParaRPr lang="en-US" baseline="0" dirty="0"/>
          </a:p>
          <a:p>
            <a:r>
              <a:rPr lang="en-US" baseline="0" dirty="0"/>
              <a:t>When a fixed distance band is used only features within a defined distance are considered. </a:t>
            </a:r>
          </a:p>
          <a:p>
            <a:endParaRPr lang="en-US" baseline="0" dirty="0"/>
          </a:p>
          <a:p>
            <a:r>
              <a:rPr lang="en-US" baseline="0" dirty="0"/>
              <a:t>For zone of indifference, features within a critical distance are assigned a weight of 1. The weight diminishes with distance past the critical distance. </a:t>
            </a:r>
          </a:p>
          <a:p>
            <a:endParaRPr lang="en-US" baseline="0" dirty="0"/>
          </a:p>
          <a:p>
            <a:r>
              <a:rPr lang="en-US" baseline="0" dirty="0"/>
              <a:t>When contiguity edges only is used only features that share a boundary or overlap will be considered in the computation for the target feature. </a:t>
            </a:r>
          </a:p>
          <a:p>
            <a:endParaRPr lang="en-US" baseline="0" dirty="0"/>
          </a:p>
          <a:p>
            <a:r>
              <a:rPr lang="en-US" baseline="0" dirty="0"/>
              <a:t>There is not necessarily a correct method to use, as this is case specific. However, you should make and attempt to justify your decision based on the nature of the data and the question being investigated.</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0422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an example</a:t>
            </a:r>
            <a:r>
              <a:rPr lang="en-US" baseline="0" dirty="0"/>
              <a:t> result for Moran’s I. Specifically, we are investigating spatial autocorrelation for percent poverty at the census tract scale. Can anyone tell me this pattern?</a:t>
            </a:r>
          </a:p>
          <a:p>
            <a:endParaRPr lang="en-US" baseline="0" dirty="0"/>
          </a:p>
          <a:p>
            <a:r>
              <a:rPr lang="en-US" baseline="0" dirty="0"/>
              <a:t>Here, a positive Moran’s I of 0.25 is obtained and a </a:t>
            </a:r>
            <a:r>
              <a:rPr lang="en-US" i="1" baseline="0" dirty="0"/>
              <a:t>p</a:t>
            </a:r>
            <a:r>
              <a:rPr lang="en-US" baseline="0" dirty="0"/>
              <a:t>-value of 0. This indicates that there is clustering or positive spatial autocorrelation globally for percent poverty as summarized on census tracts. </a:t>
            </a:r>
          </a:p>
          <a:p>
            <a:endParaRPr lang="en-US" baseline="0" dirty="0"/>
          </a:p>
          <a:p>
            <a:r>
              <a:rPr lang="en-US" baseline="0" dirty="0"/>
              <a:t>Near census tracts tend to have more similar percent poverty rates. </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Used contiguity edges only</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803090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a:t>
            </a:r>
            <a:r>
              <a:rPr lang="en-US" baseline="0" dirty="0"/>
              <a:t> nearest neighbor offers a global assessment of the point pattern. However, different patterns could exist at different spatial scales. </a:t>
            </a:r>
          </a:p>
          <a:p>
            <a:endParaRPr lang="en-US" baseline="0" dirty="0"/>
          </a:p>
          <a:p>
            <a:r>
              <a:rPr lang="en-US" baseline="0" dirty="0"/>
              <a:t>Ripley’s K provides this comparison at different scales. This test will be performed at a variety of different distances. </a:t>
            </a:r>
          </a:p>
          <a:p>
            <a:endParaRPr lang="en-US" baseline="0" dirty="0"/>
          </a:p>
          <a:p>
            <a:r>
              <a:rPr lang="en-US" dirty="0"/>
              <a:t>When the observed K value is larger than the expected K value for a particular distance, the distribution is more clustered than a random distribution at that distance.</a:t>
            </a:r>
          </a:p>
          <a:p>
            <a:endParaRPr lang="en-US" dirty="0"/>
          </a:p>
          <a:p>
            <a:r>
              <a:rPr lang="en-US" dirty="0"/>
              <a:t>When the observed K value is smaller than the expected K value, the distribution is more dispersed than a random distribution at that distance.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536541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test to explore</a:t>
            </a:r>
            <a:r>
              <a:rPr lang="en-US" baseline="0" dirty="0"/>
              <a:t> or assess spatial autocorrelation is the </a:t>
            </a:r>
            <a:r>
              <a:rPr lang="en-US" baseline="0" dirty="0" err="1"/>
              <a:t>Getis</a:t>
            </a:r>
            <a:r>
              <a:rPr lang="en-US" baseline="0" dirty="0"/>
              <a:t>-Ord General G. </a:t>
            </a:r>
          </a:p>
          <a:p>
            <a:endParaRPr lang="en-US" baseline="0" dirty="0"/>
          </a:p>
          <a:p>
            <a:r>
              <a:rPr lang="en-US" baseline="0" dirty="0"/>
              <a:t>This test is similar to Moran’s I; however, it specifically explores the clustering of high or low values. </a:t>
            </a:r>
          </a:p>
          <a:p>
            <a:endParaRPr lang="en-US" baseline="0" dirty="0"/>
          </a:p>
          <a:p>
            <a:r>
              <a:rPr lang="en-US" baseline="0" dirty="0"/>
              <a:t>The null hypothesis is that there is no clustering of high or low values, or that the pattern is random. The alternative hypothesis is that there is clusters of high or low values. </a:t>
            </a:r>
          </a:p>
          <a:p>
            <a:endParaRPr lang="en-US" baseline="0" dirty="0"/>
          </a:p>
          <a:p>
            <a:r>
              <a:rPr lang="en-US" baseline="0" dirty="0"/>
              <a:t>A positive General G suggests clustering of high values while a negative General G suggests clustering for low values.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2096635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Moran’s I and</a:t>
            </a:r>
            <a:r>
              <a:rPr lang="en-US" baseline="0" dirty="0"/>
              <a:t> </a:t>
            </a:r>
            <a:r>
              <a:rPr lang="en-US" baseline="0" dirty="0" err="1"/>
              <a:t>Getis</a:t>
            </a:r>
            <a:r>
              <a:rPr lang="en-US" baseline="0" dirty="0"/>
              <a:t>-Ord General G tests assess global spatial autocorrelation. A single result is provide for all features or the entire map. </a:t>
            </a:r>
          </a:p>
          <a:p>
            <a:endParaRPr lang="en-US" baseline="0" dirty="0"/>
          </a:p>
          <a:p>
            <a:r>
              <a:rPr lang="en-US" baseline="0" dirty="0"/>
              <a:t>However, patterns could be investigated locally. Or, a result could be obtained for each map feature. </a:t>
            </a:r>
          </a:p>
          <a:p>
            <a:endParaRPr lang="en-US" baseline="0" dirty="0"/>
          </a:p>
          <a:p>
            <a:r>
              <a:rPr lang="en-US" baseline="0" dirty="0"/>
              <a:t>Local Indicators of Spatial Autocorrelation, or LISA, provides a local version of Moran’s I. </a:t>
            </a:r>
          </a:p>
          <a:p>
            <a:endParaRPr lang="en-US" baseline="0" dirty="0"/>
          </a:p>
          <a:p>
            <a:r>
              <a:rPr lang="en-US" baseline="0" dirty="0"/>
              <a:t>The null hypothesis is that there is no pattern or randomness while the alternative hypothesis is that there is local spatial autocorrelation, or that dispersion or clustering exists locally.</a:t>
            </a:r>
          </a:p>
          <a:p>
            <a:endParaRPr lang="en-US" baseline="0" dirty="0"/>
          </a:p>
          <a:p>
            <a:r>
              <a:rPr lang="en-US" baseline="0" dirty="0"/>
              <a:t>This test is able to differentiate local patterns of clusters of high values, clusters of low values, high values surround by low values, and low values surround by high values. </a:t>
            </a:r>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319936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a:t>
            </a:r>
            <a:r>
              <a:rPr lang="en-US" baseline="0" dirty="0"/>
              <a:t> result for percent poverty summarized by census tract. </a:t>
            </a:r>
          </a:p>
          <a:p>
            <a:endParaRPr lang="en-US" baseline="0" dirty="0"/>
          </a:p>
          <a:p>
            <a:r>
              <a:rPr lang="en-US" baseline="0" dirty="0"/>
              <a:t>Light red indicates a high value surround by other high values while dark red indicates high values surround by low values.</a:t>
            </a:r>
          </a:p>
          <a:p>
            <a:endParaRPr lang="en-US" baseline="0" dirty="0"/>
          </a:p>
          <a:p>
            <a:r>
              <a:rPr lang="en-US" baseline="0" dirty="0"/>
              <a:t>Light blue indicates low values surround by other low values while dark blue indicated low values surround by other high values. </a:t>
            </a:r>
          </a:p>
          <a:p>
            <a:endParaRPr lang="en-US" baseline="0" dirty="0"/>
          </a:p>
          <a:p>
            <a:r>
              <a:rPr lang="en-US" baseline="0" dirty="0"/>
              <a:t>White indicates no pattern or no statistical significance. </a:t>
            </a:r>
          </a:p>
          <a:p>
            <a:endParaRPr lang="en-US" baseline="0" dirty="0"/>
          </a:p>
          <a:p>
            <a:r>
              <a:rPr lang="en-US" baseline="0" dirty="0"/>
              <a:t>Again, this is a local measure, so a result is provided for each map feature individually as opposed to a global measure.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697484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Getis</a:t>
            </a:r>
            <a:r>
              <a:rPr lang="en-US" dirty="0"/>
              <a:t>-Ord</a:t>
            </a:r>
            <a:r>
              <a:rPr lang="en-US" baseline="0" dirty="0"/>
              <a:t> </a:t>
            </a:r>
            <a:r>
              <a:rPr lang="en-US" baseline="0" dirty="0" err="1"/>
              <a:t>Gi</a:t>
            </a:r>
            <a:r>
              <a:rPr lang="en-US" baseline="0" dirty="0"/>
              <a:t>* provides a local version of the </a:t>
            </a:r>
            <a:r>
              <a:rPr lang="en-US" baseline="0" dirty="0" err="1"/>
              <a:t>Getis</a:t>
            </a:r>
            <a:r>
              <a:rPr lang="en-US" baseline="0" dirty="0"/>
              <a:t>-Ord General G. This test is also known as hot spot analysis. </a:t>
            </a:r>
          </a:p>
          <a:p>
            <a:endParaRPr lang="en-US" baseline="0" dirty="0"/>
          </a:p>
          <a:p>
            <a:r>
              <a:rPr lang="en-US" baseline="0" dirty="0"/>
              <a:t>It is used to find local clusters of high values, called hot spots, or local clusters of low values, called cold spots. </a:t>
            </a:r>
          </a:p>
          <a:p>
            <a:endParaRPr lang="en-US" baseline="0" dirty="0"/>
          </a:p>
          <a:p>
            <a:r>
              <a:rPr lang="en-US" baseline="0" dirty="0"/>
              <a:t>The null hypothesis is that there are no local clusters of high or low values while the alternative is that there are hot and/or cold spots.</a:t>
            </a:r>
          </a:p>
          <a:p>
            <a:endParaRPr lang="en-US" baseline="0" dirty="0"/>
          </a:p>
          <a:p>
            <a:r>
              <a:rPr lang="en-US" baseline="0" dirty="0"/>
              <a:t>The provided example represents an assessment of population change between 2000 and 2010. Red indicates hot spots, or clusters of counties that have seen population growth during this time period. Blue areas indicate clusters of counties that have seen population decreases during this time period. Tan indicates no pattern. </a:t>
            </a:r>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3106850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another example, this slide represents</a:t>
            </a:r>
            <a:r>
              <a:rPr lang="en-US" baseline="0" dirty="0"/>
              <a:t> results for a hot spot analysis of percent poverty at the census tract scale. </a:t>
            </a:r>
          </a:p>
          <a:p>
            <a:endParaRPr lang="en-US" baseline="0" dirty="0"/>
          </a:p>
          <a:p>
            <a:r>
              <a:rPr lang="en-US" baseline="0" dirty="0"/>
              <a:t>Red indicates clusters of high poverty while blue indicates clusters of low poverty. White suggests no pattern.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55693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8C963-6004-F119-A3B7-3E28FF09A29B}"/>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F9E9263C-A360-9A5D-3CC4-45F40A3D60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919A9187-9216-16D0-80CB-5322E93CB5BA}"/>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BB75920F-CACE-0036-C8F1-1DFA4A1DF72F}"/>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BEA7E60A-790F-9C6B-7364-9C622F1D2B9C}"/>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8232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C552D-1B41-4043-5C30-879229787FC8}"/>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B2C52021-FBF2-784E-E5C3-9C2C21687B70}"/>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0DBC1C86-FE8A-C0C6-0768-CBB9228A7C98}"/>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0F6E713D-EBC8-8FB8-6872-6926492F156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61655F7-6BB2-A83B-C42D-09BAB8FBEE27}"/>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696014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AE041-76E1-D324-F871-24B270871302}"/>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7F5F68B0-BF36-F470-B9F9-FAAD544816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C8218845-1B02-4B58-4DF0-4B8E5C5A0B21}"/>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01975FD0-3FF5-515D-56E3-C1E1562003B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E6D6F003-F545-2442-CEDC-00D89E74C016}"/>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337631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430A1-5378-B415-66DE-6ABDEB5CB1E7}"/>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6E78FCDC-B701-92AE-21BD-D21B2F5E519D}"/>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F1E0EEEB-05EE-B021-8E11-EDC9C332C870}"/>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350C48D4-6690-F4A7-0A0D-0507514BA37C}"/>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6" name="Footer Placeholder 5">
            <a:extLst>
              <a:ext uri="{FF2B5EF4-FFF2-40B4-BE49-F238E27FC236}">
                <a16:creationId xmlns:a16="http://schemas.microsoft.com/office/drawing/2014/main" id="{DE160579-AF00-1D00-923B-FE8DF2797F04}"/>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0BC1BE52-4FBD-752B-7AFC-6DFAF0C19CBB}"/>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45553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2318C-E078-B26E-2DCC-A3B2D1BB9BCA}"/>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901A05D5-4323-71BF-EA06-C1CE3B31D9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4563B382-239C-B705-FCFB-2BC28D38672C}"/>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AA5DF1AD-C3AC-8E32-FE38-0E0A3195A7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CF4C6888-2431-5A3C-8ED9-A199EA263E0A}"/>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92743508-F618-FD61-7055-8DEFA2566C31}"/>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8" name="Footer Placeholder 7">
            <a:extLst>
              <a:ext uri="{FF2B5EF4-FFF2-40B4-BE49-F238E27FC236}">
                <a16:creationId xmlns:a16="http://schemas.microsoft.com/office/drawing/2014/main" id="{B79B86BD-FE1C-7E94-84A8-521E1DF45300}"/>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62A7CD14-48D8-1976-584A-63CE6739BA2F}"/>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2153983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B59AB-7C44-EF38-8CA4-1E1C884F860E}"/>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E6A8C3B5-06B4-216C-0497-A5F0048A9A03}"/>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4" name="Footer Placeholder 3">
            <a:extLst>
              <a:ext uri="{FF2B5EF4-FFF2-40B4-BE49-F238E27FC236}">
                <a16:creationId xmlns:a16="http://schemas.microsoft.com/office/drawing/2014/main" id="{3868957C-B3CD-CD7B-4907-B7C722844BAC}"/>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C7F5B287-E228-2022-1F46-F4ED30C8FBD9}"/>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944524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60A1A-0A1E-9A2B-AE07-6C457FF0F6A1}"/>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3" name="Footer Placeholder 2">
            <a:extLst>
              <a:ext uri="{FF2B5EF4-FFF2-40B4-BE49-F238E27FC236}">
                <a16:creationId xmlns:a16="http://schemas.microsoft.com/office/drawing/2014/main" id="{D0DB55F1-6E8C-D399-F0D3-C6A818C2E87D}"/>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221FF6A6-3B7A-AFFB-8A07-E973D5E9D24C}"/>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963980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656AA-8097-37B2-F3DA-E48E194B7F9D}"/>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DE0FD698-96D1-A4F7-33B4-6148351C51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720DBC56-0577-9C08-5362-EC550B35F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0BC0D497-0CE4-B83A-F8D6-E6E7F2A9AB73}"/>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6" name="Footer Placeholder 5">
            <a:extLst>
              <a:ext uri="{FF2B5EF4-FFF2-40B4-BE49-F238E27FC236}">
                <a16:creationId xmlns:a16="http://schemas.microsoft.com/office/drawing/2014/main" id="{911E4DF4-F2DC-E8D6-E273-5F8B760E48A7}"/>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7D177D1-5705-E9A6-767D-6621253EBE2C}"/>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795192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0013C-47E5-B862-D44E-7FC7CBDF1B44}"/>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0360BF4D-4466-5603-A1E9-2EB103E681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3BF7371E-6F2E-3D28-EC57-C875E40DA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3EA494C-D779-AF1A-2545-3E8C550374E3}"/>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6" name="Footer Placeholder 5">
            <a:extLst>
              <a:ext uri="{FF2B5EF4-FFF2-40B4-BE49-F238E27FC236}">
                <a16:creationId xmlns:a16="http://schemas.microsoft.com/office/drawing/2014/main" id="{6C81FF01-23F4-4DAA-E40C-5ACA9BA1D26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F303376F-4A19-7940-070B-DB4E299B0CDE}"/>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13702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DD4F-3075-017E-90E8-53F6DA073FB2}"/>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61135F82-1FCA-9B2A-2B94-8F10A8CEF1A9}"/>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52F5D2C-F1C3-81C6-8832-5CA86D24A874}"/>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89CA671C-BC07-7CAF-0598-EB8E34197DB6}"/>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427AC2F-1A13-CE1A-14E1-2D0F38BAA4DD}"/>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14761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B67FB9-E39F-F51B-7CF5-F73AAC13505A}"/>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1D9A7A2F-A885-D2D4-BD2F-102A7B1DDFDC}"/>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A19DA8E-7017-4BB6-BD5F-D3C455A5CC21}"/>
              </a:ext>
            </a:extLst>
          </p:cNvPr>
          <p:cNvSpPr>
            <a:spLocks noGrp="1"/>
          </p:cNvSpPr>
          <p:nvPr>
            <p:ph type="dt" sz="half" idx="10"/>
          </p:nvPr>
        </p:nvSpPr>
        <p:spPr/>
        <p:txBody>
          <a:body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7DEF56EE-8C26-837C-DBB5-2113B1C5D9D2}"/>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51507A5-25E4-76F5-3BAB-BA11203C4B45}"/>
              </a:ext>
            </a:extLst>
          </p:cNvPr>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460880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A91B59-0666-A5E7-5681-E62EBB86B1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FA539931-7A50-8EC9-8CFC-7F3E90FB1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7AECBF9-642B-5AD5-6C15-22F7717459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84E673-8B1C-40CC-9D7B-A739065C492F}" type="datetimeFigureOut">
              <a:rPr lang="zh-CN" altLang="en-US" smtClean="0"/>
              <a:t>2026/2/23</a:t>
            </a:fld>
            <a:endParaRPr lang="zh-CN" altLang="en-US"/>
          </a:p>
        </p:txBody>
      </p:sp>
      <p:sp>
        <p:nvSpPr>
          <p:cNvPr id="5" name="Footer Placeholder 4">
            <a:extLst>
              <a:ext uri="{FF2B5EF4-FFF2-40B4-BE49-F238E27FC236}">
                <a16:creationId xmlns:a16="http://schemas.microsoft.com/office/drawing/2014/main" id="{71EB9373-B689-A913-BED7-E8E545EC1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5684649A-435E-13B4-76A0-016C1470D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617414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pro.arcgis.com/en/pro-app/tool-reference/spatial-statistics/spatial-autocorrelation.ht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76709" y="2747963"/>
            <a:ext cx="9326880" cy="1362075"/>
          </a:xfrm>
        </p:spPr>
        <p:txBody>
          <a:bodyPr>
            <a:normAutofit fontScale="90000"/>
          </a:bodyPr>
          <a:lstStyle/>
          <a:p>
            <a:r>
              <a:rPr lang="en-US" dirty="0"/>
              <a:t>Global Spatial Autocorrelation</a:t>
            </a:r>
          </a:p>
        </p:txBody>
      </p:sp>
      <p:sp>
        <p:nvSpPr>
          <p:cNvPr id="2" name="Slide Number Placeholder 1">
            <a:extLst>
              <a:ext uri="{FF2B5EF4-FFF2-40B4-BE49-F238E27FC236}">
                <a16:creationId xmlns:a16="http://schemas.microsoft.com/office/drawing/2014/main" id="{8334CE96-FFEA-4406-AEEA-113ED3FDD159}"/>
              </a:ext>
            </a:extLst>
          </p:cNvPr>
          <p:cNvSpPr>
            <a:spLocks noGrp="1"/>
          </p:cNvSpPr>
          <p:nvPr>
            <p:ph type="sldNum" sz="quarter" idx="12"/>
          </p:nvPr>
        </p:nvSpPr>
        <p:spPr/>
        <p:txBody>
          <a:bodyPr/>
          <a:lstStyle/>
          <a:p>
            <a:fld id="{127DDC20-79C9-9647-820E-6D40A3D210C3}" type="slidenum">
              <a:rPr lang="en-US" smtClean="0"/>
              <a:pPr/>
              <a:t>1</a:t>
            </a:fld>
            <a:endParaRPr lang="en-US"/>
          </a:p>
        </p:txBody>
      </p:sp>
    </p:spTree>
    <p:extLst>
      <p:ext uri="{BB962C8B-B14F-4D97-AF65-F5344CB8AC3E}">
        <p14:creationId xmlns:p14="http://schemas.microsoft.com/office/powerpoint/2010/main" val="116243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441" y="1641206"/>
            <a:ext cx="9875520" cy="1028700"/>
          </a:xfrm>
        </p:spPr>
        <p:txBody>
          <a:bodyPr/>
          <a:lstStyle/>
          <a:p>
            <a:r>
              <a:rPr lang="en-US" dirty="0"/>
              <a:t>Tobler’s First Law of Geography</a:t>
            </a:r>
          </a:p>
        </p:txBody>
      </p:sp>
      <p:sp>
        <p:nvSpPr>
          <p:cNvPr id="3" name="TextBox 2"/>
          <p:cNvSpPr txBox="1"/>
          <p:nvPr/>
        </p:nvSpPr>
        <p:spPr>
          <a:xfrm>
            <a:off x="1564761" y="3108531"/>
            <a:ext cx="9601200" cy="2851422"/>
          </a:xfrm>
          <a:prstGeom prst="rect">
            <a:avLst/>
          </a:prstGeom>
          <a:noFill/>
        </p:spPr>
        <p:txBody>
          <a:bodyPr wrap="square" rtlCol="0">
            <a:spAutoFit/>
          </a:bodyPr>
          <a:lstStyle/>
          <a:p>
            <a:pPr>
              <a:lnSpc>
                <a:spcPct val="90000"/>
              </a:lnSpc>
            </a:pPr>
            <a:r>
              <a:rPr lang="en-US" sz="2880" i="1" dirty="0"/>
              <a:t>Everything is related to everything else, but near things are more related than distant things.</a:t>
            </a:r>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r>
              <a:rPr lang="en-US" sz="1680" dirty="0"/>
              <a:t>Tobler, W. (1970) “A computer movie simulating urban growth in the Detroit region.” </a:t>
            </a:r>
            <a:r>
              <a:rPr lang="en-US" sz="1680" i="1" dirty="0"/>
              <a:t>Economic Geography</a:t>
            </a:r>
            <a:r>
              <a:rPr lang="en-US" sz="1680" dirty="0"/>
              <a:t>, 45(2): 234-240.</a:t>
            </a:r>
          </a:p>
        </p:txBody>
      </p:sp>
      <p:cxnSp>
        <p:nvCxnSpPr>
          <p:cNvPr id="4" name="Straight Connector 3">
            <a:extLst>
              <a:ext uri="{FF2B5EF4-FFF2-40B4-BE49-F238E27FC236}">
                <a16:creationId xmlns:a16="http://schemas.microsoft.com/office/drawing/2014/main" id="{57D53406-7D6E-4CC8-8E42-BA28A0201FF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C43AEB7A-B9AD-42C2-ADA9-BA7950894EEF}"/>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538551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C43AEB7A-B9AD-42C2-ADA9-BA7950894EEF}"/>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2">
            <a:extLst>
              <a:ext uri="{FF2B5EF4-FFF2-40B4-BE49-F238E27FC236}">
                <a16:creationId xmlns:a16="http://schemas.microsoft.com/office/drawing/2014/main" id="{8889C48D-9B43-4451-BDD5-CF407DCFADA4}"/>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10" name="Picture 9" descr="A picture containing text, crossword puzzle&#10;&#10;Description automatically generated">
            <a:extLst>
              <a:ext uri="{FF2B5EF4-FFF2-40B4-BE49-F238E27FC236}">
                <a16:creationId xmlns:a16="http://schemas.microsoft.com/office/drawing/2014/main" id="{BB8E9587-526A-45D6-8E3B-05F594181684}"/>
              </a:ext>
            </a:extLst>
          </p:cNvPr>
          <p:cNvPicPr>
            <a:picLocks noChangeAspect="1"/>
          </p:cNvPicPr>
          <p:nvPr/>
        </p:nvPicPr>
        <p:blipFill>
          <a:blip r:embed="rId3"/>
          <a:stretch>
            <a:fillRect/>
          </a:stretch>
        </p:blipFill>
        <p:spPr>
          <a:xfrm>
            <a:off x="2891199" y="1336497"/>
            <a:ext cx="5933848" cy="5384980"/>
          </a:xfrm>
          <a:prstGeom prst="rect">
            <a:avLst/>
          </a:prstGeom>
        </p:spPr>
      </p:pic>
      <p:sp>
        <p:nvSpPr>
          <p:cNvPr id="11" name="TextBox 10">
            <a:extLst>
              <a:ext uri="{FF2B5EF4-FFF2-40B4-BE49-F238E27FC236}">
                <a16:creationId xmlns:a16="http://schemas.microsoft.com/office/drawing/2014/main" id="{39A21FCC-3D90-4FCA-919E-B833BD190FD2}"/>
              </a:ext>
            </a:extLst>
          </p:cNvPr>
          <p:cNvSpPr txBox="1"/>
          <p:nvPr/>
        </p:nvSpPr>
        <p:spPr>
          <a:xfrm>
            <a:off x="1088357" y="6336356"/>
            <a:ext cx="5507004" cy="297454"/>
          </a:xfrm>
          <a:prstGeom prst="rect">
            <a:avLst/>
          </a:prstGeom>
          <a:noFill/>
        </p:spPr>
        <p:txBody>
          <a:bodyPr wrap="square" rtlCol="0">
            <a:spAutoFit/>
          </a:bodyPr>
          <a:lstStyle/>
          <a:p>
            <a:r>
              <a:rPr lang="en-US" sz="1333" dirty="0" err="1">
                <a:solidFill>
                  <a:srgbClr val="7030A0"/>
                </a:solidFill>
              </a:rPr>
              <a:t>B</a:t>
            </a:r>
            <a:r>
              <a:rPr lang="en-US" altLang="zh-CN" sz="1333" dirty="0" err="1">
                <a:solidFill>
                  <a:srgbClr val="7030A0"/>
                </a:solidFill>
              </a:rPr>
              <a:t>olstad</a:t>
            </a:r>
            <a:r>
              <a:rPr lang="en-US" altLang="zh-CN" sz="1333" dirty="0">
                <a:solidFill>
                  <a:srgbClr val="7030A0"/>
                </a:solidFill>
              </a:rPr>
              <a:t> 2019</a:t>
            </a:r>
            <a:endParaRPr lang="en-US" sz="1333" dirty="0">
              <a:solidFill>
                <a:srgbClr val="7030A0"/>
              </a:solidFill>
            </a:endParaRPr>
          </a:p>
        </p:txBody>
      </p:sp>
    </p:spTree>
    <p:extLst>
      <p:ext uri="{BB962C8B-B14F-4D97-AF65-F5344CB8AC3E}">
        <p14:creationId xmlns:p14="http://schemas.microsoft.com/office/powerpoint/2010/main" val="368674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20" name="Picture 19" descr="Cluster example">
            <a:extLst>
              <a:ext uri="{FF2B5EF4-FFF2-40B4-BE49-F238E27FC236}">
                <a16:creationId xmlns:a16="http://schemas.microsoft.com/office/drawing/2014/main" id="{190E4994-BB9E-48AC-ADF6-61E797CB685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83920" y="1949105"/>
            <a:ext cx="3017520" cy="3035044"/>
          </a:xfrm>
          <a:prstGeom prst="rect">
            <a:avLst/>
          </a:prstGeom>
        </p:spPr>
      </p:pic>
      <p:pic>
        <p:nvPicPr>
          <p:cNvPr id="21" name="Picture 20" descr="disperse example">
            <a:extLst>
              <a:ext uri="{FF2B5EF4-FFF2-40B4-BE49-F238E27FC236}">
                <a16:creationId xmlns:a16="http://schemas.microsoft.com/office/drawing/2014/main" id="{E1AACC52-F897-4B1B-BE40-32D08C5A8E6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018372" y="1929153"/>
            <a:ext cx="3055819" cy="3048760"/>
          </a:xfrm>
          <a:prstGeom prst="rect">
            <a:avLst/>
          </a:prstGeom>
        </p:spPr>
      </p:pic>
      <p:pic>
        <p:nvPicPr>
          <p:cNvPr id="22" name="Picture 21" descr="random example">
            <a:extLst>
              <a:ext uri="{FF2B5EF4-FFF2-40B4-BE49-F238E27FC236}">
                <a16:creationId xmlns:a16="http://schemas.microsoft.com/office/drawing/2014/main" id="{81620FC9-4041-470A-B02A-77070D4FDB3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50081" y="1942870"/>
            <a:ext cx="3038536" cy="3035044"/>
          </a:xfrm>
          <a:prstGeom prst="rect">
            <a:avLst/>
          </a:prstGeom>
        </p:spPr>
      </p:pic>
      <p:sp>
        <p:nvSpPr>
          <p:cNvPr id="23" name="TextBox 22">
            <a:extLst>
              <a:ext uri="{FF2B5EF4-FFF2-40B4-BE49-F238E27FC236}">
                <a16:creationId xmlns:a16="http://schemas.microsoft.com/office/drawing/2014/main" id="{39E7F54E-503B-4AF5-B57E-F4A486FB4740}"/>
              </a:ext>
            </a:extLst>
          </p:cNvPr>
          <p:cNvSpPr txBox="1"/>
          <p:nvPr/>
        </p:nvSpPr>
        <p:spPr>
          <a:xfrm>
            <a:off x="1226821" y="5172363"/>
            <a:ext cx="2537460" cy="491225"/>
          </a:xfrm>
          <a:prstGeom prst="rect">
            <a:avLst/>
          </a:prstGeom>
          <a:noFill/>
        </p:spPr>
        <p:txBody>
          <a:bodyPr wrap="square" rtlCol="0">
            <a:spAutoFit/>
          </a:bodyPr>
          <a:lstStyle/>
          <a:p>
            <a:pPr algn="ctr">
              <a:lnSpc>
                <a:spcPct val="90000"/>
              </a:lnSpc>
            </a:pPr>
            <a:r>
              <a:rPr lang="en-US" sz="2880" b="1" dirty="0"/>
              <a:t>Clustered</a:t>
            </a:r>
          </a:p>
        </p:txBody>
      </p:sp>
      <p:sp>
        <p:nvSpPr>
          <p:cNvPr id="24" name="TextBox 23">
            <a:extLst>
              <a:ext uri="{FF2B5EF4-FFF2-40B4-BE49-F238E27FC236}">
                <a16:creationId xmlns:a16="http://schemas.microsoft.com/office/drawing/2014/main" id="{FE794E65-EC7F-4DC4-B5CA-246578A6AB29}"/>
              </a:ext>
            </a:extLst>
          </p:cNvPr>
          <p:cNvSpPr txBox="1"/>
          <p:nvPr/>
        </p:nvSpPr>
        <p:spPr>
          <a:xfrm>
            <a:off x="4792981" y="5172363"/>
            <a:ext cx="2537460" cy="491225"/>
          </a:xfrm>
          <a:prstGeom prst="rect">
            <a:avLst/>
          </a:prstGeom>
          <a:noFill/>
        </p:spPr>
        <p:txBody>
          <a:bodyPr wrap="square" rtlCol="0">
            <a:spAutoFit/>
          </a:bodyPr>
          <a:lstStyle/>
          <a:p>
            <a:pPr algn="ctr">
              <a:lnSpc>
                <a:spcPct val="90000"/>
              </a:lnSpc>
            </a:pPr>
            <a:r>
              <a:rPr lang="en-US" sz="2880" b="1" dirty="0"/>
              <a:t>Random</a:t>
            </a:r>
          </a:p>
        </p:txBody>
      </p:sp>
      <p:sp>
        <p:nvSpPr>
          <p:cNvPr id="25" name="TextBox 24">
            <a:extLst>
              <a:ext uri="{FF2B5EF4-FFF2-40B4-BE49-F238E27FC236}">
                <a16:creationId xmlns:a16="http://schemas.microsoft.com/office/drawing/2014/main" id="{5D5808DB-EBAF-44E1-AD90-78D10CEB1F0F}"/>
              </a:ext>
            </a:extLst>
          </p:cNvPr>
          <p:cNvSpPr txBox="1"/>
          <p:nvPr/>
        </p:nvSpPr>
        <p:spPr>
          <a:xfrm>
            <a:off x="8375167" y="5172363"/>
            <a:ext cx="2537460" cy="491225"/>
          </a:xfrm>
          <a:prstGeom prst="rect">
            <a:avLst/>
          </a:prstGeom>
          <a:noFill/>
        </p:spPr>
        <p:txBody>
          <a:bodyPr wrap="square" rtlCol="0">
            <a:spAutoFit/>
          </a:bodyPr>
          <a:lstStyle/>
          <a:p>
            <a:pPr algn="ctr">
              <a:lnSpc>
                <a:spcPct val="90000"/>
              </a:lnSpc>
            </a:pPr>
            <a:r>
              <a:rPr lang="en-US" sz="2880" b="1" dirty="0"/>
              <a:t>Dispersed</a:t>
            </a:r>
          </a:p>
        </p:txBody>
      </p:sp>
      <p:sp>
        <p:nvSpPr>
          <p:cNvPr id="2" name="TextBox 1">
            <a:extLst>
              <a:ext uri="{FF2B5EF4-FFF2-40B4-BE49-F238E27FC236}">
                <a16:creationId xmlns:a16="http://schemas.microsoft.com/office/drawing/2014/main" id="{45B1E15C-C0AD-40D2-8457-8E4467F69A53}"/>
              </a:ext>
            </a:extLst>
          </p:cNvPr>
          <p:cNvSpPr txBox="1"/>
          <p:nvPr/>
        </p:nvSpPr>
        <p:spPr>
          <a:xfrm>
            <a:off x="9314577" y="1209023"/>
            <a:ext cx="1147891" cy="830997"/>
          </a:xfrm>
          <a:prstGeom prst="rect">
            <a:avLst/>
          </a:prstGeom>
          <a:noFill/>
        </p:spPr>
        <p:txBody>
          <a:bodyPr wrap="square" rtlCol="0">
            <a:spAutoFit/>
          </a:bodyPr>
          <a:lstStyle/>
          <a:p>
            <a:r>
              <a:rPr lang="en-US" sz="4800" dirty="0"/>
              <a:t>-</a:t>
            </a:r>
          </a:p>
        </p:txBody>
      </p:sp>
      <p:sp>
        <p:nvSpPr>
          <p:cNvPr id="3" name="TextBox 2">
            <a:extLst>
              <a:ext uri="{FF2B5EF4-FFF2-40B4-BE49-F238E27FC236}">
                <a16:creationId xmlns:a16="http://schemas.microsoft.com/office/drawing/2014/main" id="{4072454D-7C0C-4147-A87E-EAF11918FB8A}"/>
              </a:ext>
            </a:extLst>
          </p:cNvPr>
          <p:cNvSpPr txBox="1"/>
          <p:nvPr/>
        </p:nvSpPr>
        <p:spPr>
          <a:xfrm>
            <a:off x="2157901" y="1208419"/>
            <a:ext cx="1147891" cy="748988"/>
          </a:xfrm>
          <a:prstGeom prst="rect">
            <a:avLst/>
          </a:prstGeom>
          <a:noFill/>
        </p:spPr>
        <p:txBody>
          <a:bodyPr wrap="square" rtlCol="0">
            <a:spAutoFit/>
          </a:bodyPr>
          <a:lstStyle/>
          <a:p>
            <a:r>
              <a:rPr lang="en-US" sz="4267" dirty="0"/>
              <a:t>+</a:t>
            </a:r>
          </a:p>
        </p:txBody>
      </p:sp>
      <p:sp>
        <p:nvSpPr>
          <p:cNvPr id="4" name="Slide Number Placeholder 3">
            <a:extLst>
              <a:ext uri="{FF2B5EF4-FFF2-40B4-BE49-F238E27FC236}">
                <a16:creationId xmlns:a16="http://schemas.microsoft.com/office/drawing/2014/main" id="{596A5BEB-73FD-4B28-A019-FF16D8AA4684}"/>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111901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Moran’s I</a:t>
            </a:r>
          </a:p>
        </p:txBody>
      </p:sp>
      <p:sp>
        <p:nvSpPr>
          <p:cNvPr id="12" name="TextBox 11">
            <a:extLst>
              <a:ext uri="{FF2B5EF4-FFF2-40B4-BE49-F238E27FC236}">
                <a16:creationId xmlns:a16="http://schemas.microsoft.com/office/drawing/2014/main" id="{2390A8F1-064F-4066-B182-CD107EB33EAB}"/>
              </a:ext>
            </a:extLst>
          </p:cNvPr>
          <p:cNvSpPr txBox="1"/>
          <p:nvPr/>
        </p:nvSpPr>
        <p:spPr>
          <a:xfrm>
            <a:off x="812800" y="1403119"/>
            <a:ext cx="9601200" cy="890115"/>
          </a:xfrm>
          <a:prstGeom prst="rect">
            <a:avLst/>
          </a:prstGeom>
          <a:noFill/>
        </p:spPr>
        <p:txBody>
          <a:bodyPr wrap="square" rtlCol="0">
            <a:spAutoFit/>
          </a:bodyPr>
          <a:lstStyle/>
          <a:p>
            <a:pPr>
              <a:lnSpc>
                <a:spcPct val="90000"/>
              </a:lnSpc>
            </a:pPr>
            <a:r>
              <a:rPr lang="en-US" sz="2880" dirty="0"/>
              <a:t>Measures spatial autocorrelation based on feature locations and </a:t>
            </a:r>
            <a:r>
              <a:rPr lang="en-US" sz="2880" dirty="0">
                <a:solidFill>
                  <a:srgbClr val="FF0000"/>
                </a:solidFill>
              </a:rPr>
              <a:t>attribute values </a:t>
            </a:r>
            <a:r>
              <a:rPr lang="en-US" sz="2880" dirty="0"/>
              <a:t>using the Global Moran’s I statistic</a:t>
            </a:r>
          </a:p>
        </p:txBody>
      </p:sp>
      <p:sp>
        <p:nvSpPr>
          <p:cNvPr id="2" name="Slide Number Placeholder 1">
            <a:extLst>
              <a:ext uri="{FF2B5EF4-FFF2-40B4-BE49-F238E27FC236}">
                <a16:creationId xmlns:a16="http://schemas.microsoft.com/office/drawing/2014/main" id="{00DF9275-37E2-4361-8B64-B04A0DED5CF1}"/>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96576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3" name="Picture 2" descr="A screenshot of a cell phone&#10;&#10;Description automatically generated">
            <a:extLst>
              <a:ext uri="{FF2B5EF4-FFF2-40B4-BE49-F238E27FC236}">
                <a16:creationId xmlns:a16="http://schemas.microsoft.com/office/drawing/2014/main" id="{304B79FC-F96B-4D5F-B52A-43A962EBB1C5}"/>
              </a:ext>
            </a:extLst>
          </p:cNvPr>
          <p:cNvPicPr>
            <a:picLocks noChangeAspect="1"/>
          </p:cNvPicPr>
          <p:nvPr/>
        </p:nvPicPr>
        <p:blipFill rotWithShape="1">
          <a:blip r:embed="rId3"/>
          <a:srcRect t="47953"/>
          <a:stretch/>
        </p:blipFill>
        <p:spPr>
          <a:xfrm>
            <a:off x="913867" y="1452521"/>
            <a:ext cx="5823919" cy="2194560"/>
          </a:xfrm>
          <a:prstGeom prst="rect">
            <a:avLst/>
          </a:prstGeom>
        </p:spPr>
      </p:pic>
      <p:pic>
        <p:nvPicPr>
          <p:cNvPr id="6" name="Picture 5" descr="A close up of a piece of paper&#10;&#10;Description automatically generated">
            <a:extLst>
              <a:ext uri="{FF2B5EF4-FFF2-40B4-BE49-F238E27FC236}">
                <a16:creationId xmlns:a16="http://schemas.microsoft.com/office/drawing/2014/main" id="{A5156D9C-3BDC-45CC-8E2D-3FE5CB2B0AEB}"/>
              </a:ext>
            </a:extLst>
          </p:cNvPr>
          <p:cNvPicPr>
            <a:picLocks noChangeAspect="1"/>
          </p:cNvPicPr>
          <p:nvPr/>
        </p:nvPicPr>
        <p:blipFill rotWithShape="1">
          <a:blip r:embed="rId4"/>
          <a:srcRect l="25000" r="50329"/>
          <a:stretch/>
        </p:blipFill>
        <p:spPr>
          <a:xfrm>
            <a:off x="6947836" y="2200905"/>
            <a:ext cx="3974029" cy="4027017"/>
          </a:xfrm>
          <a:prstGeom prst="rect">
            <a:avLst/>
          </a:prstGeom>
        </p:spPr>
      </p:pic>
      <p:cxnSp>
        <p:nvCxnSpPr>
          <p:cNvPr id="12" name="Straight Arrow Connector 11">
            <a:extLst>
              <a:ext uri="{FF2B5EF4-FFF2-40B4-BE49-F238E27FC236}">
                <a16:creationId xmlns:a16="http://schemas.microsoft.com/office/drawing/2014/main" id="{D8DF9545-E3D4-4033-BBA3-510CF970CA2C}"/>
              </a:ext>
            </a:extLst>
          </p:cNvPr>
          <p:cNvCxnSpPr>
            <a:cxnSpLocks/>
          </p:cNvCxnSpPr>
          <p:nvPr/>
        </p:nvCxnSpPr>
        <p:spPr>
          <a:xfrm>
            <a:off x="7539789" y="2754029"/>
            <a:ext cx="317635"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4DE8836-6C82-465C-8A55-A3183E9D3DA9}"/>
              </a:ext>
            </a:extLst>
          </p:cNvPr>
          <p:cNvCxnSpPr>
            <a:cxnSpLocks/>
          </p:cNvCxnSpPr>
          <p:nvPr/>
        </p:nvCxnSpPr>
        <p:spPr>
          <a:xfrm>
            <a:off x="7857423" y="2754029"/>
            <a:ext cx="317635"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EF2464D-8F34-4FAA-BA99-FEF01169DB3E}"/>
              </a:ext>
            </a:extLst>
          </p:cNvPr>
          <p:cNvCxnSpPr>
            <a:cxnSpLocks/>
          </p:cNvCxnSpPr>
          <p:nvPr/>
        </p:nvCxnSpPr>
        <p:spPr>
          <a:xfrm>
            <a:off x="8175057" y="2754029"/>
            <a:ext cx="317635"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2642139-018B-4940-8BD1-1C86527212B3}"/>
              </a:ext>
            </a:extLst>
          </p:cNvPr>
          <p:cNvCxnSpPr>
            <a:cxnSpLocks/>
          </p:cNvCxnSpPr>
          <p:nvPr/>
        </p:nvCxnSpPr>
        <p:spPr>
          <a:xfrm>
            <a:off x="10047171" y="5708984"/>
            <a:ext cx="317635"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3E73A9D-CA6D-4037-9870-C7859A144A66}"/>
              </a:ext>
            </a:extLst>
          </p:cNvPr>
          <p:cNvSpPr txBox="1"/>
          <p:nvPr/>
        </p:nvSpPr>
        <p:spPr>
          <a:xfrm>
            <a:off x="913867" y="4024565"/>
            <a:ext cx="4734559" cy="535531"/>
          </a:xfrm>
          <a:prstGeom prst="rect">
            <a:avLst/>
          </a:prstGeom>
          <a:noFill/>
        </p:spPr>
        <p:txBody>
          <a:bodyPr wrap="square" rtlCol="0">
            <a:spAutoFit/>
          </a:bodyPr>
          <a:lstStyle/>
          <a:p>
            <a:r>
              <a:rPr lang="en-US" sz="2880" dirty="0"/>
              <a:t>Distance=1 m, </a:t>
            </a:r>
            <a:r>
              <a:rPr lang="en-US" sz="2880" dirty="0" err="1"/>
              <a:t>cov</a:t>
            </a:r>
            <a:r>
              <a:rPr lang="en-US" sz="2880" dirty="0"/>
              <a:t> (1 m)</a:t>
            </a:r>
          </a:p>
        </p:txBody>
      </p:sp>
      <p:cxnSp>
        <p:nvCxnSpPr>
          <p:cNvPr id="30" name="Straight Connector 29">
            <a:extLst>
              <a:ext uri="{FF2B5EF4-FFF2-40B4-BE49-F238E27FC236}">
                <a16:creationId xmlns:a16="http://schemas.microsoft.com/office/drawing/2014/main" id="{A130B2C7-926E-48A0-93AC-766E1816C3A9}"/>
              </a:ext>
            </a:extLst>
          </p:cNvPr>
          <p:cNvCxnSpPr/>
          <p:nvPr/>
        </p:nvCxnSpPr>
        <p:spPr>
          <a:xfrm>
            <a:off x="5633987" y="2378644"/>
            <a:ext cx="202131"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A0226C9-5FE7-425E-9195-74B63255D66E}"/>
              </a:ext>
            </a:extLst>
          </p:cNvPr>
          <p:cNvSpPr txBox="1"/>
          <p:nvPr/>
        </p:nvSpPr>
        <p:spPr>
          <a:xfrm>
            <a:off x="4869275" y="3834702"/>
            <a:ext cx="2214028" cy="830997"/>
          </a:xfrm>
          <a:prstGeom prst="rect">
            <a:avLst/>
          </a:prstGeom>
          <a:noFill/>
        </p:spPr>
        <p:txBody>
          <a:bodyPr wrap="square" rtlCol="0">
            <a:spAutoFit/>
          </a:bodyPr>
          <a:lstStyle/>
          <a:p>
            <a:r>
              <a:rPr lang="en-US" sz="2400" dirty="0"/>
              <a:t>x1,X2,X3,X4</a:t>
            </a:r>
          </a:p>
          <a:p>
            <a:r>
              <a:rPr lang="en-US" altLang="zh-CN" sz="2400" dirty="0"/>
              <a:t>y1,y2,y3,y4</a:t>
            </a:r>
            <a:endParaRPr lang="en-US" sz="2400" dirty="0"/>
          </a:p>
        </p:txBody>
      </p:sp>
      <p:sp>
        <p:nvSpPr>
          <p:cNvPr id="4" name="Slide Number Placeholder 3">
            <a:extLst>
              <a:ext uri="{FF2B5EF4-FFF2-40B4-BE49-F238E27FC236}">
                <a16:creationId xmlns:a16="http://schemas.microsoft.com/office/drawing/2014/main" id="{D4440E74-62D4-42D9-AC82-43B5C181A3C8}"/>
              </a:ext>
            </a:extLst>
          </p:cNvPr>
          <p:cNvSpPr>
            <a:spLocks noGrp="1"/>
          </p:cNvSpPr>
          <p:nvPr>
            <p:ph type="sldNum" sz="quarter" idx="12"/>
          </p:nvPr>
        </p:nvSpPr>
        <p:spPr/>
        <p:txBody>
          <a:bodyPr/>
          <a:lstStyle/>
          <a:p>
            <a:fld id="{127DDC20-79C9-9647-820E-6D40A3D210C3}" type="slidenum">
              <a:rPr lang="en-US" smtClean="0"/>
              <a:pPr/>
              <a:t>6</a:t>
            </a:fld>
            <a:endParaRPr lang="en-US"/>
          </a:p>
        </p:txBody>
      </p:sp>
    </p:spTree>
    <p:extLst>
      <p:ext uri="{BB962C8B-B14F-4D97-AF65-F5344CB8AC3E}">
        <p14:creationId xmlns:p14="http://schemas.microsoft.com/office/powerpoint/2010/main" val="78332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1000"/>
                                        <p:tgtEl>
                                          <p:spTgt spid="26"/>
                                        </p:tgtEl>
                                      </p:cBhvr>
                                    </p:animEffect>
                                    <p:anim calcmode="lin" valueType="num">
                                      <p:cBhvr>
                                        <p:cTn id="20" dur="1000" fill="hold"/>
                                        <p:tgtEl>
                                          <p:spTgt spid="26"/>
                                        </p:tgtEl>
                                        <p:attrNameLst>
                                          <p:attrName>ppt_x</p:attrName>
                                        </p:attrNameLst>
                                      </p:cBhvr>
                                      <p:tavLst>
                                        <p:tav tm="0">
                                          <p:val>
                                            <p:strVal val="#ppt_x"/>
                                          </p:val>
                                        </p:tav>
                                        <p:tav tm="100000">
                                          <p:val>
                                            <p:strVal val="#ppt_x"/>
                                          </p:val>
                                        </p:tav>
                                      </p:tavLst>
                                    </p:anim>
                                    <p:anim calcmode="lin" valueType="num">
                                      <p:cBhvr>
                                        <p:cTn id="21"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1000"/>
                                        <p:tgtEl>
                                          <p:spTgt spid="27"/>
                                        </p:tgtEl>
                                      </p:cBhvr>
                                    </p:animEffect>
                                    <p:anim calcmode="lin" valueType="num">
                                      <p:cBhvr>
                                        <p:cTn id="27" dur="1000" fill="hold"/>
                                        <p:tgtEl>
                                          <p:spTgt spid="27"/>
                                        </p:tgtEl>
                                        <p:attrNameLst>
                                          <p:attrName>ppt_x</p:attrName>
                                        </p:attrNameLst>
                                      </p:cBhvr>
                                      <p:tavLst>
                                        <p:tav tm="0">
                                          <p:val>
                                            <p:strVal val="#ppt_x"/>
                                          </p:val>
                                        </p:tav>
                                        <p:tav tm="100000">
                                          <p:val>
                                            <p:strVal val="#ppt_x"/>
                                          </p:val>
                                        </p:tav>
                                      </p:tavLst>
                                    </p:anim>
                                    <p:anim calcmode="lin" valueType="num">
                                      <p:cBhvr>
                                        <p:cTn id="2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1000"/>
                                        <p:tgtEl>
                                          <p:spTgt spid="28"/>
                                        </p:tgtEl>
                                      </p:cBhvr>
                                    </p:animEffect>
                                    <p:anim calcmode="lin" valueType="num">
                                      <p:cBhvr>
                                        <p:cTn id="34" dur="1000" fill="hold"/>
                                        <p:tgtEl>
                                          <p:spTgt spid="28"/>
                                        </p:tgtEl>
                                        <p:attrNameLst>
                                          <p:attrName>ppt_x</p:attrName>
                                        </p:attrNameLst>
                                      </p:cBhvr>
                                      <p:tavLst>
                                        <p:tav tm="0">
                                          <p:val>
                                            <p:strVal val="#ppt_x"/>
                                          </p:val>
                                        </p:tav>
                                        <p:tav tm="100000">
                                          <p:val>
                                            <p:strVal val="#ppt_x"/>
                                          </p:val>
                                        </p:tav>
                                      </p:tavLst>
                                    </p:anim>
                                    <p:anim calcmode="lin" valueType="num">
                                      <p:cBhvr>
                                        <p:cTn id="3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3" name="Picture 2" descr="A screenshot of a cell phone&#10;&#10;Description automatically generated">
            <a:extLst>
              <a:ext uri="{FF2B5EF4-FFF2-40B4-BE49-F238E27FC236}">
                <a16:creationId xmlns:a16="http://schemas.microsoft.com/office/drawing/2014/main" id="{304B79FC-F96B-4D5F-B52A-43A962EBB1C5}"/>
              </a:ext>
            </a:extLst>
          </p:cNvPr>
          <p:cNvPicPr>
            <a:picLocks noChangeAspect="1"/>
          </p:cNvPicPr>
          <p:nvPr/>
        </p:nvPicPr>
        <p:blipFill rotWithShape="1">
          <a:blip r:embed="rId3"/>
          <a:srcRect t="47953"/>
          <a:stretch/>
        </p:blipFill>
        <p:spPr>
          <a:xfrm>
            <a:off x="913867" y="1452521"/>
            <a:ext cx="5823919" cy="2194560"/>
          </a:xfrm>
          <a:prstGeom prst="rect">
            <a:avLst/>
          </a:prstGeom>
        </p:spPr>
      </p:pic>
      <p:pic>
        <p:nvPicPr>
          <p:cNvPr id="6" name="Picture 5" descr="A close up of a piece of paper&#10;&#10;Description automatically generated">
            <a:extLst>
              <a:ext uri="{FF2B5EF4-FFF2-40B4-BE49-F238E27FC236}">
                <a16:creationId xmlns:a16="http://schemas.microsoft.com/office/drawing/2014/main" id="{A5156D9C-3BDC-45CC-8E2D-3FE5CB2B0AEB}"/>
              </a:ext>
            </a:extLst>
          </p:cNvPr>
          <p:cNvPicPr>
            <a:picLocks noChangeAspect="1"/>
          </p:cNvPicPr>
          <p:nvPr/>
        </p:nvPicPr>
        <p:blipFill rotWithShape="1">
          <a:blip r:embed="rId4"/>
          <a:srcRect l="25000" r="50329"/>
          <a:stretch/>
        </p:blipFill>
        <p:spPr>
          <a:xfrm>
            <a:off x="6947836" y="2200905"/>
            <a:ext cx="3974029" cy="4027017"/>
          </a:xfrm>
          <a:prstGeom prst="rect">
            <a:avLst/>
          </a:prstGeom>
        </p:spPr>
      </p:pic>
      <p:cxnSp>
        <p:nvCxnSpPr>
          <p:cNvPr id="12" name="Straight Arrow Connector 11">
            <a:extLst>
              <a:ext uri="{FF2B5EF4-FFF2-40B4-BE49-F238E27FC236}">
                <a16:creationId xmlns:a16="http://schemas.microsoft.com/office/drawing/2014/main" id="{D8DF9545-E3D4-4033-BBA3-510CF970CA2C}"/>
              </a:ext>
            </a:extLst>
          </p:cNvPr>
          <p:cNvCxnSpPr>
            <a:cxnSpLocks/>
          </p:cNvCxnSpPr>
          <p:nvPr/>
        </p:nvCxnSpPr>
        <p:spPr>
          <a:xfrm>
            <a:off x="7539790"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3E73A9D-CA6D-4037-9870-C7859A144A66}"/>
              </a:ext>
            </a:extLst>
          </p:cNvPr>
          <p:cNvSpPr txBox="1"/>
          <p:nvPr/>
        </p:nvSpPr>
        <p:spPr>
          <a:xfrm>
            <a:off x="913867" y="4024564"/>
            <a:ext cx="4734559" cy="2086725"/>
          </a:xfrm>
          <a:prstGeom prst="rect">
            <a:avLst/>
          </a:prstGeom>
          <a:noFill/>
        </p:spPr>
        <p:txBody>
          <a:bodyPr wrap="square" rtlCol="0">
            <a:spAutoFit/>
          </a:bodyPr>
          <a:lstStyle/>
          <a:p>
            <a:r>
              <a:rPr lang="en-US" sz="2880" dirty="0"/>
              <a:t>Distance=1 m, </a:t>
            </a:r>
            <a:r>
              <a:rPr lang="en-US" sz="2880" dirty="0" err="1"/>
              <a:t>cov</a:t>
            </a:r>
            <a:r>
              <a:rPr lang="en-US" sz="2880" dirty="0"/>
              <a:t> (1 m)</a:t>
            </a:r>
          </a:p>
          <a:p>
            <a:r>
              <a:rPr lang="en-US" sz="2880" dirty="0"/>
              <a:t>Distance=2 m, </a:t>
            </a:r>
            <a:r>
              <a:rPr lang="en-US" sz="2880" dirty="0" err="1"/>
              <a:t>cov</a:t>
            </a:r>
            <a:r>
              <a:rPr lang="en-US" sz="2880" dirty="0"/>
              <a:t> (2 m)</a:t>
            </a:r>
          </a:p>
          <a:p>
            <a:r>
              <a:rPr lang="en-US" sz="2880" dirty="0"/>
              <a:t>…..</a:t>
            </a:r>
          </a:p>
          <a:p>
            <a:endParaRPr lang="en-US" sz="2160" dirty="0"/>
          </a:p>
          <a:p>
            <a:endParaRPr lang="en-US" sz="2160" dirty="0"/>
          </a:p>
        </p:txBody>
      </p:sp>
      <p:cxnSp>
        <p:nvCxnSpPr>
          <p:cNvPr id="14" name="Straight Arrow Connector 13">
            <a:extLst>
              <a:ext uri="{FF2B5EF4-FFF2-40B4-BE49-F238E27FC236}">
                <a16:creationId xmlns:a16="http://schemas.microsoft.com/office/drawing/2014/main" id="{21C4F74A-9E28-499A-976C-F12A675CB01B}"/>
              </a:ext>
            </a:extLst>
          </p:cNvPr>
          <p:cNvCxnSpPr>
            <a:cxnSpLocks/>
          </p:cNvCxnSpPr>
          <p:nvPr/>
        </p:nvCxnSpPr>
        <p:spPr>
          <a:xfrm>
            <a:off x="7794859"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E3ECF9D-EF80-414E-A77A-914E2FE308DF}"/>
              </a:ext>
            </a:extLst>
          </p:cNvPr>
          <p:cNvCxnSpPr>
            <a:cxnSpLocks/>
          </p:cNvCxnSpPr>
          <p:nvPr/>
        </p:nvCxnSpPr>
        <p:spPr>
          <a:xfrm>
            <a:off x="8148587"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0CD321C-D931-45EF-8A84-18ED8897DD7B}"/>
              </a:ext>
            </a:extLst>
          </p:cNvPr>
          <p:cNvCxnSpPr>
            <a:cxnSpLocks/>
          </p:cNvCxnSpPr>
          <p:nvPr/>
        </p:nvCxnSpPr>
        <p:spPr>
          <a:xfrm>
            <a:off x="9694883" y="5694547"/>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1A8CB1EF-6A60-4111-AE28-07295958C4DA}"/>
              </a:ext>
            </a:extLst>
          </p:cNvPr>
          <p:cNvCxnSpPr/>
          <p:nvPr/>
        </p:nvCxnSpPr>
        <p:spPr>
          <a:xfrm>
            <a:off x="5633987" y="2378644"/>
            <a:ext cx="202131" cy="0"/>
          </a:xfrm>
          <a:prstGeom prst="line">
            <a:avLst/>
          </a:prstGeom>
          <a:ln>
            <a:solidFill>
              <a:schemeClr val="accent4"/>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345F2F9-394A-4CA9-B441-5AF0A0E0D1C6}"/>
              </a:ext>
            </a:extLst>
          </p:cNvPr>
          <p:cNvSpPr txBox="1"/>
          <p:nvPr/>
        </p:nvSpPr>
        <p:spPr>
          <a:xfrm>
            <a:off x="4869275" y="4510081"/>
            <a:ext cx="2214028" cy="830997"/>
          </a:xfrm>
          <a:prstGeom prst="rect">
            <a:avLst/>
          </a:prstGeom>
          <a:noFill/>
        </p:spPr>
        <p:txBody>
          <a:bodyPr wrap="square" rtlCol="0">
            <a:spAutoFit/>
          </a:bodyPr>
          <a:lstStyle/>
          <a:p>
            <a:r>
              <a:rPr lang="en-US" sz="2400" dirty="0"/>
              <a:t>x1,X2,X3,X4</a:t>
            </a:r>
          </a:p>
          <a:p>
            <a:r>
              <a:rPr lang="en-US" altLang="zh-CN" sz="2400" dirty="0"/>
              <a:t>y1,y2,y3,y4</a:t>
            </a:r>
            <a:endParaRPr lang="en-US" sz="2400" dirty="0"/>
          </a:p>
        </p:txBody>
      </p:sp>
      <p:sp>
        <p:nvSpPr>
          <p:cNvPr id="2" name="Slide Number Placeholder 1">
            <a:extLst>
              <a:ext uri="{FF2B5EF4-FFF2-40B4-BE49-F238E27FC236}">
                <a16:creationId xmlns:a16="http://schemas.microsoft.com/office/drawing/2014/main" id="{16A149FF-A082-4AD1-8521-61848436E34C}"/>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79582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1000"/>
                                        <p:tgtEl>
                                          <p:spTgt spid="16"/>
                                        </p:tgtEl>
                                      </p:cBhvr>
                                    </p:animEffect>
                                    <p:anim calcmode="lin" valueType="num">
                                      <p:cBhvr>
                                        <p:cTn id="27" dur="1000" fill="hold"/>
                                        <p:tgtEl>
                                          <p:spTgt spid="16"/>
                                        </p:tgtEl>
                                        <p:attrNameLst>
                                          <p:attrName>ppt_x</p:attrName>
                                        </p:attrNameLst>
                                      </p:cBhvr>
                                      <p:tavLst>
                                        <p:tav tm="0">
                                          <p:val>
                                            <p:strVal val="#ppt_x"/>
                                          </p:val>
                                        </p:tav>
                                        <p:tav tm="100000">
                                          <p:val>
                                            <p:strVal val="#ppt_x"/>
                                          </p:val>
                                        </p:tav>
                                      </p:tavLst>
                                    </p:anim>
                                    <p:anim calcmode="lin" valueType="num">
                                      <p:cBhvr>
                                        <p:cTn id="2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1000"/>
                                        <p:tgtEl>
                                          <p:spTgt spid="17"/>
                                        </p:tgtEl>
                                      </p:cBhvr>
                                    </p:animEffect>
                                    <p:anim calcmode="lin" valueType="num">
                                      <p:cBhvr>
                                        <p:cTn id="34" dur="1000" fill="hold"/>
                                        <p:tgtEl>
                                          <p:spTgt spid="17"/>
                                        </p:tgtEl>
                                        <p:attrNameLst>
                                          <p:attrName>ppt_x</p:attrName>
                                        </p:attrNameLst>
                                      </p:cBhvr>
                                      <p:tavLst>
                                        <p:tav tm="0">
                                          <p:val>
                                            <p:strVal val="#ppt_x"/>
                                          </p:val>
                                        </p:tav>
                                        <p:tav tm="100000">
                                          <p:val>
                                            <p:strVal val="#ppt_x"/>
                                          </p:val>
                                        </p:tav>
                                      </p:tavLst>
                                    </p:anim>
                                    <p:anim calcmode="lin" valueType="num">
                                      <p:cBhvr>
                                        <p:cTn id="3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6" name="Picture 5" descr="A close up of a piece of paper&#10;&#10;Description automatically generated">
            <a:extLst>
              <a:ext uri="{FF2B5EF4-FFF2-40B4-BE49-F238E27FC236}">
                <a16:creationId xmlns:a16="http://schemas.microsoft.com/office/drawing/2014/main" id="{A5156D9C-3BDC-45CC-8E2D-3FE5CB2B0AEB}"/>
              </a:ext>
            </a:extLst>
          </p:cNvPr>
          <p:cNvPicPr>
            <a:picLocks noChangeAspect="1"/>
          </p:cNvPicPr>
          <p:nvPr/>
        </p:nvPicPr>
        <p:blipFill rotWithShape="1">
          <a:blip r:embed="rId3"/>
          <a:srcRect l="25000" r="50329"/>
          <a:stretch/>
        </p:blipFill>
        <p:spPr>
          <a:xfrm>
            <a:off x="6947836" y="2200905"/>
            <a:ext cx="3974029" cy="4027017"/>
          </a:xfrm>
          <a:prstGeom prst="rect">
            <a:avLst/>
          </a:prstGeom>
        </p:spPr>
      </p:pic>
      <p:cxnSp>
        <p:nvCxnSpPr>
          <p:cNvPr id="12" name="Straight Arrow Connector 11">
            <a:extLst>
              <a:ext uri="{FF2B5EF4-FFF2-40B4-BE49-F238E27FC236}">
                <a16:creationId xmlns:a16="http://schemas.microsoft.com/office/drawing/2014/main" id="{D8DF9545-E3D4-4033-BBA3-510CF970CA2C}"/>
              </a:ext>
            </a:extLst>
          </p:cNvPr>
          <p:cNvCxnSpPr>
            <a:cxnSpLocks/>
          </p:cNvCxnSpPr>
          <p:nvPr/>
        </p:nvCxnSpPr>
        <p:spPr>
          <a:xfrm>
            <a:off x="7539790"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21C4F74A-9E28-499A-976C-F12A675CB01B}"/>
              </a:ext>
            </a:extLst>
          </p:cNvPr>
          <p:cNvCxnSpPr>
            <a:cxnSpLocks/>
          </p:cNvCxnSpPr>
          <p:nvPr/>
        </p:nvCxnSpPr>
        <p:spPr>
          <a:xfrm>
            <a:off x="7794859"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1E3ECF9D-EF80-414E-A77A-914E2FE308DF}"/>
              </a:ext>
            </a:extLst>
          </p:cNvPr>
          <p:cNvCxnSpPr>
            <a:cxnSpLocks/>
          </p:cNvCxnSpPr>
          <p:nvPr/>
        </p:nvCxnSpPr>
        <p:spPr>
          <a:xfrm>
            <a:off x="8148587" y="2754029"/>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0CD321C-D931-45EF-8A84-18ED8897DD7B}"/>
              </a:ext>
            </a:extLst>
          </p:cNvPr>
          <p:cNvCxnSpPr>
            <a:cxnSpLocks/>
          </p:cNvCxnSpPr>
          <p:nvPr/>
        </p:nvCxnSpPr>
        <p:spPr>
          <a:xfrm>
            <a:off x="9694883" y="5694547"/>
            <a:ext cx="678583"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7" name="Picture 6" descr="A close up of text on a white background&#10;&#10;Description automatically generated">
            <a:extLst>
              <a:ext uri="{FF2B5EF4-FFF2-40B4-BE49-F238E27FC236}">
                <a16:creationId xmlns:a16="http://schemas.microsoft.com/office/drawing/2014/main" id="{B38ADC8B-2B17-4035-9AF2-D2BE63E517E8}"/>
              </a:ext>
            </a:extLst>
          </p:cNvPr>
          <p:cNvPicPr>
            <a:picLocks noChangeAspect="1"/>
          </p:cNvPicPr>
          <p:nvPr/>
        </p:nvPicPr>
        <p:blipFill>
          <a:blip r:embed="rId4"/>
          <a:stretch>
            <a:fillRect/>
          </a:stretch>
        </p:blipFill>
        <p:spPr>
          <a:xfrm>
            <a:off x="1155517" y="2200905"/>
            <a:ext cx="5297235" cy="3599079"/>
          </a:xfrm>
          <a:prstGeom prst="rect">
            <a:avLst/>
          </a:prstGeom>
        </p:spPr>
      </p:pic>
      <p:sp>
        <p:nvSpPr>
          <p:cNvPr id="18" name="TextBox 17">
            <a:extLst>
              <a:ext uri="{FF2B5EF4-FFF2-40B4-BE49-F238E27FC236}">
                <a16:creationId xmlns:a16="http://schemas.microsoft.com/office/drawing/2014/main" id="{019E32CF-978D-4AFF-90ED-A4D5278B39DF}"/>
              </a:ext>
            </a:extLst>
          </p:cNvPr>
          <p:cNvSpPr txBox="1"/>
          <p:nvPr/>
        </p:nvSpPr>
        <p:spPr>
          <a:xfrm>
            <a:off x="812801" y="6022897"/>
            <a:ext cx="5779052" cy="350865"/>
          </a:xfrm>
          <a:prstGeom prst="rect">
            <a:avLst/>
          </a:prstGeom>
          <a:noFill/>
        </p:spPr>
        <p:txBody>
          <a:bodyPr wrap="square" rtlCol="0">
            <a:spAutoFit/>
          </a:bodyPr>
          <a:lstStyle/>
          <a:p>
            <a:r>
              <a:rPr lang="en-US" sz="1680" dirty="0"/>
              <a:t>He et al 2016</a:t>
            </a:r>
          </a:p>
        </p:txBody>
      </p:sp>
      <p:sp>
        <p:nvSpPr>
          <p:cNvPr id="2" name="Slide Number Placeholder 1">
            <a:extLst>
              <a:ext uri="{FF2B5EF4-FFF2-40B4-BE49-F238E27FC236}">
                <a16:creationId xmlns:a16="http://schemas.microsoft.com/office/drawing/2014/main" id="{95556296-712D-4A90-8172-DEC9F11B66D2}"/>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190172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2563" y="1546753"/>
            <a:ext cx="5040565" cy="4967747"/>
          </a:xfrm>
        </p:spPr>
        <p:txBody>
          <a:bodyPr>
            <a:normAutofit/>
          </a:bodyPr>
          <a:lstStyle/>
          <a:p>
            <a:pPr>
              <a:buFont typeface="Courier New" panose="02070309020205020404" pitchFamily="49" charset="0"/>
              <a:buChar char="o"/>
            </a:pPr>
            <a:r>
              <a:rPr lang="en-US" b="1" dirty="0" err="1">
                <a:solidFill>
                  <a:srgbClr val="E3874F"/>
                </a:solidFill>
              </a:rPr>
              <a:t>Semivariance</a:t>
            </a:r>
            <a:r>
              <a:rPr lang="en-US" b="1" dirty="0">
                <a:solidFill>
                  <a:srgbClr val="E3874F"/>
                </a:solidFill>
              </a:rPr>
              <a:t>: </a:t>
            </a:r>
            <a:r>
              <a:rPr lang="en-US" dirty="0"/>
              <a:t>measure of the spatial dependence between two observations as a function of the distance between them</a:t>
            </a:r>
            <a:br>
              <a:rPr lang="en-US" dirty="0"/>
            </a:br>
            <a:endParaRPr lang="en-US" dirty="0"/>
          </a:p>
          <a:p>
            <a:pPr>
              <a:buFont typeface="Courier New" panose="02070309020205020404" pitchFamily="49" charset="0"/>
              <a:buChar char="o"/>
            </a:pPr>
            <a:r>
              <a:rPr lang="en-US" b="1" dirty="0" err="1">
                <a:solidFill>
                  <a:srgbClr val="E3874F"/>
                </a:solidFill>
              </a:rPr>
              <a:t>Semivariogram</a:t>
            </a:r>
            <a:r>
              <a:rPr lang="en-US" b="1" dirty="0">
                <a:solidFill>
                  <a:srgbClr val="E3874F"/>
                </a:solidFill>
              </a:rPr>
              <a:t>: </a:t>
            </a:r>
            <a:r>
              <a:rPr lang="en-US" dirty="0"/>
              <a:t>a graph of how </a:t>
            </a:r>
            <a:r>
              <a:rPr lang="en-US" dirty="0" err="1"/>
              <a:t>semivariance</a:t>
            </a:r>
            <a:r>
              <a:rPr lang="en-US" dirty="0"/>
              <a:t> changes as the distance between observations changes</a:t>
            </a:r>
          </a:p>
        </p:txBody>
      </p:sp>
      <p:cxnSp>
        <p:nvCxnSpPr>
          <p:cNvPr id="5" name="Straight Connector 4">
            <a:extLst>
              <a:ext uri="{FF2B5EF4-FFF2-40B4-BE49-F238E27FC236}">
                <a16:creationId xmlns:a16="http://schemas.microsoft.com/office/drawing/2014/main" id="{322EC225-FF9D-4DEC-9E42-96CD982D8496}"/>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54C97A6A-602F-4227-8241-2C0D6B0CF808}"/>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err="1">
                <a:solidFill>
                  <a:srgbClr val="7030A0"/>
                </a:solidFill>
              </a:rPr>
              <a:t>Semivariogram</a:t>
            </a:r>
            <a:endParaRPr lang="en-US" sz="4267" dirty="0">
              <a:solidFill>
                <a:srgbClr val="7030A0"/>
              </a:solidFill>
            </a:endParaRPr>
          </a:p>
        </p:txBody>
      </p:sp>
      <p:sp>
        <p:nvSpPr>
          <p:cNvPr id="7" name="TextBox 6">
            <a:extLst>
              <a:ext uri="{FF2B5EF4-FFF2-40B4-BE49-F238E27FC236}">
                <a16:creationId xmlns:a16="http://schemas.microsoft.com/office/drawing/2014/main" id="{450F0A53-B735-44B0-A880-0E6100A94B33}"/>
              </a:ext>
            </a:extLst>
          </p:cNvPr>
          <p:cNvSpPr txBox="1"/>
          <p:nvPr/>
        </p:nvSpPr>
        <p:spPr>
          <a:xfrm>
            <a:off x="6146800" y="5881437"/>
            <a:ext cx="5513693" cy="830997"/>
          </a:xfrm>
          <a:prstGeom prst="rect">
            <a:avLst/>
          </a:prstGeom>
          <a:noFill/>
        </p:spPr>
        <p:txBody>
          <a:bodyPr wrap="square">
            <a:spAutoFit/>
          </a:bodyPr>
          <a:lstStyle/>
          <a:p>
            <a:r>
              <a:rPr lang="en-US" sz="2400" dirty="0">
                <a:solidFill>
                  <a:srgbClr val="FF0000"/>
                </a:solidFill>
              </a:rPr>
              <a:t>Low values of </a:t>
            </a:r>
            <a:r>
              <a:rPr lang="en-US" sz="2400" dirty="0" err="1">
                <a:solidFill>
                  <a:srgbClr val="FF0000"/>
                </a:solidFill>
              </a:rPr>
              <a:t>semivariance</a:t>
            </a:r>
            <a:r>
              <a:rPr lang="en-US" sz="2400" dirty="0">
                <a:solidFill>
                  <a:srgbClr val="FF0000"/>
                </a:solidFill>
              </a:rPr>
              <a:t> suggest they have similar values</a:t>
            </a:r>
          </a:p>
        </p:txBody>
      </p:sp>
      <p:sp>
        <p:nvSpPr>
          <p:cNvPr id="9" name="TextBox 8">
            <a:extLst>
              <a:ext uri="{FF2B5EF4-FFF2-40B4-BE49-F238E27FC236}">
                <a16:creationId xmlns:a16="http://schemas.microsoft.com/office/drawing/2014/main" id="{63B95B8F-317C-4783-A2DE-DCD41F5AC8C6}"/>
              </a:ext>
            </a:extLst>
          </p:cNvPr>
          <p:cNvSpPr txBox="1"/>
          <p:nvPr/>
        </p:nvSpPr>
        <p:spPr>
          <a:xfrm>
            <a:off x="6268875" y="1954345"/>
            <a:ext cx="4891429" cy="461665"/>
          </a:xfrm>
          <a:prstGeom prst="rect">
            <a:avLst/>
          </a:prstGeom>
          <a:noFill/>
        </p:spPr>
        <p:txBody>
          <a:bodyPr wrap="square">
            <a:spAutoFit/>
          </a:bodyPr>
          <a:lstStyle/>
          <a:p>
            <a:r>
              <a:rPr lang="it-IT" sz="2400" dirty="0">
                <a:solidFill>
                  <a:srgbClr val="4D4D4D"/>
                </a:solidFill>
                <a:latin typeface="Consolas" panose="020B0609020204030204" pitchFamily="49" charset="0"/>
              </a:rPr>
              <a:t>γ(</a:t>
            </a:r>
            <a:r>
              <a:rPr lang="it-IT" sz="2400" b="1" dirty="0">
                <a:solidFill>
                  <a:srgbClr val="4D4D4D"/>
                </a:solidFill>
                <a:latin typeface="Consolas" panose="020B0609020204030204" pitchFamily="49" charset="0"/>
              </a:rPr>
              <a:t>x</a:t>
            </a:r>
            <a:r>
              <a:rPr lang="it-IT" sz="2400" dirty="0">
                <a:solidFill>
                  <a:srgbClr val="4D4D4D"/>
                </a:solidFill>
                <a:latin typeface="Consolas" panose="020B0609020204030204" pitchFamily="49" charset="0"/>
              </a:rPr>
              <a:t>,</a:t>
            </a:r>
            <a:r>
              <a:rPr lang="it-IT" sz="2400" b="1" dirty="0">
                <a:solidFill>
                  <a:srgbClr val="4D4D4D"/>
                </a:solidFill>
                <a:latin typeface="Consolas" panose="020B0609020204030204" pitchFamily="49" charset="0"/>
              </a:rPr>
              <a:t>y</a:t>
            </a:r>
            <a:r>
              <a:rPr lang="it-IT" sz="2400" dirty="0">
                <a:solidFill>
                  <a:srgbClr val="4D4D4D"/>
                </a:solidFill>
                <a:latin typeface="Consolas" panose="020B0609020204030204" pitchFamily="49" charset="0"/>
              </a:rPr>
              <a:t>) = sill - Cov(</a:t>
            </a:r>
            <a:r>
              <a:rPr lang="it-IT" sz="2400" b="1" dirty="0">
                <a:solidFill>
                  <a:srgbClr val="4D4D4D"/>
                </a:solidFill>
                <a:latin typeface="Consolas" panose="020B0609020204030204" pitchFamily="49" charset="0"/>
              </a:rPr>
              <a:t>x</a:t>
            </a:r>
            <a:r>
              <a:rPr lang="it-IT" sz="2400" dirty="0">
                <a:solidFill>
                  <a:srgbClr val="4D4D4D"/>
                </a:solidFill>
                <a:latin typeface="Consolas" panose="020B0609020204030204" pitchFamily="49" charset="0"/>
              </a:rPr>
              <a:t>,</a:t>
            </a:r>
            <a:r>
              <a:rPr lang="it-IT" sz="2400" b="1" dirty="0">
                <a:solidFill>
                  <a:srgbClr val="4D4D4D"/>
                </a:solidFill>
                <a:latin typeface="Consolas" panose="020B0609020204030204" pitchFamily="49" charset="0"/>
              </a:rPr>
              <a:t>y</a:t>
            </a:r>
            <a:r>
              <a:rPr lang="it-IT" sz="2400" dirty="0">
                <a:solidFill>
                  <a:srgbClr val="4D4D4D"/>
                </a:solidFill>
                <a:latin typeface="Consolas" panose="020B0609020204030204" pitchFamily="49" charset="0"/>
              </a:rPr>
              <a:t>)</a:t>
            </a:r>
            <a:endParaRPr lang="en-US" sz="2400" dirty="0"/>
          </a:p>
        </p:txBody>
      </p:sp>
      <p:pic>
        <p:nvPicPr>
          <p:cNvPr id="11" name="Picture 10" descr="Semivariogram">
            <a:extLst>
              <a:ext uri="{FF2B5EF4-FFF2-40B4-BE49-F238E27FC236}">
                <a16:creationId xmlns:a16="http://schemas.microsoft.com/office/drawing/2014/main" id="{EAD2AEB7-5A28-426E-8F85-1F57B187B24B}"/>
              </a:ext>
            </a:extLst>
          </p:cNvPr>
          <p:cNvPicPr>
            <a:picLocks noChangeAspect="1"/>
          </p:cNvPicPr>
          <p:nvPr/>
        </p:nvPicPr>
        <p:blipFill>
          <a:blip r:embed="rId3"/>
          <a:stretch>
            <a:fillRect/>
          </a:stretch>
        </p:blipFill>
        <p:spPr>
          <a:xfrm>
            <a:off x="6096000" y="2995521"/>
            <a:ext cx="4593704" cy="2070211"/>
          </a:xfrm>
          <a:prstGeom prst="rect">
            <a:avLst/>
          </a:prstGeom>
        </p:spPr>
      </p:pic>
      <p:sp>
        <p:nvSpPr>
          <p:cNvPr id="2" name="Slide Number Placeholder 1">
            <a:extLst>
              <a:ext uri="{FF2B5EF4-FFF2-40B4-BE49-F238E27FC236}">
                <a16:creationId xmlns:a16="http://schemas.microsoft.com/office/drawing/2014/main" id="{77D4D717-0479-4C91-B61A-B271B3283C6E}"/>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427280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8776" y="1260652"/>
            <a:ext cx="5990597" cy="5539904"/>
          </a:xfrm>
        </p:spPr>
        <p:txBody>
          <a:bodyPr>
            <a:noAutofit/>
          </a:bodyPr>
          <a:lstStyle/>
          <a:p>
            <a:pPr marL="0" indent="0">
              <a:buNone/>
            </a:pPr>
            <a:r>
              <a:rPr lang="en-US" sz="2400" b="1" dirty="0">
                <a:solidFill>
                  <a:srgbClr val="E3874F"/>
                </a:solidFill>
              </a:rPr>
              <a:t>Range</a:t>
            </a:r>
            <a:r>
              <a:rPr lang="en-US" sz="2400" dirty="0">
                <a:solidFill>
                  <a:srgbClr val="E3874F"/>
                </a:solidFill>
              </a:rPr>
              <a:t>: </a:t>
            </a:r>
            <a:r>
              <a:rPr lang="en-US" sz="2400" dirty="0"/>
              <a:t>distance where model first flattens out</a:t>
            </a:r>
          </a:p>
          <a:p>
            <a:pPr marL="0" indent="0">
              <a:buNone/>
            </a:pPr>
            <a:r>
              <a:rPr lang="en-US" sz="2400" b="1" dirty="0">
                <a:solidFill>
                  <a:srgbClr val="E3874F"/>
                </a:solidFill>
              </a:rPr>
              <a:t>Sill</a:t>
            </a:r>
            <a:r>
              <a:rPr lang="en-US" sz="2400" dirty="0">
                <a:solidFill>
                  <a:srgbClr val="E3874F"/>
                </a:solidFill>
              </a:rPr>
              <a:t>: </a:t>
            </a:r>
            <a:r>
              <a:rPr lang="en-US" sz="2400" dirty="0"/>
              <a:t>value of semi-variance at range </a:t>
            </a:r>
          </a:p>
          <a:p>
            <a:pPr marL="0" indent="0">
              <a:buNone/>
            </a:pPr>
            <a:r>
              <a:rPr lang="en-US" sz="2400" b="1" dirty="0">
                <a:solidFill>
                  <a:srgbClr val="E3874F"/>
                </a:solidFill>
              </a:rPr>
              <a:t>Nugget: </a:t>
            </a:r>
            <a:r>
              <a:rPr lang="en-US" sz="2400" dirty="0"/>
              <a:t>semi-variance at distance = zero</a:t>
            </a:r>
          </a:p>
          <a:p>
            <a:pPr marL="0" indent="0">
              <a:buNone/>
            </a:pPr>
            <a:r>
              <a:rPr lang="en-US" sz="2400" b="1" dirty="0">
                <a:solidFill>
                  <a:srgbClr val="E3874F"/>
                </a:solidFill>
              </a:rPr>
              <a:t>Partial Sill: </a:t>
            </a:r>
            <a:r>
              <a:rPr lang="en-US" sz="2400" dirty="0"/>
              <a:t>Sill minus nugget</a:t>
            </a:r>
          </a:p>
          <a:p>
            <a:pPr marL="0" indent="0">
              <a:buNone/>
            </a:pPr>
            <a:r>
              <a:rPr lang="en-US" sz="2400" dirty="0"/>
              <a:t>*Theoretically, at zero separation distance (lag = 0), the </a:t>
            </a:r>
            <a:r>
              <a:rPr lang="en-US" sz="2400" dirty="0" err="1"/>
              <a:t>semivariogram</a:t>
            </a:r>
            <a:r>
              <a:rPr lang="en-US" sz="2400" dirty="0"/>
              <a:t> value is 0. However, at an infinitesimally small separation distance, the </a:t>
            </a:r>
            <a:r>
              <a:rPr lang="en-US" sz="2400" dirty="0" err="1"/>
              <a:t>semivariogram</a:t>
            </a:r>
            <a:r>
              <a:rPr lang="en-US" sz="2400" dirty="0"/>
              <a:t> often exhibits a nugget effect, which is some value greater than 0.</a:t>
            </a:r>
          </a:p>
          <a:p>
            <a:pPr marL="0" indent="0">
              <a:buNone/>
            </a:pPr>
            <a:r>
              <a:rPr lang="en-US" sz="2400" dirty="0"/>
              <a:t>*The nugget effect can be attributed to measurement errors or spatial sources of variation at distances smaller than the sampling interval or both. </a:t>
            </a:r>
          </a:p>
        </p:txBody>
      </p:sp>
      <p:cxnSp>
        <p:nvCxnSpPr>
          <p:cNvPr id="5" name="Straight Connector 4">
            <a:extLst>
              <a:ext uri="{FF2B5EF4-FFF2-40B4-BE49-F238E27FC236}">
                <a16:creationId xmlns:a16="http://schemas.microsoft.com/office/drawing/2014/main" id="{EABE768C-3AA8-4779-9A4F-A926C76BAB90}"/>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E205BCC-3110-42B5-B9A3-CC8AEDCEC1D8}"/>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err="1">
                <a:solidFill>
                  <a:srgbClr val="7030A0"/>
                </a:solidFill>
              </a:rPr>
              <a:t>Semivariogram</a:t>
            </a:r>
            <a:endParaRPr lang="en-US" sz="4267" dirty="0">
              <a:solidFill>
                <a:srgbClr val="7030A0"/>
              </a:solidFill>
            </a:endParaRPr>
          </a:p>
        </p:txBody>
      </p:sp>
      <p:pic>
        <p:nvPicPr>
          <p:cNvPr id="4" name="Picture 3" descr="Semivariogram">
            <a:extLst>
              <a:ext uri="{FF2B5EF4-FFF2-40B4-BE49-F238E27FC236}">
                <a16:creationId xmlns:a16="http://schemas.microsoft.com/office/drawing/2014/main" id="{83DD7E49-EC53-4237-83DC-858DB884C214}"/>
              </a:ext>
            </a:extLst>
          </p:cNvPr>
          <p:cNvPicPr>
            <a:picLocks noChangeAspect="1"/>
          </p:cNvPicPr>
          <p:nvPr/>
        </p:nvPicPr>
        <p:blipFill>
          <a:blip r:embed="rId3"/>
          <a:stretch>
            <a:fillRect/>
          </a:stretch>
        </p:blipFill>
        <p:spPr>
          <a:xfrm>
            <a:off x="6869373" y="2644727"/>
            <a:ext cx="4593704" cy="2070211"/>
          </a:xfrm>
          <a:prstGeom prst="rect">
            <a:avLst/>
          </a:prstGeom>
        </p:spPr>
      </p:pic>
      <p:sp>
        <p:nvSpPr>
          <p:cNvPr id="9" name="TextBox 8">
            <a:extLst>
              <a:ext uri="{FF2B5EF4-FFF2-40B4-BE49-F238E27FC236}">
                <a16:creationId xmlns:a16="http://schemas.microsoft.com/office/drawing/2014/main" id="{7CD6D837-5F9B-4926-84B6-6A0ACC1EAE5E}"/>
              </a:ext>
            </a:extLst>
          </p:cNvPr>
          <p:cNvSpPr txBox="1"/>
          <p:nvPr/>
        </p:nvSpPr>
        <p:spPr>
          <a:xfrm>
            <a:off x="6669206" y="5996007"/>
            <a:ext cx="5513693" cy="707694"/>
          </a:xfrm>
          <a:prstGeom prst="rect">
            <a:avLst/>
          </a:prstGeom>
          <a:noFill/>
        </p:spPr>
        <p:txBody>
          <a:bodyPr wrap="square">
            <a:spAutoFit/>
          </a:bodyPr>
          <a:lstStyle/>
          <a:p>
            <a:r>
              <a:rPr lang="en-US" sz="1333" dirty="0">
                <a:solidFill>
                  <a:srgbClr val="7030A0"/>
                </a:solidFill>
              </a:rPr>
              <a:t>https://www.researchgate.net/figure/Typical-semivariogram-and-its-components-The-technique-of-variogram-or-semi-variogram_fig2_277581532</a:t>
            </a:r>
          </a:p>
        </p:txBody>
      </p:sp>
      <p:sp>
        <p:nvSpPr>
          <p:cNvPr id="2" name="Slide Number Placeholder 1">
            <a:extLst>
              <a:ext uri="{FF2B5EF4-FFF2-40B4-BE49-F238E27FC236}">
                <a16:creationId xmlns:a16="http://schemas.microsoft.com/office/drawing/2014/main" id="{8A19AE8B-2D85-4182-8A23-DE80B290DDC2}"/>
              </a:ext>
            </a:extLst>
          </p:cNvPr>
          <p:cNvSpPr>
            <a:spLocks noGrp="1"/>
          </p:cNvSpPr>
          <p:nvPr>
            <p:ph type="sldNum" sz="quarter" idx="12"/>
          </p:nvPr>
        </p:nvSpPr>
        <p:spPr/>
        <p:txBody>
          <a:bodyPr/>
          <a:lstStyle/>
          <a:p>
            <a:fld id="{127DDC20-79C9-9647-820E-6D40A3D210C3}" type="slidenum">
              <a:rPr lang="en-US" smtClean="0"/>
              <a:pPr/>
              <a:t>10</a:t>
            </a:fld>
            <a:endParaRPr lang="en-US"/>
          </a:p>
        </p:txBody>
      </p:sp>
    </p:spTree>
    <p:extLst>
      <p:ext uri="{BB962C8B-B14F-4D97-AF65-F5344CB8AC3E}">
        <p14:creationId xmlns:p14="http://schemas.microsoft.com/office/powerpoint/2010/main" val="270537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ABE768C-3AA8-4779-9A4F-A926C76BAB90}"/>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CE205BCC-3110-42B5-B9A3-CC8AEDCEC1D8}"/>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err="1">
                <a:solidFill>
                  <a:srgbClr val="7030A0"/>
                </a:solidFill>
              </a:rPr>
              <a:t>Semivariogram</a:t>
            </a:r>
            <a:endParaRPr lang="en-US" sz="4267" dirty="0">
              <a:solidFill>
                <a:srgbClr val="7030A0"/>
              </a:solidFill>
            </a:endParaRPr>
          </a:p>
        </p:txBody>
      </p:sp>
      <p:sp>
        <p:nvSpPr>
          <p:cNvPr id="2" name="Slide Number Placeholder 1">
            <a:extLst>
              <a:ext uri="{FF2B5EF4-FFF2-40B4-BE49-F238E27FC236}">
                <a16:creationId xmlns:a16="http://schemas.microsoft.com/office/drawing/2014/main" id="{8A19AE8B-2D85-4182-8A23-DE80B290DDC2}"/>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11" name="Picture 10" descr="Chart&#10;&#10;Description automatically generated">
            <a:extLst>
              <a:ext uri="{FF2B5EF4-FFF2-40B4-BE49-F238E27FC236}">
                <a16:creationId xmlns:a16="http://schemas.microsoft.com/office/drawing/2014/main" id="{3DA75EF3-623A-4AEC-B73A-9E0A7CB04EF9}"/>
              </a:ext>
            </a:extLst>
          </p:cNvPr>
          <p:cNvPicPr>
            <a:picLocks noChangeAspect="1"/>
          </p:cNvPicPr>
          <p:nvPr/>
        </p:nvPicPr>
        <p:blipFill>
          <a:blip r:embed="rId3"/>
          <a:stretch>
            <a:fillRect/>
          </a:stretch>
        </p:blipFill>
        <p:spPr>
          <a:xfrm>
            <a:off x="2979755" y="1378306"/>
            <a:ext cx="5493685" cy="5422252"/>
          </a:xfrm>
          <a:prstGeom prst="rect">
            <a:avLst/>
          </a:prstGeom>
        </p:spPr>
      </p:pic>
      <p:sp>
        <p:nvSpPr>
          <p:cNvPr id="12" name="TextBox 11">
            <a:extLst>
              <a:ext uri="{FF2B5EF4-FFF2-40B4-BE49-F238E27FC236}">
                <a16:creationId xmlns:a16="http://schemas.microsoft.com/office/drawing/2014/main" id="{F7C564C4-EDDB-4235-830C-A98A63BE8C6E}"/>
              </a:ext>
            </a:extLst>
          </p:cNvPr>
          <p:cNvSpPr txBox="1"/>
          <p:nvPr/>
        </p:nvSpPr>
        <p:spPr>
          <a:xfrm>
            <a:off x="1088357" y="6336356"/>
            <a:ext cx="5507004" cy="297454"/>
          </a:xfrm>
          <a:prstGeom prst="rect">
            <a:avLst/>
          </a:prstGeom>
          <a:noFill/>
        </p:spPr>
        <p:txBody>
          <a:bodyPr wrap="square" rtlCol="0">
            <a:spAutoFit/>
          </a:bodyPr>
          <a:lstStyle/>
          <a:p>
            <a:r>
              <a:rPr lang="en-US" sz="1333" dirty="0" err="1">
                <a:solidFill>
                  <a:srgbClr val="7030A0"/>
                </a:solidFill>
              </a:rPr>
              <a:t>B</a:t>
            </a:r>
            <a:r>
              <a:rPr lang="en-US" altLang="zh-CN" sz="1333" dirty="0" err="1">
                <a:solidFill>
                  <a:srgbClr val="7030A0"/>
                </a:solidFill>
              </a:rPr>
              <a:t>olstad</a:t>
            </a:r>
            <a:r>
              <a:rPr lang="en-US" altLang="zh-CN" sz="1333" dirty="0">
                <a:solidFill>
                  <a:srgbClr val="7030A0"/>
                </a:solidFill>
              </a:rPr>
              <a:t> 2019</a:t>
            </a:r>
            <a:endParaRPr lang="en-US" sz="1333" dirty="0">
              <a:solidFill>
                <a:srgbClr val="7030A0"/>
              </a:solidFill>
            </a:endParaRPr>
          </a:p>
        </p:txBody>
      </p:sp>
    </p:spTree>
    <p:extLst>
      <p:ext uri="{BB962C8B-B14F-4D97-AF65-F5344CB8AC3E}">
        <p14:creationId xmlns:p14="http://schemas.microsoft.com/office/powerpoint/2010/main" val="3102088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Moran’s I</a:t>
            </a:r>
          </a:p>
        </p:txBody>
      </p:sp>
      <p:sp>
        <p:nvSpPr>
          <p:cNvPr id="12" name="TextBox 11">
            <a:extLst>
              <a:ext uri="{FF2B5EF4-FFF2-40B4-BE49-F238E27FC236}">
                <a16:creationId xmlns:a16="http://schemas.microsoft.com/office/drawing/2014/main" id="{2390A8F1-064F-4066-B182-CD107EB33EAB}"/>
              </a:ext>
            </a:extLst>
          </p:cNvPr>
          <p:cNvSpPr txBox="1"/>
          <p:nvPr/>
        </p:nvSpPr>
        <p:spPr>
          <a:xfrm>
            <a:off x="812800" y="1403119"/>
            <a:ext cx="9601200" cy="890115"/>
          </a:xfrm>
          <a:prstGeom prst="rect">
            <a:avLst/>
          </a:prstGeom>
          <a:noFill/>
        </p:spPr>
        <p:txBody>
          <a:bodyPr wrap="square" rtlCol="0">
            <a:spAutoFit/>
          </a:bodyPr>
          <a:lstStyle/>
          <a:p>
            <a:pPr>
              <a:lnSpc>
                <a:spcPct val="90000"/>
              </a:lnSpc>
            </a:pPr>
            <a:r>
              <a:rPr lang="en-US" sz="2880" dirty="0"/>
              <a:t>Measures spatial autocorrelation based on feature locations and </a:t>
            </a:r>
            <a:r>
              <a:rPr lang="en-US" sz="2880" dirty="0">
                <a:solidFill>
                  <a:srgbClr val="FF0000"/>
                </a:solidFill>
              </a:rPr>
              <a:t>attribute values </a:t>
            </a:r>
            <a:r>
              <a:rPr lang="en-US" sz="2880" dirty="0"/>
              <a:t>using the Global Moran’s I statistic</a:t>
            </a:r>
          </a:p>
        </p:txBody>
      </p:sp>
      <p:pic>
        <p:nvPicPr>
          <p:cNvPr id="4" name="Picture 3" descr="A close up of a watch&#10;&#10;Description automatically generated">
            <a:extLst>
              <a:ext uri="{FF2B5EF4-FFF2-40B4-BE49-F238E27FC236}">
                <a16:creationId xmlns:a16="http://schemas.microsoft.com/office/drawing/2014/main" id="{76BC92F3-FD2F-41F8-9075-A546C2A8A2FE}"/>
              </a:ext>
            </a:extLst>
          </p:cNvPr>
          <p:cNvPicPr>
            <a:picLocks noChangeAspect="1"/>
          </p:cNvPicPr>
          <p:nvPr/>
        </p:nvPicPr>
        <p:blipFill>
          <a:blip r:embed="rId3"/>
          <a:stretch>
            <a:fillRect/>
          </a:stretch>
        </p:blipFill>
        <p:spPr>
          <a:xfrm>
            <a:off x="1022687" y="2484247"/>
            <a:ext cx="4820199" cy="1097280"/>
          </a:xfrm>
          <a:prstGeom prst="rect">
            <a:avLst/>
          </a:prstGeom>
        </p:spPr>
      </p:pic>
      <p:sp>
        <p:nvSpPr>
          <p:cNvPr id="5" name="Oval 4">
            <a:extLst>
              <a:ext uri="{FF2B5EF4-FFF2-40B4-BE49-F238E27FC236}">
                <a16:creationId xmlns:a16="http://schemas.microsoft.com/office/drawing/2014/main" id="{69E8AAB3-8A2E-431B-BC51-72B170953811}"/>
              </a:ext>
            </a:extLst>
          </p:cNvPr>
          <p:cNvSpPr/>
          <p:nvPr/>
        </p:nvSpPr>
        <p:spPr>
          <a:xfrm>
            <a:off x="4388494" y="3074845"/>
            <a:ext cx="736333" cy="52362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dirty="0"/>
          </a:p>
        </p:txBody>
      </p:sp>
      <p:sp>
        <p:nvSpPr>
          <p:cNvPr id="6" name="TextBox 5">
            <a:extLst>
              <a:ext uri="{FF2B5EF4-FFF2-40B4-BE49-F238E27FC236}">
                <a16:creationId xmlns:a16="http://schemas.microsoft.com/office/drawing/2014/main" id="{9952C95D-CADA-4220-8F88-FE10C7FD7035}"/>
              </a:ext>
            </a:extLst>
          </p:cNvPr>
          <p:cNvSpPr txBox="1"/>
          <p:nvPr/>
        </p:nvSpPr>
        <p:spPr>
          <a:xfrm>
            <a:off x="2325973" y="4189062"/>
            <a:ext cx="4820199" cy="978729"/>
          </a:xfrm>
          <a:prstGeom prst="rect">
            <a:avLst/>
          </a:prstGeom>
          <a:noFill/>
        </p:spPr>
        <p:txBody>
          <a:bodyPr wrap="square" rtlCol="0">
            <a:spAutoFit/>
          </a:bodyPr>
          <a:lstStyle/>
          <a:p>
            <a:r>
              <a:rPr lang="en-US" sz="2880" dirty="0"/>
              <a:t>Spatial Weight between </a:t>
            </a:r>
            <a:r>
              <a:rPr lang="en-US" sz="2880" dirty="0" err="1"/>
              <a:t>i</a:t>
            </a:r>
            <a:r>
              <a:rPr lang="en-US" sz="2880" dirty="0"/>
              <a:t> and j</a:t>
            </a:r>
          </a:p>
        </p:txBody>
      </p:sp>
      <p:sp>
        <p:nvSpPr>
          <p:cNvPr id="13" name="Arrow: Down 12">
            <a:extLst>
              <a:ext uri="{FF2B5EF4-FFF2-40B4-BE49-F238E27FC236}">
                <a16:creationId xmlns:a16="http://schemas.microsoft.com/office/drawing/2014/main" id="{19D4677B-F0DF-490E-BC73-D0447A1CC63A}"/>
              </a:ext>
            </a:extLst>
          </p:cNvPr>
          <p:cNvSpPr/>
          <p:nvPr/>
        </p:nvSpPr>
        <p:spPr>
          <a:xfrm>
            <a:off x="4599759" y="3722443"/>
            <a:ext cx="313799" cy="52362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p>
        </p:txBody>
      </p:sp>
      <p:sp>
        <p:nvSpPr>
          <p:cNvPr id="16" name="Content Placeholder 2">
            <a:extLst>
              <a:ext uri="{FF2B5EF4-FFF2-40B4-BE49-F238E27FC236}">
                <a16:creationId xmlns:a16="http://schemas.microsoft.com/office/drawing/2014/main" id="{24E05585-30C5-4B4F-A1FD-1DA072ECAECA}"/>
              </a:ext>
            </a:extLst>
          </p:cNvPr>
          <p:cNvSpPr>
            <a:spLocks noGrp="1"/>
          </p:cNvSpPr>
          <p:nvPr>
            <p:ph idx="1"/>
          </p:nvPr>
        </p:nvSpPr>
        <p:spPr>
          <a:xfrm>
            <a:off x="7067178" y="3147711"/>
            <a:ext cx="4515223" cy="2196704"/>
          </a:xfrm>
        </p:spPr>
        <p:txBody>
          <a:bodyPr>
            <a:normAutofit fontScale="62500" lnSpcReduction="20000"/>
          </a:bodyPr>
          <a:lstStyle/>
          <a:p>
            <a:r>
              <a:rPr lang="en-US" sz="2880" b="1" dirty="0">
                <a:solidFill>
                  <a:srgbClr val="E3874F"/>
                </a:solidFill>
              </a:rPr>
              <a:t>INVERSE DISTANCE</a:t>
            </a:r>
          </a:p>
          <a:p>
            <a:pPr marL="480048" lvl="1" indent="0">
              <a:buNone/>
            </a:pPr>
            <a:r>
              <a:rPr lang="en-US" dirty="0"/>
              <a:t>1/distance</a:t>
            </a:r>
          </a:p>
          <a:p>
            <a:pPr marL="480048" lvl="1" indent="0">
              <a:buNone/>
            </a:pPr>
            <a:r>
              <a:rPr lang="en-US" dirty="0"/>
              <a:t>Nearby neighboring features have a larger influence on the computations for a target feature than features that are far away.</a:t>
            </a:r>
          </a:p>
          <a:p>
            <a:pPr marL="411470" lvl="1" indent="-411470">
              <a:buFont typeface="Arial"/>
              <a:buChar char="•"/>
            </a:pPr>
            <a:r>
              <a:rPr lang="en-US" sz="2880" b="1" dirty="0">
                <a:solidFill>
                  <a:srgbClr val="E3874F"/>
                </a:solidFill>
              </a:rPr>
              <a:t>CONTIGUITY EDGES ONLY</a:t>
            </a:r>
          </a:p>
          <a:p>
            <a:pPr marL="0" lvl="1" indent="0">
              <a:buNone/>
            </a:pPr>
            <a:r>
              <a:rPr lang="en-US" b="1" dirty="0">
                <a:solidFill>
                  <a:srgbClr val="E3874F"/>
                </a:solidFill>
              </a:rPr>
              <a:t>	</a:t>
            </a:r>
            <a:r>
              <a:rPr lang="en-US" dirty="0"/>
              <a:t>Only neighboring polygon features that share a 	boundary or overlap 	will influence 	computations for the 	target polygon feature</a:t>
            </a:r>
          </a:p>
        </p:txBody>
      </p:sp>
      <p:sp>
        <p:nvSpPr>
          <p:cNvPr id="2" name="TextBox 1">
            <a:extLst>
              <a:ext uri="{FF2B5EF4-FFF2-40B4-BE49-F238E27FC236}">
                <a16:creationId xmlns:a16="http://schemas.microsoft.com/office/drawing/2014/main" id="{94F1A015-0D33-41E6-B442-F0B401C68935}"/>
              </a:ext>
            </a:extLst>
          </p:cNvPr>
          <p:cNvSpPr txBox="1"/>
          <p:nvPr/>
        </p:nvSpPr>
        <p:spPr>
          <a:xfrm>
            <a:off x="2407555" y="5601849"/>
            <a:ext cx="6870660" cy="978729"/>
          </a:xfrm>
          <a:prstGeom prst="rect">
            <a:avLst/>
          </a:prstGeom>
          <a:noFill/>
        </p:spPr>
        <p:txBody>
          <a:bodyPr wrap="square" rtlCol="0">
            <a:spAutoFit/>
          </a:bodyPr>
          <a:lstStyle/>
          <a:p>
            <a:r>
              <a:rPr lang="en-US" sz="2880" dirty="0"/>
              <a:t>-1</a:t>
            </a:r>
            <a:r>
              <a:rPr lang="en-US" sz="2160" dirty="0"/>
              <a:t>                                                                                                </a:t>
            </a:r>
            <a:r>
              <a:rPr lang="en-US" sz="2880" dirty="0"/>
              <a:t>1</a:t>
            </a:r>
          </a:p>
        </p:txBody>
      </p:sp>
      <p:cxnSp>
        <p:nvCxnSpPr>
          <p:cNvPr id="7" name="Straight Arrow Connector 6">
            <a:extLst>
              <a:ext uri="{FF2B5EF4-FFF2-40B4-BE49-F238E27FC236}">
                <a16:creationId xmlns:a16="http://schemas.microsoft.com/office/drawing/2014/main" id="{DD66D83F-7B15-417D-AB35-4B24D1239734}"/>
              </a:ext>
            </a:extLst>
          </p:cNvPr>
          <p:cNvCxnSpPr>
            <a:cxnSpLocks/>
          </p:cNvCxnSpPr>
          <p:nvPr/>
        </p:nvCxnSpPr>
        <p:spPr>
          <a:xfrm flipV="1">
            <a:off x="2998398" y="5840546"/>
            <a:ext cx="5688975" cy="26623"/>
          </a:xfrm>
          <a:prstGeom prst="straightConnector1">
            <a:avLst/>
          </a:prstGeom>
          <a:ln w="38100">
            <a:solidFill>
              <a:srgbClr val="FF0000"/>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1E157348-FC68-4B13-BC46-DDC28B56E30C}"/>
              </a:ext>
            </a:extLst>
          </p:cNvPr>
          <p:cNvSpPr txBox="1"/>
          <p:nvPr/>
        </p:nvSpPr>
        <p:spPr>
          <a:xfrm>
            <a:off x="6910278" y="5249978"/>
            <a:ext cx="1865479" cy="535531"/>
          </a:xfrm>
          <a:prstGeom prst="rect">
            <a:avLst/>
          </a:prstGeom>
          <a:noFill/>
        </p:spPr>
        <p:txBody>
          <a:bodyPr wrap="square" rtlCol="0">
            <a:spAutoFit/>
          </a:bodyPr>
          <a:lstStyle/>
          <a:p>
            <a:r>
              <a:rPr lang="en-US" sz="2880" dirty="0"/>
              <a:t>Clustered</a:t>
            </a:r>
          </a:p>
        </p:txBody>
      </p:sp>
      <p:sp>
        <p:nvSpPr>
          <p:cNvPr id="17" name="TextBox 16">
            <a:extLst>
              <a:ext uri="{FF2B5EF4-FFF2-40B4-BE49-F238E27FC236}">
                <a16:creationId xmlns:a16="http://schemas.microsoft.com/office/drawing/2014/main" id="{A4BB9724-EBB3-412E-B227-80993B3A7CC6}"/>
              </a:ext>
            </a:extLst>
          </p:cNvPr>
          <p:cNvSpPr txBox="1"/>
          <p:nvPr/>
        </p:nvSpPr>
        <p:spPr>
          <a:xfrm>
            <a:off x="3015740" y="5230411"/>
            <a:ext cx="1740917" cy="535531"/>
          </a:xfrm>
          <a:prstGeom prst="rect">
            <a:avLst/>
          </a:prstGeom>
          <a:noFill/>
        </p:spPr>
        <p:txBody>
          <a:bodyPr wrap="square" rtlCol="0">
            <a:spAutoFit/>
          </a:bodyPr>
          <a:lstStyle/>
          <a:p>
            <a:r>
              <a:rPr lang="en-US" sz="2880" dirty="0"/>
              <a:t>Dispersed</a:t>
            </a:r>
          </a:p>
        </p:txBody>
      </p:sp>
      <p:sp>
        <p:nvSpPr>
          <p:cNvPr id="3" name="Slide Number Placeholder 2">
            <a:extLst>
              <a:ext uri="{FF2B5EF4-FFF2-40B4-BE49-F238E27FC236}">
                <a16:creationId xmlns:a16="http://schemas.microsoft.com/office/drawing/2014/main" id="{D0C8439B-46A1-413C-BD40-5497A7973C19}"/>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18" name="TextBox 17">
            <a:extLst>
              <a:ext uri="{FF2B5EF4-FFF2-40B4-BE49-F238E27FC236}">
                <a16:creationId xmlns:a16="http://schemas.microsoft.com/office/drawing/2014/main" id="{7656E916-6BE3-404B-AC0C-A4C765BBBA1E}"/>
              </a:ext>
            </a:extLst>
          </p:cNvPr>
          <p:cNvSpPr txBox="1"/>
          <p:nvPr/>
        </p:nvSpPr>
        <p:spPr>
          <a:xfrm>
            <a:off x="964869" y="3674708"/>
            <a:ext cx="5599611" cy="461665"/>
          </a:xfrm>
          <a:prstGeom prst="rect">
            <a:avLst/>
          </a:prstGeom>
          <a:noFill/>
        </p:spPr>
        <p:txBody>
          <a:bodyPr wrap="square">
            <a:spAutoFit/>
          </a:bodyPr>
          <a:lstStyle/>
          <a:p>
            <a:r>
              <a:rPr lang="pt-BR" sz="2400" dirty="0">
                <a:solidFill>
                  <a:srgbClr val="777777"/>
                </a:solidFill>
                <a:latin typeface="pt sans" panose="020B0604020202020204" pitchFamily="34" charset="0"/>
              </a:rPr>
              <a:t>s</a:t>
            </a:r>
            <a:r>
              <a:rPr lang="pt-BR" sz="2400" baseline="30000" dirty="0">
                <a:solidFill>
                  <a:srgbClr val="777777"/>
                </a:solidFill>
                <a:latin typeface="pt sans" panose="020B0604020202020204" pitchFamily="34" charset="0"/>
              </a:rPr>
              <a:t>2</a:t>
            </a:r>
            <a:r>
              <a:rPr lang="pt-BR" sz="2400" dirty="0">
                <a:solidFill>
                  <a:srgbClr val="777777"/>
                </a:solidFill>
                <a:latin typeface="pt sans" panose="020B0604020202020204" pitchFamily="34" charset="0"/>
              </a:rPr>
              <a:t> = (Σ(y</a:t>
            </a:r>
            <a:r>
              <a:rPr lang="pt-BR" sz="2400" baseline="-25000" dirty="0">
                <a:solidFill>
                  <a:srgbClr val="777777"/>
                </a:solidFill>
                <a:latin typeface="pt sans" panose="020B0604020202020204" pitchFamily="34" charset="0"/>
              </a:rPr>
              <a:t>i</a:t>
            </a:r>
            <a:r>
              <a:rPr lang="pt-BR" sz="2400" dirty="0">
                <a:solidFill>
                  <a:srgbClr val="777777"/>
                </a:solidFill>
                <a:latin typeface="pt sans" panose="020B0604020202020204" pitchFamily="34" charset="0"/>
              </a:rPr>
              <a:t>– ̄y)</a:t>
            </a:r>
            <a:r>
              <a:rPr lang="pt-BR" sz="2400" baseline="30000" dirty="0">
                <a:solidFill>
                  <a:srgbClr val="777777"/>
                </a:solidFill>
                <a:latin typeface="pt sans" panose="020B0604020202020204" pitchFamily="34" charset="0"/>
              </a:rPr>
              <a:t>2</a:t>
            </a:r>
            <a:r>
              <a:rPr lang="pt-BR" sz="2400" dirty="0">
                <a:solidFill>
                  <a:srgbClr val="777777"/>
                </a:solidFill>
                <a:latin typeface="pt sans" panose="020B0604020202020204" pitchFamily="34" charset="0"/>
              </a:rPr>
              <a:t>)/n)</a:t>
            </a:r>
            <a:endParaRPr lang="en-US" sz="2400" dirty="0"/>
          </a:p>
        </p:txBody>
      </p:sp>
    </p:spTree>
    <p:extLst>
      <p:ext uri="{BB962C8B-B14F-4D97-AF65-F5344CB8AC3E}">
        <p14:creationId xmlns:p14="http://schemas.microsoft.com/office/powerpoint/2010/main" val="264683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xEl>
                                              <p:pRg st="0" end="0"/>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xEl>
                                              <p:pRg st="1" end="1"/>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6">
                                            <p:txEl>
                                              <p:pRg st="3" end="3"/>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circle(in)">
                                      <p:cBhvr>
                                        <p:cTn id="30" dur="2000"/>
                                        <p:tgtEl>
                                          <p:spTgt spid="17"/>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circle(in)">
                                      <p:cBhvr>
                                        <p:cTn id="33" dur="2000"/>
                                        <p:tgtEl>
                                          <p:spTgt spid="2"/>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circle(in)">
                                      <p:cBhvr>
                                        <p:cTn id="36" dur="2000"/>
                                        <p:tgtEl>
                                          <p:spTgt spid="15"/>
                                        </p:tgtEl>
                                      </p:cBhvr>
                                    </p:animEffect>
                                  </p:childTnLst>
                                </p:cTn>
                              </p:par>
                              <p:par>
                                <p:cTn id="37" presetID="6" presetClass="entr" presetSubtype="16" fill="hold"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circle(in)">
                                      <p:cBhvr>
                                        <p:cTn id="3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3" grpId="0" animBg="1"/>
      <p:bldP spid="16" grpId="0" build="p"/>
      <p:bldP spid="2" grpId="0"/>
      <p:bldP spid="15"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Conceptualization of Spatial Relationships</a:t>
            </a:r>
          </a:p>
        </p:txBody>
      </p:sp>
      <p:sp>
        <p:nvSpPr>
          <p:cNvPr id="3" name="Content Placeholder 2"/>
          <p:cNvSpPr>
            <a:spLocks noGrp="1"/>
          </p:cNvSpPr>
          <p:nvPr>
            <p:ph idx="1"/>
          </p:nvPr>
        </p:nvSpPr>
        <p:spPr>
          <a:xfrm>
            <a:off x="815341" y="1920240"/>
            <a:ext cx="10561320" cy="4389120"/>
          </a:xfrm>
        </p:spPr>
        <p:txBody>
          <a:bodyPr>
            <a:normAutofit fontScale="55000" lnSpcReduction="20000"/>
          </a:bodyPr>
          <a:lstStyle/>
          <a:p>
            <a:pPr marL="0" indent="0">
              <a:buNone/>
            </a:pPr>
            <a:r>
              <a:rPr lang="en-US" b="1" dirty="0">
                <a:solidFill>
                  <a:srgbClr val="E3874F"/>
                </a:solidFill>
              </a:rPr>
              <a:t>INVERSE DISTANCE: </a:t>
            </a:r>
            <a:r>
              <a:rPr lang="en-US" dirty="0"/>
              <a:t>Nearby neighboring features have a larger influence on the computations for a target feature than features that are far away.</a:t>
            </a:r>
          </a:p>
          <a:p>
            <a:pPr marL="0" indent="0">
              <a:buNone/>
            </a:pPr>
            <a:r>
              <a:rPr lang="en-US" b="1" dirty="0">
                <a:solidFill>
                  <a:srgbClr val="E3874F"/>
                </a:solidFill>
              </a:rPr>
              <a:t>INVERSE DISTANCE SQUARED: </a:t>
            </a:r>
            <a:r>
              <a:rPr lang="en-US" dirty="0"/>
              <a:t>Same as INVERSE_DISTANCE except that the slope is sharper, so influence drops off more quickly, and only a target feature's closest neighbors will exert substantial influence on computations for that feature. </a:t>
            </a:r>
          </a:p>
          <a:p>
            <a:pPr marL="0" indent="0">
              <a:buNone/>
            </a:pPr>
            <a:r>
              <a:rPr lang="en-US" b="1" dirty="0">
                <a:solidFill>
                  <a:srgbClr val="E3874F"/>
                </a:solidFill>
              </a:rPr>
              <a:t>FIXED DISTANCE BAND: </a:t>
            </a:r>
            <a:r>
              <a:rPr lang="en-US" dirty="0"/>
              <a:t>Each feature is analyzed within the context of neighboring features. Neighboring features inside the specified critical distance (</a:t>
            </a:r>
            <a:r>
              <a:rPr lang="en-US" dirty="0" err="1"/>
              <a:t>Distance_Band_or_Threshold</a:t>
            </a:r>
            <a:r>
              <a:rPr lang="en-US" dirty="0"/>
              <a:t>) receive a weight of one and exert influence on computations for the target feature. Neighboring features outside the critical distance receive a weight of zero and have no influence on a target feature's computations. </a:t>
            </a:r>
          </a:p>
          <a:p>
            <a:pPr marL="0" indent="0">
              <a:buNone/>
            </a:pPr>
            <a:r>
              <a:rPr lang="en-US" b="1" dirty="0">
                <a:solidFill>
                  <a:srgbClr val="E3874F"/>
                </a:solidFill>
              </a:rPr>
              <a:t>ZONE OF INDIFFERENCE: </a:t>
            </a:r>
            <a:r>
              <a:rPr lang="en-US" dirty="0"/>
              <a:t>Features within the specified critical distance (</a:t>
            </a:r>
            <a:r>
              <a:rPr lang="en-US" dirty="0" err="1"/>
              <a:t>Distance_Band_or_Threshold</a:t>
            </a:r>
            <a:r>
              <a:rPr lang="en-US" dirty="0"/>
              <a:t>) of a target feature receive a weight of one and influence computations for that feature. Once the critical distance is exceeded, weights (and the influence a neighboring feature has on target feature computations) diminish with distance. </a:t>
            </a:r>
          </a:p>
          <a:p>
            <a:pPr marL="0" indent="0">
              <a:buNone/>
            </a:pPr>
            <a:r>
              <a:rPr lang="en-US" b="1" dirty="0">
                <a:solidFill>
                  <a:srgbClr val="E3874F"/>
                </a:solidFill>
              </a:rPr>
              <a:t>CONTIGUITY EDGES ONLY: </a:t>
            </a:r>
            <a:r>
              <a:rPr lang="en-US" dirty="0"/>
              <a:t>Only neighboring polygon features that share a boundary or overlap will influence computations for the target polygon feature. </a:t>
            </a:r>
          </a:p>
          <a:p>
            <a:pPr marL="0" indent="0">
              <a:buNone/>
            </a:pPr>
            <a:r>
              <a:rPr lang="en-US" b="1" dirty="0">
                <a:solidFill>
                  <a:srgbClr val="E3874F"/>
                </a:solidFill>
              </a:rPr>
              <a:t>CONTIGUITY EDGES CORNERS: </a:t>
            </a:r>
            <a:r>
              <a:rPr lang="en-US" dirty="0"/>
              <a:t>Polygon features that share a boundary, share a node, or overlap will influence computations for the target polygon feature. </a:t>
            </a:r>
          </a:p>
          <a:p>
            <a:pPr marL="0" indent="0">
              <a:buNone/>
            </a:pPr>
            <a:r>
              <a:rPr lang="en-US" b="1" dirty="0">
                <a:solidFill>
                  <a:srgbClr val="E3874F"/>
                </a:solidFill>
              </a:rPr>
              <a:t>GET SPATIAL WEIGHTS FROM FILE: </a:t>
            </a:r>
            <a:r>
              <a:rPr lang="en-US" dirty="0"/>
              <a:t>Spatial relationships are defined by a specified spatial weights file. The path to the spatial weights file is specified by the </a:t>
            </a:r>
            <a:r>
              <a:rPr lang="en-US" dirty="0" err="1"/>
              <a:t>Weights_Matrix_File</a:t>
            </a:r>
            <a:r>
              <a:rPr lang="en-US" dirty="0"/>
              <a:t> parameter.</a:t>
            </a:r>
          </a:p>
          <a:p>
            <a:endParaRPr lang="en-US" dirty="0"/>
          </a:p>
        </p:txBody>
      </p:sp>
      <p:sp>
        <p:nvSpPr>
          <p:cNvPr id="4" name="Rectangle 3"/>
          <p:cNvSpPr/>
          <p:nvPr/>
        </p:nvSpPr>
        <p:spPr>
          <a:xfrm>
            <a:off x="6576062" y="5872458"/>
            <a:ext cx="5483543" cy="840230"/>
          </a:xfrm>
          <a:prstGeom prst="rect">
            <a:avLst/>
          </a:prstGeom>
        </p:spPr>
        <p:txBody>
          <a:bodyPr>
            <a:spAutoFit/>
          </a:bodyPr>
          <a:lstStyle/>
          <a:p>
            <a:r>
              <a:rPr lang="en-US" sz="1620" dirty="0">
                <a:hlinkClick r:id="rId3"/>
              </a:rPr>
              <a:t>http://pro.arcgis.com/en/pro-app/tool-reference/spatial-statistics/spatial-autocorrelation.htm</a:t>
            </a:r>
            <a:endParaRPr lang="en-US" sz="1620" dirty="0"/>
          </a:p>
          <a:p>
            <a:endParaRPr lang="en-US" sz="1620" dirty="0"/>
          </a:p>
        </p:txBody>
      </p:sp>
      <p:sp>
        <p:nvSpPr>
          <p:cNvPr id="5" name="Slide Number Placeholder 4">
            <a:extLst>
              <a:ext uri="{FF2B5EF4-FFF2-40B4-BE49-F238E27FC236}">
                <a16:creationId xmlns:a16="http://schemas.microsoft.com/office/drawing/2014/main" id="{533C708E-D85F-45C6-8F2A-BC477EE49506}"/>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1509852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CC99D63-BFF1-4EBE-9587-3F5A47380D9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AE8DBC9-065F-4857-9451-EEE2DB34C3F3}"/>
              </a:ext>
            </a:extLst>
          </p:cNvPr>
          <p:cNvSpPr txBox="1"/>
          <p:nvPr/>
        </p:nvSpPr>
        <p:spPr>
          <a:xfrm>
            <a:off x="7207720" y="3807989"/>
            <a:ext cx="2237873" cy="757130"/>
          </a:xfrm>
          <a:prstGeom prst="rect">
            <a:avLst/>
          </a:prstGeom>
          <a:solidFill>
            <a:schemeClr val="bg1"/>
          </a:solidFill>
        </p:spPr>
        <p:txBody>
          <a:bodyPr wrap="square" rtlCol="0">
            <a:spAutoFit/>
          </a:bodyPr>
          <a:lstStyle/>
          <a:p>
            <a:endParaRPr lang="en-US" sz="4320" dirty="0"/>
          </a:p>
        </p:txBody>
      </p:sp>
      <p:pic>
        <p:nvPicPr>
          <p:cNvPr id="8" name="Picture 7" descr="A screenshot of a cell phone&#10;&#10;Description automatically generated">
            <a:extLst>
              <a:ext uri="{FF2B5EF4-FFF2-40B4-BE49-F238E27FC236}">
                <a16:creationId xmlns:a16="http://schemas.microsoft.com/office/drawing/2014/main" id="{563D5133-66FE-4250-81D8-6274862EAA0A}"/>
              </a:ext>
            </a:extLst>
          </p:cNvPr>
          <p:cNvPicPr>
            <a:picLocks noChangeAspect="1"/>
          </p:cNvPicPr>
          <p:nvPr/>
        </p:nvPicPr>
        <p:blipFill>
          <a:blip r:embed="rId3"/>
          <a:stretch>
            <a:fillRect/>
          </a:stretch>
        </p:blipFill>
        <p:spPr>
          <a:xfrm>
            <a:off x="1847731" y="5180402"/>
            <a:ext cx="4059936" cy="1259980"/>
          </a:xfrm>
          <a:prstGeom prst="rect">
            <a:avLst/>
          </a:prstGeom>
        </p:spPr>
      </p:pic>
      <p:pic>
        <p:nvPicPr>
          <p:cNvPr id="12" name="Picture 11" descr="A close up of a map&#10;&#10;Description automatically generated">
            <a:extLst>
              <a:ext uri="{FF2B5EF4-FFF2-40B4-BE49-F238E27FC236}">
                <a16:creationId xmlns:a16="http://schemas.microsoft.com/office/drawing/2014/main" id="{CB70CBD5-13E5-4F9B-85AE-8E043F54F8EA}"/>
              </a:ext>
            </a:extLst>
          </p:cNvPr>
          <p:cNvPicPr>
            <a:picLocks noChangeAspect="1"/>
          </p:cNvPicPr>
          <p:nvPr/>
        </p:nvPicPr>
        <p:blipFill>
          <a:blip r:embed="rId4"/>
          <a:stretch>
            <a:fillRect/>
          </a:stretch>
        </p:blipFill>
        <p:spPr>
          <a:xfrm>
            <a:off x="1847731" y="1357895"/>
            <a:ext cx="4059936" cy="3635764"/>
          </a:xfrm>
          <a:prstGeom prst="rect">
            <a:avLst/>
          </a:prstGeom>
        </p:spPr>
      </p:pic>
      <p:pic>
        <p:nvPicPr>
          <p:cNvPr id="17" name="Picture 16" descr="A close up of a map&#10;&#10;Description automatically generated">
            <a:extLst>
              <a:ext uri="{FF2B5EF4-FFF2-40B4-BE49-F238E27FC236}">
                <a16:creationId xmlns:a16="http://schemas.microsoft.com/office/drawing/2014/main" id="{6882BF90-6ED9-4E55-8EEA-D7D785C16B9D}"/>
              </a:ext>
            </a:extLst>
          </p:cNvPr>
          <p:cNvPicPr>
            <a:picLocks noChangeAspect="1"/>
          </p:cNvPicPr>
          <p:nvPr/>
        </p:nvPicPr>
        <p:blipFill>
          <a:blip r:embed="rId5"/>
          <a:stretch>
            <a:fillRect/>
          </a:stretch>
        </p:blipFill>
        <p:spPr>
          <a:xfrm>
            <a:off x="6687711" y="2183157"/>
            <a:ext cx="4410412" cy="3555187"/>
          </a:xfrm>
          <a:prstGeom prst="rect">
            <a:avLst/>
          </a:prstGeom>
        </p:spPr>
      </p:pic>
      <p:sp>
        <p:nvSpPr>
          <p:cNvPr id="9" name="Rectangle 2">
            <a:extLst>
              <a:ext uri="{FF2B5EF4-FFF2-40B4-BE49-F238E27FC236}">
                <a16:creationId xmlns:a16="http://schemas.microsoft.com/office/drawing/2014/main" id="{37E8CB1D-3C8B-4648-9EE2-78660CC09099}"/>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Examples</a:t>
            </a:r>
          </a:p>
        </p:txBody>
      </p:sp>
      <p:sp>
        <p:nvSpPr>
          <p:cNvPr id="2" name="Rectangle 1" descr="white box">
            <a:extLst>
              <a:ext uri="{FF2B5EF4-FFF2-40B4-BE49-F238E27FC236}">
                <a16:creationId xmlns:a16="http://schemas.microsoft.com/office/drawing/2014/main" id="{4DC2E213-2A40-4E12-A02F-DB9121B467F3}"/>
              </a:ext>
            </a:extLst>
          </p:cNvPr>
          <p:cNvSpPr/>
          <p:nvPr/>
        </p:nvSpPr>
        <p:spPr>
          <a:xfrm>
            <a:off x="2536238" y="3868324"/>
            <a:ext cx="2799644" cy="1117213"/>
          </a:xfrm>
          <a:prstGeom prst="rect">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sp>
        <p:nvSpPr>
          <p:cNvPr id="3" name="Slide Number Placeholder 2">
            <a:extLst>
              <a:ext uri="{FF2B5EF4-FFF2-40B4-BE49-F238E27FC236}">
                <a16:creationId xmlns:a16="http://schemas.microsoft.com/office/drawing/2014/main" id="{251E0B59-B45E-49EC-8484-2300B144F48F}"/>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extLst>
      <p:ext uri="{BB962C8B-B14F-4D97-AF65-F5344CB8AC3E}">
        <p14:creationId xmlns:p14="http://schemas.microsoft.com/office/powerpoint/2010/main" val="145453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644" y="1437571"/>
            <a:ext cx="6563117" cy="5362987"/>
          </a:xfrm>
        </p:spPr>
        <p:txBody>
          <a:bodyPr>
            <a:normAutofit/>
          </a:bodyPr>
          <a:lstStyle/>
          <a:p>
            <a:pPr>
              <a:buFont typeface="Courier New" panose="02070309020205020404" pitchFamily="49" charset="0"/>
              <a:buChar char="o"/>
            </a:pPr>
            <a:r>
              <a:rPr lang="en-US" dirty="0"/>
              <a:t>Assess patterns at multiple scales or distances</a:t>
            </a:r>
          </a:p>
          <a:p>
            <a:pPr>
              <a:buFont typeface="Courier New" panose="02070309020205020404" pitchFamily="49" charset="0"/>
              <a:buChar char="o"/>
            </a:pPr>
            <a:r>
              <a:rPr lang="en-US" dirty="0"/>
              <a:t>When the observed K value is larger than the expected K value for a particular distance, the distribution is more clustered than a random distribution at that distance (scale of analysis). </a:t>
            </a:r>
          </a:p>
          <a:p>
            <a:pPr>
              <a:buFont typeface="Courier New" panose="02070309020205020404" pitchFamily="49" charset="0"/>
              <a:buChar char="o"/>
            </a:pPr>
            <a:r>
              <a:rPr lang="en-US" dirty="0"/>
              <a:t>When the observed K value is smaller than the expected K value, the distribution is more dispersed than a random distribution at that distance. </a:t>
            </a:r>
          </a:p>
        </p:txBody>
      </p:sp>
      <p:pic>
        <p:nvPicPr>
          <p:cNvPr id="4" name="Picture 3"/>
          <p:cNvPicPr>
            <a:picLocks noChangeAspect="1"/>
          </p:cNvPicPr>
          <p:nvPr/>
        </p:nvPicPr>
        <p:blipFill>
          <a:blip r:embed="rId3"/>
          <a:stretch>
            <a:fillRect/>
          </a:stretch>
        </p:blipFill>
        <p:spPr>
          <a:xfrm>
            <a:off x="7330762" y="2095563"/>
            <a:ext cx="3723925" cy="3442621"/>
          </a:xfrm>
          <a:prstGeom prst="rect">
            <a:avLst/>
          </a:prstGeom>
        </p:spPr>
      </p:pic>
      <p:cxnSp>
        <p:nvCxnSpPr>
          <p:cNvPr id="5" name="Straight Connector 4">
            <a:extLst>
              <a:ext uri="{FF2B5EF4-FFF2-40B4-BE49-F238E27FC236}">
                <a16:creationId xmlns:a16="http://schemas.microsoft.com/office/drawing/2014/main" id="{A6329422-5B5C-4CE6-915B-4D90F43878E9}"/>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8E503A9-AA16-41EE-8378-5D976B4E1EA9}"/>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Ripley</a:t>
            </a:r>
            <a:r>
              <a:rPr lang="en-US" sz="3467" dirty="0">
                <a:solidFill>
                  <a:srgbClr val="7030A0"/>
                </a:solidFill>
              </a:rPr>
              <a:t>’s K</a:t>
            </a:r>
            <a:endParaRPr lang="en-US" sz="4267" dirty="0">
              <a:solidFill>
                <a:srgbClr val="7030A0"/>
              </a:solidFill>
            </a:endParaRPr>
          </a:p>
        </p:txBody>
      </p:sp>
      <p:sp>
        <p:nvSpPr>
          <p:cNvPr id="2" name="Slide Number Placeholder 1">
            <a:extLst>
              <a:ext uri="{FF2B5EF4-FFF2-40B4-BE49-F238E27FC236}">
                <a16:creationId xmlns:a16="http://schemas.microsoft.com/office/drawing/2014/main" id="{DE503A08-7509-4858-A4A9-BE8858934E82}"/>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305249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5051" y="1627893"/>
            <a:ext cx="6002485" cy="4875079"/>
          </a:xfrm>
        </p:spPr>
        <p:txBody>
          <a:bodyPr>
            <a:normAutofit fontScale="85000" lnSpcReduction="20000"/>
          </a:bodyPr>
          <a:lstStyle/>
          <a:p>
            <a:pPr>
              <a:buFont typeface="Courier New" panose="02070309020205020404" pitchFamily="49" charset="0"/>
              <a:buChar char="o"/>
            </a:pPr>
            <a:r>
              <a:rPr lang="en-US" dirty="0"/>
              <a:t>Moran’s I assesses the clustering of similar values</a:t>
            </a:r>
          </a:p>
          <a:p>
            <a:pPr>
              <a:buFont typeface="Courier New" panose="02070309020205020404" pitchFamily="49" charset="0"/>
              <a:buChar char="o"/>
            </a:pPr>
            <a:r>
              <a:rPr lang="en-US" dirty="0"/>
              <a:t>This statistic specifically looks for the clustering of high and low values globally</a:t>
            </a:r>
          </a:p>
          <a:p>
            <a:pPr>
              <a:buFont typeface="Courier New" panose="02070309020205020404" pitchFamily="49" charset="0"/>
              <a:buChar char="o"/>
            </a:pPr>
            <a:r>
              <a:rPr lang="en-US" u="sng" dirty="0"/>
              <a:t>Null Hypothesis</a:t>
            </a:r>
            <a:r>
              <a:rPr lang="en-US" dirty="0"/>
              <a:t>: high values or low values aren’t clustered</a:t>
            </a:r>
          </a:p>
          <a:p>
            <a:pPr>
              <a:buFont typeface="Courier New" panose="02070309020205020404" pitchFamily="49" charset="0"/>
              <a:buChar char="o"/>
            </a:pPr>
            <a:r>
              <a:rPr lang="en-US" u="sng" dirty="0"/>
              <a:t>Alternative Hypothesis</a:t>
            </a:r>
            <a:r>
              <a:rPr lang="en-US" dirty="0"/>
              <a:t>: high and/or low values are clustered</a:t>
            </a:r>
          </a:p>
          <a:p>
            <a:pPr>
              <a:buFont typeface="Courier New" panose="02070309020205020404" pitchFamily="49" charset="0"/>
              <a:buChar char="o"/>
            </a:pPr>
            <a:r>
              <a:rPr lang="en-US" dirty="0"/>
              <a:t>Can use Euclidean Distance or Manhattan Distance</a:t>
            </a:r>
          </a:p>
          <a:p>
            <a:pPr>
              <a:buFont typeface="Courier New" panose="02070309020205020404" pitchFamily="49" charset="0"/>
              <a:buChar char="o"/>
            </a:pPr>
            <a:r>
              <a:rPr lang="en-US" dirty="0"/>
              <a:t>Must specify  a conceptualization of spatial relationships</a:t>
            </a:r>
          </a:p>
          <a:p>
            <a:pPr>
              <a:buFont typeface="Courier New" panose="02070309020205020404" pitchFamily="49" charset="0"/>
              <a:buChar char="o"/>
            </a:pPr>
            <a:r>
              <a:rPr lang="en-US" dirty="0"/>
              <a:t>Positive G = High clusters</a:t>
            </a:r>
          </a:p>
          <a:p>
            <a:pPr>
              <a:buFont typeface="Courier New" panose="02070309020205020404" pitchFamily="49" charset="0"/>
              <a:buChar char="o"/>
            </a:pPr>
            <a:r>
              <a:rPr lang="en-US" dirty="0"/>
              <a:t>Negative G = Low clusters</a:t>
            </a:r>
          </a:p>
          <a:p>
            <a:endParaRPr lang="en-US" dirty="0"/>
          </a:p>
          <a:p>
            <a:pPr marL="0" indent="0">
              <a:buNone/>
            </a:pPr>
            <a:endParaRPr lang="en-US" dirty="0"/>
          </a:p>
        </p:txBody>
      </p:sp>
      <p:pic>
        <p:nvPicPr>
          <p:cNvPr id="4" name="Picture 3" descr="General G results"/>
          <p:cNvPicPr>
            <a:picLocks noChangeAspect="1"/>
          </p:cNvPicPr>
          <p:nvPr/>
        </p:nvPicPr>
        <p:blipFill>
          <a:blip r:embed="rId3"/>
          <a:stretch>
            <a:fillRect/>
          </a:stretch>
        </p:blipFill>
        <p:spPr>
          <a:xfrm>
            <a:off x="7461613" y="1454239"/>
            <a:ext cx="3271260" cy="3123287"/>
          </a:xfrm>
          <a:prstGeom prst="rect">
            <a:avLst/>
          </a:prstGeom>
        </p:spPr>
      </p:pic>
      <p:pic>
        <p:nvPicPr>
          <p:cNvPr id="5" name="Picture 4" descr="General G results"/>
          <p:cNvPicPr>
            <a:picLocks noChangeAspect="1"/>
          </p:cNvPicPr>
          <p:nvPr/>
        </p:nvPicPr>
        <p:blipFill>
          <a:blip r:embed="rId4"/>
          <a:stretch>
            <a:fillRect/>
          </a:stretch>
        </p:blipFill>
        <p:spPr>
          <a:xfrm>
            <a:off x="6949272" y="4984230"/>
            <a:ext cx="4295941" cy="1120087"/>
          </a:xfrm>
          <a:prstGeom prst="rect">
            <a:avLst/>
          </a:prstGeom>
        </p:spPr>
      </p:pic>
      <p:sp>
        <p:nvSpPr>
          <p:cNvPr id="6" name="TextBox 5"/>
          <p:cNvSpPr txBox="1"/>
          <p:nvPr/>
        </p:nvSpPr>
        <p:spPr>
          <a:xfrm>
            <a:off x="7194872" y="6143859"/>
            <a:ext cx="2560320" cy="541046"/>
          </a:xfrm>
          <a:prstGeom prst="rect">
            <a:avLst/>
          </a:prstGeom>
          <a:noFill/>
        </p:spPr>
        <p:txBody>
          <a:bodyPr wrap="square" rtlCol="0">
            <a:spAutoFit/>
          </a:bodyPr>
          <a:lstStyle/>
          <a:p>
            <a:pPr>
              <a:lnSpc>
                <a:spcPct val="90000"/>
              </a:lnSpc>
            </a:pPr>
            <a:r>
              <a:rPr lang="en-US" sz="1620" dirty="0"/>
              <a:t>Used contiguity edges only</a:t>
            </a:r>
          </a:p>
        </p:txBody>
      </p:sp>
      <p:cxnSp>
        <p:nvCxnSpPr>
          <p:cNvPr id="7" name="Straight Connector 6">
            <a:extLst>
              <a:ext uri="{FF2B5EF4-FFF2-40B4-BE49-F238E27FC236}">
                <a16:creationId xmlns:a16="http://schemas.microsoft.com/office/drawing/2014/main" id="{68BA9A26-77ED-473D-8069-FE84F2D3F26F}"/>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1D4AE019-B769-4695-A4B3-96ABCEA4BD8F}"/>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err="1">
                <a:solidFill>
                  <a:srgbClr val="7030A0"/>
                </a:solidFill>
              </a:rPr>
              <a:t>Getis</a:t>
            </a:r>
            <a:r>
              <a:rPr lang="en-US" sz="4267" dirty="0">
                <a:solidFill>
                  <a:srgbClr val="7030A0"/>
                </a:solidFill>
              </a:rPr>
              <a:t>-Ord General G</a:t>
            </a:r>
          </a:p>
        </p:txBody>
      </p:sp>
      <p:sp>
        <p:nvSpPr>
          <p:cNvPr id="2" name="Slide Number Placeholder 1">
            <a:extLst>
              <a:ext uri="{FF2B5EF4-FFF2-40B4-BE49-F238E27FC236}">
                <a16:creationId xmlns:a16="http://schemas.microsoft.com/office/drawing/2014/main" id="{126205BD-AD57-4E17-86DC-7AEBBA0E4274}"/>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3288213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76376" y="2747963"/>
            <a:ext cx="9326880" cy="1362075"/>
          </a:xfrm>
        </p:spPr>
        <p:txBody>
          <a:bodyPr/>
          <a:lstStyle/>
          <a:p>
            <a:r>
              <a:rPr lang="en-US" dirty="0"/>
              <a:t>Local Spatial Autocorrelation</a:t>
            </a:r>
          </a:p>
        </p:txBody>
      </p:sp>
      <p:sp>
        <p:nvSpPr>
          <p:cNvPr id="2" name="Slide Number Placeholder 1">
            <a:extLst>
              <a:ext uri="{FF2B5EF4-FFF2-40B4-BE49-F238E27FC236}">
                <a16:creationId xmlns:a16="http://schemas.microsoft.com/office/drawing/2014/main" id="{9B9BAEBB-EADD-4062-9882-DA1B51705F53}"/>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extLst>
      <p:ext uri="{BB962C8B-B14F-4D97-AF65-F5344CB8AC3E}">
        <p14:creationId xmlns:p14="http://schemas.microsoft.com/office/powerpoint/2010/main" val="21243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800" y="1656709"/>
            <a:ext cx="10332872" cy="5143847"/>
          </a:xfrm>
        </p:spPr>
        <p:txBody>
          <a:bodyPr>
            <a:normAutofit fontScale="85000" lnSpcReduction="20000"/>
          </a:bodyPr>
          <a:lstStyle/>
          <a:p>
            <a:pPr>
              <a:buFont typeface="Courier New" panose="02070309020205020404" pitchFamily="49" charset="0"/>
              <a:buChar char="o"/>
            </a:pPr>
            <a:r>
              <a:rPr lang="en-US" dirty="0"/>
              <a:t>A local version of Moran’s I</a:t>
            </a:r>
          </a:p>
          <a:p>
            <a:pPr>
              <a:buFont typeface="Courier New" panose="02070309020205020404" pitchFamily="49" charset="0"/>
              <a:buChar char="o"/>
            </a:pPr>
            <a:r>
              <a:rPr lang="en-US" dirty="0"/>
              <a:t>Looks for local patterns in the values associated with map features</a:t>
            </a:r>
          </a:p>
          <a:p>
            <a:pPr>
              <a:buFont typeface="Courier New" panose="02070309020205020404" pitchFamily="49" charset="0"/>
              <a:buChar char="o"/>
            </a:pPr>
            <a:r>
              <a:rPr lang="en-US" u="sng" dirty="0"/>
              <a:t>Null Hypothesis</a:t>
            </a:r>
            <a:r>
              <a:rPr lang="en-US" dirty="0"/>
              <a:t>: local random pattern</a:t>
            </a:r>
          </a:p>
          <a:p>
            <a:pPr>
              <a:buFont typeface="Courier New" panose="02070309020205020404" pitchFamily="49" charset="0"/>
              <a:buChar char="o"/>
            </a:pPr>
            <a:r>
              <a:rPr lang="en-US" u="sng" dirty="0"/>
              <a:t>Alternative Hypothesis</a:t>
            </a:r>
            <a:r>
              <a:rPr lang="en-US" dirty="0"/>
              <a:t>: local spatial autocorrelation (dispersion or clustering)</a:t>
            </a:r>
          </a:p>
          <a:p>
            <a:pPr>
              <a:buFont typeface="Courier New" panose="02070309020205020404" pitchFamily="49" charset="0"/>
              <a:buChar char="o"/>
            </a:pPr>
            <a:r>
              <a:rPr lang="en-US" dirty="0"/>
              <a:t>Can use Euclidean Distance or Manhattan Distance</a:t>
            </a:r>
          </a:p>
          <a:p>
            <a:pPr>
              <a:buFont typeface="Courier New" panose="02070309020205020404" pitchFamily="49" charset="0"/>
              <a:buChar char="o"/>
            </a:pPr>
            <a:r>
              <a:rPr lang="en-US" dirty="0"/>
              <a:t>Must specify  a conceptualization of spatial relationships</a:t>
            </a:r>
          </a:p>
          <a:p>
            <a:pPr>
              <a:buFont typeface="Courier New" panose="02070309020205020404" pitchFamily="49" charset="0"/>
              <a:buChar char="o"/>
            </a:pPr>
            <a:r>
              <a:rPr lang="en-US" dirty="0"/>
              <a:t>Positive I = feature has neighboring features with similarly high or low attribute values</a:t>
            </a:r>
          </a:p>
          <a:p>
            <a:pPr>
              <a:buFont typeface="Courier New" panose="02070309020205020404" pitchFamily="49" charset="0"/>
              <a:buChar char="o"/>
            </a:pPr>
            <a:r>
              <a:rPr lang="en-US" dirty="0"/>
              <a:t>Negative I: feature has neighboring features with dissimilar values</a:t>
            </a:r>
          </a:p>
          <a:p>
            <a:pPr>
              <a:buFont typeface="Courier New" panose="02070309020205020404" pitchFamily="49" charset="0"/>
              <a:buChar char="o"/>
            </a:pPr>
            <a:r>
              <a:rPr lang="en-US" b="1" dirty="0">
                <a:solidFill>
                  <a:srgbClr val="E3874F"/>
                </a:solidFill>
              </a:rPr>
              <a:t>HH: </a:t>
            </a:r>
            <a:r>
              <a:rPr lang="en-US" dirty="0"/>
              <a:t>cluster of high values</a:t>
            </a:r>
          </a:p>
          <a:p>
            <a:pPr>
              <a:buFont typeface="Courier New" panose="02070309020205020404" pitchFamily="49" charset="0"/>
              <a:buChar char="o"/>
            </a:pPr>
            <a:r>
              <a:rPr lang="en-US" b="1" dirty="0">
                <a:solidFill>
                  <a:srgbClr val="E3874F"/>
                </a:solidFill>
              </a:rPr>
              <a:t>LL: </a:t>
            </a:r>
            <a:r>
              <a:rPr lang="en-US" dirty="0"/>
              <a:t>cluster of low values</a:t>
            </a:r>
          </a:p>
          <a:p>
            <a:pPr>
              <a:buFont typeface="Courier New" panose="02070309020205020404" pitchFamily="49" charset="0"/>
              <a:buChar char="o"/>
            </a:pPr>
            <a:r>
              <a:rPr lang="en-US" b="1" dirty="0">
                <a:solidFill>
                  <a:srgbClr val="E3874F"/>
                </a:solidFill>
              </a:rPr>
              <a:t>HL: </a:t>
            </a:r>
            <a:r>
              <a:rPr lang="en-US" dirty="0"/>
              <a:t>high value surrounded by low values</a:t>
            </a:r>
          </a:p>
          <a:p>
            <a:pPr>
              <a:buFont typeface="Courier New" panose="02070309020205020404" pitchFamily="49" charset="0"/>
              <a:buChar char="o"/>
            </a:pPr>
            <a:r>
              <a:rPr lang="en-US" b="1" dirty="0">
                <a:solidFill>
                  <a:srgbClr val="E3874F"/>
                </a:solidFill>
              </a:rPr>
              <a:t>LH: </a:t>
            </a:r>
            <a:r>
              <a:rPr lang="en-US" dirty="0"/>
              <a:t>Low value surrounded by high values</a:t>
            </a:r>
          </a:p>
          <a:p>
            <a:endParaRPr lang="en-US" dirty="0"/>
          </a:p>
        </p:txBody>
      </p:sp>
      <p:cxnSp>
        <p:nvCxnSpPr>
          <p:cNvPr id="4" name="Straight Connector 3">
            <a:extLst>
              <a:ext uri="{FF2B5EF4-FFF2-40B4-BE49-F238E27FC236}">
                <a16:creationId xmlns:a16="http://schemas.microsoft.com/office/drawing/2014/main" id="{FA81AC2C-B723-4631-8E97-F2C44A25614E}"/>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FF6739A2-73F0-4D7A-9D00-107B3F9B3770}"/>
              </a:ext>
            </a:extLst>
          </p:cNvPr>
          <p:cNvSpPr txBox="1">
            <a:spLocks/>
          </p:cNvSpPr>
          <p:nvPr/>
        </p:nvSpPr>
        <p:spPr>
          <a:xfrm>
            <a:off x="767644" y="57443"/>
            <a:ext cx="10769600" cy="1143000"/>
          </a:xfrm>
          <a:prstGeom prst="rect">
            <a:avLst/>
          </a:prstGeom>
        </p:spPr>
        <p:txBody>
          <a:bodyPr vert="horz" lIns="121920" tIns="60960" rIns="121920" bIns="60960" rtlCol="0" anchor="ctr">
            <a:normAutofit fontScale="925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Local Indicators of Spatial Autocorrelation (LISA)</a:t>
            </a:r>
          </a:p>
        </p:txBody>
      </p:sp>
      <p:sp>
        <p:nvSpPr>
          <p:cNvPr id="2" name="Slide Number Placeholder 1">
            <a:extLst>
              <a:ext uri="{FF2B5EF4-FFF2-40B4-BE49-F238E27FC236}">
                <a16:creationId xmlns:a16="http://schemas.microsoft.com/office/drawing/2014/main" id="{0C5C0231-A162-4E3E-AA4A-529D0959B7D4}"/>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248636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097243" y="6174244"/>
            <a:ext cx="2949708" cy="316690"/>
          </a:xfrm>
          <a:prstGeom prst="rect">
            <a:avLst/>
          </a:prstGeom>
          <a:noFill/>
        </p:spPr>
        <p:txBody>
          <a:bodyPr wrap="square" rtlCol="0">
            <a:spAutoFit/>
          </a:bodyPr>
          <a:lstStyle/>
          <a:p>
            <a:pPr>
              <a:lnSpc>
                <a:spcPct val="90000"/>
              </a:lnSpc>
            </a:pPr>
            <a:r>
              <a:rPr lang="en-US" sz="1620" dirty="0"/>
              <a:t>Used contiguity edges only</a:t>
            </a:r>
          </a:p>
        </p:txBody>
      </p:sp>
      <p:cxnSp>
        <p:nvCxnSpPr>
          <p:cNvPr id="9" name="Straight Connector 8">
            <a:extLst>
              <a:ext uri="{FF2B5EF4-FFF2-40B4-BE49-F238E27FC236}">
                <a16:creationId xmlns:a16="http://schemas.microsoft.com/office/drawing/2014/main" id="{9BC4E983-97FD-4B70-8974-A4C89488FD20}"/>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Title 1">
            <a:extLst>
              <a:ext uri="{FF2B5EF4-FFF2-40B4-BE49-F238E27FC236}">
                <a16:creationId xmlns:a16="http://schemas.microsoft.com/office/drawing/2014/main" id="{4F1F3BB7-40D6-412B-8B44-ED9D6D805EFB}"/>
              </a:ext>
            </a:extLst>
          </p:cNvPr>
          <p:cNvSpPr txBox="1">
            <a:spLocks/>
          </p:cNvSpPr>
          <p:nvPr/>
        </p:nvSpPr>
        <p:spPr>
          <a:xfrm>
            <a:off x="767644" y="57443"/>
            <a:ext cx="10769600" cy="1143000"/>
          </a:xfrm>
          <a:prstGeom prst="rect">
            <a:avLst/>
          </a:prstGeom>
        </p:spPr>
        <p:txBody>
          <a:bodyPr vert="horz" lIns="121920" tIns="60960" rIns="121920" bIns="60960" rtlCol="0" anchor="ctr">
            <a:normAutofit fontScale="925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Local Indicators of Spatial Autocorrelation (LISA)</a:t>
            </a:r>
          </a:p>
        </p:txBody>
      </p:sp>
      <p:sp>
        <p:nvSpPr>
          <p:cNvPr id="6" name="Slide Number Placeholder 5">
            <a:extLst>
              <a:ext uri="{FF2B5EF4-FFF2-40B4-BE49-F238E27FC236}">
                <a16:creationId xmlns:a16="http://schemas.microsoft.com/office/drawing/2014/main" id="{B5D995D4-DB74-48CF-8904-C45E6E80E2A3}"/>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14" name="Content Placeholder 8" descr="LISA results">
            <a:extLst>
              <a:ext uri="{FF2B5EF4-FFF2-40B4-BE49-F238E27FC236}">
                <a16:creationId xmlns:a16="http://schemas.microsoft.com/office/drawing/2014/main" id="{1733D4CD-420F-4E01-9F3C-BD8EE29FB521}"/>
              </a:ext>
            </a:extLst>
          </p:cNvPr>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80391" y="1550702"/>
            <a:ext cx="6216852" cy="4532489"/>
          </a:xfrm>
          <a:prstGeom prst="rect">
            <a:avLst/>
          </a:prstGeom>
        </p:spPr>
      </p:pic>
    </p:spTree>
    <p:extLst>
      <p:ext uri="{BB962C8B-B14F-4D97-AF65-F5344CB8AC3E}">
        <p14:creationId xmlns:p14="http://schemas.microsoft.com/office/powerpoint/2010/main" val="2840168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8405" y="1509294"/>
            <a:ext cx="9318543" cy="5192881"/>
          </a:xfrm>
        </p:spPr>
        <p:txBody>
          <a:bodyPr>
            <a:normAutofit/>
          </a:bodyPr>
          <a:lstStyle/>
          <a:p>
            <a:pPr>
              <a:buFont typeface="Courier New" panose="02070309020205020404" pitchFamily="49" charset="0"/>
              <a:buChar char="o"/>
            </a:pPr>
            <a:r>
              <a:rPr lang="en-US" dirty="0"/>
              <a:t>This is a local version of the </a:t>
            </a:r>
            <a:r>
              <a:rPr lang="en-US" dirty="0" err="1"/>
              <a:t>Getis</a:t>
            </a:r>
            <a:r>
              <a:rPr lang="en-US" dirty="0"/>
              <a:t>-Ord General G</a:t>
            </a:r>
          </a:p>
          <a:p>
            <a:pPr>
              <a:buFont typeface="Courier New" panose="02070309020205020404" pitchFamily="49" charset="0"/>
              <a:buChar char="o"/>
            </a:pPr>
            <a:r>
              <a:rPr lang="en-US" dirty="0"/>
              <a:t>It looks for local clustering of high or low values </a:t>
            </a:r>
          </a:p>
          <a:p>
            <a:pPr>
              <a:buFont typeface="Courier New" panose="02070309020205020404" pitchFamily="49" charset="0"/>
              <a:buChar char="o"/>
            </a:pPr>
            <a:r>
              <a:rPr lang="en-US" b="1" dirty="0">
                <a:solidFill>
                  <a:srgbClr val="E3874F"/>
                </a:solidFill>
              </a:rPr>
              <a:t>Hot Spot: </a:t>
            </a:r>
            <a:r>
              <a:rPr lang="en-US" dirty="0"/>
              <a:t>Cluster of high values</a:t>
            </a:r>
          </a:p>
          <a:p>
            <a:pPr>
              <a:buFont typeface="Courier New" panose="02070309020205020404" pitchFamily="49" charset="0"/>
              <a:buChar char="o"/>
            </a:pPr>
            <a:r>
              <a:rPr lang="en-US" b="1" dirty="0">
                <a:solidFill>
                  <a:srgbClr val="E3874F"/>
                </a:solidFill>
              </a:rPr>
              <a:t>Cold Spot: </a:t>
            </a:r>
            <a:r>
              <a:rPr lang="en-US" dirty="0"/>
              <a:t>Cluster of low values</a:t>
            </a:r>
          </a:p>
          <a:p>
            <a:pPr>
              <a:buFont typeface="Courier New" panose="02070309020205020404" pitchFamily="49" charset="0"/>
              <a:buChar char="o"/>
            </a:pPr>
            <a:r>
              <a:rPr lang="en-US" u="sng" dirty="0"/>
              <a:t>Null Hypothesis</a:t>
            </a:r>
            <a:r>
              <a:rPr lang="en-US" dirty="0"/>
              <a:t>: No local cluster of high or low values</a:t>
            </a:r>
          </a:p>
          <a:p>
            <a:pPr>
              <a:buFont typeface="Courier New" panose="02070309020205020404" pitchFamily="49" charset="0"/>
              <a:buChar char="o"/>
            </a:pPr>
            <a:r>
              <a:rPr lang="en-US" u="sng" dirty="0"/>
              <a:t>Alternative Hypothesis</a:t>
            </a:r>
            <a:r>
              <a:rPr lang="en-US" dirty="0"/>
              <a:t>: Local cluster of high or low values</a:t>
            </a:r>
          </a:p>
          <a:p>
            <a:pPr>
              <a:buFont typeface="Courier New" panose="02070309020205020404" pitchFamily="49" charset="0"/>
              <a:buChar char="o"/>
            </a:pPr>
            <a:r>
              <a:rPr lang="en-US" dirty="0"/>
              <a:t>Can use Euclidean Distance or Manhattan Distance</a:t>
            </a:r>
          </a:p>
          <a:p>
            <a:pPr>
              <a:buFont typeface="Courier New" panose="02070309020205020404" pitchFamily="49" charset="0"/>
              <a:buChar char="o"/>
            </a:pPr>
            <a:r>
              <a:rPr lang="en-US" dirty="0"/>
              <a:t>Must specify  a conceptualization of spatial relationships</a:t>
            </a:r>
          </a:p>
          <a:p>
            <a:pPr>
              <a:buFont typeface="Courier New" panose="02070309020205020404" pitchFamily="49" charset="0"/>
              <a:buChar char="o"/>
            </a:pPr>
            <a:r>
              <a:rPr lang="en-US" dirty="0"/>
              <a:t>Larger z-score = clustering of high values</a:t>
            </a:r>
          </a:p>
          <a:p>
            <a:pPr>
              <a:buFont typeface="Courier New" panose="02070309020205020404" pitchFamily="49" charset="0"/>
              <a:buChar char="o"/>
            </a:pPr>
            <a:r>
              <a:rPr lang="en-US" dirty="0"/>
              <a:t>Smaller z-score = clustering of low values</a:t>
            </a:r>
          </a:p>
        </p:txBody>
      </p:sp>
      <p:cxnSp>
        <p:nvCxnSpPr>
          <p:cNvPr id="6" name="Straight Connector 5">
            <a:extLst>
              <a:ext uri="{FF2B5EF4-FFF2-40B4-BE49-F238E27FC236}">
                <a16:creationId xmlns:a16="http://schemas.microsoft.com/office/drawing/2014/main" id="{08BD1F0E-62CD-4CAB-818A-4ACCB73A466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EB0EFE9A-7135-4759-84F6-9F8102EB3069}"/>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Hot Spot Analysis (</a:t>
            </a:r>
            <a:r>
              <a:rPr lang="en-US" sz="4267" dirty="0" err="1">
                <a:solidFill>
                  <a:srgbClr val="7030A0"/>
                </a:solidFill>
              </a:rPr>
              <a:t>Getis</a:t>
            </a:r>
            <a:r>
              <a:rPr lang="en-US" sz="4267" dirty="0">
                <a:solidFill>
                  <a:srgbClr val="7030A0"/>
                </a:solidFill>
              </a:rPr>
              <a:t>-Ord Gi*)</a:t>
            </a:r>
          </a:p>
        </p:txBody>
      </p:sp>
      <p:sp>
        <p:nvSpPr>
          <p:cNvPr id="2" name="Slide Number Placeholder 1">
            <a:extLst>
              <a:ext uri="{FF2B5EF4-FFF2-40B4-BE49-F238E27FC236}">
                <a16:creationId xmlns:a16="http://schemas.microsoft.com/office/drawing/2014/main" id="{6A162529-7298-4E8F-8EE5-833029D6680A}"/>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extLst>
      <p:ext uri="{BB962C8B-B14F-4D97-AF65-F5344CB8AC3E}">
        <p14:creationId xmlns:p14="http://schemas.microsoft.com/office/powerpoint/2010/main" val="8445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9097243" y="6174244"/>
            <a:ext cx="2949708" cy="316690"/>
          </a:xfrm>
          <a:prstGeom prst="rect">
            <a:avLst/>
          </a:prstGeom>
          <a:noFill/>
        </p:spPr>
        <p:txBody>
          <a:bodyPr wrap="square" rtlCol="0">
            <a:spAutoFit/>
          </a:bodyPr>
          <a:lstStyle/>
          <a:p>
            <a:pPr>
              <a:lnSpc>
                <a:spcPct val="90000"/>
              </a:lnSpc>
            </a:pPr>
            <a:r>
              <a:rPr lang="en-US" sz="1620" dirty="0"/>
              <a:t>Used contiguity edges only</a:t>
            </a:r>
          </a:p>
        </p:txBody>
      </p:sp>
      <p:cxnSp>
        <p:nvCxnSpPr>
          <p:cNvPr id="10" name="Straight Connector 9">
            <a:extLst>
              <a:ext uri="{FF2B5EF4-FFF2-40B4-BE49-F238E27FC236}">
                <a16:creationId xmlns:a16="http://schemas.microsoft.com/office/drawing/2014/main" id="{FE528892-48E4-493F-BB1E-5DA10E1C0CCC}"/>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A1E6590-3AD2-420A-AA3A-7FC52D5AD7F3}"/>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Hot Spot Analysis (</a:t>
            </a:r>
            <a:r>
              <a:rPr lang="en-US" sz="4267" dirty="0" err="1">
                <a:solidFill>
                  <a:srgbClr val="7030A0"/>
                </a:solidFill>
              </a:rPr>
              <a:t>Getis</a:t>
            </a:r>
            <a:r>
              <a:rPr lang="en-US" sz="4267" dirty="0">
                <a:solidFill>
                  <a:srgbClr val="7030A0"/>
                </a:solidFill>
              </a:rPr>
              <a:t>-Ord Gi*)</a:t>
            </a:r>
          </a:p>
        </p:txBody>
      </p:sp>
      <p:sp>
        <p:nvSpPr>
          <p:cNvPr id="9" name="Slide Number Placeholder 8">
            <a:extLst>
              <a:ext uri="{FF2B5EF4-FFF2-40B4-BE49-F238E27FC236}">
                <a16:creationId xmlns:a16="http://schemas.microsoft.com/office/drawing/2014/main" id="{45427297-EBB2-4FA7-BEE1-4CAED03AB675}"/>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12" name="Picture 11" descr="Hot spot analysis example">
            <a:extLst>
              <a:ext uri="{FF2B5EF4-FFF2-40B4-BE49-F238E27FC236}">
                <a16:creationId xmlns:a16="http://schemas.microsoft.com/office/drawing/2014/main" id="{208B4564-E7C0-4290-A0F0-D45C4A0F1FEC}"/>
              </a:ext>
            </a:extLst>
          </p:cNvPr>
          <p:cNvPicPr>
            <a:picLocks noChangeAspect="1"/>
          </p:cNvPicPr>
          <p:nvPr/>
        </p:nvPicPr>
        <p:blipFill>
          <a:blip r:embed="rId3"/>
          <a:stretch>
            <a:fillRect/>
          </a:stretch>
        </p:blipFill>
        <p:spPr>
          <a:xfrm>
            <a:off x="2931809" y="1458945"/>
            <a:ext cx="5990291" cy="4608799"/>
          </a:xfrm>
          <a:prstGeom prst="rect">
            <a:avLst/>
          </a:prstGeom>
        </p:spPr>
      </p:pic>
      <p:sp>
        <p:nvSpPr>
          <p:cNvPr id="13" name="TextBox 12">
            <a:extLst>
              <a:ext uri="{FF2B5EF4-FFF2-40B4-BE49-F238E27FC236}">
                <a16:creationId xmlns:a16="http://schemas.microsoft.com/office/drawing/2014/main" id="{3E6B787E-EA30-41D9-813A-F73B21E64836}"/>
              </a:ext>
            </a:extLst>
          </p:cNvPr>
          <p:cNvSpPr txBox="1"/>
          <p:nvPr/>
        </p:nvSpPr>
        <p:spPr>
          <a:xfrm>
            <a:off x="1036090" y="6267137"/>
            <a:ext cx="3086905" cy="391517"/>
          </a:xfrm>
          <a:prstGeom prst="rect">
            <a:avLst/>
          </a:prstGeom>
          <a:noFill/>
        </p:spPr>
        <p:txBody>
          <a:bodyPr wrap="square" rtlCol="0">
            <a:spAutoFit/>
          </a:bodyPr>
          <a:lstStyle/>
          <a:p>
            <a:pPr>
              <a:lnSpc>
                <a:spcPct val="90000"/>
              </a:lnSpc>
            </a:pPr>
            <a:r>
              <a:rPr lang="en-US" sz="2160" dirty="0"/>
              <a:t>Map by Caleb Alt</a:t>
            </a:r>
          </a:p>
        </p:txBody>
      </p:sp>
    </p:spTree>
    <p:extLst>
      <p:ext uri="{BB962C8B-B14F-4D97-AF65-F5344CB8AC3E}">
        <p14:creationId xmlns:p14="http://schemas.microsoft.com/office/powerpoint/2010/main" val="131467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3267</Words>
  <Application>Microsoft Office PowerPoint</Application>
  <PresentationFormat>Widescreen</PresentationFormat>
  <Paragraphs>288</Paragraphs>
  <Slides>21</Slides>
  <Notes>19</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等线</vt:lpstr>
      <vt:lpstr>等线 Light</vt:lpstr>
      <vt:lpstr>宋体</vt:lpstr>
      <vt:lpstr>Arial</vt:lpstr>
      <vt:lpstr>Consolas</vt:lpstr>
      <vt:lpstr>Courier New</vt:lpstr>
      <vt:lpstr>pt sans</vt:lpstr>
      <vt:lpstr>Office Theme</vt:lpstr>
      <vt:lpstr>Global Spatial Autocorrelation</vt:lpstr>
      <vt:lpstr>Tobler’s First Law of Geography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Conceptualization of Spatial Relationships</vt:lpstr>
      <vt:lpstr>PowerPoint Presentation</vt:lpstr>
      <vt:lpstr>PowerPoint Presentation</vt:lpstr>
      <vt:lpstr>PowerPoint Presentation</vt:lpstr>
      <vt:lpstr>Local Spatial Autocorrelation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Wu, Yanan</dc:creator>
  <cp:lastModifiedBy>Wu, Yanan</cp:lastModifiedBy>
  <cp:revision>1</cp:revision>
  <dcterms:created xsi:type="dcterms:W3CDTF">2026-02-23T23:47:02Z</dcterms:created>
  <dcterms:modified xsi:type="dcterms:W3CDTF">2026-02-23T23:47:23Z</dcterms:modified>
</cp:coreProperties>
</file>