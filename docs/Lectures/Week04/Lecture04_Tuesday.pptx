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602" r:id="rId2"/>
    <p:sldId id="692" r:id="rId3"/>
    <p:sldId id="696" r:id="rId4"/>
    <p:sldId id="697" r:id="rId5"/>
    <p:sldId id="698" r:id="rId6"/>
    <p:sldId id="699" r:id="rId7"/>
    <p:sldId id="700" r:id="rId8"/>
    <p:sldId id="701" r:id="rId9"/>
    <p:sldId id="286" r:id="rId10"/>
    <p:sldId id="702" r:id="rId11"/>
    <p:sldId id="607" r:id="rId12"/>
    <p:sldId id="703" r:id="rId13"/>
    <p:sldId id="300" r:id="rId14"/>
    <p:sldId id="305" r:id="rId15"/>
    <p:sldId id="704"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6F3A41-AD53-47CC-9649-A787DEC6B5FB}" type="datetimeFigureOut">
              <a:rPr lang="zh-CN" altLang="en-US" smtClean="0"/>
              <a:t>2026/1/26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93E0EA-55BA-4007-8A42-4799D5C407C6}" type="slidenum">
              <a:rPr lang="zh-CN" altLang="en-US" smtClean="0"/>
              <a:t>‹#›</a:t>
            </a:fld>
            <a:endParaRPr lang="zh-CN" altLang="en-US"/>
          </a:p>
        </p:txBody>
      </p:sp>
    </p:spTree>
    <p:extLst>
      <p:ext uri="{BB962C8B-B14F-4D97-AF65-F5344CB8AC3E}">
        <p14:creationId xmlns:p14="http://schemas.microsoft.com/office/powerpoint/2010/main" val="646087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4965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266639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Trench warfare</a:t>
            </a:r>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251268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Trench warfare</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719056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Trench warfare</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428353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Trench warfare</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731003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Trench warfare</a:t>
            </a:r>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960783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583728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Wavelengths of the electromagnetic spectrum in micrometers. One micrometer equals one-millionth of a meter. Sunlight is made up of different wavelengths. The human eye is sensitive to only some of these wavelengths, the ones we see in the colors of the rainbow. </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10</a:t>
            </a:fld>
            <a:endParaRPr lang="en-US"/>
          </a:p>
        </p:txBody>
      </p:sp>
    </p:spTree>
    <p:extLst>
      <p:ext uri="{BB962C8B-B14F-4D97-AF65-F5344CB8AC3E}">
        <p14:creationId xmlns:p14="http://schemas.microsoft.com/office/powerpoint/2010/main" val="1117780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640550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spectral reflectance</a:t>
            </a:r>
            <a:r>
              <a:rPr lang="en-US" baseline="0" dirty="0"/>
              <a:t> of this maple leaf further. </a:t>
            </a:r>
          </a:p>
          <a:p>
            <a:endParaRPr lang="en-US" baseline="0" dirty="0"/>
          </a:p>
          <a:p>
            <a:r>
              <a:rPr lang="en-US" baseline="0" dirty="0"/>
              <a:t>Here, I have color coded different spectral ranges with different color “</a:t>
            </a:r>
            <a:r>
              <a:rPr lang="en-US" baseline="0" dirty="0" err="1"/>
              <a:t>Xs</a:t>
            </a:r>
            <a:r>
              <a:rPr lang="en-US" baseline="0" dirty="0"/>
              <a:t>.”</a:t>
            </a:r>
          </a:p>
          <a:p>
            <a:endParaRPr lang="en-US" baseline="0" dirty="0"/>
          </a:p>
          <a:p>
            <a:r>
              <a:rPr lang="en-US" baseline="0" dirty="0"/>
              <a:t>This leaf tends to absorb as opposed to reflect a lot of visible radiation. However, it absorbs more blue and red in comparison to green. This is why leaves appear green to us. This absorption results from the pigments in the leaf, such as chlorophyll, that interact with Sunlight in the process of photosynthesis to make energy and sugars for the plant. During the winter, when the tree is not photosynthetically active, the leaf will no longer appear green to us. </a:t>
            </a:r>
          </a:p>
          <a:p>
            <a:endParaRPr lang="en-US" baseline="0" dirty="0"/>
          </a:p>
          <a:p>
            <a:r>
              <a:rPr lang="en-US" baseline="0" dirty="0"/>
              <a:t>Green, healthy, and photosynthetically active leaves tend to scatter or reflect a larger proportion of incident near infrared radiation than visible light due to how this radiation interacts with cell walls. So, if we could sense near infrared radiation, a leaf would appear to be near infrared as opposed to green. However, this has no physical meaning since we can’t see near infrared radiation. </a:t>
            </a:r>
          </a:p>
          <a:p>
            <a:endParaRPr lang="en-US" baseline="0" dirty="0"/>
          </a:p>
          <a:p>
            <a:r>
              <a:rPr lang="en-US" baseline="0" dirty="0"/>
              <a:t>In the shortwave infrared range there are some absorption features associated with water in the plant tissue. </a:t>
            </a:r>
          </a:p>
          <a:p>
            <a:endParaRPr lang="en-US" baseline="0" dirty="0"/>
          </a:p>
          <a:p>
            <a:r>
              <a:rPr lang="en-US" baseline="0" dirty="0"/>
              <a:t>This graph highlights the wavelength specific nature of spectral reflectance.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912248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provides another comparison.</a:t>
            </a:r>
            <a:r>
              <a:rPr lang="en-US" baseline="0" dirty="0"/>
              <a:t> </a:t>
            </a:r>
          </a:p>
          <a:p>
            <a:endParaRPr lang="en-US" baseline="0" dirty="0"/>
          </a:p>
          <a:p>
            <a:r>
              <a:rPr lang="en-US" baseline="0" dirty="0"/>
              <a:t>Soil tends to show greater spectral reflectance in the shortwave infrared range in comparison to near infrared or visible wavelengths, a pattern that is much different from green vegetation. </a:t>
            </a:r>
          </a:p>
          <a:p>
            <a:endParaRPr lang="en-US" baseline="0" dirty="0"/>
          </a:p>
          <a:p>
            <a:r>
              <a:rPr lang="en-US" baseline="0" dirty="0"/>
              <a:t>Water tends to absorb most near infrared and shortwave infrared radiation. </a:t>
            </a:r>
          </a:p>
          <a:p>
            <a:endParaRPr lang="en-US" baseline="0" dirty="0"/>
          </a:p>
          <a:p>
            <a:r>
              <a:rPr lang="en-US" baseline="0" dirty="0"/>
              <a:t>So, using these patterns, we could potentially differentiate these different surface materials. </a:t>
            </a:r>
          </a:p>
          <a:p>
            <a:endParaRPr lang="en-US" baseline="0" dirty="0"/>
          </a:p>
          <a:p>
            <a:r>
              <a:rPr lang="en-US" baseline="0" dirty="0"/>
              <a:t>You may notice some small troughs in the shortwave range for soil that align with the deeper troughs for green vegetation. This results from water in the soil, just as the troughs in the green vegetation curve relate to water in the plant tissue.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662985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159307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975C-E12A-2B04-980A-8F0ADECEFC58}"/>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356ECD77-32A9-E50E-7BE8-F833C67BB5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CD13160F-80B8-2261-6364-3861D6327205}"/>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2F5D7AEB-47E0-EEE7-80E7-852AC5EEDDC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D8F4E4F-7754-9F05-C84E-1686A4CD29CE}"/>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2852349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44CB-5FA8-2BF8-1BE5-65D73CB5090D}"/>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9C42D67-7DE9-51DA-6434-F5F06A747E65}"/>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CB1CE13-C27D-0C58-29C5-CCDBF91541D8}"/>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02C5CFAB-60B7-4AB0-6611-05ED9BD3C07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64DA6AD-2F5F-8839-ED35-9DB0A18F5B96}"/>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350983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9A92A-8BFD-CB40-D67D-9744382B7921}"/>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436405F8-9DC3-1EB5-8D63-B314FA0C0C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D6D647E7-59ED-12F6-C039-73403DA5CBBF}"/>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3D72C6FB-8324-52ED-5B25-011FE0C92F7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DDFC15C-2694-1D18-6B6A-5BBE9408CE21}"/>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1916809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7A29E-C442-3072-B64D-75F27CD83E7C}"/>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483A0878-13C6-6CDC-B071-1CEDFB5DA4F1}"/>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D3993845-AEC0-AA6D-FAF3-1A18C9BD69B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6C6F47C7-66EE-6432-C4A7-E51C4EBBFC78}"/>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6" name="Footer Placeholder 5">
            <a:extLst>
              <a:ext uri="{FF2B5EF4-FFF2-40B4-BE49-F238E27FC236}">
                <a16:creationId xmlns:a16="http://schemas.microsoft.com/office/drawing/2014/main" id="{0D127896-B99D-0DB9-3DFD-AFED6DF9B2E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BE092395-D8CC-6E18-A255-69E4F092D2C2}"/>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2172587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33AC-8602-B7F3-DFA3-4EB489D8C7BA}"/>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F744E6B4-F068-2081-D5FB-1A57AB9E4A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17993FA3-8855-3A34-480B-C9000178ACFA}"/>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E3F5468D-4458-0F44-C40F-FD63161706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DC8E64BF-1535-8BFA-829C-A5F4D894D367}"/>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FDE1F0C2-A6E3-ECCD-CFEB-BEF129DFF78E}"/>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8" name="Footer Placeholder 7">
            <a:extLst>
              <a:ext uri="{FF2B5EF4-FFF2-40B4-BE49-F238E27FC236}">
                <a16:creationId xmlns:a16="http://schemas.microsoft.com/office/drawing/2014/main" id="{DB17F2D6-BC0D-1BA0-602C-6762C62DD309}"/>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4221F057-C898-69A2-EE6E-46DB5DA6AC72}"/>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4027217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5385-8920-6008-07C3-1F2B4A776731}"/>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4122CE47-3E41-9A8F-5019-66ACC1CB434F}"/>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4" name="Footer Placeholder 3">
            <a:extLst>
              <a:ext uri="{FF2B5EF4-FFF2-40B4-BE49-F238E27FC236}">
                <a16:creationId xmlns:a16="http://schemas.microsoft.com/office/drawing/2014/main" id="{3372BC2C-B595-1922-0720-F12275919256}"/>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AF58C0CD-27CE-E615-6072-153ACC63BC17}"/>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344673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C3041-F43C-7779-F53E-438D9F326DC9}"/>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3" name="Footer Placeholder 2">
            <a:extLst>
              <a:ext uri="{FF2B5EF4-FFF2-40B4-BE49-F238E27FC236}">
                <a16:creationId xmlns:a16="http://schemas.microsoft.com/office/drawing/2014/main" id="{CCDD293C-8700-7C6D-5762-939322DA1822}"/>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3433319D-27B0-AF45-F9F8-FD4E838A58F4}"/>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693813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7395-2B5B-0377-23B5-33A6B5EC0E5D}"/>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AB45B7F-1B3C-2030-C7C6-13EF035D9C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54D2B02C-C556-3AF2-866D-0C9CFEDFC3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6AFD6ECB-03C9-A4F1-96DB-C58C7B95DB99}"/>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6" name="Footer Placeholder 5">
            <a:extLst>
              <a:ext uri="{FF2B5EF4-FFF2-40B4-BE49-F238E27FC236}">
                <a16:creationId xmlns:a16="http://schemas.microsoft.com/office/drawing/2014/main" id="{0AD21FE1-BF7A-B62E-538B-FCE65C20375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47B1DADF-A941-5CE5-B3D5-A8F6E0E6E99A}"/>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61821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1AD0-36B1-9E46-6DB9-6C14F36A2492}"/>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AF52D2AE-A817-9909-C6B2-1DBC889F12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C64FFC6E-A72B-7932-B05A-ADAAEC5428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631EDA00-2E44-DB28-17AA-FCA376BD3A4B}"/>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6" name="Footer Placeholder 5">
            <a:extLst>
              <a:ext uri="{FF2B5EF4-FFF2-40B4-BE49-F238E27FC236}">
                <a16:creationId xmlns:a16="http://schemas.microsoft.com/office/drawing/2014/main" id="{7CB0DB56-1C74-2EBC-A7E5-EBA18CE49202}"/>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3F9D9BE0-D2E8-43D1-3D27-6E895DE3A9F3}"/>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4251220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66B17-5DD8-E6AD-9D65-E1F6336380C1}"/>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2CBC2F93-1B7F-DF96-42F6-38A47F1E6DC2}"/>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D92A007-F488-5B58-8C5E-A747C1BBD785}"/>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29C36904-1E97-FECF-BB1F-A96F862048F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DBF6A50-4A73-3B9A-9601-0DE7D859C079}"/>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3720463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BECF4E-E2DD-8831-D68D-67E344C1BEA9}"/>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4E95EB0-262A-AAE3-11FC-58E903FB94DA}"/>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27EA134-1DA8-A635-92CC-37B7A749353B}"/>
              </a:ext>
            </a:extLst>
          </p:cNvPr>
          <p:cNvSpPr>
            <a:spLocks noGrp="1"/>
          </p:cNvSpPr>
          <p:nvPr>
            <p:ph type="dt" sz="half" idx="10"/>
          </p:nvPr>
        </p:nvSpPr>
        <p:spPr/>
        <p:txBody>
          <a:body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EB90C777-BEC9-0F23-2086-364EE19BBB8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B540247-B802-DA32-CF37-0557B9BEC09B}"/>
              </a:ext>
            </a:extLst>
          </p:cNvPr>
          <p:cNvSpPr>
            <a:spLocks noGrp="1"/>
          </p:cNvSpPr>
          <p:nvPr>
            <p:ph type="sldNum" sz="quarter" idx="12"/>
          </p:nvPr>
        </p:nvSpPr>
        <p:spPr/>
        <p:txBody>
          <a:body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1377047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hree with Third as Accent">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BB7A7B45-8A6F-4051-9680-215D1BD8529C}"/>
              </a:ext>
            </a:extLst>
          </p:cNvPr>
          <p:cNvSpPr>
            <a:spLocks noGrp="1"/>
          </p:cNvSpPr>
          <p:nvPr>
            <p:ph type="title" hasCustomPrompt="1"/>
          </p:nvPr>
        </p:nvSpPr>
        <p:spPr>
          <a:xfrm>
            <a:off x="457200" y="147328"/>
            <a:ext cx="11277600" cy="993555"/>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1979255"/>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1" y="3599449"/>
            <a:ext cx="11397916" cy="1309435"/>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457201" y="5293893"/>
            <a:ext cx="11277601" cy="822159"/>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
        <p:nvSpPr>
          <p:cNvPr id="10" name="Appendix Link">
            <a:extLst>
              <a:ext uri="{FF2B5EF4-FFF2-40B4-BE49-F238E27FC236}">
                <a16:creationId xmlns:a16="http://schemas.microsoft.com/office/drawing/2014/main" id="{06D96B1E-9D79-4ED9-967D-10BA257CF30B}"/>
              </a:ext>
            </a:extLst>
          </p:cNvPr>
          <p:cNvSpPr>
            <a:spLocks noGrp="1"/>
          </p:cNvSpPr>
          <p:nvPr>
            <p:ph type="body" sz="quarter" idx="12" hasCustomPrompt="1"/>
          </p:nvPr>
        </p:nvSpPr>
        <p:spPr>
          <a:xfrm>
            <a:off x="3961691" y="6266449"/>
            <a:ext cx="4268619" cy="306803"/>
          </a:xfrm>
        </p:spPr>
        <p:txBody>
          <a:bodyPr anchor="b">
            <a:noAutofit/>
          </a:bodyPr>
          <a:lstStyle>
            <a:lvl1pPr algn="ctr">
              <a:defRPr sz="1200"/>
            </a:lvl1pPr>
          </a:lstStyle>
          <a:p>
            <a:pPr lvl="0"/>
            <a:r>
              <a:rPr lang="en-US" dirty="0"/>
              <a:t>Add text alternative link, if needed.</a:t>
            </a:r>
          </a:p>
        </p:txBody>
      </p:sp>
      <p:sp>
        <p:nvSpPr>
          <p:cNvPr id="11" name="Image Credit">
            <a:extLst>
              <a:ext uri="{FF2B5EF4-FFF2-40B4-BE49-F238E27FC236}">
                <a16:creationId xmlns:a16="http://schemas.microsoft.com/office/drawing/2014/main" id="{22D3DFF2-A432-439E-808E-198EFC11B359}"/>
              </a:ext>
            </a:extLst>
          </p:cNvPr>
          <p:cNvSpPr>
            <a:spLocks noGrp="1"/>
          </p:cNvSpPr>
          <p:nvPr>
            <p:ph type="body" sz="quarter" idx="13" hasCustomPrompt="1"/>
          </p:nvPr>
        </p:nvSpPr>
        <p:spPr>
          <a:xfrm>
            <a:off x="2082801" y="6684964"/>
            <a:ext cx="92964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312818527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120B8-E504-F4C2-A374-3E8A322ED4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A88CE81-A24B-39D0-F9D9-8A4C1BD5A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D3C60DA-8621-5D90-C2C5-9D9400FD89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16D53D-A0D5-47E8-B58E-7B4BF5F64154}" type="datetimeFigureOut">
              <a:rPr lang="zh-CN" altLang="en-US" smtClean="0"/>
              <a:t>2026/1/26</a:t>
            </a:fld>
            <a:endParaRPr lang="zh-CN" altLang="en-US"/>
          </a:p>
        </p:txBody>
      </p:sp>
      <p:sp>
        <p:nvSpPr>
          <p:cNvPr id="5" name="Footer Placeholder 4">
            <a:extLst>
              <a:ext uri="{FF2B5EF4-FFF2-40B4-BE49-F238E27FC236}">
                <a16:creationId xmlns:a16="http://schemas.microsoft.com/office/drawing/2014/main" id="{EBF17601-C9FC-A001-7F5F-2E6D7558A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3BE1C9B8-E466-51ED-BAF6-48E04439EA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3D0E0B-8999-479F-946D-CCE718902014}" type="slidenum">
              <a:rPr lang="zh-CN" altLang="en-US" smtClean="0"/>
              <a:t>‹#›</a:t>
            </a:fld>
            <a:endParaRPr lang="zh-CN" altLang="en-US"/>
          </a:p>
        </p:txBody>
      </p:sp>
    </p:spTree>
    <p:extLst>
      <p:ext uri="{BB962C8B-B14F-4D97-AF65-F5344CB8AC3E}">
        <p14:creationId xmlns:p14="http://schemas.microsoft.com/office/powerpoint/2010/main" val="11293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seos-project.eu/modules/classification/classification-c01-p05.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9721" y="211704"/>
            <a:ext cx="10668000" cy="2066363"/>
          </a:xfrm>
        </p:spPr>
        <p:txBody>
          <a:bodyPr>
            <a:normAutofit/>
          </a:bodyPr>
          <a:lstStyle/>
          <a:p>
            <a:r>
              <a:rPr lang="en-US" sz="4800" dirty="0"/>
              <a:t>GEOG 3403: Geographic Information Systems II</a:t>
            </a:r>
          </a:p>
        </p:txBody>
      </p:sp>
      <p:sp>
        <p:nvSpPr>
          <p:cNvPr id="6" name="Subtitle 2"/>
          <p:cNvSpPr txBox="1">
            <a:spLocks/>
          </p:cNvSpPr>
          <p:nvPr/>
        </p:nvSpPr>
        <p:spPr>
          <a:xfrm>
            <a:off x="2285624" y="3956682"/>
            <a:ext cx="7680960" cy="1561996"/>
          </a:xfrm>
          <a:prstGeom prst="rect">
            <a:avLst/>
          </a:prstGeom>
        </p:spPr>
        <p:txBody>
          <a:bodyPr vert="horz" lIns="109728" tIns="54864" rIns="109728" bIns="54864"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0666" dirty="0">
                <a:solidFill>
                  <a:schemeClr val="tx1"/>
                </a:solidFill>
              </a:rPr>
              <a:t>Y</a:t>
            </a:r>
            <a:r>
              <a:rPr lang="en-US" altLang="zh-CN" sz="10666" dirty="0">
                <a:solidFill>
                  <a:schemeClr val="tx1"/>
                </a:solidFill>
              </a:rPr>
              <a:t>anan Wu</a:t>
            </a:r>
            <a:r>
              <a:rPr lang="en-US" sz="10666" dirty="0">
                <a:solidFill>
                  <a:schemeClr val="tx1"/>
                </a:solidFill>
              </a:rPr>
              <a:t>, PhD</a:t>
            </a:r>
          </a:p>
          <a:p>
            <a:r>
              <a:rPr lang="en-US" sz="10666" dirty="0">
                <a:solidFill>
                  <a:schemeClr val="tx1"/>
                </a:solidFill>
              </a:rPr>
              <a:t>Assistant Professor</a:t>
            </a:r>
          </a:p>
          <a:p>
            <a:r>
              <a:rPr lang="en-US" sz="10666" dirty="0">
                <a:solidFill>
                  <a:schemeClr val="tx1"/>
                </a:solidFill>
              </a:rPr>
              <a:t>Department of Geography</a:t>
            </a:r>
          </a:p>
          <a:p>
            <a:endParaRPr lang="en-US" sz="3840" dirty="0"/>
          </a:p>
        </p:txBody>
      </p:sp>
      <p:cxnSp>
        <p:nvCxnSpPr>
          <p:cNvPr id="15" name="Straight Connector 14"/>
          <p:cNvCxnSpPr/>
          <p:nvPr/>
        </p:nvCxnSpPr>
        <p:spPr>
          <a:xfrm>
            <a:off x="812800" y="557676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3373497" y="5888096"/>
            <a:ext cx="373004" cy="641509"/>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p>
        </p:txBody>
      </p:sp>
      <p:sp>
        <p:nvSpPr>
          <p:cNvPr id="4" name="TextBox 3">
            <a:extLst>
              <a:ext uri="{FF2B5EF4-FFF2-40B4-BE49-F238E27FC236}">
                <a16:creationId xmlns:a16="http://schemas.microsoft.com/office/drawing/2014/main" id="{9C8852E4-0F7F-41A7-9B32-F40B4D3A753B}"/>
              </a:ext>
            </a:extLst>
          </p:cNvPr>
          <p:cNvSpPr txBox="1"/>
          <p:nvPr/>
        </p:nvSpPr>
        <p:spPr>
          <a:xfrm>
            <a:off x="609600" y="2278067"/>
            <a:ext cx="10928121" cy="830997"/>
          </a:xfrm>
          <a:prstGeom prst="rect">
            <a:avLst/>
          </a:prstGeom>
          <a:noFill/>
        </p:spPr>
        <p:txBody>
          <a:bodyPr wrap="square" rtlCol="0">
            <a:spAutoFit/>
          </a:bodyPr>
          <a:lstStyle/>
          <a:p>
            <a:pPr algn="ctr"/>
            <a:r>
              <a:rPr lang="en-US" sz="4800" dirty="0"/>
              <a:t>Lecture 04 Remote Sensing</a:t>
            </a:r>
          </a:p>
        </p:txBody>
      </p:sp>
      <p:pic>
        <p:nvPicPr>
          <p:cNvPr id="13" name="Picture 12" descr="Geography department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812801" y="5700889"/>
            <a:ext cx="7886700" cy="101092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1013255" y="1373283"/>
            <a:ext cx="10239632" cy="5181600"/>
          </a:xfrm>
        </p:spPr>
        <p:txBody>
          <a:bodyPr>
            <a:normAutofit/>
          </a:bodyPr>
          <a:lstStyle/>
          <a:p>
            <a:pPr>
              <a:buFont typeface="Courier New" panose="02070309020205020404" pitchFamily="49" charset="0"/>
              <a:buChar char="o"/>
            </a:pPr>
            <a:r>
              <a:rPr lang="en-US" altLang="en-US" sz="3733" dirty="0"/>
              <a:t>Remote Sensing</a:t>
            </a:r>
          </a:p>
          <a:p>
            <a:pPr lvl="1">
              <a:buFont typeface="Wingdings" panose="05000000000000000000" pitchFamily="2" charset="2"/>
              <a:buChar char="ü"/>
            </a:pPr>
            <a:r>
              <a:rPr lang="en-US" altLang="en-US" sz="3067" dirty="0"/>
              <a:t>History</a:t>
            </a:r>
          </a:p>
          <a:p>
            <a:pPr lvl="1">
              <a:buFont typeface="Wingdings" panose="05000000000000000000" pitchFamily="2" charset="2"/>
              <a:buChar char="ü"/>
            </a:pPr>
            <a:r>
              <a:rPr lang="en-US" altLang="en-US" sz="3067" dirty="0"/>
              <a:t>Electromagnetic Spectrum</a:t>
            </a:r>
          </a:p>
          <a:p>
            <a:pPr lvl="1">
              <a:buFont typeface="Wingdings" panose="05000000000000000000" pitchFamily="2" charset="2"/>
              <a:buChar char="ü"/>
            </a:pPr>
            <a:r>
              <a:rPr lang="en-US" altLang="en-US" sz="3067" dirty="0"/>
              <a:t>Spectral reflectance</a:t>
            </a:r>
          </a:p>
          <a:p>
            <a:pPr marL="548626" lvl="1" indent="0">
              <a:buNone/>
            </a:pPr>
            <a:endParaRPr lang="en-US" altLang="en-US" sz="3067" dirty="0"/>
          </a:p>
          <a:p>
            <a:pPr lvl="1">
              <a:buFont typeface="Wingdings" panose="05000000000000000000" pitchFamily="2" charset="2"/>
              <a:buChar char="ü"/>
            </a:pPr>
            <a:endParaRPr lang="en-US" altLang="en-US" sz="3067" dirty="0"/>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Overview</a:t>
            </a:r>
            <a:endParaRPr lang="en-US" sz="3467"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7741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3" y="1458187"/>
            <a:ext cx="6871353" cy="5175444"/>
          </a:xfrm>
        </p:spPr>
        <p:txBody>
          <a:bodyPr>
            <a:normAutofit/>
          </a:bodyPr>
          <a:lstStyle/>
          <a:p>
            <a:pPr>
              <a:buFont typeface="Courier New" panose="02070309020205020404" pitchFamily="49" charset="0"/>
              <a:buChar char="o"/>
            </a:pPr>
            <a:r>
              <a:rPr lang="en-US" dirty="0"/>
              <a:t>Aerial photography</a:t>
            </a:r>
          </a:p>
          <a:p>
            <a:pPr>
              <a:buFont typeface="Wingdings" panose="05000000000000000000" pitchFamily="2" charset="2"/>
              <a:buChar char="ü"/>
            </a:pPr>
            <a:endParaRPr lang="en-US" dirty="0"/>
          </a:p>
          <a:p>
            <a:pPr>
              <a:buFont typeface="Wingdings" panose="05000000000000000000" pitchFamily="2" charset="2"/>
              <a:buChar char="ü"/>
            </a:pPr>
            <a:r>
              <a:rPr lang="en-US" dirty="0"/>
              <a:t>1858:  Gaspard-Félix “Nadar” </a:t>
            </a:r>
            <a:r>
              <a:rPr lang="en-US" dirty="0" err="1"/>
              <a:t>Tournachon</a:t>
            </a:r>
            <a:r>
              <a:rPr lang="en-US" dirty="0"/>
              <a:t> takes the first aerial photograph of Paris from a hot air balloon</a:t>
            </a:r>
          </a:p>
          <a:p>
            <a:pPr>
              <a:buFont typeface="Wingdings" panose="05000000000000000000" pitchFamily="2" charset="2"/>
              <a:buChar char="ü"/>
            </a:pPr>
            <a:r>
              <a:rPr lang="en-US" dirty="0"/>
              <a:t>1860: James Black takes aerial photograph of Boston from a balloon</a:t>
            </a:r>
          </a:p>
          <a:p>
            <a:pPr>
              <a:buFont typeface="Wingdings" panose="05000000000000000000" pitchFamily="2" charset="2"/>
              <a:buChar char="ü"/>
            </a:pPr>
            <a:r>
              <a:rPr lang="en-US" dirty="0"/>
              <a:t>1906: Aerial photograph from kite of San Francisco in the wake of an earthquake by George Lawrence</a:t>
            </a:r>
          </a:p>
          <a:p>
            <a:pPr>
              <a:buFont typeface="Wingdings" panose="05000000000000000000" pitchFamily="2" charset="2"/>
              <a:buChar char="ü"/>
            </a:pPr>
            <a:r>
              <a:rPr lang="en-US" dirty="0"/>
              <a:t>1903: First flight by Wright Brothers.</a:t>
            </a:r>
          </a:p>
          <a:p>
            <a:pPr>
              <a:buFont typeface="Courier New" panose="02070309020205020404" pitchFamily="49" charset="0"/>
              <a:buChar char="o"/>
            </a:pPr>
            <a:endParaRPr lang="en-US" dirty="0"/>
          </a:p>
        </p:txBody>
      </p:sp>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3</a:t>
            </a:fld>
            <a:endParaRPr lang="en-US"/>
          </a:p>
        </p:txBody>
      </p:sp>
      <p:pic>
        <p:nvPicPr>
          <p:cNvPr id="1026" name="Picture 2" descr="Boston aerial photography">
            <a:extLst>
              <a:ext uri="{FF2B5EF4-FFF2-40B4-BE49-F238E27FC236}">
                <a16:creationId xmlns:a16="http://schemas.microsoft.com/office/drawing/2014/main" id="{31E1C211-26A8-9B9B-94B5-4D342F1A2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2118" y="2350132"/>
            <a:ext cx="3291287" cy="38777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306B333-3BFC-028F-9BDC-6A2FF89171B9}"/>
              </a:ext>
            </a:extLst>
          </p:cNvPr>
          <p:cNvSpPr txBox="1"/>
          <p:nvPr/>
        </p:nvSpPr>
        <p:spPr>
          <a:xfrm>
            <a:off x="7358039" y="6217925"/>
            <a:ext cx="3555365" cy="646331"/>
          </a:xfrm>
          <a:prstGeom prst="rect">
            <a:avLst/>
          </a:prstGeom>
          <a:noFill/>
        </p:spPr>
        <p:txBody>
          <a:bodyPr wrap="square">
            <a:spAutoFit/>
          </a:bodyPr>
          <a:lstStyle/>
          <a:p>
            <a:r>
              <a:rPr lang="en-US" sz="1200" dirty="0">
                <a:solidFill>
                  <a:srgbClr val="7030A0"/>
                </a:solidFill>
              </a:rPr>
              <a:t>https://www.smithsonianmag.com/smart-news/this-picture-of-boston-circa-1860-is-the-worlds-oldest-surviving-aerial-photo-14756301/</a:t>
            </a:r>
          </a:p>
        </p:txBody>
      </p:sp>
    </p:spTree>
    <p:extLst>
      <p:ext uri="{BB962C8B-B14F-4D97-AF65-F5344CB8AC3E}">
        <p14:creationId xmlns:p14="http://schemas.microsoft.com/office/powerpoint/2010/main" val="135566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4" y="1458187"/>
            <a:ext cx="6692493" cy="5175444"/>
          </a:xfrm>
        </p:spPr>
        <p:txBody>
          <a:bodyPr>
            <a:normAutofit/>
          </a:bodyPr>
          <a:lstStyle/>
          <a:p>
            <a:pPr>
              <a:buFont typeface="Courier New" panose="02070309020205020404" pitchFamily="49" charset="0"/>
              <a:buChar char="o"/>
            </a:pPr>
            <a:r>
              <a:rPr lang="en-US" dirty="0"/>
              <a:t>Aerial photography</a:t>
            </a:r>
          </a:p>
          <a:p>
            <a:pPr>
              <a:buFont typeface="Wingdings" panose="05000000000000000000" pitchFamily="2" charset="2"/>
              <a:buChar char="ü"/>
            </a:pPr>
            <a:endParaRPr lang="en-US" dirty="0"/>
          </a:p>
          <a:p>
            <a:pPr>
              <a:buFont typeface="Wingdings" panose="05000000000000000000" pitchFamily="2" charset="2"/>
              <a:buChar char="ü"/>
            </a:pPr>
            <a:r>
              <a:rPr lang="en-US" dirty="0"/>
              <a:t>1908: First aerial photograph from an airplane of Le Mans, France (Wilbur Wright and cameraman)</a:t>
            </a:r>
          </a:p>
          <a:p>
            <a:pPr>
              <a:buFont typeface="Wingdings" panose="05000000000000000000" pitchFamily="2" charset="2"/>
              <a:buChar char="ü"/>
            </a:pPr>
            <a:r>
              <a:rPr lang="en-US" dirty="0"/>
              <a:t>World War I: Aerial photography implemented during ware</a:t>
            </a:r>
          </a:p>
          <a:p>
            <a:pPr>
              <a:buFont typeface="Wingdings" panose="05000000000000000000" pitchFamily="2" charset="2"/>
              <a:buChar char="ü"/>
            </a:pPr>
            <a:r>
              <a:rPr lang="en-US" dirty="0"/>
              <a:t>World War II: Continued use during war efforts</a:t>
            </a:r>
          </a:p>
          <a:p>
            <a:pPr>
              <a:buFont typeface="Courier New" panose="02070309020205020404" pitchFamily="49" charset="0"/>
              <a:buChar char="o"/>
            </a:pPr>
            <a:endParaRPr lang="en-US" dirty="0"/>
          </a:p>
        </p:txBody>
      </p:sp>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6" name="TextBox 5">
            <a:extLst>
              <a:ext uri="{FF2B5EF4-FFF2-40B4-BE49-F238E27FC236}">
                <a16:creationId xmlns:a16="http://schemas.microsoft.com/office/drawing/2014/main" id="{1306B333-3BFC-028F-9BDC-6A2FF89171B9}"/>
              </a:ext>
            </a:extLst>
          </p:cNvPr>
          <p:cNvSpPr txBox="1"/>
          <p:nvPr/>
        </p:nvSpPr>
        <p:spPr>
          <a:xfrm>
            <a:off x="7751739" y="6110130"/>
            <a:ext cx="3094061" cy="461665"/>
          </a:xfrm>
          <a:prstGeom prst="rect">
            <a:avLst/>
          </a:prstGeom>
          <a:noFill/>
        </p:spPr>
        <p:txBody>
          <a:bodyPr wrap="square">
            <a:spAutoFit/>
          </a:bodyPr>
          <a:lstStyle/>
          <a:p>
            <a:r>
              <a:rPr lang="en-US" sz="1200" dirty="0">
                <a:solidFill>
                  <a:srgbClr val="7030A0"/>
                </a:solidFill>
              </a:rPr>
              <a:t>https://nzhistory.govt.nz/media/photo/trench-systems-somme</a:t>
            </a:r>
          </a:p>
        </p:txBody>
      </p:sp>
      <p:pic>
        <p:nvPicPr>
          <p:cNvPr id="2050" name="Picture 2" descr="Aerial photo of Somme trench systems">
            <a:extLst>
              <a:ext uri="{FF2B5EF4-FFF2-40B4-BE49-F238E27FC236}">
                <a16:creationId xmlns:a16="http://schemas.microsoft.com/office/drawing/2014/main" id="{1AC9B41A-BFD3-7C2E-0395-A8ADEC51F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3331" y="2442634"/>
            <a:ext cx="3052469" cy="3437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485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4" y="1458187"/>
            <a:ext cx="6692493" cy="5175444"/>
          </a:xfrm>
        </p:spPr>
        <p:txBody>
          <a:bodyPr>
            <a:normAutofit/>
          </a:bodyPr>
          <a:lstStyle/>
          <a:p>
            <a:pPr>
              <a:buFont typeface="Courier New" panose="02070309020205020404" pitchFamily="49" charset="0"/>
              <a:buChar char="o"/>
            </a:pPr>
            <a:r>
              <a:rPr lang="en-US" dirty="0"/>
              <a:t>Aerial photography</a:t>
            </a:r>
          </a:p>
          <a:p>
            <a:pPr>
              <a:buFont typeface="Wingdings" panose="05000000000000000000" pitchFamily="2" charset="2"/>
              <a:buChar char="ü"/>
            </a:pPr>
            <a:endParaRPr lang="en-US" dirty="0"/>
          </a:p>
          <a:p>
            <a:pPr>
              <a:buFont typeface="Wingdings" panose="05000000000000000000" pitchFamily="2" charset="2"/>
              <a:buChar char="ü"/>
            </a:pPr>
            <a:r>
              <a:rPr lang="en-US" dirty="0"/>
              <a:t>1950: U-2 spy plane in use </a:t>
            </a:r>
          </a:p>
          <a:p>
            <a:pPr>
              <a:buFont typeface="Wingdings" panose="05000000000000000000" pitchFamily="2" charset="2"/>
              <a:buChar char="ü"/>
            </a:pPr>
            <a:r>
              <a:rPr lang="en-US" dirty="0"/>
              <a:t>Post World War Era: Development of commercial aerial surveying</a:t>
            </a:r>
          </a:p>
          <a:p>
            <a:pPr>
              <a:buFont typeface="Courier New" panose="02070309020205020404" pitchFamily="49" charset="0"/>
              <a:buChar char="o"/>
            </a:pPr>
            <a:endParaRPr lang="en-US" dirty="0"/>
          </a:p>
        </p:txBody>
      </p:sp>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6" name="TextBox 5">
            <a:extLst>
              <a:ext uri="{FF2B5EF4-FFF2-40B4-BE49-F238E27FC236}">
                <a16:creationId xmlns:a16="http://schemas.microsoft.com/office/drawing/2014/main" id="{1306B333-3BFC-028F-9BDC-6A2FF89171B9}"/>
              </a:ext>
            </a:extLst>
          </p:cNvPr>
          <p:cNvSpPr txBox="1"/>
          <p:nvPr/>
        </p:nvSpPr>
        <p:spPr>
          <a:xfrm>
            <a:off x="7751739" y="6110130"/>
            <a:ext cx="3094061" cy="461665"/>
          </a:xfrm>
          <a:prstGeom prst="rect">
            <a:avLst/>
          </a:prstGeom>
          <a:noFill/>
        </p:spPr>
        <p:txBody>
          <a:bodyPr wrap="square">
            <a:spAutoFit/>
          </a:bodyPr>
          <a:lstStyle/>
          <a:p>
            <a:r>
              <a:rPr lang="en-US" sz="1200" dirty="0">
                <a:solidFill>
                  <a:srgbClr val="7030A0"/>
                </a:solidFill>
              </a:rPr>
              <a:t>https://commons.wikimedia.org/wiki/File:Usaf.u2.750pix.jpg</a:t>
            </a:r>
          </a:p>
        </p:txBody>
      </p:sp>
      <p:pic>
        <p:nvPicPr>
          <p:cNvPr id="3074" name="Picture 2" descr="A spy plane">
            <a:extLst>
              <a:ext uri="{FF2B5EF4-FFF2-40B4-BE49-F238E27FC236}">
                <a16:creationId xmlns:a16="http://schemas.microsoft.com/office/drawing/2014/main" id="{B5E949D8-04DD-DACC-B9DA-4BBC617D3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211357" y="2679838"/>
            <a:ext cx="3999481" cy="2437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09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4" y="1458187"/>
            <a:ext cx="6692493" cy="5175444"/>
          </a:xfrm>
        </p:spPr>
        <p:txBody>
          <a:bodyPr>
            <a:normAutofit/>
          </a:bodyPr>
          <a:lstStyle/>
          <a:p>
            <a:pPr>
              <a:buFont typeface="Courier New" panose="02070309020205020404" pitchFamily="49" charset="0"/>
              <a:buChar char="o"/>
            </a:pPr>
            <a:r>
              <a:rPr lang="en-US" dirty="0"/>
              <a:t>Space satellite</a:t>
            </a:r>
          </a:p>
          <a:p>
            <a:pPr>
              <a:buFont typeface="Wingdings" panose="05000000000000000000" pitchFamily="2" charset="2"/>
              <a:buChar char="ü"/>
            </a:pPr>
            <a:r>
              <a:rPr lang="en-US" dirty="0"/>
              <a:t>1972: Landsat</a:t>
            </a:r>
          </a:p>
          <a:p>
            <a:pPr>
              <a:buFont typeface="Courier New" panose="02070309020205020404" pitchFamily="49" charset="0"/>
              <a:buChar char="o"/>
            </a:pPr>
            <a:endParaRPr lang="en-US" dirty="0"/>
          </a:p>
        </p:txBody>
      </p:sp>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6" name="TextBox 5">
            <a:extLst>
              <a:ext uri="{FF2B5EF4-FFF2-40B4-BE49-F238E27FC236}">
                <a16:creationId xmlns:a16="http://schemas.microsoft.com/office/drawing/2014/main" id="{1306B333-3BFC-028F-9BDC-6A2FF89171B9}"/>
              </a:ext>
            </a:extLst>
          </p:cNvPr>
          <p:cNvSpPr txBox="1"/>
          <p:nvPr/>
        </p:nvSpPr>
        <p:spPr>
          <a:xfrm>
            <a:off x="1303314" y="6229034"/>
            <a:ext cx="3094061" cy="461665"/>
          </a:xfrm>
          <a:prstGeom prst="rect">
            <a:avLst/>
          </a:prstGeom>
          <a:noFill/>
        </p:spPr>
        <p:txBody>
          <a:bodyPr wrap="square">
            <a:spAutoFit/>
          </a:bodyPr>
          <a:lstStyle/>
          <a:p>
            <a:r>
              <a:rPr lang="en-US" sz="1200" dirty="0">
                <a:solidFill>
                  <a:srgbClr val="7030A0"/>
                </a:solidFill>
              </a:rPr>
              <a:t>https://en.wikipedia.org/wiki/Landsat_program</a:t>
            </a:r>
          </a:p>
        </p:txBody>
      </p:sp>
      <p:pic>
        <p:nvPicPr>
          <p:cNvPr id="4098" name="Picture 2" descr="Landsat launch schedule">
            <a:extLst>
              <a:ext uri="{FF2B5EF4-FFF2-40B4-BE49-F238E27FC236}">
                <a16:creationId xmlns:a16="http://schemas.microsoft.com/office/drawing/2014/main" id="{728FA5F2-A970-443A-6EF2-058B99697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029" y="3339990"/>
            <a:ext cx="7750015" cy="21493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andsat 8">
            <a:extLst>
              <a:ext uri="{FF2B5EF4-FFF2-40B4-BE49-F238E27FC236}">
                <a16:creationId xmlns:a16="http://schemas.microsoft.com/office/drawing/2014/main" id="{38D0AB4A-F5AB-C0F2-4C8D-5E096A4609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6327" y="2188624"/>
            <a:ext cx="2467208" cy="371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67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4" y="1458187"/>
            <a:ext cx="6692493" cy="5175444"/>
          </a:xfrm>
        </p:spPr>
        <p:txBody>
          <a:bodyPr>
            <a:normAutofit/>
          </a:bodyPr>
          <a:lstStyle/>
          <a:p>
            <a:pPr>
              <a:buFont typeface="Courier New" panose="02070309020205020404" pitchFamily="49" charset="0"/>
              <a:buChar char="o"/>
            </a:pPr>
            <a:r>
              <a:rPr lang="en-US" dirty="0"/>
              <a:t>Space satellite</a:t>
            </a:r>
          </a:p>
          <a:p>
            <a:pPr>
              <a:buFont typeface="Wingdings" panose="05000000000000000000" pitchFamily="2" charset="2"/>
              <a:buChar char="ü"/>
            </a:pPr>
            <a:r>
              <a:rPr lang="en-US" dirty="0"/>
              <a:t>P</a:t>
            </a:r>
            <a:r>
              <a:rPr lang="en-US" altLang="zh-CN" dirty="0"/>
              <a:t>lanet</a:t>
            </a:r>
            <a:endParaRPr lang="en-US" dirty="0"/>
          </a:p>
          <a:p>
            <a:pPr lvl="1">
              <a:buFont typeface="Arial" panose="020B0604020202020204" pitchFamily="34" charset="0"/>
              <a:buChar char="•"/>
            </a:pPr>
            <a:r>
              <a:rPr lang="en-US" dirty="0"/>
              <a:t>50 cm</a:t>
            </a:r>
          </a:p>
          <a:p>
            <a:pPr>
              <a:buFont typeface="Courier New" panose="02070309020205020404" pitchFamily="49" charset="0"/>
              <a:buChar char="o"/>
            </a:pPr>
            <a:endParaRPr lang="en-US" dirty="0"/>
          </a:p>
        </p:txBody>
      </p:sp>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6" name="TextBox 5">
            <a:extLst>
              <a:ext uri="{FF2B5EF4-FFF2-40B4-BE49-F238E27FC236}">
                <a16:creationId xmlns:a16="http://schemas.microsoft.com/office/drawing/2014/main" id="{1306B333-3BFC-028F-9BDC-6A2FF89171B9}"/>
              </a:ext>
            </a:extLst>
          </p:cNvPr>
          <p:cNvSpPr txBox="1"/>
          <p:nvPr/>
        </p:nvSpPr>
        <p:spPr>
          <a:xfrm>
            <a:off x="1251194" y="6382605"/>
            <a:ext cx="3094061" cy="276999"/>
          </a:xfrm>
          <a:prstGeom prst="rect">
            <a:avLst/>
          </a:prstGeom>
          <a:noFill/>
        </p:spPr>
        <p:txBody>
          <a:bodyPr wrap="square">
            <a:spAutoFit/>
          </a:bodyPr>
          <a:lstStyle/>
          <a:p>
            <a:r>
              <a:rPr lang="en-US" sz="1200" dirty="0">
                <a:solidFill>
                  <a:srgbClr val="7030A0"/>
                </a:solidFill>
              </a:rPr>
              <a:t>https://www.planet.com/50cm/</a:t>
            </a:r>
          </a:p>
        </p:txBody>
      </p:sp>
      <p:pic>
        <p:nvPicPr>
          <p:cNvPr id="5" name="Picture 4" descr="Planet example">
            <a:extLst>
              <a:ext uri="{FF2B5EF4-FFF2-40B4-BE49-F238E27FC236}">
                <a16:creationId xmlns:a16="http://schemas.microsoft.com/office/drawing/2014/main" id="{C86346ED-20BC-4D8D-BFBC-F0E9722D79D4}"/>
              </a:ext>
            </a:extLst>
          </p:cNvPr>
          <p:cNvPicPr>
            <a:picLocks noChangeAspect="1"/>
          </p:cNvPicPr>
          <p:nvPr/>
        </p:nvPicPr>
        <p:blipFill>
          <a:blip r:embed="rId3"/>
          <a:stretch>
            <a:fillRect/>
          </a:stretch>
        </p:blipFill>
        <p:spPr>
          <a:xfrm>
            <a:off x="6738938" y="1491242"/>
            <a:ext cx="4057649" cy="5061117"/>
          </a:xfrm>
          <a:prstGeom prst="rect">
            <a:avLst/>
          </a:prstGeom>
        </p:spPr>
      </p:pic>
      <p:pic>
        <p:nvPicPr>
          <p:cNvPr id="8" name="Picture 7" descr="Planet example">
            <a:extLst>
              <a:ext uri="{FF2B5EF4-FFF2-40B4-BE49-F238E27FC236}">
                <a16:creationId xmlns:a16="http://schemas.microsoft.com/office/drawing/2014/main" id="{C4BFFA9E-542C-9ACF-CE86-584E397B26CB}"/>
              </a:ext>
            </a:extLst>
          </p:cNvPr>
          <p:cNvPicPr>
            <a:picLocks noChangeAspect="1"/>
          </p:cNvPicPr>
          <p:nvPr/>
        </p:nvPicPr>
        <p:blipFill>
          <a:blip r:embed="rId4"/>
          <a:stretch>
            <a:fillRect/>
          </a:stretch>
        </p:blipFill>
        <p:spPr>
          <a:xfrm>
            <a:off x="2964911" y="2997499"/>
            <a:ext cx="3440652" cy="3385423"/>
          </a:xfrm>
          <a:prstGeom prst="rect">
            <a:avLst/>
          </a:prstGeom>
        </p:spPr>
      </p:pic>
    </p:spTree>
    <p:extLst>
      <p:ext uri="{BB962C8B-B14F-4D97-AF65-F5344CB8AC3E}">
        <p14:creationId xmlns:p14="http://schemas.microsoft.com/office/powerpoint/2010/main" val="57554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74" y="1458187"/>
            <a:ext cx="6692493" cy="5175444"/>
          </a:xfrm>
        </p:spPr>
        <p:txBody>
          <a:bodyPr>
            <a:normAutofit/>
          </a:bodyPr>
          <a:lstStyle/>
          <a:p>
            <a:pPr>
              <a:buFont typeface="Courier New" panose="02070309020205020404" pitchFamily="49" charset="0"/>
              <a:buChar char="o"/>
            </a:pPr>
            <a:r>
              <a:rPr lang="en-US" dirty="0"/>
              <a:t>Unmanned Aerial Vehicles (UAV)</a:t>
            </a:r>
          </a:p>
          <a:p>
            <a:pPr>
              <a:buFont typeface="Wingdings" panose="05000000000000000000" pitchFamily="2" charset="2"/>
              <a:buChar char="ü"/>
            </a:pPr>
            <a:endParaRPr lang="en-US" dirty="0"/>
          </a:p>
          <a:p>
            <a:pPr>
              <a:buFont typeface="Courier New" panose="02070309020205020404" pitchFamily="49" charset="0"/>
              <a:buChar char="o"/>
            </a:pPr>
            <a:endParaRPr lang="en-US" dirty="0"/>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History</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6" name="TextBox 5">
            <a:extLst>
              <a:ext uri="{FF2B5EF4-FFF2-40B4-BE49-F238E27FC236}">
                <a16:creationId xmlns:a16="http://schemas.microsoft.com/office/drawing/2014/main" id="{1306B333-3BFC-028F-9BDC-6A2FF89171B9}"/>
              </a:ext>
            </a:extLst>
          </p:cNvPr>
          <p:cNvSpPr txBox="1"/>
          <p:nvPr/>
        </p:nvSpPr>
        <p:spPr>
          <a:xfrm>
            <a:off x="1046406" y="6413701"/>
            <a:ext cx="6092581" cy="276999"/>
          </a:xfrm>
          <a:prstGeom prst="rect">
            <a:avLst/>
          </a:prstGeom>
          <a:noFill/>
        </p:spPr>
        <p:txBody>
          <a:bodyPr wrap="square">
            <a:spAutoFit/>
          </a:bodyPr>
          <a:lstStyle/>
          <a:p>
            <a:r>
              <a:rPr lang="en-US" sz="1200" dirty="0">
                <a:solidFill>
                  <a:srgbClr val="7030A0"/>
                </a:solidFill>
              </a:rPr>
              <a:t>https://commons.wikimedia.org/wiki/File:Drone_im_Himmel_IMG_2423BE2.jpg</a:t>
            </a:r>
          </a:p>
        </p:txBody>
      </p:sp>
      <p:sp>
        <p:nvSpPr>
          <p:cNvPr id="4" name="AutoShape 2">
            <a:extLst>
              <a:ext uri="{FF2B5EF4-FFF2-40B4-BE49-F238E27FC236}">
                <a16:creationId xmlns:a16="http://schemas.microsoft.com/office/drawing/2014/main" id="{B99FC058-0589-4A9F-B4C5-834DE1A16201}"/>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p>
        </p:txBody>
      </p:sp>
      <p:pic>
        <p:nvPicPr>
          <p:cNvPr id="5124" name="Picture 4" descr="UAV">
            <a:extLst>
              <a:ext uri="{FF2B5EF4-FFF2-40B4-BE49-F238E27FC236}">
                <a16:creationId xmlns:a16="http://schemas.microsoft.com/office/drawing/2014/main" id="{0F5E4CA6-9FD7-D1CE-2ECF-44741F87F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8267" y="2645837"/>
            <a:ext cx="5125244" cy="349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154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11"/>
          <p:cNvSpPr txBox="1">
            <a:spLocks noChangeArrowheads="1"/>
          </p:cNvSpPr>
          <p:nvPr/>
        </p:nvSpPr>
        <p:spPr bwMode="auto">
          <a:xfrm>
            <a:off x="7312357" y="4327840"/>
            <a:ext cx="1478653" cy="332998"/>
          </a:xfrm>
          <a:prstGeom prst="rect">
            <a:avLst/>
          </a:prstGeom>
          <a:noFill/>
          <a:ln w="12700">
            <a:noFill/>
            <a:miter lim="800000"/>
            <a:headEnd/>
            <a:tailEnd/>
          </a:ln>
        </p:spPr>
        <p:txBody>
          <a:bodyPr wrap="none" lIns="82889" tIns="41445" rIns="82889" bIns="41445">
            <a:spAutoFit/>
          </a:bodyPr>
          <a:lstStyle/>
          <a:p>
            <a:r>
              <a:rPr lang="en-US" sz="1620"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E</a:t>
            </a:r>
            <a:r>
              <a:rPr lang="en-US" sz="4267" dirty="0" err="1">
                <a:solidFill>
                  <a:srgbClr val="7030A0"/>
                </a:solidFill>
              </a:rPr>
              <a:t>lectromagnetic</a:t>
            </a:r>
            <a:r>
              <a:rPr lang="en-US" sz="4267" dirty="0">
                <a:solidFill>
                  <a:srgbClr val="7030A0"/>
                </a:solidFill>
              </a:rPr>
              <a:t> spectrum</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13" name="Picture 12" descr="Image showing sensor processes">
            <a:extLst>
              <a:ext uri="{FF2B5EF4-FFF2-40B4-BE49-F238E27FC236}">
                <a16:creationId xmlns:a16="http://schemas.microsoft.com/office/drawing/2014/main" id="{EAB776C9-2D19-4F4D-97B5-7E2B425D8B93}"/>
              </a:ext>
            </a:extLst>
          </p:cNvPr>
          <p:cNvPicPr>
            <a:picLocks noChangeAspect="1"/>
          </p:cNvPicPr>
          <p:nvPr/>
        </p:nvPicPr>
        <p:blipFill>
          <a:blip r:embed="rId3"/>
          <a:stretch>
            <a:fillRect/>
          </a:stretch>
        </p:blipFill>
        <p:spPr>
          <a:xfrm>
            <a:off x="1625237" y="2235202"/>
            <a:ext cx="8941527" cy="3928069"/>
          </a:xfrm>
          <a:prstGeom prst="rect">
            <a:avLst/>
          </a:prstGeom>
        </p:spPr>
      </p:pic>
      <p:sp>
        <p:nvSpPr>
          <p:cNvPr id="3" name="TextBox 2">
            <a:extLst>
              <a:ext uri="{FF2B5EF4-FFF2-40B4-BE49-F238E27FC236}">
                <a16:creationId xmlns:a16="http://schemas.microsoft.com/office/drawing/2014/main" id="{DFD2C26C-FE60-0C2E-C6ED-F7BE97844B81}"/>
              </a:ext>
            </a:extLst>
          </p:cNvPr>
          <p:cNvSpPr txBox="1"/>
          <p:nvPr/>
        </p:nvSpPr>
        <p:spPr>
          <a:xfrm>
            <a:off x="1046406" y="6413701"/>
            <a:ext cx="6092581" cy="276999"/>
          </a:xfrm>
          <a:prstGeom prst="rect">
            <a:avLst/>
          </a:prstGeom>
          <a:noFill/>
        </p:spPr>
        <p:txBody>
          <a:bodyPr wrap="square">
            <a:spAutoFit/>
          </a:bodyPr>
          <a:lstStyle/>
          <a:p>
            <a:r>
              <a:rPr lang="en-US" sz="1200" dirty="0">
                <a:solidFill>
                  <a:srgbClr val="7030A0"/>
                </a:solidFill>
              </a:rPr>
              <a:t>From Dr. Arron Maxwell</a:t>
            </a:r>
          </a:p>
        </p:txBody>
      </p:sp>
    </p:spTree>
    <p:extLst>
      <p:ext uri="{BB962C8B-B14F-4D97-AF65-F5344CB8AC3E}">
        <p14:creationId xmlns:p14="http://schemas.microsoft.com/office/powerpoint/2010/main" val="389471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unlight is made up of different wavelengths. The human eye is sensitive to only some of these wavelengths, the ones seen in the colors of a rainbow.">
            <a:extLst>
              <a:ext uri="{FF2B5EF4-FFF2-40B4-BE49-F238E27FC236}">
                <a16:creationId xmlns:a16="http://schemas.microsoft.com/office/drawing/2014/main" id="{0E05EAE6-163E-4F55-9949-798065DED114}"/>
              </a:ext>
            </a:extLst>
          </p:cNvPr>
          <p:cNvPicPr>
            <a:picLocks noChangeAspect="1"/>
          </p:cNvPicPr>
          <p:nvPr/>
        </p:nvPicPr>
        <p:blipFill rotWithShape="1">
          <a:blip r:embed="rId3" cstate="print"/>
          <a:srcRect t="7481"/>
          <a:stretch/>
        </p:blipFill>
        <p:spPr bwMode="auto">
          <a:xfrm>
            <a:off x="2539920" y="1444936"/>
            <a:ext cx="7112160" cy="2470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7082B86F-D756-AF23-7DAD-787DD14721DD}"/>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387B2B1-CCB3-7932-3C8D-B198195DDCD1}"/>
              </a:ext>
            </a:extLst>
          </p:cNvPr>
          <p:cNvSpPr txBox="1">
            <a:spLocks/>
          </p:cNvSpPr>
          <p:nvPr/>
        </p:nvSpPr>
        <p:spPr>
          <a:xfrm>
            <a:off x="812800" y="136048"/>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Electromagnetic spectrum</a:t>
            </a:r>
          </a:p>
        </p:txBody>
      </p:sp>
      <p:sp>
        <p:nvSpPr>
          <p:cNvPr id="9" name="TextBox 8">
            <a:extLst>
              <a:ext uri="{FF2B5EF4-FFF2-40B4-BE49-F238E27FC236}">
                <a16:creationId xmlns:a16="http://schemas.microsoft.com/office/drawing/2014/main" id="{0D6FFE71-3264-C2BF-53E5-B620A6FAF6DA}"/>
              </a:ext>
            </a:extLst>
          </p:cNvPr>
          <p:cNvSpPr txBox="1"/>
          <p:nvPr/>
        </p:nvSpPr>
        <p:spPr>
          <a:xfrm>
            <a:off x="964339" y="3780235"/>
            <a:ext cx="4903061" cy="2677656"/>
          </a:xfrm>
          <a:prstGeom prst="rect">
            <a:avLst/>
          </a:prstGeom>
          <a:noFill/>
        </p:spPr>
        <p:txBody>
          <a:bodyPr wrap="square">
            <a:spAutoFit/>
          </a:bodyPr>
          <a:lstStyle/>
          <a:p>
            <a:pPr marL="380990" indent="-380990">
              <a:buClr>
                <a:schemeClr val="tx1"/>
              </a:buClr>
              <a:buSzPct val="100000"/>
              <a:buFont typeface="Courier New" panose="02070309020205020404" pitchFamily="49" charset="0"/>
              <a:buChar char="o"/>
            </a:pPr>
            <a:r>
              <a:rPr lang="en-US" sz="2400" dirty="0"/>
              <a:t>Ultraviolet (UV) = less than 0.4 µm</a:t>
            </a:r>
          </a:p>
          <a:p>
            <a:pPr marL="380990" indent="-380990">
              <a:buClr>
                <a:schemeClr val="tx1"/>
              </a:buClr>
              <a:buSzPct val="100000"/>
              <a:buFont typeface="Courier New" panose="02070309020205020404" pitchFamily="49" charset="0"/>
              <a:buChar char="o"/>
            </a:pPr>
            <a:r>
              <a:rPr lang="en-US" sz="2400" dirty="0"/>
              <a:t>Visible light = 0.4 to 0.7 µm</a:t>
            </a:r>
          </a:p>
          <a:p>
            <a:pPr marL="990575" lvl="1" indent="-380990">
              <a:buClr>
                <a:schemeClr val="tx1"/>
              </a:buClr>
              <a:buSzPct val="100000"/>
              <a:buFont typeface="Wingdings" panose="05000000000000000000" pitchFamily="2" charset="2"/>
              <a:buChar char="ü"/>
            </a:pPr>
            <a:r>
              <a:rPr lang="en-US" sz="2400" dirty="0"/>
              <a:t>Blue = 0.4 to 0.5 µm</a:t>
            </a:r>
          </a:p>
          <a:p>
            <a:pPr marL="990575" lvl="1" indent="-380990">
              <a:buClr>
                <a:schemeClr val="tx1"/>
              </a:buClr>
              <a:buSzPct val="100000"/>
              <a:buFont typeface="Wingdings" panose="05000000000000000000" pitchFamily="2" charset="2"/>
              <a:buChar char="ü"/>
            </a:pPr>
            <a:r>
              <a:rPr lang="en-US" sz="2400" dirty="0"/>
              <a:t>Green = 0.5 to 0.6 µm</a:t>
            </a:r>
          </a:p>
          <a:p>
            <a:pPr marL="990575" lvl="1" indent="-380990">
              <a:buClr>
                <a:schemeClr val="tx1"/>
              </a:buClr>
              <a:buSzPct val="100000"/>
              <a:buFont typeface="Wingdings" panose="05000000000000000000" pitchFamily="2" charset="2"/>
              <a:buChar char="ü"/>
            </a:pPr>
            <a:r>
              <a:rPr lang="en-US" sz="2400" dirty="0"/>
              <a:t>Red = 0.6 to 0.7 µm</a:t>
            </a:r>
          </a:p>
          <a:p>
            <a:pPr algn="l">
              <a:buClr>
                <a:schemeClr val="tx1"/>
              </a:buClr>
              <a:buSzPct val="100000"/>
            </a:pPr>
            <a:r>
              <a:rPr lang="en-US" sz="2400" dirty="0"/>
              <a:t> </a:t>
            </a:r>
          </a:p>
        </p:txBody>
      </p:sp>
      <p:sp>
        <p:nvSpPr>
          <p:cNvPr id="10" name="TextBox 9">
            <a:extLst>
              <a:ext uri="{FF2B5EF4-FFF2-40B4-BE49-F238E27FC236}">
                <a16:creationId xmlns:a16="http://schemas.microsoft.com/office/drawing/2014/main" id="{7EA12962-9E1C-A967-9035-5519EEDE786B}"/>
              </a:ext>
            </a:extLst>
          </p:cNvPr>
          <p:cNvSpPr txBox="1"/>
          <p:nvPr/>
        </p:nvSpPr>
        <p:spPr>
          <a:xfrm>
            <a:off x="6515794" y="6550225"/>
            <a:ext cx="3568437" cy="276999"/>
          </a:xfrm>
          <a:prstGeom prst="rect">
            <a:avLst/>
          </a:prstGeom>
          <a:noFill/>
        </p:spPr>
        <p:txBody>
          <a:bodyPr wrap="square" rtlCol="0">
            <a:spAutoFit/>
          </a:bodyPr>
          <a:lstStyle/>
          <a:p>
            <a:r>
              <a:rPr lang="en-US" sz="1200" dirty="0" err="1">
                <a:solidFill>
                  <a:srgbClr val="7030A0"/>
                </a:solidFill>
              </a:rPr>
              <a:t>Bjeland</a:t>
            </a:r>
            <a:r>
              <a:rPr lang="en-US" sz="1200" dirty="0">
                <a:solidFill>
                  <a:srgbClr val="7030A0"/>
                </a:solidFill>
              </a:rPr>
              <a:t> et al. Introduction to Geography</a:t>
            </a:r>
          </a:p>
        </p:txBody>
      </p:sp>
      <p:sp>
        <p:nvSpPr>
          <p:cNvPr id="2" name="TextBox 1">
            <a:extLst>
              <a:ext uri="{FF2B5EF4-FFF2-40B4-BE49-F238E27FC236}">
                <a16:creationId xmlns:a16="http://schemas.microsoft.com/office/drawing/2014/main" id="{5A5E70D8-482E-4E9B-8AED-E0308DA533A6}"/>
              </a:ext>
            </a:extLst>
          </p:cNvPr>
          <p:cNvSpPr txBox="1"/>
          <p:nvPr/>
        </p:nvSpPr>
        <p:spPr>
          <a:xfrm>
            <a:off x="6096000" y="3796507"/>
            <a:ext cx="5429251" cy="3046988"/>
          </a:xfrm>
          <a:prstGeom prst="rect">
            <a:avLst/>
          </a:prstGeom>
          <a:noFill/>
        </p:spPr>
        <p:txBody>
          <a:bodyPr wrap="square">
            <a:spAutoFit/>
          </a:bodyPr>
          <a:lstStyle/>
          <a:p>
            <a:pPr marL="380990" indent="-380990">
              <a:buClr>
                <a:schemeClr val="tx1"/>
              </a:buClr>
              <a:buSzPct val="100000"/>
              <a:buFont typeface="Courier New" panose="02070309020205020404" pitchFamily="49" charset="0"/>
              <a:buChar char="o"/>
            </a:pPr>
            <a:r>
              <a:rPr lang="en-US" sz="2400" dirty="0"/>
              <a:t>Infrared = 0.7 to µm </a:t>
            </a:r>
          </a:p>
          <a:p>
            <a:pPr marL="990575" lvl="1" indent="-380990">
              <a:buClr>
                <a:schemeClr val="tx1"/>
              </a:buClr>
              <a:buSzPct val="100000"/>
              <a:buFont typeface="Wingdings" panose="05000000000000000000" pitchFamily="2" charset="2"/>
              <a:buChar char="ü"/>
            </a:pPr>
            <a:r>
              <a:rPr lang="en-US" sz="2400" dirty="0"/>
              <a:t>Near Infrared (NI) = 0.7 to 1.3 µm</a:t>
            </a:r>
          </a:p>
          <a:p>
            <a:pPr marL="990575" lvl="1" indent="-380990">
              <a:buClr>
                <a:schemeClr val="tx1"/>
              </a:buClr>
              <a:buSzPct val="100000"/>
              <a:buFont typeface="Wingdings" panose="05000000000000000000" pitchFamily="2" charset="2"/>
              <a:buChar char="ü"/>
            </a:pPr>
            <a:r>
              <a:rPr lang="en-US" sz="2400" dirty="0"/>
              <a:t>Mid IR/Shortwave IR = 1.3 to 3 µm</a:t>
            </a:r>
          </a:p>
          <a:p>
            <a:pPr marL="990575" lvl="1" indent="-380990">
              <a:buClr>
                <a:schemeClr val="tx1"/>
              </a:buClr>
              <a:buSzPct val="100000"/>
              <a:buFont typeface="Wingdings" panose="05000000000000000000" pitchFamily="2" charset="2"/>
              <a:buChar char="ü"/>
            </a:pPr>
            <a:r>
              <a:rPr lang="en-US" sz="2400" dirty="0"/>
              <a:t>Thermal IR = 3 to 14 µm</a:t>
            </a:r>
          </a:p>
          <a:p>
            <a:pPr marL="380990" lvl="1" indent="-380990">
              <a:buClr>
                <a:schemeClr val="tx1"/>
              </a:buClr>
              <a:buSzPct val="100000"/>
              <a:buFont typeface="Courier New" panose="02070309020205020404" pitchFamily="49" charset="0"/>
              <a:buChar char="o"/>
            </a:pPr>
            <a:r>
              <a:rPr lang="en-US" sz="2400" dirty="0"/>
              <a:t>Microwaves = 1 mm to 1 m</a:t>
            </a:r>
          </a:p>
          <a:p>
            <a:pPr algn="l">
              <a:buClr>
                <a:schemeClr val="tx1"/>
              </a:buClr>
              <a:buSzPct val="100000"/>
            </a:pPr>
            <a:r>
              <a:rPr lang="en-US" sz="2400" dirty="0"/>
              <a:t> </a:t>
            </a:r>
          </a:p>
        </p:txBody>
      </p:sp>
    </p:spTree>
    <p:extLst>
      <p:ext uri="{BB962C8B-B14F-4D97-AF65-F5344CB8AC3E}">
        <p14:creationId xmlns:p14="http://schemas.microsoft.com/office/powerpoint/2010/main" val="418946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unlight is made up of different wavelengths. The human eye is sensitive to only some of these wavelengths, the ones seen in the colors of a rainbow.">
            <a:extLst>
              <a:ext uri="{FF2B5EF4-FFF2-40B4-BE49-F238E27FC236}">
                <a16:creationId xmlns:a16="http://schemas.microsoft.com/office/drawing/2014/main" id="{0E05EAE6-163E-4F55-9949-798065DED114}"/>
              </a:ext>
            </a:extLst>
          </p:cNvPr>
          <p:cNvPicPr>
            <a:picLocks noChangeAspect="1"/>
          </p:cNvPicPr>
          <p:nvPr/>
        </p:nvPicPr>
        <p:blipFill rotWithShape="1">
          <a:blip r:embed="rId2" cstate="print"/>
          <a:srcRect t="7481"/>
          <a:stretch/>
        </p:blipFill>
        <p:spPr bwMode="auto">
          <a:xfrm>
            <a:off x="2539920" y="1444936"/>
            <a:ext cx="7112160" cy="2470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7082B86F-D756-AF23-7DAD-787DD14721DD}"/>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387B2B1-CCB3-7932-3C8D-B198195DDCD1}"/>
              </a:ext>
            </a:extLst>
          </p:cNvPr>
          <p:cNvSpPr txBox="1">
            <a:spLocks/>
          </p:cNvSpPr>
          <p:nvPr/>
        </p:nvSpPr>
        <p:spPr>
          <a:xfrm>
            <a:off x="812800" y="136048"/>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Electromagnetic spectrum</a:t>
            </a:r>
          </a:p>
        </p:txBody>
      </p:sp>
      <p:sp>
        <p:nvSpPr>
          <p:cNvPr id="9" name="TextBox 8">
            <a:extLst>
              <a:ext uri="{FF2B5EF4-FFF2-40B4-BE49-F238E27FC236}">
                <a16:creationId xmlns:a16="http://schemas.microsoft.com/office/drawing/2014/main" id="{0D6FFE71-3264-C2BF-53E5-B620A6FAF6DA}"/>
              </a:ext>
            </a:extLst>
          </p:cNvPr>
          <p:cNvSpPr txBox="1"/>
          <p:nvPr/>
        </p:nvSpPr>
        <p:spPr>
          <a:xfrm>
            <a:off x="964339" y="3780235"/>
            <a:ext cx="10263323" cy="1938992"/>
          </a:xfrm>
          <a:prstGeom prst="rect">
            <a:avLst/>
          </a:prstGeom>
          <a:noFill/>
        </p:spPr>
        <p:txBody>
          <a:bodyPr wrap="square">
            <a:spAutoFit/>
          </a:bodyPr>
          <a:lstStyle/>
          <a:p>
            <a:pPr algn="l">
              <a:buClr>
                <a:schemeClr val="tx1"/>
              </a:buClr>
              <a:buSzPct val="100000"/>
            </a:pPr>
            <a:r>
              <a:rPr lang="en-US" sz="2400" dirty="0"/>
              <a:t>Although invisible, near infrared wavelengths can be recorded on special sensitized film and by scanners on satellites. </a:t>
            </a:r>
            <a:r>
              <a:rPr lang="en-US" sz="2400" b="1" i="1" dirty="0"/>
              <a:t>The scanners measure reflected light in both the visible and near infrared portions of the spectrum.</a:t>
            </a:r>
            <a:r>
              <a:rPr lang="en-US" sz="2400" dirty="0"/>
              <a:t> Wavelengths longer than 4.0 micrometers characterize terrestrial radiation.</a:t>
            </a:r>
          </a:p>
        </p:txBody>
      </p:sp>
      <p:sp>
        <p:nvSpPr>
          <p:cNvPr id="10" name="TextBox 9">
            <a:extLst>
              <a:ext uri="{FF2B5EF4-FFF2-40B4-BE49-F238E27FC236}">
                <a16:creationId xmlns:a16="http://schemas.microsoft.com/office/drawing/2014/main" id="{7EA12962-9E1C-A967-9035-5519EEDE786B}"/>
              </a:ext>
            </a:extLst>
          </p:cNvPr>
          <p:cNvSpPr txBox="1"/>
          <p:nvPr/>
        </p:nvSpPr>
        <p:spPr>
          <a:xfrm>
            <a:off x="6515794" y="6550225"/>
            <a:ext cx="3568437" cy="276999"/>
          </a:xfrm>
          <a:prstGeom prst="rect">
            <a:avLst/>
          </a:prstGeom>
          <a:noFill/>
        </p:spPr>
        <p:txBody>
          <a:bodyPr wrap="square" rtlCol="0">
            <a:spAutoFit/>
          </a:bodyPr>
          <a:lstStyle/>
          <a:p>
            <a:r>
              <a:rPr lang="en-US" sz="1200" dirty="0" err="1">
                <a:solidFill>
                  <a:srgbClr val="7030A0"/>
                </a:solidFill>
              </a:rPr>
              <a:t>Bjeland</a:t>
            </a:r>
            <a:r>
              <a:rPr lang="en-US" sz="1200" dirty="0">
                <a:solidFill>
                  <a:srgbClr val="7030A0"/>
                </a:solidFill>
              </a:rPr>
              <a:t> et al. Introduction to Geography</a:t>
            </a:r>
          </a:p>
        </p:txBody>
      </p:sp>
    </p:spTree>
    <p:extLst>
      <p:ext uri="{BB962C8B-B14F-4D97-AF65-F5344CB8AC3E}">
        <p14:creationId xmlns:p14="http://schemas.microsoft.com/office/powerpoint/2010/main" val="405938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C1A3143-82D4-489A-ACB3-F404EF454F7F}"/>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Spectral Reflectance</a:t>
            </a:r>
          </a:p>
        </p:txBody>
      </p:sp>
      <p:cxnSp>
        <p:nvCxnSpPr>
          <p:cNvPr id="18" name="Straight Connector 17">
            <a:extLst>
              <a:ext uri="{FF2B5EF4-FFF2-40B4-BE49-F238E27FC236}">
                <a16:creationId xmlns:a16="http://schemas.microsoft.com/office/drawing/2014/main" id="{0E360975-95A0-416B-A02D-224C66F712FB}"/>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6230557-4564-45AC-91F7-32D99E59541C}"/>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3" name="TextBox 2">
            <a:extLst>
              <a:ext uri="{FF2B5EF4-FFF2-40B4-BE49-F238E27FC236}">
                <a16:creationId xmlns:a16="http://schemas.microsoft.com/office/drawing/2014/main" id="{4A2125CE-C02B-97E8-173B-DAD74969FB97}"/>
              </a:ext>
            </a:extLst>
          </p:cNvPr>
          <p:cNvSpPr txBox="1"/>
          <p:nvPr/>
        </p:nvSpPr>
        <p:spPr>
          <a:xfrm>
            <a:off x="901443" y="1622444"/>
            <a:ext cx="10263323" cy="3416320"/>
          </a:xfrm>
          <a:prstGeom prst="rect">
            <a:avLst/>
          </a:prstGeom>
          <a:noFill/>
        </p:spPr>
        <p:txBody>
          <a:bodyPr wrap="square">
            <a:spAutoFit/>
          </a:bodyPr>
          <a:lstStyle/>
          <a:p>
            <a:pPr marL="380990" indent="-380990">
              <a:buClr>
                <a:schemeClr val="tx1"/>
              </a:buClr>
              <a:buSzPct val="100000"/>
              <a:buFont typeface="Courier New" panose="02070309020205020404" pitchFamily="49" charset="0"/>
              <a:buChar char="o"/>
            </a:pPr>
            <a:r>
              <a:rPr lang="en-US" sz="2400" dirty="0"/>
              <a:t>What happens when radiation hits the surface?</a:t>
            </a:r>
          </a:p>
          <a:p>
            <a:pPr marL="990575" lvl="1" indent="-380990">
              <a:buClr>
                <a:schemeClr val="tx1"/>
              </a:buClr>
              <a:buSzPct val="100000"/>
              <a:buFont typeface="Wingdings" panose="05000000000000000000" pitchFamily="2" charset="2"/>
              <a:buChar char="ü"/>
            </a:pPr>
            <a:r>
              <a:rPr lang="en-US" sz="2400" dirty="0"/>
              <a:t>Transmission: energy passes through a target</a:t>
            </a:r>
          </a:p>
          <a:p>
            <a:pPr marL="990575" lvl="1" indent="-380990">
              <a:buClr>
                <a:schemeClr val="tx1"/>
              </a:buClr>
              <a:buSzPct val="100000"/>
              <a:buFont typeface="Wingdings" panose="05000000000000000000" pitchFamily="2" charset="2"/>
              <a:buChar char="ü"/>
            </a:pPr>
            <a:r>
              <a:rPr lang="en-US" sz="2400" dirty="0"/>
              <a:t>Absorption: energy is trapped and held by a target</a:t>
            </a:r>
          </a:p>
          <a:p>
            <a:pPr marL="990575" lvl="1" indent="-380990">
              <a:buClr>
                <a:schemeClr val="tx1"/>
              </a:buClr>
              <a:buSzPct val="100000"/>
              <a:buFont typeface="Wingdings" panose="05000000000000000000" pitchFamily="2" charset="2"/>
              <a:buChar char="ü"/>
            </a:pPr>
            <a:r>
              <a:rPr lang="en-US" sz="2400" dirty="0"/>
              <a:t>Reflection: energy bounces off a target</a:t>
            </a:r>
          </a:p>
          <a:p>
            <a:pPr algn="l">
              <a:buClr>
                <a:schemeClr val="tx1"/>
              </a:buClr>
              <a:buSzPct val="100000"/>
            </a:pPr>
            <a:endParaRPr lang="en-US" sz="2400" dirty="0"/>
          </a:p>
          <a:p>
            <a:pPr marL="380990" indent="-380990">
              <a:buClr>
                <a:schemeClr val="tx1"/>
              </a:buClr>
              <a:buSzPct val="100000"/>
              <a:buFont typeface="Courier New" panose="02070309020205020404" pitchFamily="49" charset="0"/>
              <a:buChar char="o"/>
            </a:pPr>
            <a:r>
              <a:rPr lang="en-US" sz="2400" dirty="0"/>
              <a:t>Incident energy: the total amount of energy that interacts with an object</a:t>
            </a:r>
          </a:p>
          <a:p>
            <a:pPr algn="l">
              <a:buClr>
                <a:schemeClr val="tx1"/>
              </a:buClr>
              <a:buSzPct val="100000"/>
            </a:pPr>
            <a:endParaRPr lang="en-US" sz="2400" dirty="0"/>
          </a:p>
          <a:p>
            <a:pPr marL="380990" indent="-380990">
              <a:buClr>
                <a:schemeClr val="tx1"/>
              </a:buClr>
              <a:buSzPct val="100000"/>
              <a:buFont typeface="Courier New" panose="02070309020205020404" pitchFamily="49" charset="0"/>
              <a:buChar char="o"/>
            </a:pPr>
            <a:r>
              <a:rPr lang="en-US" sz="2400" dirty="0"/>
              <a:t>Spectral reflectance = the percentage of the total incident energy that is reflected from a surface</a:t>
            </a:r>
          </a:p>
        </p:txBody>
      </p:sp>
      <p:pic>
        <p:nvPicPr>
          <p:cNvPr id="6" name="Picture 5" descr="Spectral refletance">
            <a:extLst>
              <a:ext uri="{FF2B5EF4-FFF2-40B4-BE49-F238E27FC236}">
                <a16:creationId xmlns:a16="http://schemas.microsoft.com/office/drawing/2014/main" id="{8FABCC8C-2E6B-EFAE-C6EF-EF95B30B462D}"/>
              </a:ext>
            </a:extLst>
          </p:cNvPr>
          <p:cNvPicPr>
            <a:picLocks noChangeAspect="1"/>
          </p:cNvPicPr>
          <p:nvPr/>
        </p:nvPicPr>
        <p:blipFill>
          <a:blip r:embed="rId3"/>
          <a:stretch>
            <a:fillRect/>
          </a:stretch>
        </p:blipFill>
        <p:spPr>
          <a:xfrm>
            <a:off x="4033914" y="5235557"/>
            <a:ext cx="4225773" cy="756855"/>
          </a:xfrm>
          <a:prstGeom prst="rect">
            <a:avLst/>
          </a:prstGeom>
        </p:spPr>
      </p:pic>
    </p:spTree>
    <p:extLst>
      <p:ext uri="{BB962C8B-B14F-4D97-AF65-F5344CB8AC3E}">
        <p14:creationId xmlns:p14="http://schemas.microsoft.com/office/powerpoint/2010/main" val="374168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showing spectral reflectance prof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2564" y="1988446"/>
            <a:ext cx="5390649" cy="42187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524284" y="2088821"/>
            <a:ext cx="4321665" cy="3682547"/>
          </a:xfrm>
          <a:prstGeom prst="rect">
            <a:avLst/>
          </a:prstGeom>
          <a:noFill/>
        </p:spPr>
        <p:txBody>
          <a:bodyPr wrap="square" rtlCol="0">
            <a:spAutoFit/>
          </a:bodyPr>
          <a:lstStyle/>
          <a:p>
            <a:pPr>
              <a:lnSpc>
                <a:spcPct val="90000"/>
              </a:lnSpc>
            </a:pPr>
            <a:r>
              <a:rPr lang="en-US" sz="2160" b="1" dirty="0">
                <a:solidFill>
                  <a:schemeClr val="accent1">
                    <a:lumMod val="50000"/>
                  </a:schemeClr>
                </a:solidFill>
              </a:rPr>
              <a:t>Blue</a:t>
            </a:r>
            <a:r>
              <a:rPr lang="en-US" sz="2160" dirty="0"/>
              <a:t> = absorption by pigments</a:t>
            </a:r>
          </a:p>
          <a:p>
            <a:pPr>
              <a:lnSpc>
                <a:spcPct val="90000"/>
              </a:lnSpc>
            </a:pPr>
            <a:endParaRPr lang="en-US" sz="2160" dirty="0"/>
          </a:p>
          <a:p>
            <a:pPr>
              <a:lnSpc>
                <a:spcPct val="90000"/>
              </a:lnSpc>
            </a:pPr>
            <a:r>
              <a:rPr lang="en-US" sz="2160" b="1" dirty="0">
                <a:solidFill>
                  <a:srgbClr val="92D050"/>
                </a:solidFill>
              </a:rPr>
              <a:t>Green</a:t>
            </a:r>
            <a:r>
              <a:rPr lang="en-US" sz="2160" dirty="0"/>
              <a:t> = less absorption by pigment</a:t>
            </a:r>
          </a:p>
          <a:p>
            <a:pPr>
              <a:lnSpc>
                <a:spcPct val="90000"/>
              </a:lnSpc>
            </a:pPr>
            <a:endParaRPr lang="en-US" sz="2160" b="1" dirty="0">
              <a:solidFill>
                <a:srgbClr val="E3874F"/>
              </a:solidFill>
            </a:endParaRPr>
          </a:p>
          <a:p>
            <a:pPr>
              <a:lnSpc>
                <a:spcPct val="90000"/>
              </a:lnSpc>
            </a:pPr>
            <a:r>
              <a:rPr lang="en-US" sz="2160" b="1" dirty="0">
                <a:solidFill>
                  <a:srgbClr val="FF0000"/>
                </a:solidFill>
              </a:rPr>
              <a:t>Red</a:t>
            </a:r>
            <a:r>
              <a:rPr lang="en-US" sz="2160" b="1" dirty="0">
                <a:solidFill>
                  <a:srgbClr val="E3874F"/>
                </a:solidFill>
              </a:rPr>
              <a:t> </a:t>
            </a:r>
            <a:r>
              <a:rPr lang="en-US" sz="2160" dirty="0"/>
              <a:t>= absorption by pigments</a:t>
            </a:r>
          </a:p>
          <a:p>
            <a:pPr>
              <a:lnSpc>
                <a:spcPct val="90000"/>
              </a:lnSpc>
            </a:pPr>
            <a:endParaRPr lang="en-US" sz="2160" dirty="0"/>
          </a:p>
          <a:p>
            <a:pPr>
              <a:lnSpc>
                <a:spcPct val="90000"/>
              </a:lnSpc>
            </a:pPr>
            <a:r>
              <a:rPr lang="en-US" sz="2160" b="1" dirty="0">
                <a:solidFill>
                  <a:schemeClr val="accent4">
                    <a:lumMod val="75000"/>
                  </a:schemeClr>
                </a:solidFill>
              </a:rPr>
              <a:t>Near Infrared </a:t>
            </a:r>
            <a:r>
              <a:rPr lang="en-US" sz="2160" dirty="0"/>
              <a:t>= reflect and </a:t>
            </a:r>
          </a:p>
          <a:p>
            <a:pPr>
              <a:lnSpc>
                <a:spcPct val="90000"/>
              </a:lnSpc>
            </a:pPr>
            <a:r>
              <a:rPr lang="en-US" sz="2160" dirty="0"/>
              <a:t>scattered by interior cell walls</a:t>
            </a:r>
          </a:p>
          <a:p>
            <a:pPr>
              <a:lnSpc>
                <a:spcPct val="90000"/>
              </a:lnSpc>
            </a:pPr>
            <a:endParaRPr lang="en-US" sz="2160" dirty="0"/>
          </a:p>
          <a:p>
            <a:pPr>
              <a:lnSpc>
                <a:spcPct val="90000"/>
              </a:lnSpc>
            </a:pPr>
            <a:r>
              <a:rPr lang="en-US" sz="2160" b="1" dirty="0">
                <a:solidFill>
                  <a:schemeClr val="accent2">
                    <a:lumMod val="75000"/>
                  </a:schemeClr>
                </a:solidFill>
              </a:rPr>
              <a:t>Shortwave Infrared </a:t>
            </a:r>
            <a:r>
              <a:rPr lang="en-US" sz="2160" dirty="0"/>
              <a:t>= absorption by water in plant tissue</a:t>
            </a:r>
          </a:p>
        </p:txBody>
      </p:sp>
      <p:sp>
        <p:nvSpPr>
          <p:cNvPr id="9" name="TextBox 8"/>
          <p:cNvSpPr txBox="1"/>
          <p:nvPr/>
        </p:nvSpPr>
        <p:spPr>
          <a:xfrm>
            <a:off x="1700540" y="5075350"/>
            <a:ext cx="342989" cy="391517"/>
          </a:xfrm>
          <a:prstGeom prst="rect">
            <a:avLst/>
          </a:prstGeom>
          <a:noFill/>
        </p:spPr>
        <p:txBody>
          <a:bodyPr wrap="square" rtlCol="0">
            <a:spAutoFit/>
          </a:bodyPr>
          <a:lstStyle/>
          <a:p>
            <a:pPr>
              <a:lnSpc>
                <a:spcPct val="90000"/>
              </a:lnSpc>
            </a:pPr>
            <a:r>
              <a:rPr lang="en-US" sz="2160" dirty="0">
                <a:solidFill>
                  <a:schemeClr val="accent1">
                    <a:lumMod val="50000"/>
                  </a:schemeClr>
                </a:solidFill>
              </a:rPr>
              <a:t>X</a:t>
            </a:r>
          </a:p>
        </p:txBody>
      </p:sp>
      <p:sp>
        <p:nvSpPr>
          <p:cNvPr id="11" name="TextBox 10"/>
          <p:cNvSpPr txBox="1"/>
          <p:nvPr/>
        </p:nvSpPr>
        <p:spPr>
          <a:xfrm>
            <a:off x="1951611" y="4800958"/>
            <a:ext cx="342989" cy="391517"/>
          </a:xfrm>
          <a:prstGeom prst="rect">
            <a:avLst/>
          </a:prstGeom>
          <a:noFill/>
        </p:spPr>
        <p:txBody>
          <a:bodyPr wrap="square" rtlCol="0">
            <a:spAutoFit/>
          </a:bodyPr>
          <a:lstStyle/>
          <a:p>
            <a:pPr>
              <a:lnSpc>
                <a:spcPct val="90000"/>
              </a:lnSpc>
            </a:pPr>
            <a:r>
              <a:rPr lang="en-US" sz="2160" dirty="0">
                <a:solidFill>
                  <a:srgbClr val="92D050"/>
                </a:solidFill>
              </a:rPr>
              <a:t>X</a:t>
            </a:r>
          </a:p>
        </p:txBody>
      </p:sp>
      <p:sp>
        <p:nvSpPr>
          <p:cNvPr id="12" name="TextBox 11"/>
          <p:cNvSpPr txBox="1"/>
          <p:nvPr/>
        </p:nvSpPr>
        <p:spPr>
          <a:xfrm>
            <a:off x="2175007" y="4992138"/>
            <a:ext cx="342989" cy="391517"/>
          </a:xfrm>
          <a:prstGeom prst="rect">
            <a:avLst/>
          </a:prstGeom>
          <a:noFill/>
        </p:spPr>
        <p:txBody>
          <a:bodyPr wrap="square" rtlCol="0">
            <a:spAutoFit/>
          </a:bodyPr>
          <a:lstStyle/>
          <a:p>
            <a:pPr>
              <a:lnSpc>
                <a:spcPct val="90000"/>
              </a:lnSpc>
            </a:pPr>
            <a:r>
              <a:rPr lang="en-US" sz="2160" dirty="0">
                <a:solidFill>
                  <a:srgbClr val="FF0000"/>
                </a:solidFill>
              </a:rPr>
              <a:t>X</a:t>
            </a:r>
          </a:p>
        </p:txBody>
      </p:sp>
      <p:sp>
        <p:nvSpPr>
          <p:cNvPr id="13" name="TextBox 12"/>
          <p:cNvSpPr txBox="1"/>
          <p:nvPr/>
        </p:nvSpPr>
        <p:spPr>
          <a:xfrm>
            <a:off x="2871900" y="2948815"/>
            <a:ext cx="342989" cy="391517"/>
          </a:xfrm>
          <a:prstGeom prst="rect">
            <a:avLst/>
          </a:prstGeom>
          <a:noFill/>
        </p:spPr>
        <p:txBody>
          <a:bodyPr wrap="square" rtlCol="0">
            <a:spAutoFit/>
          </a:bodyPr>
          <a:lstStyle/>
          <a:p>
            <a:pPr>
              <a:lnSpc>
                <a:spcPct val="90000"/>
              </a:lnSpc>
            </a:pPr>
            <a:r>
              <a:rPr lang="en-US" sz="2160" dirty="0">
                <a:solidFill>
                  <a:schemeClr val="accent4">
                    <a:lumMod val="75000"/>
                  </a:schemeClr>
                </a:solidFill>
              </a:rPr>
              <a:t>X</a:t>
            </a:r>
          </a:p>
        </p:txBody>
      </p:sp>
      <p:sp>
        <p:nvSpPr>
          <p:cNvPr id="14" name="TextBox 13"/>
          <p:cNvSpPr txBox="1"/>
          <p:nvPr/>
        </p:nvSpPr>
        <p:spPr>
          <a:xfrm>
            <a:off x="4586847" y="4609779"/>
            <a:ext cx="342989" cy="391517"/>
          </a:xfrm>
          <a:prstGeom prst="rect">
            <a:avLst/>
          </a:prstGeom>
          <a:noFill/>
        </p:spPr>
        <p:txBody>
          <a:bodyPr wrap="square" rtlCol="0">
            <a:spAutoFit/>
          </a:bodyPr>
          <a:lstStyle/>
          <a:p>
            <a:pPr>
              <a:lnSpc>
                <a:spcPct val="90000"/>
              </a:lnSpc>
            </a:pPr>
            <a:r>
              <a:rPr lang="en-US" sz="2160" dirty="0">
                <a:solidFill>
                  <a:schemeClr val="accent2">
                    <a:lumMod val="75000"/>
                  </a:schemeClr>
                </a:solidFill>
              </a:rPr>
              <a:t>X</a:t>
            </a:r>
          </a:p>
        </p:txBody>
      </p:sp>
      <p:sp>
        <p:nvSpPr>
          <p:cNvPr id="15" name="TextBox 14"/>
          <p:cNvSpPr txBox="1"/>
          <p:nvPr/>
        </p:nvSpPr>
        <p:spPr>
          <a:xfrm>
            <a:off x="3626478" y="3977783"/>
            <a:ext cx="342989" cy="391517"/>
          </a:xfrm>
          <a:prstGeom prst="rect">
            <a:avLst/>
          </a:prstGeom>
          <a:noFill/>
        </p:spPr>
        <p:txBody>
          <a:bodyPr wrap="square" rtlCol="0">
            <a:spAutoFit/>
          </a:bodyPr>
          <a:lstStyle/>
          <a:p>
            <a:pPr>
              <a:lnSpc>
                <a:spcPct val="90000"/>
              </a:lnSpc>
            </a:pPr>
            <a:r>
              <a:rPr lang="en-US" sz="2160" dirty="0">
                <a:solidFill>
                  <a:schemeClr val="accent2">
                    <a:lumMod val="75000"/>
                  </a:schemeClr>
                </a:solidFill>
              </a:rPr>
              <a:t>X</a:t>
            </a:r>
          </a:p>
        </p:txBody>
      </p:sp>
      <p:sp>
        <p:nvSpPr>
          <p:cNvPr id="16" name="TextBox 15"/>
          <p:cNvSpPr txBox="1"/>
          <p:nvPr/>
        </p:nvSpPr>
        <p:spPr>
          <a:xfrm>
            <a:off x="6524285" y="5703308"/>
            <a:ext cx="4956516" cy="989886"/>
          </a:xfrm>
          <a:prstGeom prst="rect">
            <a:avLst/>
          </a:prstGeom>
          <a:noFill/>
        </p:spPr>
        <p:txBody>
          <a:bodyPr wrap="square" rtlCol="0">
            <a:spAutoFit/>
          </a:bodyPr>
          <a:lstStyle/>
          <a:p>
            <a:pPr>
              <a:lnSpc>
                <a:spcPct val="90000"/>
              </a:lnSpc>
            </a:pPr>
            <a:r>
              <a:rPr lang="en-US" sz="2160" dirty="0"/>
              <a:t>Example: Maple  Leaf</a:t>
            </a:r>
          </a:p>
          <a:p>
            <a:pPr>
              <a:lnSpc>
                <a:spcPct val="90000"/>
              </a:lnSpc>
            </a:pPr>
            <a:r>
              <a:rPr lang="en-US" sz="2160" dirty="0"/>
              <a:t>Data from USGS Spectral Library Version 7</a:t>
            </a:r>
          </a:p>
        </p:txBody>
      </p:sp>
      <p:sp>
        <p:nvSpPr>
          <p:cNvPr id="17" name="Title 1">
            <a:extLst>
              <a:ext uri="{FF2B5EF4-FFF2-40B4-BE49-F238E27FC236}">
                <a16:creationId xmlns:a16="http://schemas.microsoft.com/office/drawing/2014/main" id="{0C1A3143-82D4-489A-ACB3-F404EF454F7F}"/>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Spectral Reflectance</a:t>
            </a:r>
          </a:p>
        </p:txBody>
      </p:sp>
      <p:cxnSp>
        <p:nvCxnSpPr>
          <p:cNvPr id="18" name="Straight Connector 17">
            <a:extLst>
              <a:ext uri="{FF2B5EF4-FFF2-40B4-BE49-F238E27FC236}">
                <a16:creationId xmlns:a16="http://schemas.microsoft.com/office/drawing/2014/main" id="{0E360975-95A0-416B-A02D-224C66F712FB}"/>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6230557-4564-45AC-91F7-32D99E59541C}"/>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3" name="Title 1">
            <a:extLst>
              <a:ext uri="{FF2B5EF4-FFF2-40B4-BE49-F238E27FC236}">
                <a16:creationId xmlns:a16="http://schemas.microsoft.com/office/drawing/2014/main" id="{A74EC900-87E1-BAD4-EA46-25F59873A27C}"/>
              </a:ext>
            </a:extLst>
          </p:cNvPr>
          <p:cNvSpPr txBox="1">
            <a:spLocks/>
          </p:cNvSpPr>
          <p:nvPr/>
        </p:nvSpPr>
        <p:spPr>
          <a:xfrm>
            <a:off x="883757" y="1447051"/>
            <a:ext cx="10769600" cy="516611"/>
          </a:xfrm>
          <a:prstGeom prst="rect">
            <a:avLst/>
          </a:prstGeom>
        </p:spPr>
        <p:txBody>
          <a:bodyPr vert="horz" lIns="121920" tIns="60960" rIns="121920" bIns="6096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marL="457189" indent="-457189" algn="l">
              <a:buFont typeface="Courier New" panose="02070309020205020404" pitchFamily="49" charset="0"/>
              <a:buChar char="o"/>
            </a:pPr>
            <a:r>
              <a:rPr lang="en-US" sz="2667" dirty="0">
                <a:solidFill>
                  <a:schemeClr val="tx1">
                    <a:lumMod val="95000"/>
                    <a:lumOff val="5000"/>
                  </a:schemeClr>
                </a:solidFill>
              </a:rPr>
              <a:t>Vegetation</a:t>
            </a:r>
          </a:p>
        </p:txBody>
      </p:sp>
    </p:spTree>
    <p:extLst>
      <p:ext uri="{BB962C8B-B14F-4D97-AF65-F5344CB8AC3E}">
        <p14:creationId xmlns:p14="http://schemas.microsoft.com/office/powerpoint/2010/main" val="371431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spectral reflect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85865" y="1963662"/>
            <a:ext cx="7820273" cy="39348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489281" y="5865457"/>
            <a:ext cx="5484971" cy="840230"/>
          </a:xfrm>
          <a:prstGeom prst="rect">
            <a:avLst/>
          </a:prstGeom>
        </p:spPr>
        <p:txBody>
          <a:bodyPr>
            <a:spAutoFit/>
          </a:bodyPr>
          <a:lstStyle/>
          <a:p>
            <a:r>
              <a:rPr lang="en-US" sz="1620" dirty="0">
                <a:hlinkClick r:id="rId4"/>
              </a:rPr>
              <a:t>http://www.seos-project.eu/modules/classification/classification-c01-p05.html</a:t>
            </a:r>
            <a:r>
              <a:rPr lang="en-US" sz="1620" dirty="0"/>
              <a:t> </a:t>
            </a:r>
          </a:p>
        </p:txBody>
      </p:sp>
      <p:sp>
        <p:nvSpPr>
          <p:cNvPr id="6" name="Title 1">
            <a:extLst>
              <a:ext uri="{FF2B5EF4-FFF2-40B4-BE49-F238E27FC236}">
                <a16:creationId xmlns:a16="http://schemas.microsoft.com/office/drawing/2014/main" id="{8D429EF9-4E61-4D78-9D6A-77A68FE3C217}"/>
              </a:ext>
            </a:extLst>
          </p:cNvPr>
          <p:cNvSpPr txBox="1">
            <a:spLocks/>
          </p:cNvSpPr>
          <p:nvPr/>
        </p:nvSpPr>
        <p:spPr>
          <a:xfrm>
            <a:off x="883757" y="1447051"/>
            <a:ext cx="10769600" cy="516611"/>
          </a:xfrm>
          <a:prstGeom prst="rect">
            <a:avLst/>
          </a:prstGeom>
        </p:spPr>
        <p:txBody>
          <a:bodyPr vert="horz" lIns="121920" tIns="60960" rIns="121920" bIns="6096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marL="457189" indent="-457189" algn="l">
              <a:buFont typeface="Courier New" panose="02070309020205020404" pitchFamily="49" charset="0"/>
              <a:buChar char="o"/>
            </a:pPr>
            <a:r>
              <a:rPr lang="en-US" sz="2667" dirty="0">
                <a:solidFill>
                  <a:schemeClr val="tx1">
                    <a:lumMod val="95000"/>
                    <a:lumOff val="5000"/>
                  </a:schemeClr>
                </a:solidFill>
              </a:rPr>
              <a:t>Different materials have different reflectance properties</a:t>
            </a:r>
          </a:p>
        </p:txBody>
      </p:sp>
      <p:cxnSp>
        <p:nvCxnSpPr>
          <p:cNvPr id="7" name="Straight Connector 6">
            <a:extLst>
              <a:ext uri="{FF2B5EF4-FFF2-40B4-BE49-F238E27FC236}">
                <a16:creationId xmlns:a16="http://schemas.microsoft.com/office/drawing/2014/main" id="{B09BABC6-1B2B-4A05-A8C2-B86A75E0D62E}"/>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9518FF-5FFC-4A77-AE16-7237E3FE0DCF}"/>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3" name="Title 1">
            <a:extLst>
              <a:ext uri="{FF2B5EF4-FFF2-40B4-BE49-F238E27FC236}">
                <a16:creationId xmlns:a16="http://schemas.microsoft.com/office/drawing/2014/main" id="{9FF66C1B-AE52-AC5C-2BEF-64B30138FA3B}"/>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Spectral Reflectance</a:t>
            </a:r>
          </a:p>
        </p:txBody>
      </p:sp>
    </p:spTree>
    <p:extLst>
      <p:ext uri="{BB962C8B-B14F-4D97-AF65-F5344CB8AC3E}">
        <p14:creationId xmlns:p14="http://schemas.microsoft.com/office/powerpoint/2010/main" val="27779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429EF9-4E61-4D78-9D6A-77A68FE3C217}"/>
              </a:ext>
            </a:extLst>
          </p:cNvPr>
          <p:cNvSpPr txBox="1">
            <a:spLocks/>
          </p:cNvSpPr>
          <p:nvPr/>
        </p:nvSpPr>
        <p:spPr>
          <a:xfrm>
            <a:off x="883757" y="1447051"/>
            <a:ext cx="10769600" cy="516611"/>
          </a:xfrm>
          <a:prstGeom prst="rect">
            <a:avLst/>
          </a:prstGeom>
        </p:spPr>
        <p:txBody>
          <a:bodyPr vert="horz" lIns="121920" tIns="60960" rIns="121920" bIns="6096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marL="457189" indent="-457189" algn="l">
              <a:buFont typeface="Courier New" panose="02070309020205020404" pitchFamily="49" charset="0"/>
              <a:buChar char="o"/>
            </a:pPr>
            <a:r>
              <a:rPr lang="en-US" sz="2667" dirty="0">
                <a:solidFill>
                  <a:schemeClr val="tx1">
                    <a:lumMod val="95000"/>
                    <a:lumOff val="5000"/>
                  </a:schemeClr>
                </a:solidFill>
              </a:rPr>
              <a:t>Different materials have different reflectance properties</a:t>
            </a:r>
          </a:p>
        </p:txBody>
      </p:sp>
      <p:cxnSp>
        <p:nvCxnSpPr>
          <p:cNvPr id="7" name="Straight Connector 6">
            <a:extLst>
              <a:ext uri="{FF2B5EF4-FFF2-40B4-BE49-F238E27FC236}">
                <a16:creationId xmlns:a16="http://schemas.microsoft.com/office/drawing/2014/main" id="{B09BABC6-1B2B-4A05-A8C2-B86A75E0D62E}"/>
              </a:ext>
            </a:extLst>
          </p:cNvPr>
          <p:cNvCxnSpPr/>
          <p:nvPr/>
        </p:nvCxnSpPr>
        <p:spPr>
          <a:xfrm>
            <a:off x="812800" y="1293448"/>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9518FF-5FFC-4A77-AE16-7237E3FE0DCF}"/>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3" name="Title 1">
            <a:extLst>
              <a:ext uri="{FF2B5EF4-FFF2-40B4-BE49-F238E27FC236}">
                <a16:creationId xmlns:a16="http://schemas.microsoft.com/office/drawing/2014/main" id="{9FF66C1B-AE52-AC5C-2BEF-64B30138FA3B}"/>
              </a:ext>
            </a:extLst>
          </p:cNvPr>
          <p:cNvSpPr txBox="1">
            <a:spLocks/>
          </p:cNvSpPr>
          <p:nvPr/>
        </p:nvSpPr>
        <p:spPr>
          <a:xfrm>
            <a:off x="767644" y="87547"/>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Spectral Reflectance</a:t>
            </a:r>
          </a:p>
        </p:txBody>
      </p:sp>
      <p:pic>
        <p:nvPicPr>
          <p:cNvPr id="8" name="Picture 7" descr="Image result for spectral reflectance">
            <a:extLst>
              <a:ext uri="{FF2B5EF4-FFF2-40B4-BE49-F238E27FC236}">
                <a16:creationId xmlns:a16="http://schemas.microsoft.com/office/drawing/2014/main" id="{39ADD986-EE98-145C-8CB8-DF2FC99B79BE}"/>
              </a:ext>
            </a:extLst>
          </p:cNvPr>
          <p:cNvPicPr>
            <a:picLocks noChangeAspect="1"/>
          </p:cNvPicPr>
          <p:nvPr/>
        </p:nvPicPr>
        <p:blipFill>
          <a:blip r:embed="rId3"/>
          <a:stretch>
            <a:fillRect/>
          </a:stretch>
        </p:blipFill>
        <p:spPr>
          <a:xfrm>
            <a:off x="3671887" y="2311712"/>
            <a:ext cx="4466588" cy="3501008"/>
          </a:xfrm>
          <a:prstGeom prst="rect">
            <a:avLst/>
          </a:prstGeom>
        </p:spPr>
      </p:pic>
      <p:sp>
        <p:nvSpPr>
          <p:cNvPr id="10" name="TextBox 9">
            <a:extLst>
              <a:ext uri="{FF2B5EF4-FFF2-40B4-BE49-F238E27FC236}">
                <a16:creationId xmlns:a16="http://schemas.microsoft.com/office/drawing/2014/main" id="{ABC011A5-F534-7DBC-E4E7-119181D279FB}"/>
              </a:ext>
            </a:extLst>
          </p:cNvPr>
          <p:cNvSpPr txBox="1"/>
          <p:nvPr/>
        </p:nvSpPr>
        <p:spPr>
          <a:xfrm>
            <a:off x="3213259" y="6063462"/>
            <a:ext cx="5545931" cy="646331"/>
          </a:xfrm>
          <a:prstGeom prst="rect">
            <a:avLst/>
          </a:prstGeom>
          <a:noFill/>
        </p:spPr>
        <p:txBody>
          <a:bodyPr wrap="square">
            <a:spAutoFit/>
          </a:bodyPr>
          <a:lstStyle/>
          <a:p>
            <a:pPr marR="37666"/>
            <a:r>
              <a:rPr lang="en-US" sz="1200" dirty="0">
                <a:solidFill>
                  <a:srgbClr val="7030A0"/>
                </a:solidFill>
                <a:latin typeface="Georgia" panose="02040502050405020303" pitchFamily="18" charset="0"/>
              </a:rPr>
              <a:t>Wang, G., Jiang, L., Shi, J., Liu, X., Yang, J. and Cui, H., 2019. Snow-Covered Area Retrieval from </a:t>
            </a:r>
            <a:r>
              <a:rPr lang="en-US" sz="1200" dirty="0" err="1">
                <a:solidFill>
                  <a:srgbClr val="7030A0"/>
                </a:solidFill>
                <a:latin typeface="Georgia" panose="02040502050405020303" pitchFamily="18" charset="0"/>
              </a:rPr>
              <a:t>Himawari</a:t>
            </a:r>
            <a:r>
              <a:rPr lang="en-US" sz="1200" dirty="0">
                <a:solidFill>
                  <a:srgbClr val="7030A0"/>
                </a:solidFill>
                <a:latin typeface="Georgia" panose="02040502050405020303" pitchFamily="18" charset="0"/>
              </a:rPr>
              <a:t>–8 AHI Imagery of the Tibetan </a:t>
            </a:r>
            <a:r>
              <a:rPr lang="en-US" sz="1200" dirty="0" err="1">
                <a:solidFill>
                  <a:srgbClr val="7030A0"/>
                </a:solidFill>
                <a:latin typeface="Georgia" panose="02040502050405020303" pitchFamily="18" charset="0"/>
              </a:rPr>
              <a:t>Plateau.</a:t>
            </a:r>
            <a:r>
              <a:rPr lang="en-US" sz="1200" i="1" dirty="0" err="1">
                <a:solidFill>
                  <a:srgbClr val="7030A0"/>
                </a:solidFill>
                <a:latin typeface="Georgia" panose="02040502050405020303" pitchFamily="18" charset="0"/>
              </a:rPr>
              <a:t>Remote</a:t>
            </a:r>
            <a:r>
              <a:rPr lang="en-US" sz="1200" i="1" dirty="0">
                <a:solidFill>
                  <a:srgbClr val="7030A0"/>
                </a:solidFill>
                <a:latin typeface="Georgia" panose="02040502050405020303" pitchFamily="18" charset="0"/>
              </a:rPr>
              <a:t> Sensing</a:t>
            </a:r>
            <a:r>
              <a:rPr lang="en-US" sz="1200" dirty="0">
                <a:solidFill>
                  <a:srgbClr val="7030A0"/>
                </a:solidFill>
                <a:latin typeface="Georgia" panose="02040502050405020303" pitchFamily="18" charset="0"/>
              </a:rPr>
              <a:t>,</a:t>
            </a:r>
            <a:r>
              <a:rPr lang="en-US" sz="1200" i="1" dirty="0">
                <a:solidFill>
                  <a:srgbClr val="7030A0"/>
                </a:solidFill>
                <a:latin typeface="Georgia" panose="02040502050405020303" pitchFamily="18" charset="0"/>
              </a:rPr>
              <a:t>11</a:t>
            </a:r>
            <a:r>
              <a:rPr lang="en-US" sz="1200" dirty="0">
                <a:solidFill>
                  <a:srgbClr val="7030A0"/>
                </a:solidFill>
                <a:latin typeface="Georgia" panose="02040502050405020303" pitchFamily="18" charset="0"/>
              </a:rPr>
              <a:t>(20), p.2391. </a:t>
            </a:r>
            <a:endParaRPr lang="en-US" sz="1200" dirty="0">
              <a:solidFill>
                <a:srgbClr val="7030A0"/>
              </a:solidFill>
            </a:endParaRPr>
          </a:p>
        </p:txBody>
      </p:sp>
    </p:spTree>
    <p:extLst>
      <p:ext uri="{BB962C8B-B14F-4D97-AF65-F5344CB8AC3E}">
        <p14:creationId xmlns:p14="http://schemas.microsoft.com/office/powerpoint/2010/main" val="366560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2159</TotalTime>
  <Words>1144</Words>
  <Application>Microsoft Office PowerPoint</Application>
  <PresentationFormat>Widescreen</PresentationFormat>
  <Paragraphs>164</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等线</vt:lpstr>
      <vt:lpstr>等线 Light</vt:lpstr>
      <vt:lpstr>Arial</vt:lpstr>
      <vt:lpstr>Courier New</vt:lpstr>
      <vt:lpstr>Georgia</vt:lpstr>
      <vt:lpstr>Wingdings</vt:lpstr>
      <vt:lpstr>Office Theme</vt:lpstr>
      <vt:lpstr>GEOG 3403: Geographic Information Systems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Wu, Yanan</dc:creator>
  <cp:lastModifiedBy>Wu, Yanan</cp:lastModifiedBy>
  <cp:revision>3</cp:revision>
  <dcterms:created xsi:type="dcterms:W3CDTF">2026-01-27T05:37:26Z</dcterms:created>
  <dcterms:modified xsi:type="dcterms:W3CDTF">2026-01-28T17:39:07Z</dcterms:modified>
</cp:coreProperties>
</file>