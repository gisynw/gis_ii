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602" r:id="rId2"/>
    <p:sldId id="751" r:id="rId3"/>
    <p:sldId id="778" r:id="rId4"/>
    <p:sldId id="788" r:id="rId5"/>
    <p:sldId id="773" r:id="rId6"/>
    <p:sldId id="772" r:id="rId7"/>
    <p:sldId id="789" r:id="rId8"/>
    <p:sldId id="792" r:id="rId9"/>
    <p:sldId id="771" r:id="rId10"/>
    <p:sldId id="790" r:id="rId11"/>
    <p:sldId id="776" r:id="rId12"/>
    <p:sldId id="791" r:id="rId13"/>
    <p:sldId id="759" r:id="rId14"/>
    <p:sldId id="270" r:id="rId15"/>
  </p:sldIdLst>
  <p:sldSz cx="8229600" cy="51435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350" autoAdjust="0"/>
  </p:normalViewPr>
  <p:slideViewPr>
    <p:cSldViewPr snapToGrid="0" snapToObjects="1">
      <p:cViewPr varScale="1">
        <p:scale>
          <a:sx n="117" d="100"/>
          <a:sy n="117" d="100"/>
        </p:scale>
        <p:origin x="1770" y="102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5963" y="696913"/>
            <a:ext cx="55784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08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49654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00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6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80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46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12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24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597820"/>
            <a:ext cx="699516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914650"/>
            <a:ext cx="576072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B379-9948-4704-829E-96416ED18FAC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1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81144-EC15-4DAB-9726-04B41B9F18FB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082" y="3305176"/>
            <a:ext cx="6995160" cy="102155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082" y="2180035"/>
            <a:ext cx="6995160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9131-62C9-4B89-A722-55460DF88A4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33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044D-B4ED-4091-A1E9-8C9771548798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151335"/>
            <a:ext cx="3636169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631156"/>
            <a:ext cx="3636169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80524" y="1151335"/>
            <a:ext cx="3637598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80524" y="1631156"/>
            <a:ext cx="3637598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C301-9208-457A-9254-D5EF94991E67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2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4E83-B44F-4E53-A049-35B5BAA3706E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2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F4F4-65D1-40EC-BA6E-A6819C22A79F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3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1" y="204787"/>
            <a:ext cx="2707482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545" y="204789"/>
            <a:ext cx="4600575" cy="438983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1481" y="1076327"/>
            <a:ext cx="2707482" cy="351829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8486D-9E4D-4DFC-BA37-9058990A0FA8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059" y="3600450"/>
            <a:ext cx="4937760" cy="42505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13059" y="459581"/>
            <a:ext cx="4937760" cy="30861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059" y="4025504"/>
            <a:ext cx="4937760" cy="60364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62C-2B66-4409-9963-F3D4A3257E36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74048-DB93-488D-B61C-665FD347AFEA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1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66460" y="205979"/>
            <a:ext cx="185166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480" y="205979"/>
            <a:ext cx="541782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397B-B7A7-424C-A57E-E2BA2ACAF7A3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9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205979"/>
            <a:ext cx="740664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200151"/>
            <a:ext cx="740664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14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DD65-E0DA-4C40-988A-23E77FAE97AF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1780" y="4767263"/>
            <a:ext cx="26060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978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9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1148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41148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411480" rtl="0" eaLnBrk="1" latinLnBrk="0" hangingPunct="1">
        <a:spcBef>
          <a:spcPct val="20000"/>
        </a:spcBef>
        <a:buFont typeface="Arial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411480" rtl="0" eaLnBrk="1" latinLnBrk="0" hangingPunct="1">
        <a:spcBef>
          <a:spcPct val="200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41148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091" y="158778"/>
            <a:ext cx="8001000" cy="1549772"/>
          </a:xfrm>
        </p:spPr>
        <p:txBody>
          <a:bodyPr>
            <a:normAutofit/>
          </a:bodyPr>
          <a:lstStyle/>
          <a:p>
            <a:r>
              <a:rPr lang="en-US" sz="3600" dirty="0"/>
              <a:t>GEOG 3403: Geographic Information Systems II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57018" y="2967511"/>
            <a:ext cx="5760720" cy="1171497"/>
          </a:xfrm>
          <a:prstGeom prst="rect">
            <a:avLst/>
          </a:prstGeom>
        </p:spPr>
        <p:txBody>
          <a:bodyPr vert="horz" lIns="82296" tIns="41148" rIns="82296" bIns="41148" rtlCol="0">
            <a:normAutofit fontScale="2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>
                <a:solidFill>
                  <a:schemeClr val="tx1"/>
                </a:solidFill>
              </a:rPr>
              <a:t>Yanan Wu, PhD</a:t>
            </a:r>
          </a:p>
          <a:p>
            <a:r>
              <a:rPr lang="en-US" sz="8000" dirty="0">
                <a:solidFill>
                  <a:schemeClr val="tx1"/>
                </a:solidFill>
              </a:rPr>
              <a:t>Assistant Professor</a:t>
            </a:r>
          </a:p>
          <a:p>
            <a:r>
              <a:rPr lang="en-US" sz="8000" dirty="0">
                <a:solidFill>
                  <a:schemeClr val="tx1"/>
                </a:solidFill>
              </a:rPr>
              <a:t>Department of Geography</a:t>
            </a:r>
          </a:p>
          <a:p>
            <a:endParaRPr lang="en-US" sz="288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072922" y="4416072"/>
            <a:ext cx="279753" cy="481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852E4-0F7F-41A7-9B32-F40B4D3A753B}"/>
              </a:ext>
            </a:extLst>
          </p:cNvPr>
          <p:cNvSpPr txBox="1"/>
          <p:nvPr/>
        </p:nvSpPr>
        <p:spPr>
          <a:xfrm>
            <a:off x="-1" y="1708550"/>
            <a:ext cx="8196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Lecture 07 Geographically Weighted Regression</a:t>
            </a:r>
          </a:p>
        </p:txBody>
      </p:sp>
      <p:pic>
        <p:nvPicPr>
          <p:cNvPr id="13" name="Picture 12" descr="Geography department logo">
            <a:extLst>
              <a:ext uri="{FF2B5EF4-FFF2-40B4-BE49-F238E27FC236}">
                <a16:creationId xmlns:a16="http://schemas.microsoft.com/office/drawing/2014/main" id="{AE401581-7A56-448D-8256-F61D9515AE3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1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2741" y="1029962"/>
            <a:ext cx="4939293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800" dirty="0"/>
              <a:t>Spatial statistics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300" dirty="0"/>
              <a:t>Regression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940" dirty="0"/>
              <a:t>Simple regression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940" dirty="0"/>
              <a:t>Multiple regression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940" dirty="0"/>
              <a:t>Geographically weighted regression (GWR)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940" dirty="0"/>
              <a:t>Model assessment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940" dirty="0"/>
              <a:t>GWR example</a:t>
            </a:r>
          </a:p>
          <a:p>
            <a:pPr marL="822960" lvl="2" indent="0">
              <a:buNone/>
            </a:pPr>
            <a:endParaRPr lang="en-US" sz="19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Overview</a:t>
            </a:r>
            <a:endParaRPr lang="en-US" sz="2600" i="1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 descr="Image showing regression tools in ArcGIS Pro">
            <a:extLst>
              <a:ext uri="{FF2B5EF4-FFF2-40B4-BE49-F238E27FC236}">
                <a16:creationId xmlns:a16="http://schemas.microsoft.com/office/drawing/2014/main" id="{01DFE940-E60C-E2F2-9617-19C1AC392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434" y="1410826"/>
            <a:ext cx="2339543" cy="312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86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6D591F0-9233-4271-B606-437C670EA1AB}"/>
              </a:ext>
            </a:extLst>
          </p:cNvPr>
          <p:cNvSpPr txBox="1">
            <a:spLocks/>
          </p:cNvSpPr>
          <p:nvPr/>
        </p:nvSpPr>
        <p:spPr>
          <a:xfrm>
            <a:off x="0" y="207249"/>
            <a:ext cx="6562526" cy="7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7030A0"/>
                </a:solidFill>
              </a:rPr>
              <a:t>Multiscale </a:t>
            </a:r>
            <a:r>
              <a:rPr lang="en-US" altLang="zh-CN" dirty="0">
                <a:solidFill>
                  <a:srgbClr val="7030A0"/>
                </a:solidFill>
              </a:rPr>
              <a:t>GWR (MGWR)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4DD4E4-E0AB-44CA-8C82-72D5963329C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07BAED-BA53-4C28-8C9A-FF8EFF63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6FD261-D808-4E26-7C81-4431544FD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200152"/>
            <a:ext cx="7605286" cy="186624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The number of neighbors to be used in the model for each independent variable are different.</a:t>
            </a:r>
          </a:p>
        </p:txBody>
      </p:sp>
      <p:pic>
        <p:nvPicPr>
          <p:cNvPr id="1026" name="Picture 2" descr="Multiscale Geographically Weighted Regression tool illustration">
            <a:extLst>
              <a:ext uri="{FF2B5EF4-FFF2-40B4-BE49-F238E27FC236}">
                <a16:creationId xmlns:a16="http://schemas.microsoft.com/office/drawing/2014/main" id="{2ACB96A7-D69C-D917-F0AC-B5AB74048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623780"/>
            <a:ext cx="5715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4FC711-877A-8718-BA1F-826A4C55C9DD}"/>
              </a:ext>
            </a:extLst>
          </p:cNvPr>
          <p:cNvSpPr txBox="1"/>
          <p:nvPr/>
        </p:nvSpPr>
        <p:spPr>
          <a:xfrm>
            <a:off x="411480" y="4887214"/>
            <a:ext cx="6522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7030A0"/>
                </a:solidFill>
              </a:rPr>
              <a:t>https://pro.arcgis.com/en/pro-app/latest/tool-reference/spatial-statistics/multiscale-geographically-weighted-regression.htm</a:t>
            </a:r>
          </a:p>
        </p:txBody>
      </p:sp>
    </p:spTree>
    <p:extLst>
      <p:ext uri="{BB962C8B-B14F-4D97-AF65-F5344CB8AC3E}">
        <p14:creationId xmlns:p14="http://schemas.microsoft.com/office/powerpoint/2010/main" val="208568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C48EC-5745-71DE-0616-0FCBB8CAB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001" y="489859"/>
            <a:ext cx="7406640" cy="3394472"/>
          </a:xfrm>
        </p:spPr>
        <p:txBody>
          <a:bodyPr/>
          <a:lstStyle/>
          <a:p>
            <a:r>
              <a:rPr lang="en-US" altLang="zh-CN" dirty="0"/>
              <a:t>What makes MGWR different from traditional GWR?</a:t>
            </a:r>
          </a:p>
          <a:p>
            <a:endParaRPr lang="en-US" altLang="zh-CN" dirty="0"/>
          </a:p>
          <a:p>
            <a:pPr marL="720090" lvl="2" indent="0">
              <a:buNone/>
            </a:pPr>
            <a:r>
              <a:rPr lang="en-US" altLang="zh-CN" dirty="0"/>
              <a:t>A. It uses only one predictor</a:t>
            </a:r>
            <a:br>
              <a:rPr lang="en-US" altLang="zh-CN" dirty="0"/>
            </a:br>
            <a:r>
              <a:rPr lang="en-US" altLang="zh-CN" dirty="0"/>
              <a:t>B. Each independent variable can have a different spatial scale</a:t>
            </a:r>
            <a:br>
              <a:rPr lang="en-US" altLang="zh-CN" dirty="0"/>
            </a:br>
            <a:r>
              <a:rPr lang="en-US" altLang="zh-CN" dirty="0"/>
              <a:t>C. It ignores spatial relationships</a:t>
            </a:r>
            <a:br>
              <a:rPr lang="en-US" altLang="zh-CN" dirty="0"/>
            </a:br>
            <a:r>
              <a:rPr lang="en-US" altLang="zh-CN" dirty="0"/>
              <a:t>D. It does not use regression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CC5CD-862C-2D47-87E2-B414529ED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6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6D591F0-9233-4271-B606-437C670EA1AB}"/>
              </a:ext>
            </a:extLst>
          </p:cNvPr>
          <p:cNvSpPr txBox="1">
            <a:spLocks/>
          </p:cNvSpPr>
          <p:nvPr/>
        </p:nvSpPr>
        <p:spPr>
          <a:xfrm>
            <a:off x="0" y="207249"/>
            <a:ext cx="6562526" cy="7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7030A0"/>
                </a:solidFill>
              </a:rPr>
              <a:t>Multiscale </a:t>
            </a:r>
            <a:r>
              <a:rPr lang="en-US" altLang="zh-CN" dirty="0">
                <a:solidFill>
                  <a:srgbClr val="7030A0"/>
                </a:solidFill>
              </a:rPr>
              <a:t>GWR (MGWR)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4DD4E4-E0AB-44CA-8C82-72D5963329C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07BAED-BA53-4C28-8C9A-FF8EFF63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6FD261-D808-4E26-7C81-4431544FD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200152"/>
            <a:ext cx="7605286" cy="186624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The number of neighbors to be used in the model for each independent variable are different.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95B1E-B1F3-AC18-1259-F85D12DF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1" y="2437518"/>
            <a:ext cx="4961905" cy="2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4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6D591F0-9233-4271-B606-437C670EA1AB}"/>
              </a:ext>
            </a:extLst>
          </p:cNvPr>
          <p:cNvSpPr txBox="1">
            <a:spLocks/>
          </p:cNvSpPr>
          <p:nvPr/>
        </p:nvSpPr>
        <p:spPr>
          <a:xfrm>
            <a:off x="0" y="207249"/>
            <a:ext cx="6562526" cy="7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7030A0"/>
                </a:solidFill>
              </a:rPr>
              <a:t>Model Assessment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4DD4E4-E0AB-44CA-8C82-72D5963329C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07BAED-BA53-4C28-8C9A-FF8EFF63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0BFCD-D291-4D0E-4322-7695197232CC}"/>
              </a:ext>
            </a:extLst>
          </p:cNvPr>
          <p:cNvSpPr txBox="1"/>
          <p:nvPr/>
        </p:nvSpPr>
        <p:spPr>
          <a:xfrm>
            <a:off x="275896" y="924173"/>
            <a:ext cx="76736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Measures how much variability in the dependent variables can be explained by the model.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Ranges from 0 to 1. 1 means 100% of the variability in the dependent variables can be explained by the model.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In general, a higher R-squared indicates a better fit for the model.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The problem of R</a:t>
            </a:r>
            <a:r>
              <a:rPr lang="en-US" baseline="30000" dirty="0"/>
              <a:t>2</a:t>
            </a:r>
            <a:r>
              <a:rPr lang="en-US" dirty="0"/>
              <a:t> is that additional input variable will make the R</a:t>
            </a:r>
            <a:r>
              <a:rPr lang="en-US" baseline="30000" dirty="0"/>
              <a:t>2</a:t>
            </a:r>
            <a:r>
              <a:rPr lang="en-US" dirty="0"/>
              <a:t> stay the same or increase, even if the additional input variables show no relationship with the output variables. </a:t>
            </a:r>
          </a:p>
        </p:txBody>
      </p:sp>
      <p:pic>
        <p:nvPicPr>
          <p:cNvPr id="6" name="Picture 5" descr="R2 formula.">
            <a:extLst>
              <a:ext uri="{FF2B5EF4-FFF2-40B4-BE49-F238E27FC236}">
                <a16:creationId xmlns:a16="http://schemas.microsoft.com/office/drawing/2014/main" id="{964948C4-0831-1E49-6F38-94F62DFBE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607" y="4007661"/>
            <a:ext cx="3855854" cy="59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6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785C9-EF52-76DA-FD95-833FC8542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93915"/>
            <a:ext cx="7406640" cy="3394472"/>
          </a:xfrm>
        </p:spPr>
        <p:txBody>
          <a:bodyPr/>
          <a:lstStyle/>
          <a:p>
            <a:r>
              <a:rPr lang="en-US" altLang="zh-CN" dirty="0"/>
              <a:t>If R² = 0.85, this means:</a:t>
            </a:r>
          </a:p>
          <a:p>
            <a:endParaRPr lang="en-US" altLang="zh-CN" dirty="0"/>
          </a:p>
          <a:p>
            <a:pPr marL="360045" lvl="1" indent="0">
              <a:buNone/>
            </a:pPr>
            <a:r>
              <a:rPr lang="en-US" altLang="zh-CN" dirty="0"/>
              <a:t>A. 85% of the spatial pattern is random</a:t>
            </a:r>
            <a:br>
              <a:rPr lang="en-US" altLang="zh-CN" dirty="0"/>
            </a:br>
            <a:r>
              <a:rPr lang="en-US" altLang="zh-CN" dirty="0"/>
              <a:t>B. 85% of variation in Y is explained by the model</a:t>
            </a:r>
            <a:br>
              <a:rPr lang="en-US" altLang="zh-CN" dirty="0"/>
            </a:br>
            <a:r>
              <a:rPr lang="en-US" altLang="zh-CN" dirty="0"/>
              <a:t>C. The model is perfect</a:t>
            </a:r>
            <a:br>
              <a:rPr lang="en-US" altLang="zh-CN" dirty="0"/>
            </a:br>
            <a:r>
              <a:rPr lang="en-US" altLang="zh-CN" dirty="0"/>
              <a:t>D. The model has no residuals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BA4FF-1AE3-5F90-74D2-AD26715F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4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1EC7B-C274-4BDB-0340-72C67EFE584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Local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 MGWR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A41EC7B-C274-4BDB-0340-72C67EFE5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571" b="-22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C90CF-4085-757E-00FF-CB526333A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200151"/>
            <a:ext cx="7406640" cy="1502228"/>
          </a:xfrm>
        </p:spPr>
        <p:txBody>
          <a:bodyPr/>
          <a:lstStyle/>
          <a:p>
            <a:r>
              <a:rPr lang="en-US" altLang="zh-CN" dirty="0"/>
              <a:t>Negative local R² values indicate that the local model performs worse than the global mean prediction at that location.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52524-64BC-E1E7-DEFA-D9463AF8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85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6D591F0-9233-4271-B606-437C670EA1AB}"/>
              </a:ext>
            </a:extLst>
          </p:cNvPr>
          <p:cNvSpPr txBox="1">
            <a:spLocks/>
          </p:cNvSpPr>
          <p:nvPr/>
        </p:nvSpPr>
        <p:spPr>
          <a:xfrm>
            <a:off x="0" y="207249"/>
            <a:ext cx="6562526" cy="7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7030A0"/>
                </a:solidFill>
              </a:rPr>
              <a:t>Model Assessment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4DD4E4-E0AB-44CA-8C82-72D5963329C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07BAED-BA53-4C28-8C9A-FF8EFF63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0BFCD-D291-4D0E-4322-7695197232CC}"/>
              </a:ext>
            </a:extLst>
          </p:cNvPr>
          <p:cNvSpPr txBox="1"/>
          <p:nvPr/>
        </p:nvSpPr>
        <p:spPr>
          <a:xfrm>
            <a:off x="275896" y="926227"/>
            <a:ext cx="76736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Adjusted R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A modified version of R</a:t>
            </a:r>
            <a:r>
              <a:rPr lang="en-US" baseline="30000" dirty="0"/>
              <a:t>2</a:t>
            </a:r>
            <a:r>
              <a:rPr lang="en-US" dirty="0"/>
              <a:t> that adjusts for predictors that are not significant in a regression model.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7030A0"/>
                </a:solidFill>
              </a:rPr>
              <a:t>Measures how much variability in the dependent variables can be explained by the model.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7030A0"/>
                </a:solidFill>
              </a:rPr>
              <a:t>Ranges from 0 to 1. 1 means 100% of the variability in the dependent variables can be explained by the model.</a:t>
            </a:r>
          </a:p>
        </p:txBody>
      </p:sp>
      <p:pic>
        <p:nvPicPr>
          <p:cNvPr id="13" name="Picture 12" descr="Adjusted R2 formula">
            <a:extLst>
              <a:ext uri="{FF2B5EF4-FFF2-40B4-BE49-F238E27FC236}">
                <a16:creationId xmlns:a16="http://schemas.microsoft.com/office/drawing/2014/main" id="{D8E26997-C2FE-E7EA-58BF-566AEF160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813" y="3141526"/>
            <a:ext cx="2631180" cy="195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9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173D3-79DC-19A3-D4C6-77A1B269E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91886"/>
            <a:ext cx="7406640" cy="3394472"/>
          </a:xfrm>
        </p:spPr>
        <p:txBody>
          <a:bodyPr/>
          <a:lstStyle/>
          <a:p>
            <a:r>
              <a:rPr lang="en-US" altLang="zh-CN" dirty="0"/>
              <a:t>Why is Adjusted R² preferred over R² in multiple regression?</a:t>
            </a:r>
          </a:p>
          <a:p>
            <a:endParaRPr lang="en-US" altLang="zh-CN" dirty="0"/>
          </a:p>
          <a:p>
            <a:pPr marL="411480" lvl="1" indent="0">
              <a:buNone/>
            </a:pPr>
            <a:r>
              <a:rPr lang="en-US" altLang="zh-CN" dirty="0"/>
              <a:t>A. It always gives a higher value</a:t>
            </a:r>
            <a:br>
              <a:rPr lang="en-US" altLang="zh-CN" dirty="0"/>
            </a:br>
            <a:r>
              <a:rPr lang="en-US" altLang="zh-CN" dirty="0"/>
              <a:t>B. It penalizes unnecessary predictors</a:t>
            </a:r>
            <a:br>
              <a:rPr lang="en-US" altLang="zh-CN" dirty="0"/>
            </a:br>
            <a:r>
              <a:rPr lang="en-US" altLang="zh-CN" dirty="0"/>
              <a:t>C. It removes residuals</a:t>
            </a:r>
            <a:br>
              <a:rPr lang="en-US" altLang="zh-CN" dirty="0"/>
            </a:br>
            <a:r>
              <a:rPr lang="en-US" altLang="zh-CN" dirty="0"/>
              <a:t>D. It ignores sample size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3FE1B-A78C-79A7-91D1-E732728F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95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6D591F0-9233-4271-B606-437C670EA1AB}"/>
              </a:ext>
            </a:extLst>
          </p:cNvPr>
          <p:cNvSpPr txBox="1">
            <a:spLocks/>
          </p:cNvSpPr>
          <p:nvPr/>
        </p:nvSpPr>
        <p:spPr>
          <a:xfrm>
            <a:off x="0" y="207249"/>
            <a:ext cx="6562526" cy="7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7030A0"/>
                </a:solidFill>
              </a:rPr>
              <a:t>Model Assessment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4DD4E4-E0AB-44CA-8C82-72D5963329C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07BAED-BA53-4C28-8C9A-FF8EFF63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0BFCD-D291-4D0E-4322-7695197232CC}"/>
              </a:ext>
            </a:extLst>
          </p:cNvPr>
          <p:cNvSpPr txBox="1"/>
          <p:nvPr/>
        </p:nvSpPr>
        <p:spPr>
          <a:xfrm>
            <a:off x="316091" y="1045290"/>
            <a:ext cx="76736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Akaike's Information Criterion (AIC)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An estimator of prediction error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The lower the AIC value, the better the model performance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When the sample size is small, AIC will select models that have too many 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F3E66-F717-9175-78E5-58AC8C47C14F}"/>
              </a:ext>
            </a:extLst>
          </p:cNvPr>
          <p:cNvSpPr txBox="1"/>
          <p:nvPr/>
        </p:nvSpPr>
        <p:spPr>
          <a:xfrm>
            <a:off x="316091" y="3566733"/>
            <a:ext cx="76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Akaike's Information Criterion Correction Version (</a:t>
            </a:r>
            <a:r>
              <a:rPr lang="en-US" dirty="0" err="1"/>
              <a:t>AICc</a:t>
            </a:r>
            <a:r>
              <a:rPr lang="en-US" dirty="0"/>
              <a:t>)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7030A0"/>
                </a:solidFill>
              </a:rPr>
              <a:t>The lower the AIC value, the better the model performance </a:t>
            </a:r>
          </a:p>
        </p:txBody>
      </p:sp>
      <p:pic>
        <p:nvPicPr>
          <p:cNvPr id="8" name="Picture 7" descr="AIC formula">
            <a:extLst>
              <a:ext uri="{FF2B5EF4-FFF2-40B4-BE49-F238E27FC236}">
                <a16:creationId xmlns:a16="http://schemas.microsoft.com/office/drawing/2014/main" id="{2A15FF49-8FEC-8C6B-473A-477B9ACEC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965" y="2489580"/>
            <a:ext cx="2018416" cy="1045907"/>
          </a:xfrm>
          <a:prstGeom prst="rect">
            <a:avLst/>
          </a:prstGeom>
        </p:spPr>
      </p:pic>
      <p:pic>
        <p:nvPicPr>
          <p:cNvPr id="12" name="Picture 11" descr="AICc formula">
            <a:extLst>
              <a:ext uri="{FF2B5EF4-FFF2-40B4-BE49-F238E27FC236}">
                <a16:creationId xmlns:a16="http://schemas.microsoft.com/office/drawing/2014/main" id="{2FE76A77-0ACA-7760-D8E9-5CE43DEA7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384" y="4468261"/>
            <a:ext cx="2057578" cy="4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12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D4B2-6BA2-80CF-1234-647735597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465365"/>
            <a:ext cx="7406640" cy="3394472"/>
          </a:xfrm>
        </p:spPr>
        <p:txBody>
          <a:bodyPr/>
          <a:lstStyle/>
          <a:p>
            <a:r>
              <a:rPr lang="en-US" altLang="zh-CN" dirty="0"/>
              <a:t>When comparing two models:</a:t>
            </a:r>
          </a:p>
          <a:p>
            <a:endParaRPr lang="en-US" altLang="zh-CN" dirty="0"/>
          </a:p>
          <a:p>
            <a:pPr marL="360045" lvl="1" indent="0">
              <a:buNone/>
            </a:pPr>
            <a:r>
              <a:rPr lang="en-US" altLang="zh-CN" dirty="0"/>
              <a:t>Model A: AIC = 120</a:t>
            </a:r>
            <a:br>
              <a:rPr lang="en-US" altLang="zh-CN" dirty="0"/>
            </a:br>
            <a:r>
              <a:rPr lang="en-US" altLang="zh-CN" dirty="0"/>
              <a:t>Model B: AIC = 105</a:t>
            </a:r>
          </a:p>
          <a:p>
            <a:pPr marL="360045" lvl="1" indent="0">
              <a:buNone/>
            </a:pPr>
            <a:r>
              <a:rPr lang="en-US" altLang="zh-CN" dirty="0"/>
              <a:t>Which model is better?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64CAB-C903-8571-1D2A-9AABB63B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2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6D591F0-9233-4271-B606-437C670EA1AB}"/>
              </a:ext>
            </a:extLst>
          </p:cNvPr>
          <p:cNvSpPr txBox="1">
            <a:spLocks/>
          </p:cNvSpPr>
          <p:nvPr/>
        </p:nvSpPr>
        <p:spPr>
          <a:xfrm>
            <a:off x="0" y="207249"/>
            <a:ext cx="6562526" cy="71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7030A0"/>
                </a:solidFill>
              </a:rPr>
              <a:t>Multiscale GWR Example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4DD4E4-E0AB-44CA-8C82-72D5963329CD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07BAED-BA53-4C28-8C9A-FF8EFF63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0230C-8192-234D-EE01-5FFCAEAAC4F2}"/>
              </a:ext>
            </a:extLst>
          </p:cNvPr>
          <p:cNvSpPr txBox="1"/>
          <p:nvPr/>
        </p:nvSpPr>
        <p:spPr>
          <a:xfrm>
            <a:off x="3383280" y="4776459"/>
            <a:ext cx="1024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FD5DC-4604-AB22-17B8-8E725188F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898714"/>
            <a:ext cx="2903465" cy="1954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5AF570-DFB1-B46A-FD3C-EAD3C57B3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659" y="1898714"/>
            <a:ext cx="2533450" cy="19308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CA010B-844D-31F0-48F8-B4F24BC18885}"/>
              </a:ext>
            </a:extLst>
          </p:cNvPr>
          <p:cNvSpPr txBox="1"/>
          <p:nvPr/>
        </p:nvSpPr>
        <p:spPr>
          <a:xfrm>
            <a:off x="152400" y="1453906"/>
            <a:ext cx="2903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Coefficient Distance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E7B5F-7DC3-6E82-238B-42242E834FD9}"/>
              </a:ext>
            </a:extLst>
          </p:cNvPr>
          <p:cNvSpPr txBox="1"/>
          <p:nvPr/>
        </p:nvSpPr>
        <p:spPr>
          <a:xfrm>
            <a:off x="3837214" y="1468176"/>
            <a:ext cx="272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Coefficient Age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132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09405" y="1731477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10257</TotalTime>
  <Words>522</Words>
  <Application>Microsoft Office PowerPoint</Application>
  <PresentationFormat>Custom</PresentationFormat>
  <Paragraphs>79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Courier New</vt:lpstr>
      <vt:lpstr>Wingdings</vt:lpstr>
      <vt:lpstr>Office Theme</vt:lpstr>
      <vt:lpstr>GEOG 3403: Geographic Information Systems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Local R^2 in MGWR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Information Science Introduction</dc:title>
  <dc:creator>Yaqian He</dc:creator>
  <cp:lastModifiedBy>Wu, Yanan</cp:lastModifiedBy>
  <cp:revision>720</cp:revision>
  <cp:lastPrinted>2020-03-26T12:59:04Z</cp:lastPrinted>
  <dcterms:created xsi:type="dcterms:W3CDTF">2020-03-24T14:51:54Z</dcterms:created>
  <dcterms:modified xsi:type="dcterms:W3CDTF">2026-03-05T13:43:17Z</dcterms:modified>
</cp:coreProperties>
</file>