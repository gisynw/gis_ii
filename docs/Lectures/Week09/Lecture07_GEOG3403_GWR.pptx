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6"/>
  </p:notesMasterIdLst>
  <p:sldIdLst>
    <p:sldId id="602" r:id="rId2"/>
    <p:sldId id="751" r:id="rId3"/>
    <p:sldId id="297" r:id="rId4"/>
    <p:sldId id="286" r:id="rId5"/>
    <p:sldId id="779" r:id="rId6"/>
    <p:sldId id="780" r:id="rId7"/>
    <p:sldId id="783" r:id="rId8"/>
    <p:sldId id="781" r:id="rId9"/>
    <p:sldId id="782" r:id="rId10"/>
    <p:sldId id="792" r:id="rId11"/>
    <p:sldId id="330" r:id="rId12"/>
    <p:sldId id="784" r:id="rId13"/>
    <p:sldId id="793" r:id="rId14"/>
    <p:sldId id="308" r:id="rId15"/>
    <p:sldId id="338" r:id="rId16"/>
    <p:sldId id="785" r:id="rId17"/>
    <p:sldId id="786" r:id="rId18"/>
    <p:sldId id="787" r:id="rId19"/>
    <p:sldId id="794" r:id="rId20"/>
    <p:sldId id="778" r:id="rId21"/>
    <p:sldId id="788" r:id="rId22"/>
    <p:sldId id="773" r:id="rId23"/>
    <p:sldId id="772" r:id="rId24"/>
    <p:sldId id="789" r:id="rId25"/>
    <p:sldId id="771" r:id="rId26"/>
    <p:sldId id="790" r:id="rId27"/>
    <p:sldId id="776" r:id="rId28"/>
    <p:sldId id="791" r:id="rId29"/>
    <p:sldId id="795" r:id="rId30"/>
    <p:sldId id="759" r:id="rId31"/>
    <p:sldId id="761" r:id="rId32"/>
    <p:sldId id="760" r:id="rId33"/>
    <p:sldId id="762" r:id="rId34"/>
    <p:sldId id="763" r:id="rId35"/>
    <p:sldId id="765" r:id="rId36"/>
    <p:sldId id="764" r:id="rId37"/>
    <p:sldId id="768" r:id="rId38"/>
    <p:sldId id="766" r:id="rId39"/>
    <p:sldId id="767" r:id="rId40"/>
    <p:sldId id="770" r:id="rId41"/>
    <p:sldId id="775" r:id="rId42"/>
    <p:sldId id="769" r:id="rId43"/>
    <p:sldId id="774" r:id="rId44"/>
    <p:sldId id="270" r:id="rId45"/>
  </p:sldIdLst>
  <p:sldSz cx="8229600" cy="51435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350" autoAdjust="0"/>
  </p:normalViewPr>
  <p:slideViewPr>
    <p:cSldViewPr snapToGrid="0" snapToObjects="1">
      <p:cViewPr varScale="1">
        <p:scale>
          <a:sx n="117" d="100"/>
          <a:sy n="117" d="100"/>
        </p:scale>
        <p:origin x="1770" y="84"/>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3/1/2026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4965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will end this module with a brief introduction to regression and geographically weighted regression. </a:t>
            </a:r>
          </a:p>
          <a:p>
            <a:endParaRPr lang="en-US" baseline="0" dirty="0"/>
          </a:p>
          <a:p>
            <a:r>
              <a:rPr lang="en-US" baseline="0" dirty="0"/>
              <a:t>Regression techniques can be used to explore the relationship or correlation between variables and also predict a continuous variable using other variables. </a:t>
            </a:r>
          </a:p>
          <a:p>
            <a:endParaRPr lang="en-US" baseline="0" dirty="0"/>
          </a:p>
          <a:p>
            <a:r>
              <a:rPr lang="en-US" baseline="0" dirty="0"/>
              <a:t>There are forms of regression designed for probabilistic or classification problems, like logistic regression, but we will not discuss those here. </a:t>
            </a:r>
          </a:p>
          <a:p>
            <a:endParaRPr lang="en-US" baseline="0" dirty="0"/>
          </a:p>
          <a:p>
            <a:r>
              <a:rPr lang="en-US" baseline="0" dirty="0"/>
              <a:t>Regression can be used to predict a dependent variable using one or more independent variables.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43984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 to predict the</a:t>
            </a:r>
            <a:r>
              <a:rPr lang="en-US" baseline="0" dirty="0"/>
              <a:t> dependent variable using more than one independent variable. </a:t>
            </a:r>
          </a:p>
          <a:p>
            <a:endParaRPr lang="en-US" baseline="0" dirty="0"/>
          </a:p>
          <a:p>
            <a:r>
              <a:rPr lang="en-US" baseline="0" dirty="0"/>
              <a:t>This is known as multiple regression. </a:t>
            </a:r>
          </a:p>
          <a:p>
            <a:endParaRPr lang="en-US" baseline="0" dirty="0"/>
          </a:p>
          <a:p>
            <a:r>
              <a:rPr lang="en-US" baseline="0" dirty="0"/>
              <a:t>In this case a linear equation will be produced that includes a y-intercept and coefficients for all x variables. </a:t>
            </a:r>
          </a:p>
          <a:p>
            <a:endParaRPr lang="en-US" baseline="0" dirty="0"/>
          </a:p>
          <a:p>
            <a:r>
              <a:rPr lang="en-US" sz="1200" dirty="0"/>
              <a:t>β</a:t>
            </a:r>
            <a:r>
              <a:rPr lang="en-US" sz="1200" baseline="-25000" dirty="0"/>
              <a:t>0 </a:t>
            </a:r>
            <a:r>
              <a:rPr lang="en-US" sz="1200" baseline="0" dirty="0"/>
              <a:t>is the y intercept while </a:t>
            </a:r>
            <a:r>
              <a:rPr lang="en-US" sz="1200" dirty="0"/>
              <a:t>β</a:t>
            </a:r>
            <a:r>
              <a:rPr lang="en-US" sz="1200" baseline="-25000" dirty="0"/>
              <a:t>n </a:t>
            </a:r>
            <a:r>
              <a:rPr lang="en-US" sz="1200" baseline="0" dirty="0"/>
              <a:t>represents the coefficient or slope for the n</a:t>
            </a:r>
            <a:r>
              <a:rPr lang="en-US" sz="1200" baseline="30000" dirty="0"/>
              <a:t>th</a:t>
            </a:r>
            <a:r>
              <a:rPr lang="en-US" sz="1200" baseline="0" dirty="0"/>
              <a:t> x variable.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92611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relationship</a:t>
            </a:r>
            <a:r>
              <a:rPr lang="en-US" baseline="0" dirty="0"/>
              <a:t> between the dependent and independent variables vary over space? Or, what if there is spatial heterogeneity in relationships? In this case, it may not be appropriate to generate one regression equation for all features or the entire mapped extent. </a:t>
            </a:r>
          </a:p>
          <a:p>
            <a:endParaRPr lang="en-US" baseline="0" dirty="0"/>
          </a:p>
          <a:p>
            <a:r>
              <a:rPr lang="en-US" baseline="0" dirty="0"/>
              <a:t>Instead, it might be more appropriate to allow the equation to vary over space to capture the changing relationships. This is the concept of geographically weighted regression or GWR. Note that there are different forms of GWR. </a:t>
            </a:r>
          </a:p>
          <a:p>
            <a:endParaRPr lang="en-US" baseline="0" dirty="0"/>
          </a:p>
          <a:p>
            <a:r>
              <a:rPr lang="en-US" baseline="0" dirty="0"/>
              <a:t>When using GWR, the regression equation will vary across the map space or for each mapped feature. Specifically, different coefficients will be calculated, as demonstrated in the provided table. </a:t>
            </a:r>
          </a:p>
          <a:p>
            <a:endParaRPr lang="en-US" baseline="0" dirty="0"/>
          </a:p>
          <a:p>
            <a:r>
              <a:rPr lang="en-US" baseline="0" dirty="0"/>
              <a:t>This is a powerful technique for improving the suitability of linear regression for making predictions over map space where relationships can vary. </a:t>
            </a:r>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822902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highlighted</a:t>
            </a:r>
            <a:r>
              <a:rPr lang="en-US" baseline="0" dirty="0"/>
              <a:t> in the provided examples, the coefficients vary over the map space when using GWR as opposed to the same coefficients or a single equation across the map space. </a:t>
            </a:r>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2209740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707500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2269168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1795480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1539646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890212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4186124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660478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947115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2577629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41104474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1930427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641195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1350079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1540772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38690012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2404459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1810844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4190234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43</a:t>
            </a:fld>
            <a:endParaRPr lang="en-US"/>
          </a:p>
        </p:txBody>
      </p:sp>
    </p:spTree>
    <p:extLst>
      <p:ext uri="{BB962C8B-B14F-4D97-AF65-F5344CB8AC3E}">
        <p14:creationId xmlns:p14="http://schemas.microsoft.com/office/powerpoint/2010/main" val="25218071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44</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597820"/>
            <a:ext cx="6995160" cy="1102519"/>
          </a:xfrm>
        </p:spPr>
        <p:txBody>
          <a:bodyPr/>
          <a:lstStyle/>
          <a:p>
            <a:r>
              <a:rPr lang="en-US"/>
              <a:t>Click to edit Master title style</a:t>
            </a:r>
          </a:p>
        </p:txBody>
      </p:sp>
      <p:sp>
        <p:nvSpPr>
          <p:cNvPr id="3" name="Subtitle 2"/>
          <p:cNvSpPr>
            <a:spLocks noGrp="1"/>
          </p:cNvSpPr>
          <p:nvPr>
            <p:ph type="subTitle" idx="1"/>
          </p:nvPr>
        </p:nvSpPr>
        <p:spPr>
          <a:xfrm>
            <a:off x="1234440" y="2914650"/>
            <a:ext cx="576072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30B379-9948-4704-829E-96416ED18FAC}" type="datetime1">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4591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C81144-EC15-4DAB-9726-04B41B9F18FB}" type="datetime1">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46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82" y="3305176"/>
            <a:ext cx="6995160" cy="1021556"/>
          </a:xfrm>
        </p:spPr>
        <p:txBody>
          <a:bodyPr anchor="t"/>
          <a:lstStyle>
            <a:lvl1pPr algn="l">
              <a:defRPr sz="3600" b="1" cap="all"/>
            </a:lvl1pPr>
          </a:lstStyle>
          <a:p>
            <a:r>
              <a:rPr lang="en-US"/>
              <a:t>Click to edit Master title style</a:t>
            </a:r>
          </a:p>
        </p:txBody>
      </p:sp>
      <p:sp>
        <p:nvSpPr>
          <p:cNvPr id="3" name="Text Placeholder 2"/>
          <p:cNvSpPr>
            <a:spLocks noGrp="1"/>
          </p:cNvSpPr>
          <p:nvPr>
            <p:ph type="body" idx="1"/>
          </p:nvPr>
        </p:nvSpPr>
        <p:spPr>
          <a:xfrm>
            <a:off x="650082" y="2180035"/>
            <a:ext cx="699516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239131-62C9-4B89-A722-55460DF88A4D}" type="datetime1">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41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4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833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F8044D-B4ED-4091-A1E9-8C9771548798}" type="datetime1">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5204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1480" y="1151335"/>
            <a:ext cx="3636169"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11480" y="1631156"/>
            <a:ext cx="3636169"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80524" y="1151335"/>
            <a:ext cx="363759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180524" y="1631156"/>
            <a:ext cx="363759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ECC301-9208-457A-9254-D5EF94991E67}" type="datetime1">
              <a:rPr lang="en-US" smtClean="0"/>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432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29D4E83-B44F-4E53-A049-35B5BAA3706E}" type="datetime1">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442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F8F4F4-65D1-40EC-BA6E-A6819C22A79F}" type="datetime1">
              <a:rPr lang="en-US" smtClean="0"/>
              <a:t>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04835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481" y="204787"/>
            <a:ext cx="2707482" cy="871538"/>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217545" y="204789"/>
            <a:ext cx="4600575"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1481" y="1076327"/>
            <a:ext cx="2707482"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F398486D-9E4D-4DFC-BA37-9058990A0FA8}" type="datetime1">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18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3059" y="3600450"/>
            <a:ext cx="4937760" cy="425054"/>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613059" y="459581"/>
            <a:ext cx="493776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613059" y="4025504"/>
            <a:ext cx="493776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E6DD762C-2B66-4409-9963-F3D4A3257E36}" type="datetime1">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603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D74048-DB93-488D-B61C-665FD347AFEA}" type="datetime1">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91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 y="205979"/>
            <a:ext cx="185166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1480" y="205979"/>
            <a:ext cx="541782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3D397B-B7A7-424C-A57E-E2BA2ACAF7A3}" type="datetime1">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459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480" y="205979"/>
            <a:ext cx="740664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11480" y="1200151"/>
            <a:ext cx="740664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1480" y="4767263"/>
            <a:ext cx="1920240" cy="273844"/>
          </a:xfrm>
          <a:prstGeom prst="rect">
            <a:avLst/>
          </a:prstGeom>
        </p:spPr>
        <p:txBody>
          <a:bodyPr vert="horz" lIns="91440" tIns="45720" rIns="91440" bIns="45720" rtlCol="0" anchor="ctr"/>
          <a:lstStyle>
            <a:lvl1pPr algn="l">
              <a:defRPr sz="1080">
                <a:solidFill>
                  <a:schemeClr val="tx1">
                    <a:tint val="75000"/>
                  </a:schemeClr>
                </a:solidFill>
              </a:defRPr>
            </a:lvl1pPr>
          </a:lstStyle>
          <a:p>
            <a:fld id="{D0B1DD65-E0DA-4C40-988A-23E77FAE97AF}" type="datetime1">
              <a:rPr lang="en-US" smtClean="0"/>
              <a:t>3/1/2026</a:t>
            </a:fld>
            <a:endParaRPr lang="en-US"/>
          </a:p>
        </p:txBody>
      </p:sp>
      <p:sp>
        <p:nvSpPr>
          <p:cNvPr id="5" name="Footer Placeholder 4"/>
          <p:cNvSpPr>
            <a:spLocks noGrp="1"/>
          </p:cNvSpPr>
          <p:nvPr>
            <p:ph type="ftr" sz="quarter" idx="3"/>
          </p:nvPr>
        </p:nvSpPr>
        <p:spPr>
          <a:xfrm>
            <a:off x="2811780" y="4767263"/>
            <a:ext cx="2606040" cy="27384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897880" y="4767263"/>
            <a:ext cx="1920240" cy="273844"/>
          </a:xfrm>
          <a:prstGeom prst="rect">
            <a:avLst/>
          </a:prstGeom>
        </p:spPr>
        <p:txBody>
          <a:bodyPr vert="horz" lIns="91440" tIns="45720" rIns="91440" bIns="45720" rtlCol="0" anchor="ctr"/>
          <a:lstStyle>
            <a:lvl1pPr algn="r">
              <a:defRPr sz="1080">
                <a:solidFill>
                  <a:schemeClr val="tx1">
                    <a:tint val="75000"/>
                  </a:schemeClr>
                </a:solidFill>
              </a:defRPr>
            </a:lvl1pPr>
          </a:lstStyle>
          <a:p>
            <a:fld id="{127DDC20-79C9-9647-820E-6D40A3D210C3}" type="slidenum">
              <a:rPr lang="en-US" smtClean="0"/>
              <a:pPr/>
              <a:t>‹#›</a:t>
            </a:fld>
            <a:endParaRPr lang="en-US"/>
          </a:p>
        </p:txBody>
      </p:sp>
    </p:spTree>
    <p:extLst>
      <p:ext uri="{BB962C8B-B14F-4D97-AF65-F5344CB8AC3E}">
        <p14:creationId xmlns:p14="http://schemas.microsoft.com/office/powerpoint/2010/main" val="142839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091" y="158778"/>
            <a:ext cx="8001000" cy="1549772"/>
          </a:xfrm>
        </p:spPr>
        <p:txBody>
          <a:bodyPr>
            <a:normAutofit/>
          </a:bodyPr>
          <a:lstStyle/>
          <a:p>
            <a:r>
              <a:rPr lang="en-US" sz="3600" dirty="0"/>
              <a:t>GEOG 3403: Geographic Information Systems II</a:t>
            </a:r>
          </a:p>
        </p:txBody>
      </p:sp>
      <p:sp>
        <p:nvSpPr>
          <p:cNvPr id="6" name="Subtitle 2"/>
          <p:cNvSpPr txBox="1">
            <a:spLocks/>
          </p:cNvSpPr>
          <p:nvPr/>
        </p:nvSpPr>
        <p:spPr>
          <a:xfrm>
            <a:off x="1257018" y="2967511"/>
            <a:ext cx="5760720" cy="1171497"/>
          </a:xfrm>
          <a:prstGeom prst="rect">
            <a:avLst/>
          </a:prstGeom>
        </p:spPr>
        <p:txBody>
          <a:bodyPr vert="horz" lIns="82296" tIns="41148" rIns="82296" bIns="41148"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8000" dirty="0">
                <a:solidFill>
                  <a:schemeClr val="tx1"/>
                </a:solidFill>
              </a:rPr>
              <a:t>Yanan Wu, PhD</a:t>
            </a:r>
          </a:p>
          <a:p>
            <a:r>
              <a:rPr lang="en-US" sz="8000" dirty="0">
                <a:solidFill>
                  <a:schemeClr val="tx1"/>
                </a:solidFill>
              </a:rPr>
              <a:t>Assistant Professor</a:t>
            </a:r>
          </a:p>
          <a:p>
            <a:r>
              <a:rPr lang="en-US" sz="8000" dirty="0">
                <a:solidFill>
                  <a:schemeClr val="tx1"/>
                </a:solidFill>
              </a:rPr>
              <a:t>Department of Geography</a:t>
            </a:r>
          </a:p>
          <a:p>
            <a:endParaRPr lang="en-US" sz="2880" dirty="0"/>
          </a:p>
        </p:txBody>
      </p:sp>
      <p:cxnSp>
        <p:nvCxnSpPr>
          <p:cNvPr id="15" name="Straight Connector 14"/>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2072922" y="4416072"/>
            <a:ext cx="279753" cy="481132"/>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9C8852E4-0F7F-41A7-9B32-F40B4D3A753B}"/>
              </a:ext>
            </a:extLst>
          </p:cNvPr>
          <p:cNvSpPr txBox="1"/>
          <p:nvPr/>
        </p:nvSpPr>
        <p:spPr>
          <a:xfrm>
            <a:off x="-1" y="1708550"/>
            <a:ext cx="8196091" cy="1200329"/>
          </a:xfrm>
          <a:prstGeom prst="rect">
            <a:avLst/>
          </a:prstGeom>
          <a:noFill/>
        </p:spPr>
        <p:txBody>
          <a:bodyPr wrap="square" rtlCol="0">
            <a:spAutoFit/>
          </a:bodyPr>
          <a:lstStyle/>
          <a:p>
            <a:pPr algn="ctr"/>
            <a:r>
              <a:rPr lang="en-US" sz="3600" dirty="0"/>
              <a:t>Lecture 07 Geographically Weighted Regression</a:t>
            </a:r>
          </a:p>
        </p:txBody>
      </p:sp>
      <p:pic>
        <p:nvPicPr>
          <p:cNvPr id="13" name="Picture 12" descr="Geography department logo">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152400" y="4275667"/>
            <a:ext cx="5915025" cy="758190"/>
          </a:xfrm>
          <a:prstGeom prst="rect">
            <a:avLst/>
          </a:prstGeom>
        </p:spPr>
      </p:pic>
    </p:spTree>
    <p:extLst>
      <p:ext uri="{BB962C8B-B14F-4D97-AF65-F5344CB8AC3E}">
        <p14:creationId xmlns:p14="http://schemas.microsoft.com/office/powerpoint/2010/main" val="2349219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4939293" cy="3886200"/>
          </a:xfrm>
        </p:spPr>
        <p:txBody>
          <a:bodyPr>
            <a:normAutofit/>
          </a:bodyPr>
          <a:lstStyle/>
          <a:p>
            <a:pPr>
              <a:buFont typeface="Courier New" panose="02070309020205020404" pitchFamily="49" charset="0"/>
              <a:buChar char="o"/>
            </a:pPr>
            <a:r>
              <a:rPr lang="en-US" altLang="en-US" sz="2800" dirty="0"/>
              <a:t>Spatial statistics</a:t>
            </a:r>
          </a:p>
          <a:p>
            <a:pPr lvl="1">
              <a:buFont typeface="Wingdings" panose="05000000000000000000" pitchFamily="2" charset="2"/>
              <a:buChar char="ü"/>
            </a:pPr>
            <a:r>
              <a:rPr lang="en-US" sz="2300" dirty="0"/>
              <a:t>Regression</a:t>
            </a:r>
          </a:p>
          <a:p>
            <a:pPr lvl="2">
              <a:buFont typeface="Arial" panose="020B0604020202020204" pitchFamily="34" charset="0"/>
              <a:buChar char="•"/>
            </a:pPr>
            <a:r>
              <a:rPr lang="en-US" sz="1940" dirty="0"/>
              <a:t>Simple regression</a:t>
            </a:r>
          </a:p>
          <a:p>
            <a:pPr lvl="2">
              <a:buFont typeface="Arial" panose="020B0604020202020204" pitchFamily="34" charset="0"/>
              <a:buChar char="•"/>
            </a:pPr>
            <a:r>
              <a:rPr lang="en-US" sz="1940" dirty="0"/>
              <a:t>Multiple regression</a:t>
            </a:r>
          </a:p>
          <a:p>
            <a:pPr lvl="2">
              <a:buFont typeface="Arial" panose="020B0604020202020204" pitchFamily="34" charset="0"/>
              <a:buChar char="•"/>
            </a:pPr>
            <a:r>
              <a:rPr lang="en-US" sz="1940" dirty="0"/>
              <a:t>Geographically weighted regression (GWR)</a:t>
            </a:r>
          </a:p>
          <a:p>
            <a:pPr lvl="2">
              <a:buFont typeface="Arial" panose="020B0604020202020204" pitchFamily="34" charset="0"/>
              <a:buChar char="•"/>
            </a:pPr>
            <a:r>
              <a:rPr lang="en-US" sz="1940" dirty="0"/>
              <a:t>Model assessment</a:t>
            </a:r>
          </a:p>
          <a:p>
            <a:pPr lvl="2">
              <a:buFont typeface="Arial" panose="020B0604020202020204" pitchFamily="34" charset="0"/>
              <a:buChar char="•"/>
            </a:pPr>
            <a:r>
              <a:rPr lang="en-US" sz="1940" dirty="0"/>
              <a:t>GWR example</a:t>
            </a:r>
          </a:p>
          <a:p>
            <a:pPr marL="822960" lvl="2" indent="0">
              <a:buNone/>
            </a:pPr>
            <a:endParaRPr lang="en-US" sz="1900" dirty="0"/>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a:t>
            </a:fld>
            <a:endParaRPr lang="en-US"/>
          </a:p>
        </p:txBody>
      </p:sp>
      <p:pic>
        <p:nvPicPr>
          <p:cNvPr id="6" name="Picture 5" descr="Image showing regression tools in ArcGIS Pro">
            <a:extLst>
              <a:ext uri="{FF2B5EF4-FFF2-40B4-BE49-F238E27FC236}">
                <a16:creationId xmlns:a16="http://schemas.microsoft.com/office/drawing/2014/main" id="{01DFE940-E60C-E2F2-9617-19C1AC392395}"/>
              </a:ext>
            </a:extLst>
          </p:cNvPr>
          <p:cNvPicPr>
            <a:picLocks noChangeAspect="1"/>
          </p:cNvPicPr>
          <p:nvPr/>
        </p:nvPicPr>
        <p:blipFill>
          <a:blip r:embed="rId3"/>
          <a:stretch>
            <a:fillRect/>
          </a:stretch>
        </p:blipFill>
        <p:spPr>
          <a:xfrm>
            <a:off x="5136434" y="1410826"/>
            <a:ext cx="2339543" cy="3124471"/>
          </a:xfrm>
          <a:prstGeom prst="rect">
            <a:avLst/>
          </a:prstGeom>
        </p:spPr>
      </p:pic>
    </p:spTree>
    <p:extLst>
      <p:ext uri="{BB962C8B-B14F-4D97-AF65-F5344CB8AC3E}">
        <p14:creationId xmlns:p14="http://schemas.microsoft.com/office/powerpoint/2010/main" val="1265286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56304" y="2097225"/>
            <a:ext cx="3594371" cy="930872"/>
          </a:xfrm>
        </p:spPr>
        <p:txBody>
          <a:bodyPr>
            <a:normAutofit/>
          </a:bodyPr>
          <a:lstStyle/>
          <a:p>
            <a:r>
              <a:rPr lang="en-US" dirty="0"/>
              <a:t>Regression</a:t>
            </a:r>
          </a:p>
        </p:txBody>
      </p:sp>
      <p:sp>
        <p:nvSpPr>
          <p:cNvPr id="2" name="Slide Number Placeholder 1">
            <a:extLst>
              <a:ext uri="{FF2B5EF4-FFF2-40B4-BE49-F238E27FC236}">
                <a16:creationId xmlns:a16="http://schemas.microsoft.com/office/drawing/2014/main" id="{54426AF1-9FD3-42F1-916E-DF047F59AB10}"/>
              </a:ext>
            </a:extLst>
          </p:cNvPr>
          <p:cNvSpPr>
            <a:spLocks noGrp="1"/>
          </p:cNvSpPr>
          <p:nvPr>
            <p:ph type="sldNum" sz="quarter" idx="12"/>
          </p:nvPr>
        </p:nvSpPr>
        <p:spPr/>
        <p:txBody>
          <a:bodyPr/>
          <a:lstStyle/>
          <a:p>
            <a:fld id="{127DDC20-79C9-9647-820E-6D40A3D210C3}" type="slidenum">
              <a:rPr lang="en-US" smtClean="0"/>
              <a:pPr/>
              <a:t>3</a:t>
            </a:fld>
            <a:endParaRPr lang="en-US"/>
          </a:p>
        </p:txBody>
      </p:sp>
    </p:spTree>
    <p:extLst>
      <p:ext uri="{BB962C8B-B14F-4D97-AF65-F5344CB8AC3E}">
        <p14:creationId xmlns:p14="http://schemas.microsoft.com/office/powerpoint/2010/main" val="2064323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7249"/>
            <a:ext cx="6562526" cy="716924"/>
          </a:xfrm>
        </p:spPr>
        <p:txBody>
          <a:bodyPr>
            <a:normAutofit/>
          </a:bodyPr>
          <a:lstStyle/>
          <a:p>
            <a:pPr algn="l"/>
            <a:r>
              <a:rPr lang="en-US" dirty="0">
                <a:solidFill>
                  <a:srgbClr val="7030A0"/>
                </a:solidFill>
              </a:rPr>
              <a:t>What is regression used for?</a:t>
            </a:r>
          </a:p>
        </p:txBody>
      </p:sp>
      <p:sp>
        <p:nvSpPr>
          <p:cNvPr id="3" name="Content Placeholder 2"/>
          <p:cNvSpPr>
            <a:spLocks noGrp="1"/>
          </p:cNvSpPr>
          <p:nvPr>
            <p:ph idx="1"/>
          </p:nvPr>
        </p:nvSpPr>
        <p:spPr/>
        <p:txBody>
          <a:bodyPr>
            <a:normAutofit fontScale="92500" lnSpcReduction="10000"/>
          </a:bodyPr>
          <a:lstStyle/>
          <a:p>
            <a:pPr>
              <a:buFont typeface="Courier New" panose="02070309020205020404" pitchFamily="49" charset="0"/>
              <a:buChar char="o"/>
            </a:pPr>
            <a:r>
              <a:rPr lang="en-US" dirty="0"/>
              <a:t>Regression can be used to explore the relationship between variables</a:t>
            </a:r>
          </a:p>
          <a:p>
            <a:pPr>
              <a:buFont typeface="Courier New" panose="02070309020205020404" pitchFamily="49" charset="0"/>
              <a:buChar char="o"/>
            </a:pPr>
            <a:r>
              <a:rPr lang="en-US" dirty="0"/>
              <a:t>You can predict a continuous variable using other variables</a:t>
            </a:r>
          </a:p>
          <a:p>
            <a:pPr>
              <a:buFont typeface="Courier New" panose="02070309020205020404" pitchFamily="49" charset="0"/>
              <a:buChar char="o"/>
            </a:pPr>
            <a:r>
              <a:rPr lang="en-US" b="1" dirty="0">
                <a:solidFill>
                  <a:srgbClr val="E3874F"/>
                </a:solidFill>
              </a:rPr>
              <a:t>Dependent Variable: </a:t>
            </a:r>
            <a:r>
              <a:rPr lang="en-US" dirty="0"/>
              <a:t>what you are trying to predict</a:t>
            </a:r>
          </a:p>
          <a:p>
            <a:pPr>
              <a:buFont typeface="Courier New" panose="02070309020205020404" pitchFamily="49" charset="0"/>
              <a:buChar char="o"/>
            </a:pPr>
            <a:r>
              <a:rPr lang="en-US" b="1" dirty="0">
                <a:solidFill>
                  <a:srgbClr val="E3874F"/>
                </a:solidFill>
              </a:rPr>
              <a:t>Independent Variable(s): </a:t>
            </a:r>
            <a:r>
              <a:rPr lang="en-US" dirty="0"/>
              <a:t>what is used to predict the independent variable</a:t>
            </a:r>
          </a:p>
        </p:txBody>
      </p:sp>
      <p:cxnSp>
        <p:nvCxnSpPr>
          <p:cNvPr id="4" name="Straight Connector 3">
            <a:extLst>
              <a:ext uri="{FF2B5EF4-FFF2-40B4-BE49-F238E27FC236}">
                <a16:creationId xmlns:a16="http://schemas.microsoft.com/office/drawing/2014/main" id="{ED6BDE3D-7C93-4553-ABE7-1C29C4B693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4">
            <a:extLst>
              <a:ext uri="{FF2B5EF4-FFF2-40B4-BE49-F238E27FC236}">
                <a16:creationId xmlns:a16="http://schemas.microsoft.com/office/drawing/2014/main" id="{1895F7C9-B765-4AB7-A260-C53E8D053B31}"/>
              </a:ext>
            </a:extLst>
          </p:cNvPr>
          <p:cNvSpPr>
            <a:spLocks noGrp="1"/>
          </p:cNvSpPr>
          <p:nvPr>
            <p:ph type="sldNum" sz="quarter" idx="12"/>
          </p:nvPr>
        </p:nvSpPr>
        <p:spPr/>
        <p:txBody>
          <a:bodyPr/>
          <a:lstStyle/>
          <a:p>
            <a:fld id="{127DDC20-79C9-9647-820E-6D40A3D210C3}" type="slidenum">
              <a:rPr lang="en-US" smtClean="0"/>
              <a:pPr/>
              <a:t>4</a:t>
            </a:fld>
            <a:endParaRPr lang="en-US" dirty="0"/>
          </a:p>
        </p:txBody>
      </p:sp>
    </p:spTree>
    <p:extLst>
      <p:ext uri="{BB962C8B-B14F-4D97-AF65-F5344CB8AC3E}">
        <p14:creationId xmlns:p14="http://schemas.microsoft.com/office/powerpoint/2010/main" val="3324757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80873-6CA2-728C-FE12-5CF587BB4BF6}"/>
              </a:ext>
            </a:extLst>
          </p:cNvPr>
          <p:cNvSpPr>
            <a:spLocks noGrp="1"/>
          </p:cNvSpPr>
          <p:nvPr>
            <p:ph idx="1"/>
          </p:nvPr>
        </p:nvSpPr>
        <p:spPr>
          <a:xfrm>
            <a:off x="354330" y="522515"/>
            <a:ext cx="7406640" cy="3859837"/>
          </a:xfrm>
        </p:spPr>
        <p:txBody>
          <a:bodyPr>
            <a:normAutofit/>
          </a:bodyPr>
          <a:lstStyle/>
          <a:p>
            <a:pPr marL="360045" lvl="1" indent="0">
              <a:buNone/>
            </a:pPr>
            <a:r>
              <a:rPr lang="en-US" altLang="zh-CN" dirty="0"/>
              <a:t>Which of the following geographic questions would MOST likely require regression?</a:t>
            </a:r>
          </a:p>
          <a:p>
            <a:pPr marL="360045" lvl="1" indent="0">
              <a:buNone/>
            </a:pPr>
            <a:endParaRPr lang="en-US" altLang="zh-CN" dirty="0"/>
          </a:p>
          <a:p>
            <a:pPr marL="0" indent="0">
              <a:buNone/>
            </a:pPr>
            <a:r>
              <a:rPr lang="en-US" altLang="zh-CN" sz="2400" dirty="0"/>
              <a:t>A. Where are the rivers located?</a:t>
            </a:r>
            <a:br>
              <a:rPr lang="en-US" altLang="zh-CN" sz="2400" dirty="0"/>
            </a:br>
            <a:r>
              <a:rPr lang="en-US" altLang="zh-CN" sz="2400" dirty="0"/>
              <a:t>B. What is the relationship between median income and housing price across counties?</a:t>
            </a:r>
            <a:br>
              <a:rPr lang="en-US" altLang="zh-CN" sz="2400" dirty="0"/>
            </a:br>
            <a:r>
              <a:rPr lang="en-US" altLang="zh-CN" sz="2400" dirty="0"/>
              <a:t>C. What is the area of Arkansas?</a:t>
            </a:r>
            <a:br>
              <a:rPr lang="en-US" altLang="zh-CN" sz="2400" dirty="0"/>
            </a:br>
            <a:r>
              <a:rPr lang="en-US" altLang="zh-CN" sz="2400" dirty="0"/>
              <a:t>D. What projection is used in this map?</a:t>
            </a:r>
          </a:p>
          <a:p>
            <a:endParaRPr lang="zh-CN" altLang="en-US" dirty="0"/>
          </a:p>
        </p:txBody>
      </p:sp>
      <p:sp>
        <p:nvSpPr>
          <p:cNvPr id="4" name="Slide Number Placeholder 3">
            <a:extLst>
              <a:ext uri="{FF2B5EF4-FFF2-40B4-BE49-F238E27FC236}">
                <a16:creationId xmlns:a16="http://schemas.microsoft.com/office/drawing/2014/main" id="{8F05EA90-63C8-74C4-3BBB-37E6C6DA1EAC}"/>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350366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3A2969-8180-50DD-FEAD-3F89BBAE81E0}"/>
              </a:ext>
            </a:extLst>
          </p:cNvPr>
          <p:cNvSpPr>
            <a:spLocks noGrp="1"/>
          </p:cNvSpPr>
          <p:nvPr>
            <p:ph idx="1"/>
          </p:nvPr>
        </p:nvSpPr>
        <p:spPr>
          <a:xfrm>
            <a:off x="411480" y="563336"/>
            <a:ext cx="7406640" cy="3394472"/>
          </a:xfrm>
        </p:spPr>
        <p:txBody>
          <a:bodyPr/>
          <a:lstStyle/>
          <a:p>
            <a:pPr marL="0" indent="0">
              <a:buNone/>
            </a:pPr>
            <a:r>
              <a:rPr lang="en-US" altLang="zh-CN" dirty="0"/>
              <a:t>If we want to predict </a:t>
            </a:r>
            <a:r>
              <a:rPr lang="en-US" altLang="zh-CN" b="1" dirty="0"/>
              <a:t>urban heat island intensity</a:t>
            </a:r>
            <a:r>
              <a:rPr lang="en-US" altLang="zh-CN" dirty="0"/>
              <a:t> using percent impervious surface and population density:</a:t>
            </a:r>
          </a:p>
          <a:p>
            <a:pPr marL="0" indent="0">
              <a:buNone/>
            </a:pPr>
            <a:endParaRPr lang="en-US" altLang="zh-CN" dirty="0"/>
          </a:p>
          <a:p>
            <a:r>
              <a:rPr lang="en-US" altLang="zh-CN" dirty="0"/>
              <a:t>What is the dependent variable?</a:t>
            </a:r>
          </a:p>
          <a:p>
            <a:r>
              <a:rPr lang="en-US" altLang="zh-CN" dirty="0"/>
              <a:t>What are the independent variables?</a:t>
            </a:r>
          </a:p>
          <a:p>
            <a:endParaRPr lang="zh-CN" altLang="en-US" dirty="0"/>
          </a:p>
        </p:txBody>
      </p:sp>
      <p:sp>
        <p:nvSpPr>
          <p:cNvPr id="4" name="Slide Number Placeholder 3">
            <a:extLst>
              <a:ext uri="{FF2B5EF4-FFF2-40B4-BE49-F238E27FC236}">
                <a16:creationId xmlns:a16="http://schemas.microsoft.com/office/drawing/2014/main" id="{9A074F2C-2A2D-A574-34D0-43FB05BB23F0}"/>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3341260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C945-89B5-7A7D-5932-A409A3637305}"/>
              </a:ext>
            </a:extLst>
          </p:cNvPr>
          <p:cNvSpPr>
            <a:spLocks noGrp="1"/>
          </p:cNvSpPr>
          <p:nvPr>
            <p:ph type="title"/>
          </p:nvPr>
        </p:nvSpPr>
        <p:spPr/>
        <p:txBody>
          <a:bodyPr/>
          <a:lstStyle/>
          <a:p>
            <a:pPr algn="l"/>
            <a:r>
              <a:rPr lang="en-US" altLang="zh-CN" dirty="0"/>
              <a:t>Simple Regression</a:t>
            </a:r>
            <a:endParaRPr lang="zh-CN" altLang="en-US" dirty="0"/>
          </a:p>
        </p:txBody>
      </p:sp>
      <p:sp>
        <p:nvSpPr>
          <p:cNvPr id="3" name="Content Placeholder 2">
            <a:extLst>
              <a:ext uri="{FF2B5EF4-FFF2-40B4-BE49-F238E27FC236}">
                <a16:creationId xmlns:a16="http://schemas.microsoft.com/office/drawing/2014/main" id="{9FAEC8F3-0A12-AC38-798F-C404E575AE93}"/>
              </a:ext>
            </a:extLst>
          </p:cNvPr>
          <p:cNvSpPr>
            <a:spLocks noGrp="1"/>
          </p:cNvSpPr>
          <p:nvPr>
            <p:ph idx="1"/>
          </p:nvPr>
        </p:nvSpPr>
        <p:spPr>
          <a:xfrm>
            <a:off x="411480" y="1200151"/>
            <a:ext cx="7406640" cy="775606"/>
          </a:xfrm>
        </p:spPr>
        <p:txBody>
          <a:bodyPr/>
          <a:lstStyle/>
          <a:p>
            <a:r>
              <a:rPr lang="en-US" altLang="zh-CN" sz="3200" dirty="0"/>
              <a:t>y = β</a:t>
            </a:r>
            <a:r>
              <a:rPr lang="en-US" altLang="zh-CN" sz="3200" baseline="-25000" dirty="0"/>
              <a:t>0 </a:t>
            </a:r>
            <a:r>
              <a:rPr lang="en-US" altLang="zh-CN" sz="3200" dirty="0"/>
              <a:t>+ β</a:t>
            </a:r>
            <a:r>
              <a:rPr lang="en-US" altLang="zh-CN" sz="3200" baseline="-25000" dirty="0"/>
              <a:t>1</a:t>
            </a:r>
            <a:r>
              <a:rPr lang="en-US" altLang="zh-CN" sz="3200" dirty="0"/>
              <a:t>x</a:t>
            </a:r>
            <a:r>
              <a:rPr lang="en-US" altLang="zh-CN" sz="3200" baseline="-25000" dirty="0"/>
              <a:t>1</a:t>
            </a:r>
            <a:endParaRPr lang="zh-CN" altLang="en-US" dirty="0"/>
          </a:p>
        </p:txBody>
      </p:sp>
      <p:sp>
        <p:nvSpPr>
          <p:cNvPr id="4" name="Slide Number Placeholder 3">
            <a:extLst>
              <a:ext uri="{FF2B5EF4-FFF2-40B4-BE49-F238E27FC236}">
                <a16:creationId xmlns:a16="http://schemas.microsoft.com/office/drawing/2014/main" id="{B7E62A70-888B-1320-3EFA-939BA33DDEC8}"/>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6" name="TextBox 5">
            <a:extLst>
              <a:ext uri="{FF2B5EF4-FFF2-40B4-BE49-F238E27FC236}">
                <a16:creationId xmlns:a16="http://schemas.microsoft.com/office/drawing/2014/main" id="{1F47D302-CD68-1DC7-CC97-19B64F3C4522}"/>
              </a:ext>
            </a:extLst>
          </p:cNvPr>
          <p:cNvSpPr txBox="1"/>
          <p:nvPr/>
        </p:nvSpPr>
        <p:spPr>
          <a:xfrm>
            <a:off x="581297" y="2202418"/>
            <a:ext cx="7067005" cy="369332"/>
          </a:xfrm>
          <a:prstGeom prst="rect">
            <a:avLst/>
          </a:prstGeom>
          <a:noFill/>
        </p:spPr>
        <p:txBody>
          <a:bodyPr wrap="square">
            <a:spAutoFit/>
          </a:bodyPr>
          <a:lstStyle/>
          <a:p>
            <a:pPr marL="0" indent="0">
              <a:buNone/>
            </a:pPr>
            <a:r>
              <a:rPr lang="en-US" altLang="zh-CN" dirty="0"/>
              <a:t>Predict Y using one independent variable</a:t>
            </a:r>
          </a:p>
        </p:txBody>
      </p:sp>
    </p:spTree>
    <p:extLst>
      <p:ext uri="{BB962C8B-B14F-4D97-AF65-F5344CB8AC3E}">
        <p14:creationId xmlns:p14="http://schemas.microsoft.com/office/powerpoint/2010/main" val="2604949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5DD3B9-6939-35C8-8D3D-41BC35A49D3B}"/>
                  </a:ext>
                </a:extLst>
              </p:cNvPr>
              <p:cNvSpPr>
                <a:spLocks noGrp="1"/>
              </p:cNvSpPr>
              <p:nvPr>
                <p:ph idx="1"/>
              </p:nvPr>
            </p:nvSpPr>
            <p:spPr>
              <a:xfrm>
                <a:off x="411480" y="408215"/>
                <a:ext cx="7406640" cy="3394472"/>
              </a:xfrm>
            </p:spPr>
            <p:txBody>
              <a:bodyPr>
                <a:normAutofit/>
              </a:bodyPr>
              <a:lstStyle/>
              <a:p>
                <a:r>
                  <a:rPr lang="en-US" altLang="zh-CN" dirty="0"/>
                  <a:t>If you model:</a:t>
                </a:r>
              </a:p>
              <a:p>
                <a14:m>
                  <m:oMath xmlns:m="http://schemas.openxmlformats.org/officeDocument/2006/math">
                    <m:r>
                      <a:rPr lang="zh-CN" altLang="en-US" i="1"/>
                      <m:t>𝐻𝑜𝑢𝑠𝑖𝑛𝑔𝑃𝑟𝑖𝑐𝑒</m:t>
                    </m:r>
                    <m:r>
                      <a:rPr lang="en-US" altLang="zh-CN"/>
                      <m:t>=</m:t>
                    </m:r>
                    <m:sSub>
                      <m:sSubPr>
                        <m:ctrlPr>
                          <a:rPr lang="ar-AE" altLang="zh-CN" i="1"/>
                        </m:ctrlPr>
                      </m:sSubPr>
                      <m:e>
                        <m:r>
                          <a:rPr lang="zh-CN" altLang="ar-AE" i="1"/>
                          <m:t>𝛽</m:t>
                        </m:r>
                      </m:e>
                      <m:sub>
                        <m:r>
                          <a:rPr lang="ar-AE" altLang="zh-CN"/>
                          <m:t>0</m:t>
                        </m:r>
                      </m:sub>
                    </m:sSub>
                    <m:r>
                      <a:rPr lang="ar-AE" altLang="zh-CN"/>
                      <m:t>+</m:t>
                    </m:r>
                    <m:sSub>
                      <m:sSubPr>
                        <m:ctrlPr>
                          <a:rPr lang="ar-AE" altLang="zh-CN" i="1"/>
                        </m:ctrlPr>
                      </m:sSubPr>
                      <m:e>
                        <m:r>
                          <a:rPr lang="zh-CN" altLang="ar-AE" i="1"/>
                          <m:t>𝛽</m:t>
                        </m:r>
                      </m:e>
                      <m:sub>
                        <m:r>
                          <a:rPr lang="ar-AE" altLang="zh-CN"/>
                          <m:t>1</m:t>
                        </m:r>
                      </m:sub>
                    </m:sSub>
                    <m:d>
                      <m:dPr>
                        <m:ctrlPr>
                          <a:rPr lang="ar-AE" altLang="zh-CN" i="1"/>
                        </m:ctrlPr>
                      </m:dPr>
                      <m:e>
                        <m:r>
                          <a:rPr lang="zh-CN" altLang="ar-AE" i="1"/>
                          <m:t>𝐷𝑖𝑠𝑡𝑎𝑛𝑐𝑒𝑇𝑜𝐶𝐵𝐷</m:t>
                        </m:r>
                      </m:e>
                    </m:d>
                  </m:oMath>
                </a14:m>
                <a:endParaRPr lang="ar-AE" altLang="zh-CN" dirty="0"/>
              </a:p>
              <a:p>
                <a:pPr lvl="1"/>
                <a:r>
                  <a:rPr lang="el-GR" altLang="zh-CN" dirty="0"/>
                  <a:t>β₁ </a:t>
                </a:r>
                <a:r>
                  <a:rPr lang="en-US" altLang="zh-CN" dirty="0"/>
                  <a:t>represent slope</a:t>
                </a:r>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𝛽</m:t>
                        </m:r>
                      </m:e>
                      <m:sub>
                        <m:r>
                          <a:rPr lang="en-US" altLang="zh-CN" b="0" i="1" smtClean="0">
                            <a:latin typeface="Cambria Math" panose="02040503050406030204" pitchFamily="18" charset="0"/>
                          </a:rPr>
                          <m:t>0</m:t>
                        </m:r>
                      </m:sub>
                    </m:sSub>
                  </m:oMath>
                </a14:m>
                <a:r>
                  <a:rPr lang="el-GR" altLang="zh-CN" dirty="0"/>
                  <a:t> </a:t>
                </a:r>
                <a:r>
                  <a:rPr lang="en-US" altLang="zh-CN" dirty="0"/>
                  <a:t>represent intercept</a:t>
                </a:r>
              </a:p>
              <a:p>
                <a:endParaRPr lang="zh-CN" altLang="en-US" dirty="0"/>
              </a:p>
            </p:txBody>
          </p:sp>
        </mc:Choice>
        <mc:Fallback>
          <p:sp>
            <p:nvSpPr>
              <p:cNvPr id="3" name="Content Placeholder 2">
                <a:extLst>
                  <a:ext uri="{FF2B5EF4-FFF2-40B4-BE49-F238E27FC236}">
                    <a16:creationId xmlns:a16="http://schemas.microsoft.com/office/drawing/2014/main" id="{935DD3B9-6939-35C8-8D3D-41BC35A49D3B}"/>
                  </a:ext>
                </a:extLst>
              </p:cNvPr>
              <p:cNvSpPr>
                <a:spLocks noGrp="1" noRot="1" noChangeAspect="1" noMove="1" noResize="1" noEditPoints="1" noAdjustHandles="1" noChangeArrowheads="1" noChangeShapeType="1" noTextEdit="1"/>
              </p:cNvSpPr>
              <p:nvPr>
                <p:ph idx="1"/>
              </p:nvPr>
            </p:nvSpPr>
            <p:spPr>
              <a:xfrm>
                <a:off x="411480" y="408215"/>
                <a:ext cx="7406640" cy="3394472"/>
              </a:xfrm>
              <a:blipFill>
                <a:blip r:embed="rId2"/>
                <a:stretch>
                  <a:fillRect l="-1564" t="-1975"/>
                </a:stretch>
              </a:blipFill>
            </p:spPr>
            <p:txBody>
              <a:bodyPr/>
              <a:lstStyle/>
              <a:p>
                <a:r>
                  <a:rPr lang="zh-CN" altLang="en-US">
                    <a:noFill/>
                  </a:rPr>
                  <a:t> </a:t>
                </a:r>
              </a:p>
            </p:txBody>
          </p:sp>
        </mc:Fallback>
      </mc:AlternateContent>
      <p:sp>
        <p:nvSpPr>
          <p:cNvPr id="4" name="Slide Number Placeholder 3">
            <a:extLst>
              <a:ext uri="{FF2B5EF4-FFF2-40B4-BE49-F238E27FC236}">
                <a16:creationId xmlns:a16="http://schemas.microsoft.com/office/drawing/2014/main" id="{D0206A16-5DF4-4A5E-BFC3-9B0C775F62BD}"/>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3627659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2BC49E-9665-245F-90C7-6DED2A67E29D}"/>
              </a:ext>
            </a:extLst>
          </p:cNvPr>
          <p:cNvSpPr>
            <a:spLocks noGrp="1"/>
          </p:cNvSpPr>
          <p:nvPr>
            <p:ph idx="1"/>
          </p:nvPr>
        </p:nvSpPr>
        <p:spPr>
          <a:xfrm>
            <a:off x="411480" y="371817"/>
            <a:ext cx="7406640" cy="1118506"/>
          </a:xfrm>
        </p:spPr>
        <p:txBody>
          <a:bodyPr/>
          <a:lstStyle/>
          <a:p>
            <a:r>
              <a:rPr lang="en-US" altLang="zh-CN" dirty="0"/>
              <a:t>In simple regression, only one independent variable is used.</a:t>
            </a:r>
            <a:endParaRPr lang="zh-CN" altLang="en-US" dirty="0"/>
          </a:p>
        </p:txBody>
      </p:sp>
      <p:sp>
        <p:nvSpPr>
          <p:cNvPr id="4" name="Slide Number Placeholder 3">
            <a:extLst>
              <a:ext uri="{FF2B5EF4-FFF2-40B4-BE49-F238E27FC236}">
                <a16:creationId xmlns:a16="http://schemas.microsoft.com/office/drawing/2014/main" id="{61AE6957-8C60-04C7-CBCF-3EDB02C156BD}"/>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792733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7E47D-F8EA-2824-D0A9-57C01B9B9150}"/>
              </a:ext>
            </a:extLst>
          </p:cNvPr>
          <p:cNvSpPr>
            <a:spLocks noGrp="1"/>
          </p:cNvSpPr>
          <p:nvPr>
            <p:ph type="title"/>
          </p:nvPr>
        </p:nvSpPr>
        <p:spPr>
          <a:xfrm>
            <a:off x="412115" y="87936"/>
            <a:ext cx="7406640" cy="857250"/>
          </a:xfrm>
        </p:spPr>
        <p:txBody>
          <a:bodyPr/>
          <a:lstStyle/>
          <a:p>
            <a:r>
              <a:rPr lang="en-US" altLang="zh-CN" dirty="0"/>
              <a:t>Simple regression</a:t>
            </a:r>
            <a:endParaRPr lang="zh-CN" altLang="en-US" dirty="0"/>
          </a:p>
        </p:txBody>
      </p:sp>
      <p:pic>
        <p:nvPicPr>
          <p:cNvPr id="6" name="Content Placeholder 5">
            <a:extLst>
              <a:ext uri="{FF2B5EF4-FFF2-40B4-BE49-F238E27FC236}">
                <a16:creationId xmlns:a16="http://schemas.microsoft.com/office/drawing/2014/main" id="{16EB18AC-3DF3-BEA7-8FC0-0989ABD78045}"/>
              </a:ext>
            </a:extLst>
          </p:cNvPr>
          <p:cNvPicPr>
            <a:picLocks noGrp="1" noChangeAspect="1"/>
          </p:cNvPicPr>
          <p:nvPr>
            <p:ph idx="1"/>
          </p:nvPr>
        </p:nvPicPr>
        <p:blipFill>
          <a:blip r:embed="rId2"/>
          <a:stretch>
            <a:fillRect/>
          </a:stretch>
        </p:blipFill>
        <p:spPr>
          <a:xfrm>
            <a:off x="411480" y="2060785"/>
            <a:ext cx="7407275" cy="1545638"/>
          </a:xfrm>
          <a:prstGeom prst="rect">
            <a:avLst/>
          </a:prstGeom>
        </p:spPr>
      </p:pic>
      <p:sp>
        <p:nvSpPr>
          <p:cNvPr id="4" name="Slide Number Placeholder 3">
            <a:extLst>
              <a:ext uri="{FF2B5EF4-FFF2-40B4-BE49-F238E27FC236}">
                <a16:creationId xmlns:a16="http://schemas.microsoft.com/office/drawing/2014/main" id="{B47A836F-6826-D89A-BAD8-9CD424EC155D}"/>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7" name="TextBox 6">
            <a:extLst>
              <a:ext uri="{FF2B5EF4-FFF2-40B4-BE49-F238E27FC236}">
                <a16:creationId xmlns:a16="http://schemas.microsoft.com/office/drawing/2014/main" id="{A64E743B-7087-258B-3512-807BE054D744}"/>
              </a:ext>
            </a:extLst>
          </p:cNvPr>
          <p:cNvSpPr txBox="1"/>
          <p:nvPr/>
        </p:nvSpPr>
        <p:spPr>
          <a:xfrm>
            <a:off x="411480" y="1352364"/>
            <a:ext cx="3845379" cy="369332"/>
          </a:xfrm>
          <a:prstGeom prst="rect">
            <a:avLst/>
          </a:prstGeom>
          <a:noFill/>
        </p:spPr>
        <p:txBody>
          <a:bodyPr wrap="square" rtlCol="0">
            <a:spAutoFit/>
          </a:bodyPr>
          <a:lstStyle/>
          <a:p>
            <a:r>
              <a:rPr lang="en-US" altLang="zh-CN" dirty="0"/>
              <a:t>Meaning of slope and intercept</a:t>
            </a:r>
            <a:endParaRPr lang="zh-CN" altLang="en-US" dirty="0"/>
          </a:p>
        </p:txBody>
      </p:sp>
    </p:spTree>
    <p:extLst>
      <p:ext uri="{BB962C8B-B14F-4D97-AF65-F5344CB8AC3E}">
        <p14:creationId xmlns:p14="http://schemas.microsoft.com/office/powerpoint/2010/main" val="1614724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200152"/>
            <a:ext cx="7406640" cy="1445078"/>
          </a:xfrm>
        </p:spPr>
        <p:txBody>
          <a:bodyPr>
            <a:normAutofit/>
          </a:bodyPr>
          <a:lstStyle/>
          <a:p>
            <a:pPr marL="0" indent="0">
              <a:buNone/>
            </a:pPr>
            <a:r>
              <a:rPr lang="en-US" sz="2400" dirty="0"/>
              <a:t>y = β</a:t>
            </a:r>
            <a:r>
              <a:rPr lang="en-US" sz="2400" baseline="-25000" dirty="0"/>
              <a:t>0 </a:t>
            </a:r>
            <a:r>
              <a:rPr lang="en-US" sz="2400" dirty="0"/>
              <a:t>+ β</a:t>
            </a:r>
            <a:r>
              <a:rPr lang="en-US" sz="2400" baseline="-25000" dirty="0"/>
              <a:t>1</a:t>
            </a:r>
            <a:r>
              <a:rPr lang="en-US" sz="2400" dirty="0"/>
              <a:t>x</a:t>
            </a:r>
            <a:r>
              <a:rPr lang="en-US" sz="2400" baseline="-25000" dirty="0"/>
              <a:t>1 </a:t>
            </a:r>
            <a:r>
              <a:rPr lang="en-US" sz="2400" dirty="0"/>
              <a:t>+ β</a:t>
            </a:r>
            <a:r>
              <a:rPr lang="en-US" sz="2400" baseline="-25000" dirty="0"/>
              <a:t>2</a:t>
            </a:r>
            <a:r>
              <a:rPr lang="en-US" sz="2400" dirty="0"/>
              <a:t>x</a:t>
            </a:r>
            <a:r>
              <a:rPr lang="en-US" sz="2400" baseline="-25000" dirty="0"/>
              <a:t>2 </a:t>
            </a:r>
            <a:r>
              <a:rPr lang="en-US" sz="2400" dirty="0"/>
              <a:t>+ β</a:t>
            </a:r>
            <a:r>
              <a:rPr lang="en-US" sz="2400" baseline="-25000" dirty="0"/>
              <a:t>3</a:t>
            </a:r>
            <a:r>
              <a:rPr lang="en-US" sz="2400" dirty="0"/>
              <a:t>x</a:t>
            </a:r>
            <a:r>
              <a:rPr lang="en-US" sz="2400" baseline="-25000" dirty="0"/>
              <a:t>3 </a:t>
            </a:r>
            <a:r>
              <a:rPr lang="en-US" sz="2400" dirty="0"/>
              <a:t>+ ……….. β</a:t>
            </a:r>
            <a:r>
              <a:rPr lang="en-US" sz="2400" baseline="-25000" dirty="0" err="1"/>
              <a:t>n</a:t>
            </a:r>
            <a:r>
              <a:rPr lang="en-US" sz="2400" dirty="0" err="1"/>
              <a:t>x</a:t>
            </a:r>
            <a:r>
              <a:rPr lang="en-US" sz="2400" baseline="-25000" dirty="0" err="1"/>
              <a:t>n</a:t>
            </a:r>
            <a:r>
              <a:rPr lang="en-US" sz="2400" baseline="-25000" dirty="0"/>
              <a:t> </a:t>
            </a:r>
            <a:r>
              <a:rPr lang="en-US" sz="2400" dirty="0"/>
              <a:t>+ ε</a:t>
            </a:r>
          </a:p>
          <a:p>
            <a:pPr marL="0" indent="0">
              <a:buNone/>
            </a:pPr>
            <a:endParaRPr lang="en-US" sz="2400" dirty="0"/>
          </a:p>
          <a:p>
            <a:pPr marL="0" indent="0">
              <a:buNone/>
            </a:pPr>
            <a:r>
              <a:rPr lang="en-US" sz="2400" dirty="0"/>
              <a:t>Predict Y using more than one independent variable</a:t>
            </a:r>
          </a:p>
          <a:p>
            <a:pPr marL="0" indent="0">
              <a:buNone/>
            </a:pPr>
            <a:endParaRPr lang="en-US" sz="2400" dirty="0"/>
          </a:p>
        </p:txBody>
      </p:sp>
      <p:sp>
        <p:nvSpPr>
          <p:cNvPr id="4" name="Title 1">
            <a:extLst>
              <a:ext uri="{FF2B5EF4-FFF2-40B4-BE49-F238E27FC236}">
                <a16:creationId xmlns:a16="http://schemas.microsoft.com/office/drawing/2014/main" id="{B0D9B524-C43C-4344-B30F-FCE1653E9359}"/>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a:t>
            </a:r>
            <a:r>
              <a:rPr lang="en-US" altLang="zh-CN" dirty="0">
                <a:solidFill>
                  <a:srgbClr val="7030A0"/>
                </a:solidFill>
              </a:rPr>
              <a:t>ultiple Regression</a:t>
            </a:r>
            <a:endParaRPr lang="en-US" dirty="0">
              <a:solidFill>
                <a:srgbClr val="7030A0"/>
              </a:solidFill>
            </a:endParaRPr>
          </a:p>
        </p:txBody>
      </p:sp>
      <p:cxnSp>
        <p:nvCxnSpPr>
          <p:cNvPr id="5" name="Straight Connector 4">
            <a:extLst>
              <a:ext uri="{FF2B5EF4-FFF2-40B4-BE49-F238E27FC236}">
                <a16:creationId xmlns:a16="http://schemas.microsoft.com/office/drawing/2014/main" id="{FC5161DF-F5A8-44F2-A918-A09311CE249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F45E5AB-C8B3-4C0E-A8AD-10AF384AA3C4}"/>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7" name="Picture 6">
            <a:extLst>
              <a:ext uri="{FF2B5EF4-FFF2-40B4-BE49-F238E27FC236}">
                <a16:creationId xmlns:a16="http://schemas.microsoft.com/office/drawing/2014/main" id="{C233AF68-0D3D-3509-DDA2-FADC151BA381}"/>
              </a:ext>
            </a:extLst>
          </p:cNvPr>
          <p:cNvPicPr>
            <a:picLocks noChangeAspect="1"/>
          </p:cNvPicPr>
          <p:nvPr/>
        </p:nvPicPr>
        <p:blipFill>
          <a:blip r:embed="rId3"/>
          <a:stretch>
            <a:fillRect/>
          </a:stretch>
        </p:blipFill>
        <p:spPr>
          <a:xfrm>
            <a:off x="411480" y="2571750"/>
            <a:ext cx="7019613" cy="2364501"/>
          </a:xfrm>
          <a:prstGeom prst="rect">
            <a:avLst/>
          </a:prstGeom>
        </p:spPr>
      </p:pic>
    </p:spTree>
    <p:extLst>
      <p:ext uri="{BB962C8B-B14F-4D97-AF65-F5344CB8AC3E}">
        <p14:creationId xmlns:p14="http://schemas.microsoft.com/office/powerpoint/2010/main" val="3244783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54C39-F948-FF57-69D9-3EE16C0CACBB}"/>
              </a:ext>
            </a:extLst>
          </p:cNvPr>
          <p:cNvSpPr>
            <a:spLocks noGrp="1"/>
          </p:cNvSpPr>
          <p:nvPr>
            <p:ph idx="1"/>
          </p:nvPr>
        </p:nvSpPr>
        <p:spPr/>
        <p:txBody>
          <a:bodyPr>
            <a:normAutofit fontScale="92500" lnSpcReduction="20000"/>
          </a:bodyPr>
          <a:lstStyle/>
          <a:p>
            <a:r>
              <a:rPr lang="en-US" altLang="zh-CN" dirty="0"/>
              <a:t>Which geographic studies would require multiple regression?</a:t>
            </a:r>
          </a:p>
          <a:p>
            <a:pPr marL="0" indent="0">
              <a:buNone/>
            </a:pPr>
            <a:endParaRPr lang="en-US" altLang="zh-CN" dirty="0"/>
          </a:p>
          <a:p>
            <a:pPr marL="0" indent="0">
              <a:buNone/>
            </a:pPr>
            <a:r>
              <a:rPr lang="en-US" altLang="zh-CN" dirty="0"/>
              <a:t>A. Predicting crop yield using rainfall only</a:t>
            </a:r>
            <a:br>
              <a:rPr lang="en-US" altLang="zh-CN" dirty="0"/>
            </a:br>
            <a:r>
              <a:rPr lang="en-US" altLang="zh-CN" dirty="0"/>
              <a:t>B. Predicting flood risk using elevation, slope, and land cover</a:t>
            </a:r>
            <a:br>
              <a:rPr lang="en-US" altLang="zh-CN" dirty="0"/>
            </a:br>
            <a:r>
              <a:rPr lang="en-US" altLang="zh-CN" dirty="0"/>
              <a:t>C. Predicting crime rate using income, unemployment, and education</a:t>
            </a:r>
            <a:br>
              <a:rPr lang="en-US" altLang="zh-CN" dirty="0"/>
            </a:br>
            <a:r>
              <a:rPr lang="en-US" altLang="zh-CN" dirty="0"/>
              <a:t>D. Measuring river length</a:t>
            </a:r>
          </a:p>
          <a:p>
            <a:endParaRPr lang="zh-CN" altLang="en-US" dirty="0"/>
          </a:p>
        </p:txBody>
      </p:sp>
      <p:sp>
        <p:nvSpPr>
          <p:cNvPr id="4" name="Slide Number Placeholder 3">
            <a:extLst>
              <a:ext uri="{FF2B5EF4-FFF2-40B4-BE49-F238E27FC236}">
                <a16:creationId xmlns:a16="http://schemas.microsoft.com/office/drawing/2014/main" id="{D3B42070-200C-B8F3-48B3-F3AE915AC92F}"/>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6" name="TextBox 5">
            <a:extLst>
              <a:ext uri="{FF2B5EF4-FFF2-40B4-BE49-F238E27FC236}">
                <a16:creationId xmlns:a16="http://schemas.microsoft.com/office/drawing/2014/main" id="{99F1658B-28D1-DCB0-09E7-B54A34C93A44}"/>
              </a:ext>
            </a:extLst>
          </p:cNvPr>
          <p:cNvSpPr txBox="1"/>
          <p:nvPr/>
        </p:nvSpPr>
        <p:spPr>
          <a:xfrm>
            <a:off x="411480" y="548877"/>
            <a:ext cx="4114800" cy="369332"/>
          </a:xfrm>
          <a:prstGeom prst="rect">
            <a:avLst/>
          </a:prstGeom>
          <a:noFill/>
        </p:spPr>
        <p:txBody>
          <a:bodyPr wrap="square">
            <a:spAutoFit/>
          </a:bodyPr>
          <a:lstStyle/>
          <a:p>
            <a:r>
              <a:rPr lang="en-US" altLang="zh-CN" dirty="0"/>
              <a:t>Multiple Answers</a:t>
            </a:r>
            <a:endParaRPr lang="zh-CN" altLang="en-US" dirty="0"/>
          </a:p>
        </p:txBody>
      </p:sp>
    </p:spTree>
    <p:extLst>
      <p:ext uri="{BB962C8B-B14F-4D97-AF65-F5344CB8AC3E}">
        <p14:creationId xmlns:p14="http://schemas.microsoft.com/office/powerpoint/2010/main" val="448835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FEDD107-C546-8BFC-C98F-85C923F53039}"/>
              </a:ext>
            </a:extLst>
          </p:cNvPr>
          <p:cNvPicPr>
            <a:picLocks noGrp="1" noChangeAspect="1"/>
          </p:cNvPicPr>
          <p:nvPr>
            <p:ph idx="1"/>
          </p:nvPr>
        </p:nvPicPr>
        <p:blipFill>
          <a:blip r:embed="rId2"/>
          <a:stretch>
            <a:fillRect/>
          </a:stretch>
        </p:blipFill>
        <p:spPr>
          <a:xfrm>
            <a:off x="411480" y="945186"/>
            <a:ext cx="7407275" cy="2545314"/>
          </a:xfrm>
          <a:prstGeom prst="rect">
            <a:avLst/>
          </a:prstGeom>
        </p:spPr>
      </p:pic>
      <p:sp>
        <p:nvSpPr>
          <p:cNvPr id="4" name="Slide Number Placeholder 3">
            <a:extLst>
              <a:ext uri="{FF2B5EF4-FFF2-40B4-BE49-F238E27FC236}">
                <a16:creationId xmlns:a16="http://schemas.microsoft.com/office/drawing/2014/main" id="{E5A6E0F8-D3AA-BE63-A49B-710E1E792733}"/>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7" name="Title 1">
            <a:extLst>
              <a:ext uri="{FF2B5EF4-FFF2-40B4-BE49-F238E27FC236}">
                <a16:creationId xmlns:a16="http://schemas.microsoft.com/office/drawing/2014/main" id="{A8ADE74F-0488-8270-5644-A32E8742B9AD}"/>
              </a:ext>
            </a:extLst>
          </p:cNvPr>
          <p:cNvSpPr>
            <a:spLocks noGrp="1"/>
          </p:cNvSpPr>
          <p:nvPr>
            <p:ph type="title"/>
          </p:nvPr>
        </p:nvSpPr>
        <p:spPr>
          <a:xfrm>
            <a:off x="412115" y="87936"/>
            <a:ext cx="7406640" cy="857250"/>
          </a:xfrm>
        </p:spPr>
        <p:txBody>
          <a:bodyPr/>
          <a:lstStyle/>
          <a:p>
            <a:r>
              <a:rPr lang="en-US" altLang="zh-CN" dirty="0"/>
              <a:t>Multiple regression</a:t>
            </a:r>
            <a:endParaRPr lang="zh-CN" altLang="en-US" dirty="0"/>
          </a:p>
        </p:txBody>
      </p:sp>
    </p:spTree>
    <p:extLst>
      <p:ext uri="{BB962C8B-B14F-4D97-AF65-F5344CB8AC3E}">
        <p14:creationId xmlns:p14="http://schemas.microsoft.com/office/powerpoint/2010/main" val="2977091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200151"/>
            <a:ext cx="7605286" cy="2839479"/>
          </a:xfrm>
        </p:spPr>
        <p:txBody>
          <a:bodyPr>
            <a:normAutofit fontScale="85000" lnSpcReduction="20000"/>
          </a:bodyPr>
          <a:lstStyle/>
          <a:p>
            <a:pPr>
              <a:buFont typeface="Courier New" panose="02070309020205020404" pitchFamily="49" charset="0"/>
              <a:buChar char="o"/>
            </a:pPr>
            <a:r>
              <a:rPr lang="en-US" dirty="0"/>
              <a:t>What if the relationship between y and x varies across space?</a:t>
            </a:r>
          </a:p>
          <a:p>
            <a:pPr>
              <a:buFont typeface="Courier New" panose="02070309020205020404" pitchFamily="49" charset="0"/>
              <a:buChar char="o"/>
            </a:pPr>
            <a:r>
              <a:rPr lang="en-US" dirty="0"/>
              <a:t>In this case, a single regression equation could be misleading or weak</a:t>
            </a:r>
          </a:p>
          <a:p>
            <a:pPr>
              <a:buFont typeface="Courier New" panose="02070309020205020404" pitchFamily="49" charset="0"/>
              <a:buChar char="o"/>
            </a:pPr>
            <a:r>
              <a:rPr lang="en-US" dirty="0"/>
              <a:t>It is possible to create regression equations that change over space</a:t>
            </a:r>
          </a:p>
          <a:p>
            <a:pPr>
              <a:buFont typeface="Courier New" panose="02070309020205020404" pitchFamily="49" charset="0"/>
              <a:buChar char="o"/>
            </a:pPr>
            <a:r>
              <a:rPr lang="en-US" dirty="0"/>
              <a:t>There will be a different intercept (β</a:t>
            </a:r>
            <a:r>
              <a:rPr lang="en-US" baseline="-25000" dirty="0"/>
              <a:t>0</a:t>
            </a:r>
            <a:r>
              <a:rPr lang="en-US" dirty="0"/>
              <a:t>)</a:t>
            </a:r>
            <a:r>
              <a:rPr lang="en-US" baseline="-25000" dirty="0"/>
              <a:t> </a:t>
            </a:r>
            <a:r>
              <a:rPr lang="en-US" dirty="0"/>
              <a:t>and coefficients (β</a:t>
            </a:r>
            <a:r>
              <a:rPr lang="en-US" baseline="-25000" dirty="0"/>
              <a:t>n</a:t>
            </a:r>
            <a:r>
              <a:rPr lang="en-US" dirty="0"/>
              <a:t>) across the map space</a:t>
            </a:r>
            <a:r>
              <a:rPr lang="en-US" baseline="-25000" dirty="0"/>
              <a:t> </a:t>
            </a:r>
            <a:endParaRPr lang="en-US" dirty="0"/>
          </a:p>
        </p:txBody>
      </p:sp>
      <p:pic>
        <p:nvPicPr>
          <p:cNvPr id="5" name="Picture 4" descr="GWR example"/>
          <p:cNvPicPr>
            <a:picLocks noChangeAspect="1"/>
          </p:cNvPicPr>
          <p:nvPr/>
        </p:nvPicPr>
        <p:blipFill>
          <a:blip r:embed="rId3"/>
          <a:stretch>
            <a:fillRect/>
          </a:stretch>
        </p:blipFill>
        <p:spPr>
          <a:xfrm>
            <a:off x="4278085" y="3659805"/>
            <a:ext cx="3520458" cy="1107458"/>
          </a:xfrm>
          <a:prstGeom prst="rect">
            <a:avLst/>
          </a:prstGeom>
        </p:spPr>
      </p:pic>
      <p:sp>
        <p:nvSpPr>
          <p:cNvPr id="7" name="Title 1">
            <a:extLst>
              <a:ext uri="{FF2B5EF4-FFF2-40B4-BE49-F238E27FC236}">
                <a16:creationId xmlns:a16="http://schemas.microsoft.com/office/drawing/2014/main" id="{9F37167D-9D34-4DF8-BF78-B2396D30F906}"/>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altLang="zh-CN" dirty="0">
                <a:solidFill>
                  <a:srgbClr val="7030A0"/>
                </a:solidFill>
              </a:rPr>
              <a:t>GWR</a:t>
            </a:r>
            <a:endParaRPr lang="en-US" dirty="0">
              <a:solidFill>
                <a:srgbClr val="7030A0"/>
              </a:solidFill>
            </a:endParaRPr>
          </a:p>
        </p:txBody>
      </p:sp>
      <p:cxnSp>
        <p:nvCxnSpPr>
          <p:cNvPr id="8" name="Straight Connector 7">
            <a:extLst>
              <a:ext uri="{FF2B5EF4-FFF2-40B4-BE49-F238E27FC236}">
                <a16:creationId xmlns:a16="http://schemas.microsoft.com/office/drawing/2014/main" id="{1BD829D2-4475-49E1-BB15-611BD3188A7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7A9BEE5-DE25-4FDD-8AAD-AED576D31D5F}"/>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414461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altLang="zh-CN" dirty="0">
                <a:solidFill>
                  <a:srgbClr val="7030A0"/>
                </a:solidFill>
              </a:rPr>
              <a:t>GWR</a:t>
            </a:r>
            <a:endParaRPr lang="en-US" dirty="0">
              <a:solidFill>
                <a:srgbClr val="7030A0"/>
              </a:solidFill>
            </a:endParaRP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 name="Picture 2" descr="GWR example">
            <a:extLst>
              <a:ext uri="{FF2B5EF4-FFF2-40B4-BE49-F238E27FC236}">
                <a16:creationId xmlns:a16="http://schemas.microsoft.com/office/drawing/2014/main" id="{FC2C00A9-8392-4D26-8F5C-1F5E393BD58B}"/>
              </a:ext>
            </a:extLst>
          </p:cNvPr>
          <p:cNvPicPr>
            <a:picLocks noChangeAspect="1"/>
          </p:cNvPicPr>
          <p:nvPr/>
        </p:nvPicPr>
        <p:blipFill>
          <a:blip r:embed="rId3"/>
          <a:stretch>
            <a:fillRect/>
          </a:stretch>
        </p:blipFill>
        <p:spPr>
          <a:xfrm>
            <a:off x="359252" y="1638572"/>
            <a:ext cx="7511095" cy="2750542"/>
          </a:xfrm>
          <a:prstGeom prst="rect">
            <a:avLst/>
          </a:prstGeom>
        </p:spPr>
      </p:pic>
      <p:sp>
        <p:nvSpPr>
          <p:cNvPr id="12" name="TextBox 11">
            <a:extLst>
              <a:ext uri="{FF2B5EF4-FFF2-40B4-BE49-F238E27FC236}">
                <a16:creationId xmlns:a16="http://schemas.microsoft.com/office/drawing/2014/main" id="{905ED5E5-42D4-4025-A7C9-AA138E9057BC}"/>
              </a:ext>
            </a:extLst>
          </p:cNvPr>
          <p:cNvSpPr txBox="1"/>
          <p:nvPr/>
        </p:nvSpPr>
        <p:spPr>
          <a:xfrm>
            <a:off x="642256" y="4702009"/>
            <a:ext cx="6794863" cy="246221"/>
          </a:xfrm>
          <a:prstGeom prst="rect">
            <a:avLst/>
          </a:prstGeom>
          <a:noFill/>
        </p:spPr>
        <p:txBody>
          <a:bodyPr wrap="square">
            <a:spAutoFit/>
          </a:bodyPr>
          <a:lstStyle/>
          <a:p>
            <a:r>
              <a:rPr lang="en-US" sz="1000" dirty="0">
                <a:solidFill>
                  <a:srgbClr val="7030A0"/>
                </a:solidFill>
              </a:rPr>
              <a:t>https://desktop.arcgis.com/en/arcmap/10.3/tools/spatial-statistics-toolbox/geographically-weighted-regression.htm</a:t>
            </a:r>
          </a:p>
        </p:txBody>
      </p: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24040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E3659-F706-58D9-9905-5FBB532D4699}"/>
              </a:ext>
            </a:extLst>
          </p:cNvPr>
          <p:cNvSpPr>
            <a:spLocks noGrp="1"/>
          </p:cNvSpPr>
          <p:nvPr>
            <p:ph idx="1"/>
          </p:nvPr>
        </p:nvSpPr>
        <p:spPr>
          <a:xfrm>
            <a:off x="411480" y="359229"/>
            <a:ext cx="7406640" cy="3394472"/>
          </a:xfrm>
        </p:spPr>
        <p:txBody>
          <a:bodyPr/>
          <a:lstStyle/>
          <a:p>
            <a:r>
              <a:rPr lang="en-US" altLang="zh-CN" dirty="0"/>
              <a:t>Why might a single global regression model be misleading in geography?</a:t>
            </a:r>
          </a:p>
          <a:p>
            <a:pPr marL="360045" lvl="1" indent="0">
              <a:buNone/>
            </a:pPr>
            <a:r>
              <a:rPr lang="en-US" altLang="zh-CN" dirty="0"/>
              <a:t>A. Because maps are colorful</a:t>
            </a:r>
            <a:br>
              <a:rPr lang="en-US" altLang="zh-CN" dirty="0"/>
            </a:br>
            <a:r>
              <a:rPr lang="en-US" altLang="zh-CN" dirty="0"/>
              <a:t>B. Because relationships between variables may vary across space</a:t>
            </a:r>
            <a:br>
              <a:rPr lang="en-US" altLang="zh-CN" dirty="0"/>
            </a:br>
            <a:r>
              <a:rPr lang="en-US" altLang="zh-CN" dirty="0"/>
              <a:t>C. Because regression only works in Excel</a:t>
            </a:r>
            <a:br>
              <a:rPr lang="en-US" altLang="zh-CN" dirty="0"/>
            </a:br>
            <a:r>
              <a:rPr lang="en-US" altLang="zh-CN" dirty="0"/>
              <a:t>D. Because spatial data cannot be modeled</a:t>
            </a:r>
          </a:p>
          <a:p>
            <a:endParaRPr lang="zh-CN" altLang="en-US" dirty="0"/>
          </a:p>
        </p:txBody>
      </p:sp>
      <p:sp>
        <p:nvSpPr>
          <p:cNvPr id="4" name="Slide Number Placeholder 3">
            <a:extLst>
              <a:ext uri="{FF2B5EF4-FFF2-40B4-BE49-F238E27FC236}">
                <a16:creationId xmlns:a16="http://schemas.microsoft.com/office/drawing/2014/main" id="{9608C2A8-E0CA-42EA-E18A-FF644EC99B34}"/>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2665693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C224EA-09F3-2707-3D63-0AFB5AF1B969}"/>
              </a:ext>
            </a:extLst>
          </p:cNvPr>
          <p:cNvSpPr>
            <a:spLocks noGrp="1"/>
          </p:cNvSpPr>
          <p:nvPr>
            <p:ph idx="1"/>
          </p:nvPr>
        </p:nvSpPr>
        <p:spPr>
          <a:xfrm>
            <a:off x="411480" y="1616530"/>
            <a:ext cx="7406640" cy="955220"/>
          </a:xfrm>
        </p:spPr>
        <p:txBody>
          <a:bodyPr>
            <a:normAutofit/>
          </a:bodyPr>
          <a:lstStyle/>
          <a:p>
            <a:r>
              <a:rPr lang="en-US" altLang="zh-CN" sz="2400" dirty="0"/>
              <a:t>GWR produces different coefficients for different locations.</a:t>
            </a:r>
            <a:endParaRPr lang="zh-CN" altLang="en-US" sz="2400" dirty="0"/>
          </a:p>
        </p:txBody>
      </p:sp>
      <p:sp>
        <p:nvSpPr>
          <p:cNvPr id="4" name="Slide Number Placeholder 3">
            <a:extLst>
              <a:ext uri="{FF2B5EF4-FFF2-40B4-BE49-F238E27FC236}">
                <a16:creationId xmlns:a16="http://schemas.microsoft.com/office/drawing/2014/main" id="{8235F376-A277-0DEE-8B85-60D0D6162F80}"/>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5" name="TextBox 4">
            <a:extLst>
              <a:ext uri="{FF2B5EF4-FFF2-40B4-BE49-F238E27FC236}">
                <a16:creationId xmlns:a16="http://schemas.microsoft.com/office/drawing/2014/main" id="{334C7734-9EC8-F94D-0D3D-1D965662CFA0}"/>
              </a:ext>
            </a:extLst>
          </p:cNvPr>
          <p:cNvSpPr txBox="1"/>
          <p:nvPr/>
        </p:nvSpPr>
        <p:spPr>
          <a:xfrm>
            <a:off x="411480" y="918866"/>
            <a:ext cx="2307227" cy="461665"/>
          </a:xfrm>
          <a:prstGeom prst="rect">
            <a:avLst/>
          </a:prstGeom>
          <a:noFill/>
        </p:spPr>
        <p:txBody>
          <a:bodyPr wrap="square" rtlCol="0">
            <a:spAutoFit/>
          </a:bodyPr>
          <a:lstStyle/>
          <a:p>
            <a:r>
              <a:rPr lang="en-US" altLang="zh-CN" sz="2400" dirty="0"/>
              <a:t>Ture of False</a:t>
            </a:r>
            <a:endParaRPr lang="zh-CN" altLang="en-US" sz="2400" dirty="0"/>
          </a:p>
        </p:txBody>
      </p:sp>
    </p:spTree>
    <p:extLst>
      <p:ext uri="{BB962C8B-B14F-4D97-AF65-F5344CB8AC3E}">
        <p14:creationId xmlns:p14="http://schemas.microsoft.com/office/powerpoint/2010/main" val="3406131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C2DA80-4B2C-F3DA-FD3B-CA4A2308E5DE}"/>
              </a:ext>
            </a:extLst>
          </p:cNvPr>
          <p:cNvSpPr>
            <a:spLocks noGrp="1"/>
          </p:cNvSpPr>
          <p:nvPr>
            <p:ph idx="1"/>
          </p:nvPr>
        </p:nvSpPr>
        <p:spPr>
          <a:xfrm>
            <a:off x="484959" y="195944"/>
            <a:ext cx="7406640" cy="3394472"/>
          </a:xfrm>
        </p:spPr>
        <p:txBody>
          <a:bodyPr>
            <a:normAutofit lnSpcReduction="10000"/>
          </a:bodyPr>
          <a:lstStyle/>
          <a:p>
            <a:r>
              <a:rPr lang="en-US" altLang="zh-CN" dirty="0"/>
              <a:t>In which situation would GWR be more appropriate than global multiple regression?</a:t>
            </a:r>
          </a:p>
          <a:p>
            <a:endParaRPr lang="en-US" altLang="zh-CN" dirty="0"/>
          </a:p>
          <a:p>
            <a:pPr marL="720090" lvl="2" indent="0">
              <a:buNone/>
            </a:pPr>
            <a:r>
              <a:rPr lang="en-US" altLang="zh-CN" dirty="0"/>
              <a:t>A. National average temperature modeling</a:t>
            </a:r>
            <a:br>
              <a:rPr lang="en-US" altLang="zh-CN" dirty="0"/>
            </a:br>
            <a:r>
              <a:rPr lang="en-US" altLang="zh-CN" dirty="0"/>
              <a:t>B. Modeling poverty rate influence on crime in a single small town</a:t>
            </a:r>
            <a:br>
              <a:rPr lang="en-US" altLang="zh-CN" dirty="0"/>
            </a:br>
            <a:r>
              <a:rPr lang="en-US" altLang="zh-CN" dirty="0"/>
              <a:t>C. Modeling housing price determinants across an entire state with urban and rural differences</a:t>
            </a:r>
            <a:br>
              <a:rPr lang="en-US" altLang="zh-CN" dirty="0"/>
            </a:br>
            <a:r>
              <a:rPr lang="en-US" altLang="zh-CN" dirty="0"/>
              <a:t>D. Measuring elevation</a:t>
            </a:r>
          </a:p>
          <a:p>
            <a:endParaRPr lang="zh-CN" altLang="en-US" dirty="0"/>
          </a:p>
        </p:txBody>
      </p:sp>
      <p:sp>
        <p:nvSpPr>
          <p:cNvPr id="4" name="Slide Number Placeholder 3">
            <a:extLst>
              <a:ext uri="{FF2B5EF4-FFF2-40B4-BE49-F238E27FC236}">
                <a16:creationId xmlns:a16="http://schemas.microsoft.com/office/drawing/2014/main" id="{C817D278-A776-9217-49AC-4CAB35CF6973}"/>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219890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43917-79F1-B1FF-1424-1C299BA7EB68}"/>
              </a:ext>
            </a:extLst>
          </p:cNvPr>
          <p:cNvSpPr>
            <a:spLocks noGrp="1"/>
          </p:cNvSpPr>
          <p:nvPr>
            <p:ph type="title"/>
          </p:nvPr>
        </p:nvSpPr>
        <p:spPr/>
        <p:txBody>
          <a:bodyPr/>
          <a:lstStyle/>
          <a:p>
            <a:r>
              <a:rPr lang="en-US" altLang="zh-CN" dirty="0"/>
              <a:t>GWR: Coefficient of each variable</a:t>
            </a:r>
            <a:endParaRPr lang="zh-CN" altLang="en-US" dirty="0"/>
          </a:p>
        </p:txBody>
      </p:sp>
      <p:pic>
        <p:nvPicPr>
          <p:cNvPr id="6" name="Content Placeholder 5">
            <a:extLst>
              <a:ext uri="{FF2B5EF4-FFF2-40B4-BE49-F238E27FC236}">
                <a16:creationId xmlns:a16="http://schemas.microsoft.com/office/drawing/2014/main" id="{A0BAEB29-A50B-2EA3-C064-79FBA94F3D41}"/>
              </a:ext>
            </a:extLst>
          </p:cNvPr>
          <p:cNvPicPr>
            <a:picLocks noGrp="1" noChangeAspect="1"/>
          </p:cNvPicPr>
          <p:nvPr>
            <p:ph idx="1"/>
          </p:nvPr>
        </p:nvPicPr>
        <p:blipFill>
          <a:blip r:embed="rId2"/>
          <a:stretch>
            <a:fillRect/>
          </a:stretch>
        </p:blipFill>
        <p:spPr>
          <a:xfrm>
            <a:off x="1887609" y="1218208"/>
            <a:ext cx="4454381" cy="3394075"/>
          </a:xfrm>
          <a:prstGeom prst="rect">
            <a:avLst/>
          </a:prstGeom>
        </p:spPr>
      </p:pic>
      <p:sp>
        <p:nvSpPr>
          <p:cNvPr id="4" name="Slide Number Placeholder 3">
            <a:extLst>
              <a:ext uri="{FF2B5EF4-FFF2-40B4-BE49-F238E27FC236}">
                <a16:creationId xmlns:a16="http://schemas.microsoft.com/office/drawing/2014/main" id="{8E08E581-C89C-9B6C-B88C-630ED9A1CAC6}"/>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extLst>
      <p:ext uri="{BB962C8B-B14F-4D97-AF65-F5344CB8AC3E}">
        <p14:creationId xmlns:p14="http://schemas.microsoft.com/office/powerpoint/2010/main" val="2192037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a:t>
            </a:r>
            <a:r>
              <a:rPr lang="en-US" altLang="zh-CN" dirty="0">
                <a:solidFill>
                  <a:srgbClr val="7030A0"/>
                </a:solidFill>
              </a:rPr>
              <a:t>GWR (MGWR)</a:t>
            </a:r>
            <a:endParaRPr lang="en-US" dirty="0">
              <a:solidFill>
                <a:srgbClr val="7030A0"/>
              </a:solidFill>
            </a:endParaRP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4" name="Content Placeholder 2">
            <a:extLst>
              <a:ext uri="{FF2B5EF4-FFF2-40B4-BE49-F238E27FC236}">
                <a16:creationId xmlns:a16="http://schemas.microsoft.com/office/drawing/2014/main" id="{916FD261-D808-4E26-7C81-4431544FD4B9}"/>
              </a:ext>
            </a:extLst>
          </p:cNvPr>
          <p:cNvSpPr>
            <a:spLocks noGrp="1"/>
          </p:cNvSpPr>
          <p:nvPr>
            <p:ph idx="1"/>
          </p:nvPr>
        </p:nvSpPr>
        <p:spPr>
          <a:xfrm>
            <a:off x="411480" y="1200152"/>
            <a:ext cx="7605286" cy="1866242"/>
          </a:xfrm>
        </p:spPr>
        <p:txBody>
          <a:bodyPr>
            <a:normAutofit/>
          </a:bodyPr>
          <a:lstStyle/>
          <a:p>
            <a:pPr>
              <a:buFont typeface="Courier New" panose="02070309020205020404" pitchFamily="49" charset="0"/>
              <a:buChar char="o"/>
            </a:pPr>
            <a:r>
              <a:rPr lang="en-US" dirty="0"/>
              <a:t>The number of neighbors to be used in the model for each independent variable are different.</a:t>
            </a:r>
          </a:p>
        </p:txBody>
      </p:sp>
      <p:pic>
        <p:nvPicPr>
          <p:cNvPr id="1026" name="Picture 2" descr="Multiscale Geographically Weighted Regression tool illustration">
            <a:extLst>
              <a:ext uri="{FF2B5EF4-FFF2-40B4-BE49-F238E27FC236}">
                <a16:creationId xmlns:a16="http://schemas.microsoft.com/office/drawing/2014/main" id="{2ACB96A7-D69C-D917-F0AC-B5AB74048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623780"/>
            <a:ext cx="5715000" cy="2133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A4FC711-877A-8718-BA1F-826A4C55C9DD}"/>
              </a:ext>
            </a:extLst>
          </p:cNvPr>
          <p:cNvSpPr txBox="1"/>
          <p:nvPr/>
        </p:nvSpPr>
        <p:spPr>
          <a:xfrm>
            <a:off x="411480" y="4887214"/>
            <a:ext cx="6522720" cy="230832"/>
          </a:xfrm>
          <a:prstGeom prst="rect">
            <a:avLst/>
          </a:prstGeom>
          <a:noFill/>
        </p:spPr>
        <p:txBody>
          <a:bodyPr wrap="square">
            <a:spAutoFit/>
          </a:bodyPr>
          <a:lstStyle/>
          <a:p>
            <a:r>
              <a:rPr lang="en-US" sz="900" dirty="0">
                <a:solidFill>
                  <a:srgbClr val="7030A0"/>
                </a:solidFill>
              </a:rPr>
              <a:t>https://pro.arcgis.com/en/pro-app/latest/tool-reference/spatial-statistics/multiscale-geographically-weighted-regression.htm</a:t>
            </a:r>
          </a:p>
        </p:txBody>
      </p:sp>
    </p:spTree>
    <p:extLst>
      <p:ext uri="{BB962C8B-B14F-4D97-AF65-F5344CB8AC3E}">
        <p14:creationId xmlns:p14="http://schemas.microsoft.com/office/powerpoint/2010/main" val="2085680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9C48EC-5745-71DE-0616-0FCBB8CABEF3}"/>
              </a:ext>
            </a:extLst>
          </p:cNvPr>
          <p:cNvSpPr>
            <a:spLocks noGrp="1"/>
          </p:cNvSpPr>
          <p:nvPr>
            <p:ph idx="1"/>
          </p:nvPr>
        </p:nvSpPr>
        <p:spPr>
          <a:xfrm>
            <a:off x="338001" y="489859"/>
            <a:ext cx="7406640" cy="3394472"/>
          </a:xfrm>
        </p:spPr>
        <p:txBody>
          <a:bodyPr/>
          <a:lstStyle/>
          <a:p>
            <a:r>
              <a:rPr lang="en-US" altLang="zh-CN" dirty="0"/>
              <a:t>What makes MGWR different from traditional GWR?</a:t>
            </a:r>
          </a:p>
          <a:p>
            <a:endParaRPr lang="en-US" altLang="zh-CN" dirty="0"/>
          </a:p>
          <a:p>
            <a:pPr marL="720090" lvl="2" indent="0">
              <a:buNone/>
            </a:pPr>
            <a:r>
              <a:rPr lang="en-US" altLang="zh-CN" dirty="0"/>
              <a:t>A. It uses only one predictor</a:t>
            </a:r>
            <a:br>
              <a:rPr lang="en-US" altLang="zh-CN" dirty="0"/>
            </a:br>
            <a:r>
              <a:rPr lang="en-US" altLang="zh-CN" dirty="0"/>
              <a:t>B. Each independent variable can have a different spatial scale</a:t>
            </a:r>
            <a:br>
              <a:rPr lang="en-US" altLang="zh-CN" dirty="0"/>
            </a:br>
            <a:r>
              <a:rPr lang="en-US" altLang="zh-CN" dirty="0"/>
              <a:t>C. It ignores spatial relationships</a:t>
            </a:r>
            <a:br>
              <a:rPr lang="en-US" altLang="zh-CN" dirty="0"/>
            </a:br>
            <a:r>
              <a:rPr lang="en-US" altLang="zh-CN" dirty="0"/>
              <a:t>D. It does not use regression</a:t>
            </a:r>
          </a:p>
          <a:p>
            <a:endParaRPr lang="zh-CN" altLang="en-US" dirty="0"/>
          </a:p>
        </p:txBody>
      </p:sp>
      <p:sp>
        <p:nvSpPr>
          <p:cNvPr id="4" name="Slide Number Placeholder 3">
            <a:extLst>
              <a:ext uri="{FF2B5EF4-FFF2-40B4-BE49-F238E27FC236}">
                <a16:creationId xmlns:a16="http://schemas.microsoft.com/office/drawing/2014/main" id="{F37CC5CD-862C-2D47-87E2-B414529ED12A}"/>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3295561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a:t>
            </a:r>
            <a:r>
              <a:rPr lang="en-US" altLang="zh-CN" dirty="0">
                <a:solidFill>
                  <a:srgbClr val="7030A0"/>
                </a:solidFill>
              </a:rPr>
              <a:t>GWR (MGWR)</a:t>
            </a:r>
            <a:endParaRPr lang="en-US" dirty="0">
              <a:solidFill>
                <a:srgbClr val="7030A0"/>
              </a:solidFill>
            </a:endParaRP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4" name="Content Placeholder 2">
            <a:extLst>
              <a:ext uri="{FF2B5EF4-FFF2-40B4-BE49-F238E27FC236}">
                <a16:creationId xmlns:a16="http://schemas.microsoft.com/office/drawing/2014/main" id="{916FD261-D808-4E26-7C81-4431544FD4B9}"/>
              </a:ext>
            </a:extLst>
          </p:cNvPr>
          <p:cNvSpPr>
            <a:spLocks noGrp="1"/>
          </p:cNvSpPr>
          <p:nvPr>
            <p:ph idx="1"/>
          </p:nvPr>
        </p:nvSpPr>
        <p:spPr>
          <a:xfrm>
            <a:off x="411480" y="1200152"/>
            <a:ext cx="7605286" cy="1866242"/>
          </a:xfrm>
        </p:spPr>
        <p:txBody>
          <a:bodyPr>
            <a:normAutofit/>
          </a:bodyPr>
          <a:lstStyle/>
          <a:p>
            <a:pPr>
              <a:buFont typeface="Courier New" panose="02070309020205020404" pitchFamily="49" charset="0"/>
              <a:buChar char="o"/>
            </a:pPr>
            <a:r>
              <a:rPr lang="en-US" dirty="0"/>
              <a:t>The number of neighbors to be used in the model for each independent variable are different.</a:t>
            </a:r>
          </a:p>
        </p:txBody>
      </p:sp>
      <p:pic>
        <p:nvPicPr>
          <p:cNvPr id="5" name="Picture 4">
            <a:extLst>
              <a:ext uri="{FF2B5EF4-FFF2-40B4-BE49-F238E27FC236}">
                <a16:creationId xmlns:a16="http://schemas.microsoft.com/office/drawing/2014/main" id="{77895B1E-B1F3-AC18-1259-F85D12DF3DBB}"/>
              </a:ext>
            </a:extLst>
          </p:cNvPr>
          <p:cNvPicPr>
            <a:picLocks noChangeAspect="1"/>
          </p:cNvPicPr>
          <p:nvPr/>
        </p:nvPicPr>
        <p:blipFill>
          <a:blip r:embed="rId3"/>
          <a:stretch>
            <a:fillRect/>
          </a:stretch>
        </p:blipFill>
        <p:spPr>
          <a:xfrm>
            <a:off x="2331721" y="2437518"/>
            <a:ext cx="4961905" cy="2466667"/>
          </a:xfrm>
          <a:prstGeom prst="rect">
            <a:avLst/>
          </a:prstGeom>
        </p:spPr>
      </p:pic>
    </p:spTree>
    <p:extLst>
      <p:ext uri="{BB962C8B-B14F-4D97-AF65-F5344CB8AC3E}">
        <p14:creationId xmlns:p14="http://schemas.microsoft.com/office/powerpoint/2010/main" val="3096945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Model Assessment</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23</a:t>
            </a:fld>
            <a:endParaRPr lang="en-US"/>
          </a:p>
        </p:txBody>
      </p:sp>
      <p:sp>
        <p:nvSpPr>
          <p:cNvPr id="4" name="TextBox 3">
            <a:extLst>
              <a:ext uri="{FF2B5EF4-FFF2-40B4-BE49-F238E27FC236}">
                <a16:creationId xmlns:a16="http://schemas.microsoft.com/office/drawing/2014/main" id="{BAA0BFCD-D291-4D0E-4322-7695197232CC}"/>
              </a:ext>
            </a:extLst>
          </p:cNvPr>
          <p:cNvSpPr txBox="1"/>
          <p:nvPr/>
        </p:nvSpPr>
        <p:spPr>
          <a:xfrm>
            <a:off x="275896" y="924173"/>
            <a:ext cx="7673617" cy="2585323"/>
          </a:xfrm>
          <a:prstGeom prst="rect">
            <a:avLst/>
          </a:prstGeom>
          <a:noFill/>
        </p:spPr>
        <p:txBody>
          <a:bodyPr wrap="square" rtlCol="0">
            <a:spAutoFit/>
          </a:bodyPr>
          <a:lstStyle/>
          <a:p>
            <a:pPr marL="285750" indent="-285750">
              <a:buFont typeface="Courier New" panose="02070309020205020404" pitchFamily="49" charset="0"/>
              <a:buChar char="o"/>
            </a:pPr>
            <a:r>
              <a:rPr lang="en-US" dirty="0"/>
              <a:t>R</a:t>
            </a:r>
            <a:r>
              <a:rPr lang="en-US" baseline="30000" dirty="0"/>
              <a:t>2</a:t>
            </a:r>
            <a:r>
              <a:rPr lang="en-US" dirty="0"/>
              <a:t> </a:t>
            </a:r>
          </a:p>
          <a:p>
            <a:pPr marL="742950" lvl="1" indent="-285750">
              <a:buFont typeface="Wingdings" panose="05000000000000000000" pitchFamily="2" charset="2"/>
              <a:buChar char="ü"/>
            </a:pPr>
            <a:r>
              <a:rPr lang="en-US" dirty="0"/>
              <a:t>Measures how much variability in the dependent variables can be explained by the model. </a:t>
            </a:r>
          </a:p>
          <a:p>
            <a:pPr marL="742950" lvl="1" indent="-285750">
              <a:buFont typeface="Wingdings" panose="05000000000000000000" pitchFamily="2" charset="2"/>
              <a:buChar char="ü"/>
            </a:pPr>
            <a:r>
              <a:rPr lang="en-US" dirty="0"/>
              <a:t>Ranges from 0 to 1. 1 means 100% of the variability in the dependent variables can be explained by the model.</a:t>
            </a:r>
          </a:p>
          <a:p>
            <a:pPr marL="742950" lvl="1" indent="-285750">
              <a:buFont typeface="Wingdings" panose="05000000000000000000" pitchFamily="2" charset="2"/>
              <a:buChar char="ü"/>
            </a:pPr>
            <a:r>
              <a:rPr lang="en-US" dirty="0"/>
              <a:t>In general, a higher R-squared indicates a better fit for the model.</a:t>
            </a:r>
          </a:p>
          <a:p>
            <a:pPr marL="742950" lvl="1" indent="-285750">
              <a:buFont typeface="Wingdings" panose="05000000000000000000" pitchFamily="2" charset="2"/>
              <a:buChar char="ü"/>
            </a:pPr>
            <a:r>
              <a:rPr lang="en-US" dirty="0"/>
              <a:t>The problem of R</a:t>
            </a:r>
            <a:r>
              <a:rPr lang="en-US" baseline="30000" dirty="0"/>
              <a:t>2</a:t>
            </a:r>
            <a:r>
              <a:rPr lang="en-US" dirty="0"/>
              <a:t> is that additional input variable will make the R</a:t>
            </a:r>
            <a:r>
              <a:rPr lang="en-US" baseline="30000" dirty="0"/>
              <a:t>2</a:t>
            </a:r>
            <a:r>
              <a:rPr lang="en-US" dirty="0"/>
              <a:t> stay the same or increase, even if the additional input variables show no relationship with the output variables. </a:t>
            </a:r>
          </a:p>
        </p:txBody>
      </p:sp>
      <p:pic>
        <p:nvPicPr>
          <p:cNvPr id="6" name="Picture 5" descr="R2 formula.">
            <a:extLst>
              <a:ext uri="{FF2B5EF4-FFF2-40B4-BE49-F238E27FC236}">
                <a16:creationId xmlns:a16="http://schemas.microsoft.com/office/drawing/2014/main" id="{964948C4-0831-1E49-6F38-94F62DFBE7FA}"/>
              </a:ext>
            </a:extLst>
          </p:cNvPr>
          <p:cNvPicPr>
            <a:picLocks noChangeAspect="1"/>
          </p:cNvPicPr>
          <p:nvPr/>
        </p:nvPicPr>
        <p:blipFill>
          <a:blip r:embed="rId3"/>
          <a:stretch>
            <a:fillRect/>
          </a:stretch>
        </p:blipFill>
        <p:spPr>
          <a:xfrm>
            <a:off x="2154607" y="4007661"/>
            <a:ext cx="3855854" cy="590623"/>
          </a:xfrm>
          <a:prstGeom prst="rect">
            <a:avLst/>
          </a:prstGeom>
        </p:spPr>
      </p:pic>
    </p:spTree>
    <p:extLst>
      <p:ext uri="{BB962C8B-B14F-4D97-AF65-F5344CB8AC3E}">
        <p14:creationId xmlns:p14="http://schemas.microsoft.com/office/powerpoint/2010/main" val="1506965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785C9-EF52-76DA-FD95-833FC854263C}"/>
              </a:ext>
            </a:extLst>
          </p:cNvPr>
          <p:cNvSpPr>
            <a:spLocks noGrp="1"/>
          </p:cNvSpPr>
          <p:nvPr>
            <p:ph idx="1"/>
          </p:nvPr>
        </p:nvSpPr>
        <p:spPr>
          <a:xfrm>
            <a:off x="411480" y="293915"/>
            <a:ext cx="7406640" cy="3394472"/>
          </a:xfrm>
        </p:spPr>
        <p:txBody>
          <a:bodyPr/>
          <a:lstStyle/>
          <a:p>
            <a:r>
              <a:rPr lang="en-US" altLang="zh-CN" dirty="0"/>
              <a:t>If R² = 0.85, this means:</a:t>
            </a:r>
          </a:p>
          <a:p>
            <a:endParaRPr lang="en-US" altLang="zh-CN" dirty="0"/>
          </a:p>
          <a:p>
            <a:pPr marL="360045" lvl="1" indent="0">
              <a:buNone/>
            </a:pPr>
            <a:r>
              <a:rPr lang="en-US" altLang="zh-CN" dirty="0"/>
              <a:t>A. 85% of the spatial pattern is random</a:t>
            </a:r>
            <a:br>
              <a:rPr lang="en-US" altLang="zh-CN" dirty="0"/>
            </a:br>
            <a:r>
              <a:rPr lang="en-US" altLang="zh-CN" dirty="0"/>
              <a:t>B. 85% of variation in Y is explained by the model</a:t>
            </a:r>
            <a:br>
              <a:rPr lang="en-US" altLang="zh-CN" dirty="0"/>
            </a:br>
            <a:r>
              <a:rPr lang="en-US" altLang="zh-CN" dirty="0"/>
              <a:t>C. The model is perfect</a:t>
            </a:r>
            <a:br>
              <a:rPr lang="en-US" altLang="zh-CN" dirty="0"/>
            </a:br>
            <a:r>
              <a:rPr lang="en-US" altLang="zh-CN" dirty="0"/>
              <a:t>D. The model has no residuals</a:t>
            </a:r>
          </a:p>
          <a:p>
            <a:endParaRPr lang="zh-CN" altLang="en-US" dirty="0"/>
          </a:p>
        </p:txBody>
      </p:sp>
      <p:sp>
        <p:nvSpPr>
          <p:cNvPr id="4" name="Slide Number Placeholder 3">
            <a:extLst>
              <a:ext uri="{FF2B5EF4-FFF2-40B4-BE49-F238E27FC236}">
                <a16:creationId xmlns:a16="http://schemas.microsoft.com/office/drawing/2014/main" id="{9CCBA4FF-1AE3-5F90-74D2-AD26715F9DA2}"/>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1270941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Model Assessment</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4" name="TextBox 3">
            <a:extLst>
              <a:ext uri="{FF2B5EF4-FFF2-40B4-BE49-F238E27FC236}">
                <a16:creationId xmlns:a16="http://schemas.microsoft.com/office/drawing/2014/main" id="{BAA0BFCD-D291-4D0E-4322-7695197232CC}"/>
              </a:ext>
            </a:extLst>
          </p:cNvPr>
          <p:cNvSpPr txBox="1"/>
          <p:nvPr/>
        </p:nvSpPr>
        <p:spPr>
          <a:xfrm>
            <a:off x="275896" y="926227"/>
            <a:ext cx="7673617" cy="2308324"/>
          </a:xfrm>
          <a:prstGeom prst="rect">
            <a:avLst/>
          </a:prstGeom>
          <a:noFill/>
        </p:spPr>
        <p:txBody>
          <a:bodyPr wrap="square" rtlCol="0">
            <a:spAutoFit/>
          </a:bodyPr>
          <a:lstStyle/>
          <a:p>
            <a:pPr marL="285750" indent="-285750">
              <a:buFont typeface="Courier New" panose="02070309020205020404" pitchFamily="49" charset="0"/>
              <a:buChar char="o"/>
            </a:pPr>
            <a:r>
              <a:rPr lang="en-US" dirty="0"/>
              <a:t>Adjusted R</a:t>
            </a:r>
            <a:r>
              <a:rPr lang="en-US" baseline="30000" dirty="0"/>
              <a:t>2</a:t>
            </a:r>
            <a:r>
              <a:rPr lang="en-US" dirty="0"/>
              <a:t> </a:t>
            </a:r>
          </a:p>
          <a:p>
            <a:pPr marL="285750" indent="-285750">
              <a:buFont typeface="Courier New" panose="02070309020205020404" pitchFamily="49" charset="0"/>
              <a:buChar char="o"/>
            </a:pPr>
            <a:endParaRPr lang="en-US" dirty="0"/>
          </a:p>
          <a:p>
            <a:pPr marL="742950" lvl="1" indent="-285750">
              <a:buFont typeface="Wingdings" panose="05000000000000000000" pitchFamily="2" charset="2"/>
              <a:buChar char="ü"/>
            </a:pPr>
            <a:r>
              <a:rPr lang="en-US" dirty="0"/>
              <a:t>A modified version of R</a:t>
            </a:r>
            <a:r>
              <a:rPr lang="en-US" baseline="30000" dirty="0"/>
              <a:t>2</a:t>
            </a:r>
            <a:r>
              <a:rPr lang="en-US" dirty="0"/>
              <a:t> that adjusts for predictors that are not significant in a regression model. </a:t>
            </a:r>
          </a:p>
          <a:p>
            <a:pPr marL="742950" lvl="1" indent="-285750">
              <a:buFont typeface="Wingdings" panose="05000000000000000000" pitchFamily="2" charset="2"/>
              <a:buChar char="ü"/>
            </a:pPr>
            <a:r>
              <a:rPr lang="en-US" dirty="0">
                <a:solidFill>
                  <a:srgbClr val="7030A0"/>
                </a:solidFill>
              </a:rPr>
              <a:t>Measures how much variability in the dependent variables can be explained by the model. </a:t>
            </a:r>
          </a:p>
          <a:p>
            <a:pPr marL="742950" lvl="1" indent="-285750">
              <a:buFont typeface="Wingdings" panose="05000000000000000000" pitchFamily="2" charset="2"/>
              <a:buChar char="ü"/>
            </a:pPr>
            <a:r>
              <a:rPr lang="en-US" dirty="0">
                <a:solidFill>
                  <a:srgbClr val="7030A0"/>
                </a:solidFill>
              </a:rPr>
              <a:t>Ranges from 0 to 1. 1 means 100% of the variability in the dependent variables can be explained by the model.</a:t>
            </a:r>
          </a:p>
        </p:txBody>
      </p:sp>
      <p:pic>
        <p:nvPicPr>
          <p:cNvPr id="13" name="Picture 12" descr="Adjusted R2 formula">
            <a:extLst>
              <a:ext uri="{FF2B5EF4-FFF2-40B4-BE49-F238E27FC236}">
                <a16:creationId xmlns:a16="http://schemas.microsoft.com/office/drawing/2014/main" id="{D8E26997-C2FE-E7EA-58BF-566AEF160DAA}"/>
              </a:ext>
            </a:extLst>
          </p:cNvPr>
          <p:cNvPicPr>
            <a:picLocks noChangeAspect="1"/>
          </p:cNvPicPr>
          <p:nvPr/>
        </p:nvPicPr>
        <p:blipFill>
          <a:blip r:embed="rId3"/>
          <a:stretch>
            <a:fillRect/>
          </a:stretch>
        </p:blipFill>
        <p:spPr>
          <a:xfrm>
            <a:off x="3062813" y="3141526"/>
            <a:ext cx="2631180" cy="1950843"/>
          </a:xfrm>
          <a:prstGeom prst="rect">
            <a:avLst/>
          </a:prstGeom>
        </p:spPr>
      </p:pic>
    </p:spTree>
    <p:extLst>
      <p:ext uri="{BB962C8B-B14F-4D97-AF65-F5344CB8AC3E}">
        <p14:creationId xmlns:p14="http://schemas.microsoft.com/office/powerpoint/2010/main" val="1044197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0173D3-79DC-19A3-D4C6-77A1B269E855}"/>
              </a:ext>
            </a:extLst>
          </p:cNvPr>
          <p:cNvSpPr>
            <a:spLocks noGrp="1"/>
          </p:cNvSpPr>
          <p:nvPr>
            <p:ph idx="1"/>
          </p:nvPr>
        </p:nvSpPr>
        <p:spPr>
          <a:xfrm>
            <a:off x="411480" y="391886"/>
            <a:ext cx="7406640" cy="3394472"/>
          </a:xfrm>
        </p:spPr>
        <p:txBody>
          <a:bodyPr/>
          <a:lstStyle/>
          <a:p>
            <a:r>
              <a:rPr lang="en-US" altLang="zh-CN" dirty="0"/>
              <a:t>Why is Adjusted R² preferred over R² in multiple regression?</a:t>
            </a:r>
          </a:p>
          <a:p>
            <a:endParaRPr lang="en-US" altLang="zh-CN" dirty="0"/>
          </a:p>
          <a:p>
            <a:pPr marL="411480" lvl="1" indent="0">
              <a:buNone/>
            </a:pPr>
            <a:r>
              <a:rPr lang="en-US" altLang="zh-CN" dirty="0"/>
              <a:t>A. It always gives a higher value</a:t>
            </a:r>
            <a:br>
              <a:rPr lang="en-US" altLang="zh-CN" dirty="0"/>
            </a:br>
            <a:r>
              <a:rPr lang="en-US" altLang="zh-CN" dirty="0"/>
              <a:t>B. It penalizes unnecessary predictors</a:t>
            </a:r>
            <a:br>
              <a:rPr lang="en-US" altLang="zh-CN" dirty="0"/>
            </a:br>
            <a:r>
              <a:rPr lang="en-US" altLang="zh-CN" dirty="0"/>
              <a:t>C. It removes residuals</a:t>
            </a:r>
            <a:br>
              <a:rPr lang="en-US" altLang="zh-CN" dirty="0"/>
            </a:br>
            <a:r>
              <a:rPr lang="en-US" altLang="zh-CN" dirty="0"/>
              <a:t>D. It ignores sample size</a:t>
            </a:r>
          </a:p>
          <a:p>
            <a:endParaRPr lang="zh-CN" altLang="en-US" dirty="0"/>
          </a:p>
        </p:txBody>
      </p:sp>
      <p:sp>
        <p:nvSpPr>
          <p:cNvPr id="4" name="Slide Number Placeholder 3">
            <a:extLst>
              <a:ext uri="{FF2B5EF4-FFF2-40B4-BE49-F238E27FC236}">
                <a16:creationId xmlns:a16="http://schemas.microsoft.com/office/drawing/2014/main" id="{ACA3FE1B-A78C-79A7-91D1-E732728FF14B}"/>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1745795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Model Assessment</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4" name="TextBox 3">
            <a:extLst>
              <a:ext uri="{FF2B5EF4-FFF2-40B4-BE49-F238E27FC236}">
                <a16:creationId xmlns:a16="http://schemas.microsoft.com/office/drawing/2014/main" id="{BAA0BFCD-D291-4D0E-4322-7695197232CC}"/>
              </a:ext>
            </a:extLst>
          </p:cNvPr>
          <p:cNvSpPr txBox="1"/>
          <p:nvPr/>
        </p:nvSpPr>
        <p:spPr>
          <a:xfrm>
            <a:off x="275896" y="1253359"/>
            <a:ext cx="7673617"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a:t>Akaike's Information Criterion (AIC) </a:t>
            </a:r>
          </a:p>
          <a:p>
            <a:pPr marL="742950" lvl="1" indent="-285750">
              <a:buFont typeface="Wingdings" panose="05000000000000000000" pitchFamily="2" charset="2"/>
              <a:buChar char="ü"/>
            </a:pPr>
            <a:r>
              <a:rPr lang="en-US" dirty="0"/>
              <a:t>An estimator of prediction error</a:t>
            </a:r>
          </a:p>
          <a:p>
            <a:pPr marL="742950" lvl="1" indent="-285750">
              <a:buFont typeface="Wingdings" panose="05000000000000000000" pitchFamily="2" charset="2"/>
              <a:buChar char="ü"/>
            </a:pPr>
            <a:r>
              <a:rPr lang="en-US" dirty="0"/>
              <a:t>The lower the AIC value, the better the model performance</a:t>
            </a:r>
          </a:p>
          <a:p>
            <a:pPr marL="742950" lvl="1" indent="-285750">
              <a:buFont typeface="Wingdings" panose="05000000000000000000" pitchFamily="2" charset="2"/>
              <a:buChar char="ü"/>
            </a:pPr>
            <a:r>
              <a:rPr lang="en-US" dirty="0"/>
              <a:t>When the sample size is small, AIC will select models that have too many parameters</a:t>
            </a:r>
          </a:p>
        </p:txBody>
      </p:sp>
      <p:sp>
        <p:nvSpPr>
          <p:cNvPr id="6" name="TextBox 5">
            <a:extLst>
              <a:ext uri="{FF2B5EF4-FFF2-40B4-BE49-F238E27FC236}">
                <a16:creationId xmlns:a16="http://schemas.microsoft.com/office/drawing/2014/main" id="{549F3E66-F717-9175-78E5-58AC8C47C14F}"/>
              </a:ext>
            </a:extLst>
          </p:cNvPr>
          <p:cNvSpPr txBox="1"/>
          <p:nvPr/>
        </p:nvSpPr>
        <p:spPr>
          <a:xfrm>
            <a:off x="316091" y="3566733"/>
            <a:ext cx="7673617" cy="646331"/>
          </a:xfrm>
          <a:prstGeom prst="rect">
            <a:avLst/>
          </a:prstGeom>
          <a:noFill/>
        </p:spPr>
        <p:txBody>
          <a:bodyPr wrap="square" rtlCol="0">
            <a:spAutoFit/>
          </a:bodyPr>
          <a:lstStyle/>
          <a:p>
            <a:pPr marL="285750" indent="-285750">
              <a:buFont typeface="Courier New" panose="02070309020205020404" pitchFamily="49" charset="0"/>
              <a:buChar char="o"/>
            </a:pPr>
            <a:r>
              <a:rPr lang="en-US" dirty="0"/>
              <a:t>Akaike's Information Criterion Correction Version (</a:t>
            </a:r>
            <a:r>
              <a:rPr lang="en-US" dirty="0" err="1"/>
              <a:t>AICc</a:t>
            </a:r>
            <a:r>
              <a:rPr lang="en-US" dirty="0"/>
              <a:t>) </a:t>
            </a:r>
          </a:p>
          <a:p>
            <a:pPr marL="742950" lvl="1" indent="-285750">
              <a:buFont typeface="Wingdings" panose="05000000000000000000" pitchFamily="2" charset="2"/>
              <a:buChar char="ü"/>
            </a:pPr>
            <a:r>
              <a:rPr lang="en-US" dirty="0">
                <a:solidFill>
                  <a:srgbClr val="7030A0"/>
                </a:solidFill>
              </a:rPr>
              <a:t>The lower the AIC value, the better the model performance </a:t>
            </a:r>
          </a:p>
        </p:txBody>
      </p:sp>
      <p:pic>
        <p:nvPicPr>
          <p:cNvPr id="8" name="Picture 7" descr="AIC formula">
            <a:extLst>
              <a:ext uri="{FF2B5EF4-FFF2-40B4-BE49-F238E27FC236}">
                <a16:creationId xmlns:a16="http://schemas.microsoft.com/office/drawing/2014/main" id="{2A15FF49-8FEC-8C6B-473A-477B9ACECA4B}"/>
              </a:ext>
            </a:extLst>
          </p:cNvPr>
          <p:cNvPicPr>
            <a:picLocks noChangeAspect="1"/>
          </p:cNvPicPr>
          <p:nvPr/>
        </p:nvPicPr>
        <p:blipFill>
          <a:blip r:embed="rId3"/>
          <a:stretch>
            <a:fillRect/>
          </a:stretch>
        </p:blipFill>
        <p:spPr>
          <a:xfrm>
            <a:off x="2858384" y="2522618"/>
            <a:ext cx="2018416" cy="1045907"/>
          </a:xfrm>
          <a:prstGeom prst="rect">
            <a:avLst/>
          </a:prstGeom>
        </p:spPr>
      </p:pic>
      <p:pic>
        <p:nvPicPr>
          <p:cNvPr id="12" name="Picture 11" descr="AICc formula">
            <a:extLst>
              <a:ext uri="{FF2B5EF4-FFF2-40B4-BE49-F238E27FC236}">
                <a16:creationId xmlns:a16="http://schemas.microsoft.com/office/drawing/2014/main" id="{2FE76A77-0ACA-7760-D8E9-5CE43DEA738E}"/>
              </a:ext>
            </a:extLst>
          </p:cNvPr>
          <p:cNvPicPr>
            <a:picLocks noChangeAspect="1"/>
          </p:cNvPicPr>
          <p:nvPr/>
        </p:nvPicPr>
        <p:blipFill>
          <a:blip r:embed="rId4"/>
          <a:stretch>
            <a:fillRect/>
          </a:stretch>
        </p:blipFill>
        <p:spPr>
          <a:xfrm>
            <a:off x="2858384" y="4468261"/>
            <a:ext cx="2057578" cy="495343"/>
          </a:xfrm>
          <a:prstGeom prst="rect">
            <a:avLst/>
          </a:prstGeom>
        </p:spPr>
      </p:pic>
    </p:spTree>
    <p:extLst>
      <p:ext uri="{BB962C8B-B14F-4D97-AF65-F5344CB8AC3E}">
        <p14:creationId xmlns:p14="http://schemas.microsoft.com/office/powerpoint/2010/main" val="3747129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4ED4B2-6BA2-80CF-1234-64773559728E}"/>
              </a:ext>
            </a:extLst>
          </p:cNvPr>
          <p:cNvSpPr>
            <a:spLocks noGrp="1"/>
          </p:cNvSpPr>
          <p:nvPr>
            <p:ph idx="1"/>
          </p:nvPr>
        </p:nvSpPr>
        <p:spPr>
          <a:xfrm>
            <a:off x="411480" y="465365"/>
            <a:ext cx="7406640" cy="3394472"/>
          </a:xfrm>
        </p:spPr>
        <p:txBody>
          <a:bodyPr/>
          <a:lstStyle/>
          <a:p>
            <a:r>
              <a:rPr lang="en-US" altLang="zh-CN" dirty="0"/>
              <a:t>When comparing two models:</a:t>
            </a:r>
          </a:p>
          <a:p>
            <a:endParaRPr lang="en-US" altLang="zh-CN" dirty="0"/>
          </a:p>
          <a:p>
            <a:pPr marL="360045" lvl="1" indent="0">
              <a:buNone/>
            </a:pPr>
            <a:r>
              <a:rPr lang="en-US" altLang="zh-CN" dirty="0"/>
              <a:t>Model A: AIC = 120</a:t>
            </a:r>
            <a:br>
              <a:rPr lang="en-US" altLang="zh-CN" dirty="0"/>
            </a:br>
            <a:r>
              <a:rPr lang="en-US" altLang="zh-CN" dirty="0"/>
              <a:t>Model B: AIC = 105</a:t>
            </a:r>
          </a:p>
          <a:p>
            <a:pPr marL="360045" lvl="1" indent="0">
              <a:buNone/>
            </a:pPr>
            <a:r>
              <a:rPr lang="en-US" altLang="zh-CN" dirty="0"/>
              <a:t>Which model is better?</a:t>
            </a:r>
          </a:p>
          <a:p>
            <a:endParaRPr lang="zh-CN" altLang="en-US" dirty="0"/>
          </a:p>
        </p:txBody>
      </p:sp>
      <p:sp>
        <p:nvSpPr>
          <p:cNvPr id="4" name="Slide Number Placeholder 3">
            <a:extLst>
              <a:ext uri="{FF2B5EF4-FFF2-40B4-BE49-F238E27FC236}">
                <a16:creationId xmlns:a16="http://schemas.microsoft.com/office/drawing/2014/main" id="{A8564CAB-C903-8571-1D2A-9AABB63BF55A}"/>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124282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D0945-7F1A-5EC6-9FB5-5BD7DC3B44FA}"/>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FDE3AED7-093F-FA65-29D2-B950AD394029}"/>
              </a:ext>
            </a:extLst>
          </p:cNvPr>
          <p:cNvSpPr>
            <a:spLocks noGrp="1"/>
          </p:cNvSpPr>
          <p:nvPr>
            <p:ph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EEC79ADC-BB73-7887-0E7F-3B9668937BA6}"/>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extLst>
      <p:ext uri="{BB962C8B-B14F-4D97-AF65-F5344CB8AC3E}">
        <p14:creationId xmlns:p14="http://schemas.microsoft.com/office/powerpoint/2010/main" val="2519290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12" name="Picture 11" descr="Cumulative COVID-19 cases">
            <a:extLst>
              <a:ext uri="{FF2B5EF4-FFF2-40B4-BE49-F238E27FC236}">
                <a16:creationId xmlns:a16="http://schemas.microsoft.com/office/drawing/2014/main" id="{ED59629A-463B-D220-9223-875EE58AEAC4}"/>
              </a:ext>
            </a:extLst>
          </p:cNvPr>
          <p:cNvPicPr>
            <a:picLocks noChangeAspect="1"/>
          </p:cNvPicPr>
          <p:nvPr/>
        </p:nvPicPr>
        <p:blipFill>
          <a:blip r:embed="rId3"/>
          <a:stretch>
            <a:fillRect/>
          </a:stretch>
        </p:blipFill>
        <p:spPr>
          <a:xfrm>
            <a:off x="256189" y="1103908"/>
            <a:ext cx="7717221" cy="3662093"/>
          </a:xfrm>
          <a:prstGeom prst="rect">
            <a:avLst/>
          </a:prstGeom>
        </p:spPr>
      </p:pic>
      <p:sp>
        <p:nvSpPr>
          <p:cNvPr id="13" name="TextBox 12">
            <a:extLst>
              <a:ext uri="{FF2B5EF4-FFF2-40B4-BE49-F238E27FC236}">
                <a16:creationId xmlns:a16="http://schemas.microsoft.com/office/drawing/2014/main" id="{52C0230C-8192-234D-EE01-5FFCAEAAC4F2}"/>
              </a:ext>
            </a:extLst>
          </p:cNvPr>
          <p:cNvSpPr txBox="1"/>
          <p:nvPr/>
        </p:nvSpPr>
        <p:spPr>
          <a:xfrm>
            <a:off x="3383280" y="4776459"/>
            <a:ext cx="1024758" cy="338554"/>
          </a:xfrm>
          <a:prstGeom prst="rect">
            <a:avLst/>
          </a:prstGeom>
          <a:noFill/>
        </p:spPr>
        <p:txBody>
          <a:bodyPr wrap="square" rtlCol="0">
            <a:spAutoFit/>
          </a:bodyPr>
          <a:lstStyle/>
          <a:p>
            <a:r>
              <a:rPr lang="en-US" sz="1600" dirty="0"/>
              <a:t>Figure 1</a:t>
            </a:r>
          </a:p>
        </p:txBody>
      </p:sp>
    </p:spTree>
    <p:extLst>
      <p:ext uri="{BB962C8B-B14F-4D97-AF65-F5344CB8AC3E}">
        <p14:creationId xmlns:p14="http://schemas.microsoft.com/office/powerpoint/2010/main" val="305132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4" name="Picture 3" descr="Hot spots for cumulative COVID-19 cases">
            <a:extLst>
              <a:ext uri="{FF2B5EF4-FFF2-40B4-BE49-F238E27FC236}">
                <a16:creationId xmlns:a16="http://schemas.microsoft.com/office/drawing/2014/main" id="{41A212B7-699A-DA84-E223-03065F7AC8D2}"/>
              </a:ext>
            </a:extLst>
          </p:cNvPr>
          <p:cNvPicPr>
            <a:picLocks noChangeAspect="1"/>
          </p:cNvPicPr>
          <p:nvPr/>
        </p:nvPicPr>
        <p:blipFill>
          <a:blip r:embed="rId3"/>
          <a:stretch>
            <a:fillRect/>
          </a:stretch>
        </p:blipFill>
        <p:spPr>
          <a:xfrm>
            <a:off x="171707" y="1142861"/>
            <a:ext cx="7833749" cy="3531609"/>
          </a:xfrm>
          <a:prstGeom prst="rect">
            <a:avLst/>
          </a:prstGeom>
        </p:spPr>
      </p:pic>
      <p:sp>
        <p:nvSpPr>
          <p:cNvPr id="5" name="TextBox 4">
            <a:extLst>
              <a:ext uri="{FF2B5EF4-FFF2-40B4-BE49-F238E27FC236}">
                <a16:creationId xmlns:a16="http://schemas.microsoft.com/office/drawing/2014/main" id="{6790365F-7C87-A72A-1489-3E197D40C56B}"/>
              </a:ext>
            </a:extLst>
          </p:cNvPr>
          <p:cNvSpPr txBox="1"/>
          <p:nvPr/>
        </p:nvSpPr>
        <p:spPr>
          <a:xfrm>
            <a:off x="3383280" y="4776459"/>
            <a:ext cx="1024758" cy="338554"/>
          </a:xfrm>
          <a:prstGeom prst="rect">
            <a:avLst/>
          </a:prstGeom>
          <a:noFill/>
        </p:spPr>
        <p:txBody>
          <a:bodyPr wrap="square" rtlCol="0">
            <a:spAutoFit/>
          </a:bodyPr>
          <a:lstStyle/>
          <a:p>
            <a:r>
              <a:rPr lang="en-US" sz="1600" dirty="0"/>
              <a:t>Figure 2</a:t>
            </a:r>
          </a:p>
        </p:txBody>
      </p:sp>
    </p:spTree>
    <p:extLst>
      <p:ext uri="{BB962C8B-B14F-4D97-AF65-F5344CB8AC3E}">
        <p14:creationId xmlns:p14="http://schemas.microsoft.com/office/powerpoint/2010/main" val="1039725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5" name="TextBox 4">
            <a:extLst>
              <a:ext uri="{FF2B5EF4-FFF2-40B4-BE49-F238E27FC236}">
                <a16:creationId xmlns:a16="http://schemas.microsoft.com/office/drawing/2014/main" id="{6790365F-7C87-A72A-1489-3E197D40C56B}"/>
              </a:ext>
            </a:extLst>
          </p:cNvPr>
          <p:cNvSpPr txBox="1"/>
          <p:nvPr/>
        </p:nvSpPr>
        <p:spPr>
          <a:xfrm>
            <a:off x="3383280" y="4776459"/>
            <a:ext cx="1024758" cy="338554"/>
          </a:xfrm>
          <a:prstGeom prst="rect">
            <a:avLst/>
          </a:prstGeom>
          <a:noFill/>
        </p:spPr>
        <p:txBody>
          <a:bodyPr wrap="square" rtlCol="0">
            <a:spAutoFit/>
          </a:bodyPr>
          <a:lstStyle/>
          <a:p>
            <a:r>
              <a:rPr lang="en-US" sz="1600" dirty="0"/>
              <a:t>Table 2</a:t>
            </a:r>
          </a:p>
        </p:txBody>
      </p:sp>
      <p:pic>
        <p:nvPicPr>
          <p:cNvPr id="8" name="Picture 7" descr="Independent variables">
            <a:extLst>
              <a:ext uri="{FF2B5EF4-FFF2-40B4-BE49-F238E27FC236}">
                <a16:creationId xmlns:a16="http://schemas.microsoft.com/office/drawing/2014/main" id="{38EA4A6B-572C-E286-6FF2-4DFDC84EDCCE}"/>
              </a:ext>
            </a:extLst>
          </p:cNvPr>
          <p:cNvPicPr>
            <a:picLocks noChangeAspect="1"/>
          </p:cNvPicPr>
          <p:nvPr/>
        </p:nvPicPr>
        <p:blipFill>
          <a:blip r:embed="rId3"/>
          <a:stretch>
            <a:fillRect/>
          </a:stretch>
        </p:blipFill>
        <p:spPr>
          <a:xfrm>
            <a:off x="38100" y="1297076"/>
            <a:ext cx="8229600" cy="3468925"/>
          </a:xfrm>
          <a:prstGeom prst="rect">
            <a:avLst/>
          </a:prstGeom>
        </p:spPr>
      </p:pic>
    </p:spTree>
    <p:extLst>
      <p:ext uri="{BB962C8B-B14F-4D97-AF65-F5344CB8AC3E}">
        <p14:creationId xmlns:p14="http://schemas.microsoft.com/office/powerpoint/2010/main" val="3755814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33</a:t>
            </a:fld>
            <a:endParaRPr lang="en-US" dirty="0"/>
          </a:p>
        </p:txBody>
      </p:sp>
      <p:sp>
        <p:nvSpPr>
          <p:cNvPr id="5" name="TextBox 4">
            <a:extLst>
              <a:ext uri="{FF2B5EF4-FFF2-40B4-BE49-F238E27FC236}">
                <a16:creationId xmlns:a16="http://schemas.microsoft.com/office/drawing/2014/main" id="{6790365F-7C87-A72A-1489-3E197D40C56B}"/>
              </a:ext>
            </a:extLst>
          </p:cNvPr>
          <p:cNvSpPr txBox="1"/>
          <p:nvPr/>
        </p:nvSpPr>
        <p:spPr>
          <a:xfrm>
            <a:off x="3383280" y="4776459"/>
            <a:ext cx="857644" cy="338554"/>
          </a:xfrm>
          <a:prstGeom prst="rect">
            <a:avLst/>
          </a:prstGeom>
          <a:noFill/>
        </p:spPr>
        <p:txBody>
          <a:bodyPr wrap="square" rtlCol="0">
            <a:spAutoFit/>
          </a:bodyPr>
          <a:lstStyle/>
          <a:p>
            <a:r>
              <a:rPr lang="en-US" sz="1600" dirty="0"/>
              <a:t>Table 2</a:t>
            </a:r>
          </a:p>
        </p:txBody>
      </p:sp>
      <p:pic>
        <p:nvPicPr>
          <p:cNvPr id="4" name="Picture 3" descr="Independent variables">
            <a:extLst>
              <a:ext uri="{FF2B5EF4-FFF2-40B4-BE49-F238E27FC236}">
                <a16:creationId xmlns:a16="http://schemas.microsoft.com/office/drawing/2014/main" id="{7C40ADF0-DEFB-45D0-4EDD-7AF3A9D8DD65}"/>
              </a:ext>
            </a:extLst>
          </p:cNvPr>
          <p:cNvPicPr>
            <a:picLocks noChangeAspect="1"/>
          </p:cNvPicPr>
          <p:nvPr/>
        </p:nvPicPr>
        <p:blipFill>
          <a:blip r:embed="rId3"/>
          <a:stretch>
            <a:fillRect/>
          </a:stretch>
        </p:blipFill>
        <p:spPr>
          <a:xfrm>
            <a:off x="0" y="1009647"/>
            <a:ext cx="8229600" cy="3766812"/>
          </a:xfrm>
          <a:prstGeom prst="rect">
            <a:avLst/>
          </a:prstGeom>
        </p:spPr>
      </p:pic>
    </p:spTree>
    <p:extLst>
      <p:ext uri="{BB962C8B-B14F-4D97-AF65-F5344CB8AC3E}">
        <p14:creationId xmlns:p14="http://schemas.microsoft.com/office/powerpoint/2010/main" val="323252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34</a:t>
            </a:fld>
            <a:endParaRPr lang="en-US" dirty="0"/>
          </a:p>
        </p:txBody>
      </p:sp>
      <p:sp>
        <p:nvSpPr>
          <p:cNvPr id="5" name="TextBox 4">
            <a:extLst>
              <a:ext uri="{FF2B5EF4-FFF2-40B4-BE49-F238E27FC236}">
                <a16:creationId xmlns:a16="http://schemas.microsoft.com/office/drawing/2014/main" id="{6790365F-7C87-A72A-1489-3E197D40C56B}"/>
              </a:ext>
            </a:extLst>
          </p:cNvPr>
          <p:cNvSpPr txBox="1"/>
          <p:nvPr/>
        </p:nvSpPr>
        <p:spPr>
          <a:xfrm>
            <a:off x="742556" y="4804946"/>
            <a:ext cx="1024758" cy="338554"/>
          </a:xfrm>
          <a:prstGeom prst="rect">
            <a:avLst/>
          </a:prstGeom>
          <a:noFill/>
        </p:spPr>
        <p:txBody>
          <a:bodyPr wrap="square" rtlCol="0">
            <a:spAutoFit/>
          </a:bodyPr>
          <a:lstStyle/>
          <a:p>
            <a:r>
              <a:rPr lang="en-US" sz="1600" dirty="0"/>
              <a:t>Figure A1</a:t>
            </a:r>
          </a:p>
        </p:txBody>
      </p:sp>
      <p:pic>
        <p:nvPicPr>
          <p:cNvPr id="4" name="Picture 3" descr="Flowchart">
            <a:extLst>
              <a:ext uri="{FF2B5EF4-FFF2-40B4-BE49-F238E27FC236}">
                <a16:creationId xmlns:a16="http://schemas.microsoft.com/office/drawing/2014/main" id="{396C51BE-5F9F-6028-F723-4F23B457BAB1}"/>
              </a:ext>
            </a:extLst>
          </p:cNvPr>
          <p:cNvPicPr>
            <a:picLocks noChangeAspect="1"/>
          </p:cNvPicPr>
          <p:nvPr/>
        </p:nvPicPr>
        <p:blipFill>
          <a:blip r:embed="rId3"/>
          <a:stretch>
            <a:fillRect/>
          </a:stretch>
        </p:blipFill>
        <p:spPr>
          <a:xfrm>
            <a:off x="2098725" y="962264"/>
            <a:ext cx="4133370" cy="4181236"/>
          </a:xfrm>
          <a:prstGeom prst="rect">
            <a:avLst/>
          </a:prstGeom>
        </p:spPr>
      </p:pic>
    </p:spTree>
    <p:extLst>
      <p:ext uri="{BB962C8B-B14F-4D97-AF65-F5344CB8AC3E}">
        <p14:creationId xmlns:p14="http://schemas.microsoft.com/office/powerpoint/2010/main" val="481920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35</a:t>
            </a:fld>
            <a:endParaRPr lang="en-US" dirty="0"/>
          </a:p>
        </p:txBody>
      </p:sp>
      <p:pic>
        <p:nvPicPr>
          <p:cNvPr id="4" name="Picture 3" descr="VIF">
            <a:extLst>
              <a:ext uri="{FF2B5EF4-FFF2-40B4-BE49-F238E27FC236}">
                <a16:creationId xmlns:a16="http://schemas.microsoft.com/office/drawing/2014/main" id="{A4CCA4D5-0866-2C78-426A-F5FB9027A373}"/>
              </a:ext>
            </a:extLst>
          </p:cNvPr>
          <p:cNvPicPr>
            <a:picLocks noChangeAspect="1"/>
          </p:cNvPicPr>
          <p:nvPr/>
        </p:nvPicPr>
        <p:blipFill>
          <a:blip r:embed="rId3"/>
          <a:stretch>
            <a:fillRect/>
          </a:stretch>
        </p:blipFill>
        <p:spPr>
          <a:xfrm>
            <a:off x="833537" y="1439643"/>
            <a:ext cx="6562526" cy="3601464"/>
          </a:xfrm>
          <a:prstGeom prst="rect">
            <a:avLst/>
          </a:prstGeom>
        </p:spPr>
      </p:pic>
      <p:sp>
        <p:nvSpPr>
          <p:cNvPr id="7" name="TextBox 6">
            <a:extLst>
              <a:ext uri="{FF2B5EF4-FFF2-40B4-BE49-F238E27FC236}">
                <a16:creationId xmlns:a16="http://schemas.microsoft.com/office/drawing/2014/main" id="{F6C5A297-12EB-5E5A-143F-35CE284C1317}"/>
              </a:ext>
            </a:extLst>
          </p:cNvPr>
          <p:cNvSpPr txBox="1"/>
          <p:nvPr/>
        </p:nvSpPr>
        <p:spPr>
          <a:xfrm>
            <a:off x="308478" y="981133"/>
            <a:ext cx="3569839" cy="369332"/>
          </a:xfrm>
          <a:prstGeom prst="rect">
            <a:avLst/>
          </a:prstGeom>
          <a:noFill/>
        </p:spPr>
        <p:txBody>
          <a:bodyPr wrap="square">
            <a:spAutoFit/>
          </a:bodyPr>
          <a:lstStyle/>
          <a:p>
            <a:pPr algn="l"/>
            <a:r>
              <a:rPr lang="en-US" sz="1800" b="0" i="0" u="none" strike="noStrike" baseline="0" dirty="0">
                <a:latin typeface="URWPalladioL-Roma"/>
              </a:rPr>
              <a:t>Variance Inflation Factor (VIF)</a:t>
            </a:r>
            <a:endParaRPr lang="en-US" dirty="0"/>
          </a:p>
        </p:txBody>
      </p:sp>
    </p:spTree>
    <p:extLst>
      <p:ext uri="{BB962C8B-B14F-4D97-AF65-F5344CB8AC3E}">
        <p14:creationId xmlns:p14="http://schemas.microsoft.com/office/powerpoint/2010/main" val="1110510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36</a:t>
            </a:fld>
            <a:endParaRPr lang="en-US" dirty="0"/>
          </a:p>
        </p:txBody>
      </p:sp>
      <p:sp>
        <p:nvSpPr>
          <p:cNvPr id="5" name="TextBox 4">
            <a:extLst>
              <a:ext uri="{FF2B5EF4-FFF2-40B4-BE49-F238E27FC236}">
                <a16:creationId xmlns:a16="http://schemas.microsoft.com/office/drawing/2014/main" id="{6790365F-7C87-A72A-1489-3E197D40C56B}"/>
              </a:ext>
            </a:extLst>
          </p:cNvPr>
          <p:cNvSpPr txBox="1"/>
          <p:nvPr/>
        </p:nvSpPr>
        <p:spPr>
          <a:xfrm>
            <a:off x="3383280" y="4776459"/>
            <a:ext cx="1024758" cy="338554"/>
          </a:xfrm>
          <a:prstGeom prst="rect">
            <a:avLst/>
          </a:prstGeom>
          <a:noFill/>
        </p:spPr>
        <p:txBody>
          <a:bodyPr wrap="square" rtlCol="0">
            <a:spAutoFit/>
          </a:bodyPr>
          <a:lstStyle/>
          <a:p>
            <a:r>
              <a:rPr lang="en-US" sz="1600" dirty="0"/>
              <a:t>Figure A2</a:t>
            </a:r>
          </a:p>
        </p:txBody>
      </p:sp>
      <p:pic>
        <p:nvPicPr>
          <p:cNvPr id="7" name="Picture 6" descr="Correlation coefficients">
            <a:extLst>
              <a:ext uri="{FF2B5EF4-FFF2-40B4-BE49-F238E27FC236}">
                <a16:creationId xmlns:a16="http://schemas.microsoft.com/office/drawing/2014/main" id="{FCF4D66C-6D81-7075-4C2F-2D74DEF9E480}"/>
              </a:ext>
            </a:extLst>
          </p:cNvPr>
          <p:cNvPicPr>
            <a:picLocks noChangeAspect="1"/>
          </p:cNvPicPr>
          <p:nvPr/>
        </p:nvPicPr>
        <p:blipFill>
          <a:blip r:embed="rId3"/>
          <a:stretch>
            <a:fillRect/>
          </a:stretch>
        </p:blipFill>
        <p:spPr>
          <a:xfrm>
            <a:off x="226498" y="1449424"/>
            <a:ext cx="7340950" cy="3368904"/>
          </a:xfrm>
          <a:prstGeom prst="rect">
            <a:avLst/>
          </a:prstGeom>
        </p:spPr>
      </p:pic>
      <p:sp>
        <p:nvSpPr>
          <p:cNvPr id="9" name="TextBox 8">
            <a:extLst>
              <a:ext uri="{FF2B5EF4-FFF2-40B4-BE49-F238E27FC236}">
                <a16:creationId xmlns:a16="http://schemas.microsoft.com/office/drawing/2014/main" id="{20DD55D2-279F-EB76-66DF-970F7BD12441}"/>
              </a:ext>
            </a:extLst>
          </p:cNvPr>
          <p:cNvSpPr txBox="1"/>
          <p:nvPr/>
        </p:nvSpPr>
        <p:spPr>
          <a:xfrm>
            <a:off x="164750" y="966213"/>
            <a:ext cx="4221216" cy="369332"/>
          </a:xfrm>
          <a:prstGeom prst="rect">
            <a:avLst/>
          </a:prstGeom>
          <a:noFill/>
        </p:spPr>
        <p:txBody>
          <a:bodyPr wrap="square">
            <a:spAutoFit/>
          </a:bodyPr>
          <a:lstStyle/>
          <a:p>
            <a:pPr algn="l"/>
            <a:r>
              <a:rPr lang="en-US" sz="1800" b="0" i="0" u="none" strike="noStrike" baseline="0" dirty="0">
                <a:latin typeface="URWPalladioL-Roma"/>
              </a:rPr>
              <a:t>Pearson’s correlation coefficients</a:t>
            </a:r>
            <a:endParaRPr lang="en-US" dirty="0"/>
          </a:p>
        </p:txBody>
      </p:sp>
    </p:spTree>
    <p:extLst>
      <p:ext uri="{BB962C8B-B14F-4D97-AF65-F5344CB8AC3E}">
        <p14:creationId xmlns:p14="http://schemas.microsoft.com/office/powerpoint/2010/main" val="119124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37</a:t>
            </a:fld>
            <a:endParaRPr lang="en-US" dirty="0"/>
          </a:p>
        </p:txBody>
      </p:sp>
      <p:pic>
        <p:nvPicPr>
          <p:cNvPr id="4" name="Picture 3" descr="Selected independent variables">
            <a:extLst>
              <a:ext uri="{FF2B5EF4-FFF2-40B4-BE49-F238E27FC236}">
                <a16:creationId xmlns:a16="http://schemas.microsoft.com/office/drawing/2014/main" id="{95B7B398-8FFF-B9CD-1910-DA4C397C77C9}"/>
              </a:ext>
            </a:extLst>
          </p:cNvPr>
          <p:cNvPicPr>
            <a:picLocks noChangeAspect="1"/>
          </p:cNvPicPr>
          <p:nvPr/>
        </p:nvPicPr>
        <p:blipFill>
          <a:blip r:embed="rId3"/>
          <a:stretch>
            <a:fillRect/>
          </a:stretch>
        </p:blipFill>
        <p:spPr>
          <a:xfrm>
            <a:off x="2008391" y="1015644"/>
            <a:ext cx="4212818" cy="4025463"/>
          </a:xfrm>
          <a:prstGeom prst="rect">
            <a:avLst/>
          </a:prstGeom>
        </p:spPr>
      </p:pic>
    </p:spTree>
    <p:extLst>
      <p:ext uri="{BB962C8B-B14F-4D97-AF65-F5344CB8AC3E}">
        <p14:creationId xmlns:p14="http://schemas.microsoft.com/office/powerpoint/2010/main" val="9213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38</a:t>
            </a:fld>
            <a:endParaRPr lang="en-US" dirty="0"/>
          </a:p>
        </p:txBody>
      </p:sp>
      <p:pic>
        <p:nvPicPr>
          <p:cNvPr id="4" name="Picture 3" descr="Performance of models">
            <a:extLst>
              <a:ext uri="{FF2B5EF4-FFF2-40B4-BE49-F238E27FC236}">
                <a16:creationId xmlns:a16="http://schemas.microsoft.com/office/drawing/2014/main" id="{E37D43BF-D525-2912-4EF6-76278047D9EE}"/>
              </a:ext>
            </a:extLst>
          </p:cNvPr>
          <p:cNvPicPr>
            <a:picLocks noChangeAspect="1"/>
          </p:cNvPicPr>
          <p:nvPr/>
        </p:nvPicPr>
        <p:blipFill>
          <a:blip r:embed="rId3"/>
          <a:stretch>
            <a:fillRect/>
          </a:stretch>
        </p:blipFill>
        <p:spPr>
          <a:xfrm>
            <a:off x="1803575" y="1088674"/>
            <a:ext cx="4892613" cy="4046451"/>
          </a:xfrm>
          <a:prstGeom prst="rect">
            <a:avLst/>
          </a:prstGeom>
        </p:spPr>
      </p:pic>
      <p:sp>
        <p:nvSpPr>
          <p:cNvPr id="6" name="Rectangle 5" descr="Purple box">
            <a:extLst>
              <a:ext uri="{FF2B5EF4-FFF2-40B4-BE49-F238E27FC236}">
                <a16:creationId xmlns:a16="http://schemas.microsoft.com/office/drawing/2014/main" id="{29C14F6F-65F6-66B4-EC46-1E2178CABBCF}"/>
              </a:ext>
            </a:extLst>
          </p:cNvPr>
          <p:cNvSpPr/>
          <p:nvPr/>
        </p:nvSpPr>
        <p:spPr>
          <a:xfrm>
            <a:off x="3019097" y="1253359"/>
            <a:ext cx="638503" cy="3787748"/>
          </a:xfrm>
          <a:prstGeom prst="rect">
            <a:avLst/>
          </a:prstGeom>
          <a:noFill/>
          <a:ln w="190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796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39</a:t>
            </a:fld>
            <a:endParaRPr lang="en-US" dirty="0"/>
          </a:p>
        </p:txBody>
      </p:sp>
      <p:pic>
        <p:nvPicPr>
          <p:cNvPr id="7" name="Picture 6" descr="Bandwidth">
            <a:extLst>
              <a:ext uri="{FF2B5EF4-FFF2-40B4-BE49-F238E27FC236}">
                <a16:creationId xmlns:a16="http://schemas.microsoft.com/office/drawing/2014/main" id="{518E5D92-4181-26E9-5EF4-87C9219EDFA1}"/>
              </a:ext>
            </a:extLst>
          </p:cNvPr>
          <p:cNvPicPr>
            <a:picLocks noChangeAspect="1"/>
          </p:cNvPicPr>
          <p:nvPr/>
        </p:nvPicPr>
        <p:blipFill>
          <a:blip r:embed="rId3"/>
          <a:stretch>
            <a:fillRect/>
          </a:stretch>
        </p:blipFill>
        <p:spPr>
          <a:xfrm>
            <a:off x="1028763" y="1099792"/>
            <a:ext cx="6248274" cy="3757627"/>
          </a:xfrm>
          <a:prstGeom prst="rect">
            <a:avLst/>
          </a:prstGeom>
        </p:spPr>
      </p:pic>
    </p:spTree>
    <p:extLst>
      <p:ext uri="{BB962C8B-B14F-4D97-AF65-F5344CB8AC3E}">
        <p14:creationId xmlns:p14="http://schemas.microsoft.com/office/powerpoint/2010/main" val="765106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40</a:t>
            </a:fld>
            <a:endParaRPr lang="en-US" dirty="0"/>
          </a:p>
        </p:txBody>
      </p:sp>
      <p:sp>
        <p:nvSpPr>
          <p:cNvPr id="5" name="TextBox 4">
            <a:extLst>
              <a:ext uri="{FF2B5EF4-FFF2-40B4-BE49-F238E27FC236}">
                <a16:creationId xmlns:a16="http://schemas.microsoft.com/office/drawing/2014/main" id="{6790365F-7C87-A72A-1489-3E197D40C56B}"/>
              </a:ext>
            </a:extLst>
          </p:cNvPr>
          <p:cNvSpPr txBox="1"/>
          <p:nvPr/>
        </p:nvSpPr>
        <p:spPr>
          <a:xfrm>
            <a:off x="3383280" y="4776459"/>
            <a:ext cx="1024758" cy="338554"/>
          </a:xfrm>
          <a:prstGeom prst="rect">
            <a:avLst/>
          </a:prstGeom>
          <a:noFill/>
        </p:spPr>
        <p:txBody>
          <a:bodyPr wrap="square" rtlCol="0">
            <a:spAutoFit/>
          </a:bodyPr>
          <a:lstStyle/>
          <a:p>
            <a:r>
              <a:rPr lang="en-US" sz="1600" dirty="0"/>
              <a:t>Figure 4</a:t>
            </a:r>
          </a:p>
        </p:txBody>
      </p:sp>
      <p:pic>
        <p:nvPicPr>
          <p:cNvPr id="4" name="Picture 3" descr="Local R-sqaured">
            <a:extLst>
              <a:ext uri="{FF2B5EF4-FFF2-40B4-BE49-F238E27FC236}">
                <a16:creationId xmlns:a16="http://schemas.microsoft.com/office/drawing/2014/main" id="{CE194F5C-B464-AE39-FF1B-86DFF709AD2D}"/>
              </a:ext>
            </a:extLst>
          </p:cNvPr>
          <p:cNvPicPr>
            <a:picLocks noChangeAspect="1"/>
          </p:cNvPicPr>
          <p:nvPr/>
        </p:nvPicPr>
        <p:blipFill>
          <a:blip r:embed="rId3"/>
          <a:stretch>
            <a:fillRect/>
          </a:stretch>
        </p:blipFill>
        <p:spPr>
          <a:xfrm>
            <a:off x="114300" y="1122821"/>
            <a:ext cx="8001000" cy="3499192"/>
          </a:xfrm>
          <a:prstGeom prst="rect">
            <a:avLst/>
          </a:prstGeom>
        </p:spPr>
      </p:pic>
    </p:spTree>
    <p:extLst>
      <p:ext uri="{BB962C8B-B14F-4D97-AF65-F5344CB8AC3E}">
        <p14:creationId xmlns:p14="http://schemas.microsoft.com/office/powerpoint/2010/main" val="13509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41</a:t>
            </a:fld>
            <a:endParaRPr lang="en-US" dirty="0"/>
          </a:p>
        </p:txBody>
      </p:sp>
      <p:pic>
        <p:nvPicPr>
          <p:cNvPr id="4" name="Picture 3" descr="Performance of models">
            <a:extLst>
              <a:ext uri="{FF2B5EF4-FFF2-40B4-BE49-F238E27FC236}">
                <a16:creationId xmlns:a16="http://schemas.microsoft.com/office/drawing/2014/main" id="{E37D43BF-D525-2912-4EF6-76278047D9EE}"/>
              </a:ext>
            </a:extLst>
          </p:cNvPr>
          <p:cNvPicPr>
            <a:picLocks noChangeAspect="1"/>
          </p:cNvPicPr>
          <p:nvPr/>
        </p:nvPicPr>
        <p:blipFill>
          <a:blip r:embed="rId3"/>
          <a:stretch>
            <a:fillRect/>
          </a:stretch>
        </p:blipFill>
        <p:spPr>
          <a:xfrm>
            <a:off x="1803575" y="1088674"/>
            <a:ext cx="4892613" cy="4046451"/>
          </a:xfrm>
          <a:prstGeom prst="rect">
            <a:avLst/>
          </a:prstGeom>
        </p:spPr>
      </p:pic>
      <p:sp>
        <p:nvSpPr>
          <p:cNvPr id="6" name="Rectangle 5" descr="Purple box">
            <a:extLst>
              <a:ext uri="{FF2B5EF4-FFF2-40B4-BE49-F238E27FC236}">
                <a16:creationId xmlns:a16="http://schemas.microsoft.com/office/drawing/2014/main" id="{29C14F6F-65F6-66B4-EC46-1E2178CABBCF}"/>
              </a:ext>
            </a:extLst>
          </p:cNvPr>
          <p:cNvSpPr/>
          <p:nvPr/>
        </p:nvSpPr>
        <p:spPr>
          <a:xfrm>
            <a:off x="4249881" y="1253359"/>
            <a:ext cx="1748898" cy="3787748"/>
          </a:xfrm>
          <a:prstGeom prst="rect">
            <a:avLst/>
          </a:prstGeom>
          <a:noFill/>
          <a:ln w="190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9507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42</a:t>
            </a:fld>
            <a:endParaRPr lang="en-US" dirty="0"/>
          </a:p>
        </p:txBody>
      </p:sp>
      <p:pic>
        <p:nvPicPr>
          <p:cNvPr id="4" name="Picture 3" descr="Coefficients for models">
            <a:extLst>
              <a:ext uri="{FF2B5EF4-FFF2-40B4-BE49-F238E27FC236}">
                <a16:creationId xmlns:a16="http://schemas.microsoft.com/office/drawing/2014/main" id="{B7B863DC-FF47-D626-0BD2-26FBFCFED085}"/>
              </a:ext>
            </a:extLst>
          </p:cNvPr>
          <p:cNvPicPr>
            <a:picLocks noChangeAspect="1"/>
          </p:cNvPicPr>
          <p:nvPr/>
        </p:nvPicPr>
        <p:blipFill>
          <a:blip r:embed="rId3"/>
          <a:stretch>
            <a:fillRect/>
          </a:stretch>
        </p:blipFill>
        <p:spPr>
          <a:xfrm>
            <a:off x="283779" y="996844"/>
            <a:ext cx="7292094" cy="3939407"/>
          </a:xfrm>
          <a:prstGeom prst="rect">
            <a:avLst/>
          </a:prstGeom>
        </p:spPr>
      </p:pic>
    </p:spTree>
    <p:extLst>
      <p:ext uri="{BB962C8B-B14F-4D97-AF65-F5344CB8AC3E}">
        <p14:creationId xmlns:p14="http://schemas.microsoft.com/office/powerpoint/2010/main" val="1518939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6D591F0-9233-4271-B606-437C670EA1AB}"/>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Multiscale GWR Example</a:t>
            </a:r>
          </a:p>
        </p:txBody>
      </p:sp>
      <p:cxnSp>
        <p:nvCxnSpPr>
          <p:cNvPr id="11" name="Straight Connector 10">
            <a:extLst>
              <a:ext uri="{FF2B5EF4-FFF2-40B4-BE49-F238E27FC236}">
                <a16:creationId xmlns:a16="http://schemas.microsoft.com/office/drawing/2014/main" id="{F84DD4E4-E0AB-44CA-8C82-72D5963329C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607BAED-BA53-4C28-8C9A-FF8EFF63122D}"/>
              </a:ext>
            </a:extLst>
          </p:cNvPr>
          <p:cNvSpPr>
            <a:spLocks noGrp="1"/>
          </p:cNvSpPr>
          <p:nvPr>
            <p:ph type="sldNum" sz="quarter" idx="12"/>
          </p:nvPr>
        </p:nvSpPr>
        <p:spPr/>
        <p:txBody>
          <a:bodyPr/>
          <a:lstStyle/>
          <a:p>
            <a:fld id="{127DDC20-79C9-9647-820E-6D40A3D210C3}" type="slidenum">
              <a:rPr lang="en-US" smtClean="0"/>
              <a:pPr/>
              <a:t>43</a:t>
            </a:fld>
            <a:endParaRPr lang="en-US" dirty="0"/>
          </a:p>
        </p:txBody>
      </p:sp>
      <p:pic>
        <p:nvPicPr>
          <p:cNvPr id="5" name="Picture 4" descr="Spatial patterns for coefficients">
            <a:extLst>
              <a:ext uri="{FF2B5EF4-FFF2-40B4-BE49-F238E27FC236}">
                <a16:creationId xmlns:a16="http://schemas.microsoft.com/office/drawing/2014/main" id="{D71E4FFD-970E-1F6D-F410-E1A9ACAB3FC5}"/>
              </a:ext>
            </a:extLst>
          </p:cNvPr>
          <p:cNvPicPr>
            <a:picLocks noChangeAspect="1"/>
          </p:cNvPicPr>
          <p:nvPr/>
        </p:nvPicPr>
        <p:blipFill>
          <a:blip r:embed="rId3"/>
          <a:stretch>
            <a:fillRect/>
          </a:stretch>
        </p:blipFill>
        <p:spPr>
          <a:xfrm>
            <a:off x="1961604" y="995790"/>
            <a:ext cx="4306392" cy="4045317"/>
          </a:xfrm>
          <a:prstGeom prst="rect">
            <a:avLst/>
          </a:prstGeom>
        </p:spPr>
      </p:pic>
      <p:sp>
        <p:nvSpPr>
          <p:cNvPr id="6" name="TextBox 5">
            <a:extLst>
              <a:ext uri="{FF2B5EF4-FFF2-40B4-BE49-F238E27FC236}">
                <a16:creationId xmlns:a16="http://schemas.microsoft.com/office/drawing/2014/main" id="{3B3F9EBA-154D-A9D1-58EE-5B5884768BF8}"/>
              </a:ext>
            </a:extLst>
          </p:cNvPr>
          <p:cNvSpPr txBox="1"/>
          <p:nvPr/>
        </p:nvSpPr>
        <p:spPr>
          <a:xfrm>
            <a:off x="1026335" y="4702553"/>
            <a:ext cx="1024758" cy="338554"/>
          </a:xfrm>
          <a:prstGeom prst="rect">
            <a:avLst/>
          </a:prstGeom>
          <a:noFill/>
        </p:spPr>
        <p:txBody>
          <a:bodyPr wrap="square" rtlCol="0">
            <a:spAutoFit/>
          </a:bodyPr>
          <a:lstStyle/>
          <a:p>
            <a:r>
              <a:rPr lang="en-US" sz="1600" dirty="0"/>
              <a:t>Figure 5</a:t>
            </a:r>
          </a:p>
        </p:txBody>
      </p:sp>
    </p:spTree>
    <p:extLst>
      <p:ext uri="{BB962C8B-B14F-4D97-AF65-F5344CB8AC3E}">
        <p14:creationId xmlns:p14="http://schemas.microsoft.com/office/powerpoint/2010/main" val="2653355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9405" y="1731477"/>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44</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10238</TotalTime>
  <Words>1386</Words>
  <Application>Microsoft Office PowerPoint</Application>
  <PresentationFormat>Custom</PresentationFormat>
  <Paragraphs>213</Paragraphs>
  <Slides>44</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URWPalladioL-Roma</vt:lpstr>
      <vt:lpstr>Arial</vt:lpstr>
      <vt:lpstr>Calibri</vt:lpstr>
      <vt:lpstr>Cambria Math</vt:lpstr>
      <vt:lpstr>Courier New</vt:lpstr>
      <vt:lpstr>Wingdings</vt:lpstr>
      <vt:lpstr>Office Theme</vt:lpstr>
      <vt:lpstr>GEOG 3403: Geographic Information Systems II</vt:lpstr>
      <vt:lpstr>PowerPoint Presentation</vt:lpstr>
      <vt:lpstr>Regression</vt:lpstr>
      <vt:lpstr>What is regression used for?</vt:lpstr>
      <vt:lpstr>PowerPoint Presentation</vt:lpstr>
      <vt:lpstr>PowerPoint Presentation</vt:lpstr>
      <vt:lpstr>Simple Regression</vt:lpstr>
      <vt:lpstr>PowerPoint Presentation</vt:lpstr>
      <vt:lpstr>PowerPoint Presentation</vt:lpstr>
      <vt:lpstr>Simple regression</vt:lpstr>
      <vt:lpstr>PowerPoint Presentation</vt:lpstr>
      <vt:lpstr>PowerPoint Presentation</vt:lpstr>
      <vt:lpstr>Multiple regression</vt:lpstr>
      <vt:lpstr>PowerPoint Presentation</vt:lpstr>
      <vt:lpstr>PowerPoint Presentation</vt:lpstr>
      <vt:lpstr>PowerPoint Presentation</vt:lpstr>
      <vt:lpstr>PowerPoint Presentation</vt:lpstr>
      <vt:lpstr>PowerPoint Presentation</vt:lpstr>
      <vt:lpstr>GWR: Coefficient of each variable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Wu, Yanan</cp:lastModifiedBy>
  <cp:revision>717</cp:revision>
  <cp:lastPrinted>2020-03-26T12:59:04Z</cp:lastPrinted>
  <dcterms:created xsi:type="dcterms:W3CDTF">2020-03-24T14:51:54Z</dcterms:created>
  <dcterms:modified xsi:type="dcterms:W3CDTF">2026-03-02T06:37:54Z</dcterms:modified>
</cp:coreProperties>
</file>