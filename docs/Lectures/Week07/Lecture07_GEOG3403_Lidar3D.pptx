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602" r:id="rId2"/>
    <p:sldId id="692" r:id="rId3"/>
    <p:sldId id="257" r:id="rId4"/>
    <p:sldId id="734" r:id="rId5"/>
    <p:sldId id="758" r:id="rId6"/>
    <p:sldId id="759" r:id="rId7"/>
    <p:sldId id="760" r:id="rId8"/>
    <p:sldId id="745" r:id="rId9"/>
    <p:sldId id="276" r:id="rId10"/>
    <p:sldId id="736" r:id="rId11"/>
    <p:sldId id="735" r:id="rId12"/>
    <p:sldId id="737" r:id="rId13"/>
    <p:sldId id="744" r:id="rId14"/>
    <p:sldId id="738" r:id="rId15"/>
    <p:sldId id="739" r:id="rId16"/>
    <p:sldId id="741" r:id="rId17"/>
    <p:sldId id="742" r:id="rId18"/>
    <p:sldId id="746" r:id="rId19"/>
    <p:sldId id="747" r:id="rId20"/>
    <p:sldId id="748" r:id="rId21"/>
    <p:sldId id="749" r:id="rId22"/>
    <p:sldId id="750" r:id="rId23"/>
    <p:sldId id="751" r:id="rId24"/>
    <p:sldId id="740" r:id="rId25"/>
    <p:sldId id="753" r:id="rId26"/>
    <p:sldId id="755" r:id="rId27"/>
    <p:sldId id="754" r:id="rId28"/>
    <p:sldId id="756" r:id="rId29"/>
    <p:sldId id="757" r:id="rId30"/>
    <p:sldId id="663" r:id="rId31"/>
    <p:sldId id="270" r:id="rId32"/>
  </p:sldIdLst>
  <p:sldSz cx="8229600" cy="51435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522" autoAdjust="0"/>
  </p:normalViewPr>
  <p:slideViewPr>
    <p:cSldViewPr snapToGrid="0" snapToObjects="1">
      <p:cViewPr varScale="1">
        <p:scale>
          <a:sx n="125" d="100"/>
          <a:sy n="125" d="100"/>
        </p:scale>
        <p:origin x="1554" y="96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5963" y="696913"/>
            <a:ext cx="5578475" cy="3486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08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49654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8F910436-99C4-453D-CD7F-9B34D68A7C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030284CC-CD55-975E-9525-5167CBA9D3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37A1B4AD-8EEA-E9AA-BC2A-0AB9509E5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6F8ABF-9EB2-41D4-AFFC-6D47B9509EE0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8F910436-99C4-453D-CD7F-9B34D68A7C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030284CC-CD55-975E-9525-5167CBA9D3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37A1B4AD-8EEA-E9AA-BC2A-0AB9509E5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6F8ABF-9EB2-41D4-AFFC-6D47B9509EE0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174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Light speed: 3×108 m/s </a:t>
            </a: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485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Light speed: 3×108 m/s </a:t>
            </a: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R="0" algn="l"/>
            <a:r>
              <a:rPr lang="en-US" sz="1200" b="0" i="0" u="none" strike="noStrike" baseline="0" dirty="0">
                <a:solidFill>
                  <a:srgbClr val="56BBE4"/>
                </a:solidFill>
                <a:latin typeface="Georgia" panose="02040502050405020303" pitchFamily="18" charset="0"/>
              </a:rPr>
              <a:t>Inertial Measurement Unit </a:t>
            </a:r>
            <a:r>
              <a:rPr lang="en-US" sz="1200" b="0" i="0" u="none" strike="noStrike" baseline="0" dirty="0">
                <a:solidFill>
                  <a:srgbClr val="FCF7E0"/>
                </a:solidFill>
                <a:latin typeface="Georgia" panose="02040502050405020303" pitchFamily="18" charset="0"/>
              </a:rPr>
              <a:t>(</a:t>
            </a:r>
            <a:r>
              <a:rPr lang="en-US" sz="1200" b="0" i="0" u="none" strike="noStrike" baseline="0" dirty="0">
                <a:solidFill>
                  <a:srgbClr val="56BBE4"/>
                </a:solidFill>
                <a:latin typeface="Georgia" panose="02040502050405020303" pitchFamily="18" charset="0"/>
              </a:rPr>
              <a:t>IMU</a:t>
            </a:r>
            <a:r>
              <a:rPr lang="en-US" sz="1200" b="0" i="0" u="none" strike="noStrike" baseline="0" dirty="0">
                <a:solidFill>
                  <a:srgbClr val="FCF7E0"/>
                </a:solidFill>
                <a:latin typeface="Georgia" panose="02040502050405020303" pitchFamily="18" charset="0"/>
              </a:rPr>
              <a:t>) = angular orientation of the laser with respect to the ground</a:t>
            </a:r>
          </a:p>
          <a:p>
            <a:pPr marR="0" algn="l"/>
            <a:r>
              <a:rPr lang="en-US" sz="1800" dirty="0">
                <a:solidFill>
                  <a:srgbClr val="000000"/>
                </a:solidFill>
                <a:latin typeface="Segoe UI" panose="020B0502040204020203" pitchFamily="34" charset="0"/>
              </a:rPr>
              <a:t>The position and angle of the aircraft relative to the ground impacts the travel path of the transmitted laser pulse.</a:t>
            </a:r>
            <a:endParaRPr lang="en-US" sz="1200" b="0" i="0" u="none" strike="noStrike" baseline="0" dirty="0">
              <a:solidFill>
                <a:srgbClr val="FCF7E0"/>
              </a:solidFill>
              <a:latin typeface="Georgia" panose="02040502050405020303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163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614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the object is small, and there are gaps surrounding it that allow light to pass through, some light continues down towards the ground. 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areas where more photons or more light energy returns to the sensor create peaks in the distribution of energy. </a:t>
            </a: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757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975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937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0" i="0" dirty="0">
                <a:solidFill>
                  <a:srgbClr val="565A5C"/>
                </a:solidFill>
                <a:effectLst/>
                <a:latin typeface="Inter"/>
              </a:rPr>
              <a:t>Cross section showing LiDAR point cloud data superimposed on the corresponding landscape profile. Source: NEON.</a:t>
            </a: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97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906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96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0" i="0" dirty="0">
                <a:effectLst/>
                <a:latin typeface="Roboto" panose="02000000000000000000" pitchFamily="2" charset="0"/>
              </a:rPr>
              <a:t>For example, 'first of many' means it is the first return back of several returns per that one pulse.  So that means it is return #1 of n (let's say 4) total returns.  In the 'last of many' case, that means it is return #4 out of 4 total returns per pulse. 'intermediate' would mean that it could be return # 2 or #3 of four total returns back from that pulse.  'First and only' means that you had only one return come back from that pulse. So that means it is return #1 of 1 total returns coming back from that pulse. (https://groups.google.com/g/lastools/c/MHDqhoJoCqQ?pli=1)</a:t>
            </a: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248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447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479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11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639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104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2743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6062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5711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9555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61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5850A02-2FBF-C1BB-0683-6235F598A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60A72E-AA9E-88C3-D95E-7A4E16F3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B36598-4FB4-D864-946F-AE289227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58DE72-DA79-4F20-8BEC-411478A6DF69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48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26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97820"/>
            <a:ext cx="699516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914650"/>
            <a:ext cx="576072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170D-2247-4938-8E12-D4A9DD92CF9C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1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B4CB-357F-4F27-BE7E-41A0916AC2FE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82" y="3305176"/>
            <a:ext cx="699516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082" y="2180035"/>
            <a:ext cx="699516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5E04-2BDC-46ED-8D19-E421F30C961E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33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B7AEA-15B1-4C6C-85D1-6DD2E6D28B78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151335"/>
            <a:ext cx="3636169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631156"/>
            <a:ext cx="3636169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0524" y="1151335"/>
            <a:ext cx="3637598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0524" y="1631156"/>
            <a:ext cx="3637598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1E3E7-011E-49D9-8F63-0DBAC0FDC0AF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2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1981A-BDA6-4E5C-A2DD-8F5C221340A6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2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90DB5-ABA0-46A2-A9C2-03A43933ABDA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3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1" y="204787"/>
            <a:ext cx="2707482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545" y="204789"/>
            <a:ext cx="4600575" cy="438983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1481" y="1076327"/>
            <a:ext cx="2707482" cy="351829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44068-584D-48B6-B5A6-49C95D2D141F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059" y="3600450"/>
            <a:ext cx="493776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3059" y="459581"/>
            <a:ext cx="4937760" cy="30861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059" y="4025504"/>
            <a:ext cx="4937760" cy="60364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5D459-7EB6-4208-8DA5-A3991A9F587D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B1BE8-D5FD-4CD6-986F-B8C9349E83E6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1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66460" y="205979"/>
            <a:ext cx="185166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480" y="205979"/>
            <a:ext cx="541782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7C4D-61E9-4BB3-A50C-8C0AE47C1064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9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205979"/>
            <a:ext cx="740664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200151"/>
            <a:ext cx="740664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6E7BA-F5D0-4D6D-8CF2-9D5579E7FD2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1780" y="4767263"/>
            <a:ext cx="26060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978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9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1148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41148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ct val="20000"/>
        </a:spcBef>
        <a:buFont typeface="Arial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ct val="200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arthdata.nasa.gov/news/worldview-image-archive/houston-power-outages-due-hurricane-bery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arcgis.com/en/projects/extract-3d-buildings-from-lidar-data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dar.tn.gov/pages/lidar-data-example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YbhNSUnI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/ben_kacyra_ancient_wonders_captured_in_3d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nationalmap.gov/lidar-explorer/#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091" y="158778"/>
            <a:ext cx="8001000" cy="1549772"/>
          </a:xfrm>
        </p:spPr>
        <p:txBody>
          <a:bodyPr>
            <a:normAutofit/>
          </a:bodyPr>
          <a:lstStyle/>
          <a:p>
            <a:r>
              <a:rPr lang="en-US" sz="3600" dirty="0"/>
              <a:t>GEOG 3403: Geographic Information Systems II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57018" y="2967511"/>
            <a:ext cx="5760720" cy="1171497"/>
          </a:xfrm>
          <a:prstGeom prst="rect">
            <a:avLst/>
          </a:prstGeom>
        </p:spPr>
        <p:txBody>
          <a:bodyPr vert="horz" lIns="82296" tIns="41148" rIns="82296" bIns="41148" rtlCol="0">
            <a:normAutofit fontScale="2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solidFill>
                  <a:schemeClr val="tx1"/>
                </a:solidFill>
              </a:rPr>
              <a:t>Y</a:t>
            </a:r>
            <a:r>
              <a:rPr lang="en-US" altLang="zh-CN" sz="8000" dirty="0">
                <a:solidFill>
                  <a:schemeClr val="tx1"/>
                </a:solidFill>
              </a:rPr>
              <a:t>anan Wu</a:t>
            </a:r>
            <a:r>
              <a:rPr lang="en-US" sz="8000" dirty="0">
                <a:solidFill>
                  <a:schemeClr val="tx1"/>
                </a:solidFill>
              </a:rPr>
              <a:t>, PhD</a:t>
            </a:r>
          </a:p>
          <a:p>
            <a:r>
              <a:rPr lang="en-US" sz="8000" dirty="0">
                <a:solidFill>
                  <a:schemeClr val="tx1"/>
                </a:solidFill>
              </a:rPr>
              <a:t>Assistant Professor</a:t>
            </a:r>
          </a:p>
          <a:p>
            <a:r>
              <a:rPr lang="en-US" sz="8000" dirty="0">
                <a:solidFill>
                  <a:schemeClr val="tx1"/>
                </a:solidFill>
              </a:rPr>
              <a:t>Department of Geography</a:t>
            </a:r>
          </a:p>
          <a:p>
            <a:endParaRPr lang="en-US" sz="288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072922" y="4416072"/>
            <a:ext cx="279753" cy="481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852E4-0F7F-41A7-9B32-F40B4D3A753B}"/>
              </a:ext>
            </a:extLst>
          </p:cNvPr>
          <p:cNvSpPr txBox="1"/>
          <p:nvPr/>
        </p:nvSpPr>
        <p:spPr>
          <a:xfrm>
            <a:off x="-1" y="1708550"/>
            <a:ext cx="8196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Lecture 07 Lidar and Visualization</a:t>
            </a:r>
          </a:p>
        </p:txBody>
      </p:sp>
      <p:pic>
        <p:nvPicPr>
          <p:cNvPr id="13" name="Picture 12" descr="Geography department logo">
            <a:extLst>
              <a:ext uri="{FF2B5EF4-FFF2-40B4-BE49-F238E27FC236}">
                <a16:creationId xmlns:a16="http://schemas.microsoft.com/office/drawing/2014/main" id="{AE401581-7A56-448D-8256-F61D9515AE3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1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800" dirty="0"/>
              <a:t>What is LiDAR?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altLang="en-US" sz="2800" dirty="0"/>
              <a:t>Why use LiDAR?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altLang="en-US" sz="2800" dirty="0"/>
              <a:t>How does LiDAR work?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altLang="en-US" sz="2800" dirty="0"/>
              <a:t>Points clouds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sz="2800" dirty="0"/>
              <a:t>Derivatives from LiDAR</a:t>
            </a:r>
            <a:endParaRPr lang="en-US" altLang="en-US" sz="2800" dirty="0"/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altLang="en-US" sz="2800" dirty="0"/>
              <a:t>LiDAR platform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altLang="en-US" sz="2800" dirty="0"/>
              <a:t>Sources of error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altLang="en-US" sz="2800" dirty="0"/>
              <a:t>LiDAR Visualization</a:t>
            </a:r>
            <a:endParaRPr lang="en-US" altLang="en-US" sz="2300" dirty="0"/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sz="23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6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77DEBAC4-019D-0EE2-F4E4-6A6AB3DD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89858"/>
            <a:ext cx="7880608" cy="85725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200" dirty="0">
                <a:cs typeface="Arial" panose="020B0604020202020204" pitchFamily="34" charset="0"/>
              </a:rPr>
              <a:t>LiDAR stands for </a:t>
            </a:r>
            <a:r>
              <a:rPr lang="en-US" altLang="en-US" sz="2200" dirty="0">
                <a:solidFill>
                  <a:srgbClr val="7030A0"/>
                </a:solidFill>
                <a:cs typeface="Arial" panose="020B0604020202020204" pitchFamily="34" charset="0"/>
              </a:rPr>
              <a:t>Light Detection and Ranging</a:t>
            </a:r>
            <a:r>
              <a:rPr lang="en-US" altLang="en-US" sz="2200" dirty="0">
                <a:cs typeface="Arial" panose="020B0604020202020204" pitchFamily="34" charset="0"/>
              </a:rPr>
              <a:t>, commonly known as </a:t>
            </a:r>
            <a:r>
              <a:rPr lang="en-US" altLang="en-US" sz="2200" b="1" i="1" dirty="0">
                <a:cs typeface="Arial" panose="020B0604020202020204" pitchFamily="34" charset="0"/>
              </a:rPr>
              <a:t>Laser Radar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b="1" i="1" dirty="0"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FBD9D4F-FFB2-2180-6282-9E7CAB91FDB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AECDF2F-6DB8-3FBE-D5EC-21A898980F52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What is LiDAR?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1026" name="Picture 2" descr="LiDAR">
            <a:extLst>
              <a:ext uri="{FF2B5EF4-FFF2-40B4-BE49-F238E27FC236}">
                <a16:creationId xmlns:a16="http://schemas.microsoft.com/office/drawing/2014/main" id="{A4DB8EAB-406B-4D1C-77C2-AFF774C8FE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243"/>
          <a:stretch/>
        </p:blipFill>
        <p:spPr bwMode="auto">
          <a:xfrm>
            <a:off x="3798825" y="1871355"/>
            <a:ext cx="2430269" cy="322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964A1A-569F-6C81-4E1D-0E14FD1F5158}"/>
              </a:ext>
            </a:extLst>
          </p:cNvPr>
          <p:cNvSpPr txBox="1"/>
          <p:nvPr/>
        </p:nvSpPr>
        <p:spPr>
          <a:xfrm>
            <a:off x="275761" y="4220590"/>
            <a:ext cx="2430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https://www.neonscience.org/data-collection/lidar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81244-4604-4CB2-2BA6-34273A9F3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77DEBAC4-019D-0EE2-F4E4-6A6AB3DD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1086892"/>
            <a:ext cx="7880608" cy="1111868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sz="2200" dirty="0">
                <a:cs typeface="Arial" panose="020B0604020202020204" pitchFamily="34" charset="0"/>
              </a:rPr>
              <a:t>LiDAR can be used to map structures including vegetation height, density, and other characteristics across a region. </a:t>
            </a:r>
          </a:p>
          <a:p>
            <a:r>
              <a:rPr lang="en-US" altLang="en-US" sz="2200" dirty="0">
                <a:cs typeface="Arial" panose="020B0604020202020204" pitchFamily="34" charset="0"/>
              </a:rPr>
              <a:t>LiDAR is not only replacing conventional sensors, but also creating new methods with unique properties that could not be achieved before.</a:t>
            </a:r>
          </a:p>
          <a:p>
            <a:pPr eaLnBrk="1" hangingPunct="1"/>
            <a:endParaRPr lang="en-US" altLang="en-US" sz="2200" dirty="0"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FBD9D4F-FFB2-2180-6282-9E7CAB91FDB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AECDF2F-6DB8-3FBE-D5EC-21A898980F52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Why use LiDAR?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1026" name="Picture 2" descr="Forests">
            <a:extLst>
              <a:ext uri="{FF2B5EF4-FFF2-40B4-BE49-F238E27FC236}">
                <a16:creationId xmlns:a16="http://schemas.microsoft.com/office/drawing/2014/main" id="{1ACC0B8E-4B07-FE89-A417-5D6631172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715" y="2428801"/>
            <a:ext cx="3302805" cy="247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2A8F10-133B-56E4-890E-2DF67776E269}"/>
              </a:ext>
            </a:extLst>
          </p:cNvPr>
          <p:cNvSpPr txBox="1"/>
          <p:nvPr/>
        </p:nvSpPr>
        <p:spPr>
          <a:xfrm>
            <a:off x="174046" y="4631636"/>
            <a:ext cx="2271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https://www.neonscience.org/resources/learning-hub/tutorials/lidar-basics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6EA87-89FC-0F92-E1AA-F7963DD6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3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328C2-458C-FDBE-AFD1-4A688D24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Group 27">
            <a:extLst>
              <a:ext uri="{FF2B5EF4-FFF2-40B4-BE49-F238E27FC236}">
                <a16:creationId xmlns:a16="http://schemas.microsoft.com/office/drawing/2014/main" id="{E6FDC897-24BA-5655-C57A-518B3676A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796114"/>
              </p:ext>
            </p:extLst>
          </p:nvPr>
        </p:nvGraphicFramePr>
        <p:xfrm>
          <a:off x="440472" y="868199"/>
          <a:ext cx="7082882" cy="670560"/>
        </p:xfrm>
        <a:graphic>
          <a:graphicData uri="http://schemas.openxmlformats.org/drawingml/2006/table">
            <a:tbl>
              <a:tblPr/>
              <a:tblGrid>
                <a:gridCol w="3541441">
                  <a:extLst>
                    <a:ext uri="{9D8B030D-6E8A-4147-A177-3AD203B41FA5}">
                      <a16:colId xmlns:a16="http://schemas.microsoft.com/office/drawing/2014/main" val="2015065860"/>
                    </a:ext>
                  </a:extLst>
                </a:gridCol>
                <a:gridCol w="3541441">
                  <a:extLst>
                    <a:ext uri="{9D8B030D-6E8A-4147-A177-3AD203B41FA5}">
                      <a16:colId xmlns:a16="http://schemas.microsoft.com/office/drawing/2014/main" val="242752677"/>
                    </a:ext>
                  </a:extLst>
                </a:gridCol>
              </a:tblGrid>
              <a:tr h="27839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LiDAR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Photogrammetric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59599"/>
                  </a:ext>
                </a:extLst>
              </a:tr>
              <a:tr h="33135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 or night data acquisition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 time collection only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724867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917A520-4D9C-7AC7-B7E1-2B0642FD2E27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Why use LiDAR?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B5157-558A-6064-DE9C-89C6A971BDED}"/>
              </a:ext>
            </a:extLst>
          </p:cNvPr>
          <p:cNvSpPr txBox="1"/>
          <p:nvPr/>
        </p:nvSpPr>
        <p:spPr>
          <a:xfrm>
            <a:off x="499619" y="1725449"/>
            <a:ext cx="70237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Photogrammetry relies on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visible light imagery. </a:t>
            </a:r>
          </a:p>
          <a:p>
            <a:pPr>
              <a:buNone/>
            </a:pP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It requires natural sunlight to illuminate the surface, making image quality dependent on time of day, weather conditions, shadows, and seasonal lighting differences.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C567E-2988-3B7A-141B-292F98EFF545}"/>
              </a:ext>
            </a:extLst>
          </p:cNvPr>
          <p:cNvSpPr txBox="1"/>
          <p:nvPr/>
        </p:nvSpPr>
        <p:spPr>
          <a:xfrm>
            <a:off x="712933" y="3905969"/>
            <a:ext cx="326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2"/>
              </a:rPr>
              <a:t>Nighttime Lights 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398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CD4CA-48B8-C9D3-5E0E-CC536ADB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Group 27">
            <a:extLst>
              <a:ext uri="{FF2B5EF4-FFF2-40B4-BE49-F238E27FC236}">
                <a16:creationId xmlns:a16="http://schemas.microsoft.com/office/drawing/2014/main" id="{49811E2E-622C-5995-181A-798A90FF9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7773277"/>
              </p:ext>
            </p:extLst>
          </p:nvPr>
        </p:nvGraphicFramePr>
        <p:xfrm>
          <a:off x="440472" y="973707"/>
          <a:ext cx="7082882" cy="931723"/>
        </p:xfrm>
        <a:graphic>
          <a:graphicData uri="http://schemas.openxmlformats.org/drawingml/2006/table">
            <a:tbl>
              <a:tblPr/>
              <a:tblGrid>
                <a:gridCol w="3541441">
                  <a:extLst>
                    <a:ext uri="{9D8B030D-6E8A-4147-A177-3AD203B41FA5}">
                      <a16:colId xmlns:a16="http://schemas.microsoft.com/office/drawing/2014/main" val="2015065860"/>
                    </a:ext>
                  </a:extLst>
                </a:gridCol>
                <a:gridCol w="3541441">
                  <a:extLst>
                    <a:ext uri="{9D8B030D-6E8A-4147-A177-3AD203B41FA5}">
                      <a16:colId xmlns:a16="http://schemas.microsoft.com/office/drawing/2014/main" val="242752677"/>
                    </a:ext>
                  </a:extLst>
                </a:gridCol>
              </a:tblGrid>
              <a:tr h="27839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LiDAR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Photogrammetric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59599"/>
                  </a:ext>
                </a:extLst>
              </a:tr>
              <a:tr h="5964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acquisition of 3D collection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Complicated and sometimes unreliable procedures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50348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C219DE0-86F9-D039-E793-11F725ED0607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Why use LiDAR?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5B9C71-9608-64A7-4992-21B43E8A3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2779350"/>
            <a:ext cx="3627120" cy="1544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C51DEB-935F-9E48-87CF-57A88ECB7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949" y="2779350"/>
            <a:ext cx="3421380" cy="148715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56348C83-15B2-2126-74F9-3DB8F74CC5C8}"/>
              </a:ext>
            </a:extLst>
          </p:cNvPr>
          <p:cNvSpPr/>
          <p:nvPr/>
        </p:nvSpPr>
        <p:spPr>
          <a:xfrm>
            <a:off x="3745653" y="3268980"/>
            <a:ext cx="673947" cy="4495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B9CCB7-E618-67DA-0195-AA98F09AD954}"/>
              </a:ext>
            </a:extLst>
          </p:cNvPr>
          <p:cNvSpPr txBox="1"/>
          <p:nvPr/>
        </p:nvSpPr>
        <p:spPr>
          <a:xfrm>
            <a:off x="792480" y="4409667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4"/>
              </a:rPr>
              <a:t>Extract 3D building from lidar 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390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5831B-634F-288A-D2EE-ACC09649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78C36C-B499-5424-7485-645DDBA6BFE8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Why use LiDAR?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graphicFrame>
        <p:nvGraphicFramePr>
          <p:cNvPr id="6" name="Group 27">
            <a:extLst>
              <a:ext uri="{FF2B5EF4-FFF2-40B4-BE49-F238E27FC236}">
                <a16:creationId xmlns:a16="http://schemas.microsoft.com/office/drawing/2014/main" id="{462F45B5-960A-F482-8C8B-1C2566FD9A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1585560"/>
              </p:ext>
            </p:extLst>
          </p:nvPr>
        </p:nvGraphicFramePr>
        <p:xfrm>
          <a:off x="708991" y="842078"/>
          <a:ext cx="7082882" cy="2257153"/>
        </p:xfrm>
        <a:graphic>
          <a:graphicData uri="http://schemas.openxmlformats.org/drawingml/2006/table">
            <a:tbl>
              <a:tblPr/>
              <a:tblGrid>
                <a:gridCol w="3541441">
                  <a:extLst>
                    <a:ext uri="{9D8B030D-6E8A-4147-A177-3AD203B41FA5}">
                      <a16:colId xmlns:a16="http://schemas.microsoft.com/office/drawing/2014/main" val="2015065860"/>
                    </a:ext>
                  </a:extLst>
                </a:gridCol>
                <a:gridCol w="3541441">
                  <a:extLst>
                    <a:ext uri="{9D8B030D-6E8A-4147-A177-3AD203B41FA5}">
                      <a16:colId xmlns:a16="http://schemas.microsoft.com/office/drawing/2014/main" val="242752677"/>
                    </a:ext>
                  </a:extLst>
                </a:gridCol>
              </a:tblGrid>
              <a:tr h="27839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LiDAR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Photogrammetric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59599"/>
                  </a:ext>
                </a:extLst>
              </a:tr>
              <a:tr h="19218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 cloud difficult to derive semantic information; however, </a:t>
                      </a:r>
                      <a:r>
                        <a:rPr kumimoji="0" lang="en-US" alt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intensity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values can be used to produce a visually rich image like product (example of an intensity image)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Rich in semantic information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30216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DDDBB68-9DDD-72BD-50C3-CF9E33063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970" y="2399995"/>
            <a:ext cx="3389330" cy="2504190"/>
          </a:xfrm>
          <a:prstGeom prst="rect">
            <a:avLst/>
          </a:prstGeom>
        </p:spPr>
      </p:pic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B48B77DE-8EC4-612B-9C42-CEAE3A8BF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91" y="3099231"/>
            <a:ext cx="3329940" cy="143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60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776347" y="2317931"/>
            <a:ext cx="4059458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  <a:hlinkClick r:id="rId3"/>
              </a:rPr>
              <a:t>How does LiDAR Work?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8D2F4-A587-B047-C57C-5B8984F4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56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81006"/>
            <a:ext cx="7730359" cy="3770136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LiDAR is an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remote sensing system. An active system means that the system itself generates energy- in this case, light – to measure things on the ground. In a LiDAR system, light is emitted from a rapidly firing laser.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Each time the laser is pulsed: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Pulse is reflected off an object (e.g., buildings and trees) and returns to the LiDAR sensor where it is recorded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High-speed counter measures the time of flight from the start pulse to the return pulse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measurement is converted to a distance: Distance = (Time X speed of light)/ 2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distance is converted to elevation.</a:t>
            </a:r>
          </a:p>
          <a:p>
            <a:pPr marL="411480" lvl="1" indent="0">
              <a:buNone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How does LiDAR Work?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93EFCF-59B9-84ED-30E3-3B978341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81006"/>
            <a:ext cx="7730359" cy="3770136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Key components of a LiDAR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GPS to identifies the X, Y, Z location o the light energy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Internal Measurement Unit that provides the orientation of the plane in the sky</a:t>
            </a:r>
          </a:p>
          <a:p>
            <a:pPr marL="411480" lvl="1" indent="0">
              <a:buNone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How does LiDAR Work?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3" name="Picture 2" descr="IMU">
            <a:extLst>
              <a:ext uri="{FF2B5EF4-FFF2-40B4-BE49-F238E27FC236}">
                <a16:creationId xmlns:a16="http://schemas.microsoft.com/office/drawing/2014/main" id="{A5BD9FE2-51A5-25A3-DE3C-63E678382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11" y="2419164"/>
            <a:ext cx="3278458" cy="21626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FB2045-2AC9-F92C-A344-04F04E6F69D8}"/>
              </a:ext>
            </a:extLst>
          </p:cNvPr>
          <p:cNvSpPr txBox="1"/>
          <p:nvPr/>
        </p:nvSpPr>
        <p:spPr>
          <a:xfrm>
            <a:off x="594732" y="4581810"/>
            <a:ext cx="2468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https://commons.wikimedia.org/wiki/File:Roll_Pitch_Yaw.JPG</a:t>
            </a:r>
          </a:p>
        </p:txBody>
      </p:sp>
      <p:pic>
        <p:nvPicPr>
          <p:cNvPr id="8" name="Picture 8" descr="Ground plane scanlines GPS IMU tree">
            <a:extLst>
              <a:ext uri="{FF2B5EF4-FFF2-40B4-BE49-F238E27FC236}">
                <a16:creationId xmlns:a16="http://schemas.microsoft.com/office/drawing/2014/main" id="{B73C1938-43F0-00DA-4329-45F288053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242" y="2120861"/>
            <a:ext cx="2612654" cy="2830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D504AD-C357-4919-45C1-D746E7B4AA1F}"/>
              </a:ext>
            </a:extLst>
          </p:cNvPr>
          <p:cNvSpPr txBox="1"/>
          <p:nvPr/>
        </p:nvSpPr>
        <p:spPr>
          <a:xfrm>
            <a:off x="5828371" y="4885641"/>
            <a:ext cx="8400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9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altLang="en-US" sz="9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Moskal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7BE27-EC2F-8A3A-93F4-2C7058AC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59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3976851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Up to 200,000+ pulses/second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Everything that can be seen from the aircraft is measured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How does LiDAR Work?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7170" name="Picture 2" descr="LiDAR data">
            <a:extLst>
              <a:ext uri="{FF2B5EF4-FFF2-40B4-BE49-F238E27FC236}">
                <a16:creationId xmlns:a16="http://schemas.microsoft.com/office/drawing/2014/main" id="{E29DF727-815D-4625-F2A7-BB9B9DBBC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242" y="2230177"/>
            <a:ext cx="2797933" cy="278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8FB08-71B8-E4F4-2125-29DB4CB3CFCC}"/>
              </a:ext>
            </a:extLst>
          </p:cNvPr>
          <p:cNvSpPr txBox="1"/>
          <p:nvPr/>
        </p:nvSpPr>
        <p:spPr>
          <a:xfrm>
            <a:off x="1048215" y="4589091"/>
            <a:ext cx="154630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https://www.neonscience.org/resources/learning-hub/tutorials/lidar-basics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05215C-A7E2-4DA5-B817-4238E3FB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74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66649"/>
            <a:ext cx="4486507" cy="3976851"/>
          </a:xfrm>
        </p:spPr>
        <p:txBody>
          <a:bodyPr>
            <a:normAutofit lnSpcReduction="10000"/>
          </a:bodyPr>
          <a:lstStyle/>
          <a:p>
            <a:pPr marL="308610" lvl="1" indent="-308610">
              <a:buFont typeface="Arial"/>
              <a:buChar char="•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Multiple returns can be measured for each pulse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Because some photons reflect off of things like branches but others continue down towards the ground, multiple reflections may be recorded from one pulse of light.</a:t>
            </a:r>
          </a:p>
          <a:p>
            <a:pPr marL="308610" lvl="1" indent="-308610">
              <a:buFont typeface="Arial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LiDAR waveforms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distribution of energy that returns to the sensor creates what we call a waveform. The amount of energy that returned to the LiDAR sensor is known as 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intensity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Theses peaks in the waveform often represent objects on the ground like - a branch, a group of leaves or a building.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How does LiDAR Work?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11266" name="Picture 2" descr="LiDAR waveforms">
            <a:extLst>
              <a:ext uri="{FF2B5EF4-FFF2-40B4-BE49-F238E27FC236}">
                <a16:creationId xmlns:a16="http://schemas.microsoft.com/office/drawing/2014/main" id="{08BCCAF6-117C-B89B-7569-2F4A7CF92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946" y="2185638"/>
            <a:ext cx="3100040" cy="174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124AFE-CEF2-DC76-6868-AAEAE0BA51D1}"/>
              </a:ext>
            </a:extLst>
          </p:cNvPr>
          <p:cNvSpPr txBox="1"/>
          <p:nvPr/>
        </p:nvSpPr>
        <p:spPr>
          <a:xfrm>
            <a:off x="4995746" y="4691981"/>
            <a:ext cx="2609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https://www.neonscience.org/resources/learning-hub/tutorials/lidar-basics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BC0A9-B15B-9FF5-174D-2D8A17F20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35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How does LiDAR Work?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9" name="Picture 2" descr="Trees">
            <a:extLst>
              <a:ext uri="{FF2B5EF4-FFF2-40B4-BE49-F238E27FC236}">
                <a16:creationId xmlns:a16="http://schemas.microsoft.com/office/drawing/2014/main" id="{C093AA30-FE20-2B64-85FA-0381CE014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72" y="1598341"/>
            <a:ext cx="3030174" cy="3512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 descr="LiDAR waveforms">
            <a:extLst>
              <a:ext uri="{FF2B5EF4-FFF2-40B4-BE49-F238E27FC236}">
                <a16:creationId xmlns:a16="http://schemas.microsoft.com/office/drawing/2014/main" id="{BD4A63C8-C6CA-DFE8-FCE9-124024EF7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32"/>
          <a:stretch>
            <a:fillRect/>
          </a:stretch>
        </p:blipFill>
        <p:spPr bwMode="auto">
          <a:xfrm>
            <a:off x="4499301" y="1360449"/>
            <a:ext cx="2555703" cy="366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2DF52AE-63FF-0954-E383-82DE8D81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46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66650"/>
            <a:ext cx="8001000" cy="1702930"/>
          </a:xfrm>
        </p:spPr>
        <p:txBody>
          <a:bodyPr>
            <a:normAutofit fontScale="92500" lnSpcReduction="20000"/>
          </a:bodyPr>
          <a:lstStyle/>
          <a:p>
            <a:pPr marL="308610" lvl="1" indent="-308610">
              <a:buFont typeface="Arial"/>
              <a:buChar char="•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Discrete Return LiDAR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Records individual (discrete) points for the peaks in the waveform curve.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discrete or individual points are called returns.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May record 1-4 returns from each laser pulse.</a:t>
            </a:r>
          </a:p>
          <a:p>
            <a:pPr marL="308610" lvl="1" indent="-308610">
              <a:buFont typeface="Arial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LiDAR waveforms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Records a distribution of returned light energy.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More complex to process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LiDAR system</a:t>
            </a:r>
            <a:endParaRPr lang="en-US" sz="2600" dirty="0">
              <a:solidFill>
                <a:srgbClr val="7030A0"/>
              </a:solidFill>
            </a:endParaRPr>
          </a:p>
        </p:txBody>
      </p:sp>
      <p:pic>
        <p:nvPicPr>
          <p:cNvPr id="6" name="Picture 5" descr="LiDAR waveforms">
            <a:extLst>
              <a:ext uri="{FF2B5EF4-FFF2-40B4-BE49-F238E27FC236}">
                <a16:creationId xmlns:a16="http://schemas.microsoft.com/office/drawing/2014/main" id="{9C43B3BF-7067-4120-703A-8E1DE33B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419" y="2745233"/>
            <a:ext cx="3761679" cy="19558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85FBCA-200C-95D1-B01B-A575863116AE}"/>
              </a:ext>
            </a:extLst>
          </p:cNvPr>
          <p:cNvSpPr txBox="1"/>
          <p:nvPr/>
        </p:nvSpPr>
        <p:spPr>
          <a:xfrm>
            <a:off x="215589" y="4701129"/>
            <a:ext cx="5917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4580" algn="l"/>
            <a:r>
              <a:rPr lang="en-US" sz="900" b="0" i="0" u="none" strike="noStrike" baseline="0" dirty="0">
                <a:solidFill>
                  <a:srgbClr val="7030A0"/>
                </a:solidFill>
                <a:latin typeface="Georgia" panose="02040502050405020303" pitchFamily="18" charset="0"/>
              </a:rPr>
              <a:t>Mallet, C. and </a:t>
            </a:r>
            <a:r>
              <a:rPr lang="en-US" sz="900" b="0" i="0" u="none" strike="noStrike" baseline="0" dirty="0" err="1">
                <a:solidFill>
                  <a:srgbClr val="7030A0"/>
                </a:solidFill>
                <a:latin typeface="Georgia" panose="02040502050405020303" pitchFamily="18" charset="0"/>
              </a:rPr>
              <a:t>Bretar</a:t>
            </a:r>
            <a:r>
              <a:rPr lang="en-US" sz="900" b="0" i="0" u="none" strike="noStrike" baseline="0" dirty="0">
                <a:solidFill>
                  <a:srgbClr val="7030A0"/>
                </a:solidFill>
                <a:latin typeface="Georgia" panose="02040502050405020303" pitchFamily="18" charset="0"/>
              </a:rPr>
              <a:t>, F., 2009. Full-waveform topographic lidar: State-of-the-art. </a:t>
            </a:r>
            <a:r>
              <a:rPr lang="en-US" sz="900" b="0" i="1" u="none" strike="noStrike" baseline="0" dirty="0">
                <a:solidFill>
                  <a:srgbClr val="7030A0"/>
                </a:solidFill>
                <a:latin typeface="Georgia" panose="02040502050405020303" pitchFamily="18" charset="0"/>
              </a:rPr>
              <a:t>ISPRS Journal of photogrammetry and remote sensing</a:t>
            </a:r>
            <a:r>
              <a:rPr lang="en-US" sz="900" b="0" i="0" u="none" strike="noStrike" baseline="0" dirty="0">
                <a:solidFill>
                  <a:srgbClr val="7030A0"/>
                </a:solidFill>
                <a:latin typeface="Georgia" panose="02040502050405020303" pitchFamily="18" charset="0"/>
              </a:rPr>
              <a:t>, </a:t>
            </a:r>
            <a:r>
              <a:rPr lang="en-US" sz="900" b="0" i="1" u="none" strike="noStrike" baseline="0" dirty="0">
                <a:solidFill>
                  <a:srgbClr val="7030A0"/>
                </a:solidFill>
                <a:latin typeface="Georgia" panose="02040502050405020303" pitchFamily="18" charset="0"/>
              </a:rPr>
              <a:t>64</a:t>
            </a:r>
            <a:r>
              <a:rPr lang="en-US" sz="900" b="0" i="0" u="none" strike="noStrike" baseline="0" dirty="0">
                <a:solidFill>
                  <a:srgbClr val="7030A0"/>
                </a:solidFill>
                <a:latin typeface="Georgia" panose="02040502050405020303" pitchFamily="18" charset="0"/>
              </a:rPr>
              <a:t>(1), pp.1-16. 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ADC284-ABC8-7358-F205-ED6599AC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16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598849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LiDAR has a unique data structure. Instead of being stored as an array of values, or a raster grid, each 3D measurement is stored as a point measurement. 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These point measurements are combined to form a point cloud.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is common f a single point could file to include millions or tens of millions of measurements.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Point Clouds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13314" name="Picture 2" descr="LiDAR points">
            <a:extLst>
              <a:ext uri="{FF2B5EF4-FFF2-40B4-BE49-F238E27FC236}">
                <a16:creationId xmlns:a16="http://schemas.microsoft.com/office/drawing/2014/main" id="{A07FC65D-34A2-9EBE-DFBB-C9147D6EA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023" y="2593874"/>
            <a:ext cx="4319239" cy="242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186EFF-BCAE-76D6-93FF-41C612BF03EC}"/>
              </a:ext>
            </a:extLst>
          </p:cNvPr>
          <p:cNvSpPr txBox="1"/>
          <p:nvPr/>
        </p:nvSpPr>
        <p:spPr>
          <a:xfrm>
            <a:off x="2029522" y="4637892"/>
            <a:ext cx="154630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https://www.neonscience.org/resources/learning-hub/tutorials/lidar-basics</a:t>
            </a:r>
          </a:p>
        </p:txBody>
      </p:sp>
      <p:pic>
        <p:nvPicPr>
          <p:cNvPr id="9" name="Picture 8" descr="LiDAR points">
            <a:extLst>
              <a:ext uri="{FF2B5EF4-FFF2-40B4-BE49-F238E27FC236}">
                <a16:creationId xmlns:a16="http://schemas.microsoft.com/office/drawing/2014/main" id="{52E5C7A7-D4D0-4BEC-DD07-BB11BFCA7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42" y="2730776"/>
            <a:ext cx="2286145" cy="190711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070C74-5F87-F4D5-E255-3DFB9C83B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21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92617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Density of points is controlled by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4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Pulse rate</a:t>
            </a: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: how many pulses are released a second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frequency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how fast the sensor scans back-and-forth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Scale Angle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maximum angle of the scan, &lt; 18º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Flight height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height of the sensor above the ground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Flight speed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average flight speed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Overlapping coverage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area overlapped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Point Clouds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3" name="Picture 2" descr="Plane angle">
            <a:extLst>
              <a:ext uri="{FF2B5EF4-FFF2-40B4-BE49-F238E27FC236}">
                <a16:creationId xmlns:a16="http://schemas.microsoft.com/office/drawing/2014/main" id="{03CFA8F2-228C-FCD6-3591-C66799F53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449" y="2757929"/>
            <a:ext cx="2942063" cy="221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2409E2-A64E-23DD-5B0F-79BB402DA7E0}"/>
              </a:ext>
            </a:extLst>
          </p:cNvPr>
          <p:cNvSpPr txBox="1"/>
          <p:nvPr/>
        </p:nvSpPr>
        <p:spPr>
          <a:xfrm>
            <a:off x="3798145" y="4870993"/>
            <a:ext cx="8400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9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altLang="en-US" sz="9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Moskal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806ADB-3ED4-3462-66F4-7105C69B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65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92617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Raw data is stored in LAS format, supported by the American Society of Photogrammetry and Remote Sensing (ASPRS).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Recently,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the LAZ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format has been developed by Martin Isenberg of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LasTools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The difference is that LAZ is a highly compressed version of LAS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Point Clouds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7" name="Picture 6" descr="Convert LAS">
            <a:extLst>
              <a:ext uri="{FF2B5EF4-FFF2-40B4-BE49-F238E27FC236}">
                <a16:creationId xmlns:a16="http://schemas.microsoft.com/office/drawing/2014/main" id="{6144D24C-C791-D616-1AB4-D097300AC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398" y="2505252"/>
            <a:ext cx="1950058" cy="25717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D8AD51-53C3-48AC-C85D-5D543FDE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49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92617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Point Attributes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Return Number = 1</a:t>
            </a:r>
            <a:r>
              <a:rPr lang="en-US" altLang="en-US" sz="144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, 2</a:t>
            </a:r>
            <a:r>
              <a:rPr lang="en-US" altLang="en-US" sz="144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, 3</a:t>
            </a:r>
            <a:r>
              <a:rPr lang="en-US" altLang="en-US" sz="144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, 4</a:t>
            </a:r>
            <a:r>
              <a:rPr lang="en-US" altLang="en-US" sz="144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Classification = Unassigned, Ground, Low Vegetation, Medium Vegetation, High Vegetation, Building, etc.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Point Clouds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3" name="Picture 2" descr="Point attributes">
            <a:extLst>
              <a:ext uri="{FF2B5EF4-FFF2-40B4-BE49-F238E27FC236}">
                <a16:creationId xmlns:a16="http://schemas.microsoft.com/office/drawing/2014/main" id="{230F8D8C-11D9-F8B8-BBFC-AC2733AB6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03" y="2453988"/>
            <a:ext cx="4045363" cy="2573399"/>
          </a:xfrm>
          <a:prstGeom prst="rect">
            <a:avLst/>
          </a:prstGeom>
        </p:spPr>
      </p:pic>
      <p:pic>
        <p:nvPicPr>
          <p:cNvPr id="8" name="Picture 7" descr="Classification flags">
            <a:extLst>
              <a:ext uri="{FF2B5EF4-FFF2-40B4-BE49-F238E27FC236}">
                <a16:creationId xmlns:a16="http://schemas.microsoft.com/office/drawing/2014/main" id="{A796E41F-0B2D-A25E-8782-3FCE6243A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548" y="3092824"/>
            <a:ext cx="3132653" cy="165334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C5DF6-FE68-C01C-207C-A0BDEFA5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32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92617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Point Filtering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Point Clouds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2" name="Picture 2" descr="Filtering LiDAR points">
            <a:extLst>
              <a:ext uri="{FF2B5EF4-FFF2-40B4-BE49-F238E27FC236}">
                <a16:creationId xmlns:a16="http://schemas.microsoft.com/office/drawing/2014/main" id="{ACC107C4-117F-B93B-1AB0-AE70D1EA9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42" y="1677783"/>
            <a:ext cx="3651641" cy="211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Filtering LiDAR points">
            <a:extLst>
              <a:ext uri="{FF2B5EF4-FFF2-40B4-BE49-F238E27FC236}">
                <a16:creationId xmlns:a16="http://schemas.microsoft.com/office/drawing/2014/main" id="{5D218394-2C0D-8AF7-3401-7EADA4BF9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838" y="1677783"/>
            <a:ext cx="3353897" cy="1913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 descr="LAS Filters in ArcGIS Pro">
            <a:extLst>
              <a:ext uri="{FF2B5EF4-FFF2-40B4-BE49-F238E27FC236}">
                <a16:creationId xmlns:a16="http://schemas.microsoft.com/office/drawing/2014/main" id="{BB1A698F-E857-667E-0210-0DBCB463F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978" y="4101926"/>
            <a:ext cx="2665720" cy="79617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34530-299B-0E3A-38AF-4CEDDBE25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16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92617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Point Filtering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Point Clouds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3" name="Picture 2" descr="Filtering LiDAR points">
            <a:extLst>
              <a:ext uri="{FF2B5EF4-FFF2-40B4-BE49-F238E27FC236}">
                <a16:creationId xmlns:a16="http://schemas.microsoft.com/office/drawing/2014/main" id="{A46FB848-70AD-7F5B-A28A-E69B236FC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879" y="1616834"/>
            <a:ext cx="5467841" cy="3331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C115E-5559-8155-F020-108E2A7D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56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92617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products derived from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LiDA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 point cloud data are often raster files that may be in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GeoTIFF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(.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tif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formats.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Intensity: measure of the amount of energy returning to the sensor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Elevation: DEM or DSM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RGB: assign image RGB values to points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Derivatives from LiDAR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6" name="Picture 5" descr="LAS dataset to raster">
            <a:extLst>
              <a:ext uri="{FF2B5EF4-FFF2-40B4-BE49-F238E27FC236}">
                <a16:creationId xmlns:a16="http://schemas.microsoft.com/office/drawing/2014/main" id="{663789E1-17A9-C961-7C71-F94123306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708" y="2206687"/>
            <a:ext cx="2203530" cy="289373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2C852-EE73-DEEA-258E-14F546D9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29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92617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Intensity: measure of the amount of energy returning to the sensor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Return number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Surface material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Moisture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Derivatives from LiDAR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2" name="Picture 2" descr="LiDAR interaction with target">
            <a:extLst>
              <a:ext uri="{FF2B5EF4-FFF2-40B4-BE49-F238E27FC236}">
                <a16:creationId xmlns:a16="http://schemas.microsoft.com/office/drawing/2014/main" id="{1548FE08-3DE4-E7A3-690A-BC7278F9E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496" y="2374170"/>
            <a:ext cx="4025262" cy="232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LiDAR points">
            <a:extLst>
              <a:ext uri="{FF2B5EF4-FFF2-40B4-BE49-F238E27FC236}">
                <a16:creationId xmlns:a16="http://schemas.microsoft.com/office/drawing/2014/main" id="{4D2260EA-66C5-4929-1BB9-70902B302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177" y="2336582"/>
            <a:ext cx="2646555" cy="263656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743B6-F875-E5B7-470A-79734FF3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8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192617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Elevation: DEM or DSM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Derivatives from LiDAR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3" name="Picture 2" descr="DSM">
            <a:extLst>
              <a:ext uri="{FF2B5EF4-FFF2-40B4-BE49-F238E27FC236}">
                <a16:creationId xmlns:a16="http://schemas.microsoft.com/office/drawing/2014/main" id="{F1679769-AB19-4439-AC33-332556449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688" y="1832981"/>
            <a:ext cx="2808083" cy="2783357"/>
          </a:xfrm>
          <a:prstGeom prst="rect">
            <a:avLst/>
          </a:prstGeom>
        </p:spPr>
      </p:pic>
      <p:pic>
        <p:nvPicPr>
          <p:cNvPr id="7" name="Picture 6" descr="DEM">
            <a:extLst>
              <a:ext uri="{FF2B5EF4-FFF2-40B4-BE49-F238E27FC236}">
                <a16:creationId xmlns:a16="http://schemas.microsoft.com/office/drawing/2014/main" id="{A97F15DE-1386-DBAC-14CC-0C9D01C3E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74" y="1832981"/>
            <a:ext cx="2786853" cy="27833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7639EC-4A3F-9380-8532-0CB3228219B3}"/>
              </a:ext>
            </a:extLst>
          </p:cNvPr>
          <p:cNvSpPr txBox="1"/>
          <p:nvPr/>
        </p:nvSpPr>
        <p:spPr>
          <a:xfrm>
            <a:off x="1575083" y="4731086"/>
            <a:ext cx="75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3B5401-AD8E-555F-02CA-2AABAB4C45C4}"/>
              </a:ext>
            </a:extLst>
          </p:cNvPr>
          <p:cNvSpPr txBox="1"/>
          <p:nvPr/>
        </p:nvSpPr>
        <p:spPr>
          <a:xfrm>
            <a:off x="5808829" y="4698820"/>
            <a:ext cx="75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DSM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D921C71-8728-6CAF-C67D-61507E44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69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8"/>
            <a:ext cx="7730359" cy="358402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Satellite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Airplane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Helicopter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Drone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Vehicle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Tripod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Phone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LiDAR Platform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6" name="Picture 5" descr="Airplane LiDAR">
            <a:extLst>
              <a:ext uri="{FF2B5EF4-FFF2-40B4-BE49-F238E27FC236}">
                <a16:creationId xmlns:a16="http://schemas.microsoft.com/office/drawing/2014/main" id="{0BB6BDB2-4C0B-397E-3E8C-853A26C6B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652" y="1166648"/>
            <a:ext cx="2923662" cy="1877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713626-2733-B20D-03C1-DBA2711DFE22}"/>
              </a:ext>
            </a:extLst>
          </p:cNvPr>
          <p:cNvSpPr txBox="1"/>
          <p:nvPr/>
        </p:nvSpPr>
        <p:spPr>
          <a:xfrm>
            <a:off x="2200506" y="3197561"/>
            <a:ext cx="2720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https://www.nasa.gov/press-release/nasa-television-to-air-launch-of-global-ice-measuring-satellite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2A342-56F4-A7F0-BC31-1DF6B12AD242}"/>
              </a:ext>
            </a:extLst>
          </p:cNvPr>
          <p:cNvSpPr txBox="1"/>
          <p:nvPr/>
        </p:nvSpPr>
        <p:spPr>
          <a:xfrm>
            <a:off x="4311805" y="4661777"/>
            <a:ext cx="3248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https://www.geospatialworld.net/blogs/why-lidar-is-important-for-autonomous-vehicle/</a:t>
            </a:r>
          </a:p>
        </p:txBody>
      </p:sp>
      <p:pic>
        <p:nvPicPr>
          <p:cNvPr id="17412" name="Picture 4" descr="LiDAR - eyes of autonomous vehicle ">
            <a:extLst>
              <a:ext uri="{FF2B5EF4-FFF2-40B4-BE49-F238E27FC236}">
                <a16:creationId xmlns:a16="http://schemas.microsoft.com/office/drawing/2014/main" id="{C94A5DC7-85F0-582B-80BA-48A6FA2FE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106" y="2851132"/>
            <a:ext cx="3028095" cy="154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4A28DC-1C00-9E7D-52E1-C4147264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70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Content Placeholder 6">
            <a:extLst>
              <a:ext uri="{FF2B5EF4-FFF2-40B4-BE49-F238E27FC236}">
                <a16:creationId xmlns:a16="http://schemas.microsoft.com/office/drawing/2014/main" id="{AD246EF8-C21A-4824-441F-9CCC4DFF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8"/>
            <a:ext cx="7730359" cy="358402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Equipment/signal error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Multipath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Non-ground objects (e.g., dust, aerosols, water vapor)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Bad processing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Sources of Error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EC97EB-B7E4-7A43-AEFF-9665D57A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48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LiDAR Visualization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3685870B-70BC-FD4F-DE1B-7236AB868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8"/>
            <a:ext cx="7730359" cy="3584025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Elevation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Intensity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Last/first returns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etc.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4727B5-E6DE-7DA8-F58A-FC895900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62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LiDAR Visualization</a:t>
            </a:r>
            <a:endParaRPr lang="en-US" sz="2600" dirty="0">
              <a:solidFill>
                <a:srgbClr val="7030A0"/>
              </a:solidFill>
            </a:endParaRPr>
          </a:p>
        </p:txBody>
      </p:sp>
      <p:pic>
        <p:nvPicPr>
          <p:cNvPr id="7" name="Picture 6" descr="2D LiDAR">
            <a:extLst>
              <a:ext uri="{FF2B5EF4-FFF2-40B4-BE49-F238E27FC236}">
                <a16:creationId xmlns:a16="http://schemas.microsoft.com/office/drawing/2014/main" id="{5856C790-41B8-8C04-C532-9C35FE76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24" y="1877637"/>
            <a:ext cx="2726804" cy="2746506"/>
          </a:xfrm>
          <a:prstGeom prst="rect">
            <a:avLst/>
          </a:prstGeom>
        </p:spPr>
      </p:pic>
      <p:pic>
        <p:nvPicPr>
          <p:cNvPr id="9" name="Picture 8" descr="3D LiDAR">
            <a:extLst>
              <a:ext uri="{FF2B5EF4-FFF2-40B4-BE49-F238E27FC236}">
                <a16:creationId xmlns:a16="http://schemas.microsoft.com/office/drawing/2014/main" id="{C5A0FD31-9FE5-36F7-081A-E07F22E64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564" y="1932765"/>
            <a:ext cx="3016969" cy="2725727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7807C2D-1685-D120-BC55-CEA2D5D12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581470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Elevation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EF1EC4-53A0-7E4A-0B3B-469890BB322A}"/>
              </a:ext>
            </a:extLst>
          </p:cNvPr>
          <p:cNvSpPr txBox="1"/>
          <p:nvPr/>
        </p:nvSpPr>
        <p:spPr>
          <a:xfrm>
            <a:off x="1661533" y="4811052"/>
            <a:ext cx="75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45D60F-9B35-910F-224A-88D7ECBF3E40}"/>
              </a:ext>
            </a:extLst>
          </p:cNvPr>
          <p:cNvSpPr txBox="1"/>
          <p:nvPr/>
        </p:nvSpPr>
        <p:spPr>
          <a:xfrm>
            <a:off x="5976097" y="4799381"/>
            <a:ext cx="591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244E9B-621B-D569-6B22-8390CAC3A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178" y="1991857"/>
            <a:ext cx="1319368" cy="2376209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A1720FC-538C-B23D-3551-D3BB2821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59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Other LiDAR Software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7807C2D-1685-D120-BC55-CEA2D5D12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9"/>
            <a:ext cx="7730359" cy="58147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CloudCompare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440" dirty="0">
                <a:latin typeface="Arial" panose="020B0604020202020204" pitchFamily="34" charset="0"/>
                <a:cs typeface="Arial" panose="020B0604020202020204" pitchFamily="34" charset="0"/>
              </a:rPr>
              <a:t>Free</a:t>
            </a:r>
          </a:p>
        </p:txBody>
      </p:sp>
      <p:pic>
        <p:nvPicPr>
          <p:cNvPr id="3" name="Picture 2" descr="CloudCompare">
            <a:extLst>
              <a:ext uri="{FF2B5EF4-FFF2-40B4-BE49-F238E27FC236}">
                <a16:creationId xmlns:a16="http://schemas.microsoft.com/office/drawing/2014/main" id="{89BAD39E-08B5-E0D0-6C4C-7A4A4DA48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81" y="2148718"/>
            <a:ext cx="6589059" cy="2272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5F2F55-5723-9993-D377-03CC0620AF42}"/>
              </a:ext>
            </a:extLst>
          </p:cNvPr>
          <p:cNvSpPr txBox="1"/>
          <p:nvPr/>
        </p:nvSpPr>
        <p:spPr>
          <a:xfrm>
            <a:off x="614656" y="4706374"/>
            <a:ext cx="18980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https://www.cloudcompare.org/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A5E1EBA-6E6A-1E2F-00FA-0BE7C1E2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96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232E6-3475-AEB7-661D-C0783E66293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7AC10D3-F323-8C7D-B698-613CB6E4164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LiDAR Application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7807C2D-1685-D120-BC55-CEA2D5D12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66648"/>
            <a:ext cx="7730359" cy="3053939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3D visualization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Urban mapping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Utility line mapping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Geomorphology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Hydrology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Archeology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Landscape architecture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Surveying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Self-driving cars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A5E1EBA-6E6A-1E2F-00FA-0BE7C1E2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07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27">
            <a:extLst>
              <a:ext uri="{FF2B5EF4-FFF2-40B4-BE49-F238E27FC236}">
                <a16:creationId xmlns:a16="http://schemas.microsoft.com/office/drawing/2014/main" id="{27DB8FA9-BDA5-4B3E-BDD4-93B7C42F443E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3000" dirty="0"/>
              <a:t>USGS 3DEP </a:t>
            </a:r>
            <a:r>
              <a:rPr lang="en-US" altLang="en-US" sz="3000" dirty="0" err="1"/>
              <a:t>LidarExplorer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>
                <a:hlinkClick r:id="rId3"/>
              </a:rPr>
              <a:t>https://apps.nationalmap.gov/lidar-explorer/#/</a:t>
            </a:r>
            <a:r>
              <a:rPr lang="en-US" altLang="en-US" sz="300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600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3909007" y="1547459"/>
            <a:ext cx="2984006" cy="2881110"/>
          </a:xfrm>
          <a:prstGeom prst="rect">
            <a:avLst/>
          </a:prstGeom>
        </p:spPr>
        <p:txBody>
          <a:bodyPr vert="horz" lIns="61738" tIns="30869" rIns="61738" bIns="30869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2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7169D0-0D27-4724-9609-1F1856F2AFA0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3AFA498-9D77-44AF-AA2F-9C61F0248172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r>
              <a:rPr lang="en-US" altLang="en-US" sz="3200" dirty="0">
                <a:solidFill>
                  <a:srgbClr val="7030A0"/>
                </a:solidFill>
              </a:rPr>
              <a:t>Data # 4: LiDAR Data Downloading Demonstration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13555-35FD-44B8-90EE-078819E9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17571</TotalTime>
  <Words>1436</Words>
  <Application>Microsoft Office PowerPoint</Application>
  <PresentationFormat>Custom</PresentationFormat>
  <Paragraphs>227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Inter</vt:lpstr>
      <vt:lpstr>Arial</vt:lpstr>
      <vt:lpstr>Calibri</vt:lpstr>
      <vt:lpstr>Courier New</vt:lpstr>
      <vt:lpstr>Georgia</vt:lpstr>
      <vt:lpstr>Roboto</vt:lpstr>
      <vt:lpstr>Segoe UI</vt:lpstr>
      <vt:lpstr>Wingdings</vt:lpstr>
      <vt:lpstr>Office Theme</vt:lpstr>
      <vt:lpstr>GEOG 3403: Geographic Information Systems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Information Science Introduction</dc:title>
  <dc:creator>Yaqian He</dc:creator>
  <cp:lastModifiedBy>Wu, Yanan</cp:lastModifiedBy>
  <cp:revision>811</cp:revision>
  <cp:lastPrinted>2020-03-26T12:59:04Z</cp:lastPrinted>
  <dcterms:created xsi:type="dcterms:W3CDTF">2020-03-24T14:51:54Z</dcterms:created>
  <dcterms:modified xsi:type="dcterms:W3CDTF">2026-02-17T06:58:40Z</dcterms:modified>
</cp:coreProperties>
</file>