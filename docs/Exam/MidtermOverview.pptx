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8" r:id="rId4"/>
    <p:sldId id="262" r:id="rId5"/>
    <p:sldId id="269" r:id="rId6"/>
    <p:sldId id="271" r:id="rId7"/>
    <p:sldId id="267" r:id="rId8"/>
    <p:sldId id="270" r:id="rId9"/>
    <p:sldId id="265" r:id="rId10"/>
    <p:sldId id="258" r:id="rId11"/>
    <p:sldId id="257" r:id="rId12"/>
    <p:sldId id="259" r:id="rId13"/>
    <p:sldId id="272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35E3B-4928-ABB6-62FD-84348DC4D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575C2C-7564-0AEE-634F-78B635C270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81B47-AC03-4E89-8546-429786BB3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F7FB7-A762-40A8-89B9-FF76CCAABCB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76E7A-82C4-D7C7-47BE-D13B97BA5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7F2AF-C8EC-F48D-3B60-8AFD9677C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D30ED-41EB-4E81-9FE5-B77B88689E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930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2435D-12F5-37BD-A3C7-6161B5C90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3C1DB-6B6F-397A-34D6-0AE64AEB4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4A55B-29C4-6342-6C2D-D95CD49CB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F7FB7-A762-40A8-89B9-FF76CCAABCB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D8BE7-C1D3-FCB1-BBED-BC15C3FD4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F7DB5-9EB7-00EB-55AD-D82648277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D30ED-41EB-4E81-9FE5-B77B88689E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249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B8482-EAC9-2FD1-42E6-5AB731343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D24B7-9052-FD14-DE9D-1D0B21AF0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0CA12-D9A7-49C5-F942-3EA391442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F7FB7-A762-40A8-89B9-FF76CCAABCB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54793-7D95-1CF0-679D-34F2B764A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C83D8-ED20-E1A1-76E0-4CD07BC5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D30ED-41EB-4E81-9FE5-B77B88689E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357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E1E5C-16E8-6CF8-C7D5-76FACFBE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AF3D3-8019-16AD-F370-03A2E3E8E1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FA3599-F71F-6E8E-CE69-9BB92F635B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ABB422-CDD8-620D-CE7D-EE341D992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F7FB7-A762-40A8-89B9-FF76CCAABCB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4693F4-17A4-F052-69D7-F52903607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0EB25-D85A-2F2B-6667-8AF43E6EA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D30ED-41EB-4E81-9FE5-B77B88689E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39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00B6-B26A-2440-64BB-B3088FCC1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B9007-BCB0-E6FD-0D39-34D23625C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68EBFE-2FFB-2A66-25D0-EF4A81D0F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78EA90-A878-0B87-875A-8CE78DE0D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08AD0F-6518-B8C0-74A5-09C24F004C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234428-D085-366E-716D-1BC6E9222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F7FB7-A762-40A8-89B9-FF76CCAABCB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49C7FC-4E7D-D46E-730B-CA0D42669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43B4D6-9A7B-4B13-A542-3C0C42881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D30ED-41EB-4E81-9FE5-B77B88689E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224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6A48C-EBBD-762B-6B88-8000B4A2C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DDE32D-8265-5842-611C-E4F7530FE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F7FB7-A762-40A8-89B9-FF76CCAABCB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6AD0D4-94D9-6EDD-270F-B4F6669FA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DE8315-A147-2CF6-F2CD-FA6B2C7D4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D30ED-41EB-4E81-9FE5-B77B88689E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4019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CD6ED9-30ED-2FAC-B794-0E55F5DB7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F7FB7-A762-40A8-89B9-FF76CCAABCB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C61195-A42F-E7A2-CB55-DE528F1A8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3B3CA-F9FB-253F-30EF-F7766786D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D30ED-41EB-4E81-9FE5-B77B88689E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9271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DBCD3-8AD6-F243-CA80-6D20EF688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45180-3693-16A0-0462-EC841A921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2EEAA1-8CEF-7324-55FD-10101F415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18B92-E569-243F-881B-48F6853CD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F7FB7-A762-40A8-89B9-FF76CCAABCB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C0EDE-77B9-31C7-8F1A-2C4FB5491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238108-087A-75AF-A916-160EC331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D30ED-41EB-4E81-9FE5-B77B88689E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024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4A9B-1DF7-30C7-BCA2-8D67D6F9A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0A89E2-4F58-5367-E308-52592F404A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E29805-48AE-2440-68B9-8877F1E2B7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76FCC-243C-D685-504B-A4F2ADDC7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F7FB7-A762-40A8-89B9-FF76CCAABCB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E1ADB5-68C3-64C6-7DBB-36B5C68C7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831C0-1221-6494-38FE-6802F8F6A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D30ED-41EB-4E81-9FE5-B77B88689E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307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05514-3A4D-BFCD-EF7A-735E58A1B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C642E4-F40C-B0AA-10E5-ED9D5CF205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37BDE-A9CD-631C-984E-63B1627E6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F7FB7-A762-40A8-89B9-FF76CCAABCB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FAFCC-A35D-F0E4-7EE0-BE6A2593F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D2F6C-3BA2-8FDA-80A1-BEDFE2B0E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D30ED-41EB-4E81-9FE5-B77B88689E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993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EDC0F2-ABE7-C015-34ED-2B5F6A6D96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D382A0-2940-6FFE-D503-FFA0A9A4F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14801-7028-F308-3F67-C96A8FD1F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F7FB7-A762-40A8-89B9-FF76CCAABCB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9838A-9F87-CABF-AA54-1596B5F36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45AF6-93A5-878B-9F0D-AD21EE958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D30ED-41EB-4E81-9FE5-B77B88689E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533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48369E-560D-69ED-469A-99709AC41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CAE60-3942-3262-0CE7-5167BABF4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0DECE-C7DE-EED4-73E1-1DD1211E13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3F7FB7-A762-40A8-89B9-FF76CCAABCB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17CC3-06AE-66D4-594C-594C3C985C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D5BB0-2ECA-B4CA-A41B-1D0905805F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4D30ED-41EB-4E81-9FE5-B77B88689E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88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hetruesize.com/#?borders=1~!MTc1MzEyMDg.MTA0MjkxOQ*MzYwMDAwMDA(MA~!US*ODA4OTg5OA.MTYyMTYwNDQ)NA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stbok-topics.ucgis.org/CV-03-005" TargetMode="Externa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9832C-5BEC-81B1-2F38-149D3BDD5A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Midterm Overview</a:t>
            </a:r>
            <a:endParaRPr lang="zh-CN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E735CC-533E-D3E5-29C1-9FDFD7D1D9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87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FBD18B-9983-E187-3906-387B9CE7AC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4162" y="1135780"/>
            <a:ext cx="10572099" cy="221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536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AD6AF2-BDD9-3BF4-E509-2135A5FC60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6926" y="1183229"/>
            <a:ext cx="9168532" cy="25898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564E90-A8C5-8637-E81A-5C5E42223497}"/>
              </a:ext>
            </a:extLst>
          </p:cNvPr>
          <p:cNvSpPr txBox="1"/>
          <p:nvPr/>
        </p:nvSpPr>
        <p:spPr>
          <a:xfrm>
            <a:off x="4908883" y="4697128"/>
            <a:ext cx="2877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hlinkClick r:id="rId3"/>
              </a:rPr>
              <a:t>Mercator Projection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1586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3D32EE-6156-B31A-15ED-230CBD5E6B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7118" y="1038139"/>
            <a:ext cx="8314959" cy="18494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3C1968-4D2A-15C1-EA3A-643E667EA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3318" y="3181608"/>
            <a:ext cx="5782498" cy="321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975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18A987-DF1F-7C6D-676F-3761D1E8EC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5823" y="820090"/>
            <a:ext cx="6630099" cy="28687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5D87CB-E66C-E722-C6DD-68BF1F3D9953}"/>
              </a:ext>
            </a:extLst>
          </p:cNvPr>
          <p:cNvSpPr txBox="1"/>
          <p:nvPr/>
        </p:nvSpPr>
        <p:spPr>
          <a:xfrm>
            <a:off x="3715351" y="4360244"/>
            <a:ext cx="6630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Point has no length, width, or height, only location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0068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EEB21C-16AB-37A6-C669-90CF5CA8DF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1680" y="1579183"/>
            <a:ext cx="10524985" cy="2396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161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50C654-8B8E-37A3-B761-81A8C2383C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6871" y="0"/>
            <a:ext cx="5679974" cy="626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96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A67860-4D1E-7100-455B-F479BE66E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551" y="331599"/>
            <a:ext cx="9383708" cy="2632982"/>
          </a:xfrm>
          <a:prstGeom prst="rect">
            <a:avLst/>
          </a:prstGeom>
        </p:spPr>
      </p:pic>
      <p:pic>
        <p:nvPicPr>
          <p:cNvPr id="7" name="Picture 7" descr="Image showing disadvantages of equal interval">
            <a:extLst>
              <a:ext uri="{FF2B5EF4-FFF2-40B4-BE49-F238E27FC236}">
                <a16:creationId xmlns:a16="http://schemas.microsoft.com/office/drawing/2014/main" id="{8DB95209-DA16-6180-8FF1-1036CCA36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7476" y="3429000"/>
            <a:ext cx="5333167" cy="870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10" descr="Image showing disadvantage of quantile">
            <a:extLst>
              <a:ext uri="{FF2B5EF4-FFF2-40B4-BE49-F238E27FC236}">
                <a16:creationId xmlns:a16="http://schemas.microsoft.com/office/drawing/2014/main" id="{0C5201EF-456C-A415-3974-119F4BA81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7476" y="4984457"/>
            <a:ext cx="5338524" cy="981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95989C-DC2D-F8F0-B852-DEB727D1C16E}"/>
              </a:ext>
            </a:extLst>
          </p:cNvPr>
          <p:cNvSpPr txBox="1"/>
          <p:nvPr/>
        </p:nvSpPr>
        <p:spPr>
          <a:xfrm>
            <a:off x="2608446" y="3059668"/>
            <a:ext cx="2233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Equal interval</a:t>
            </a:r>
            <a:endParaRPr lang="zh-CN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A15183-DFFF-FE45-F376-29AB931194A2}"/>
              </a:ext>
            </a:extLst>
          </p:cNvPr>
          <p:cNvSpPr txBox="1"/>
          <p:nvPr/>
        </p:nvSpPr>
        <p:spPr>
          <a:xfrm>
            <a:off x="2829826" y="4668441"/>
            <a:ext cx="2233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Quantile</a:t>
            </a:r>
            <a:endParaRPr lang="zh-CN" altLang="en-US" dirty="0"/>
          </a:p>
        </p:txBody>
      </p:sp>
      <p:pic>
        <p:nvPicPr>
          <p:cNvPr id="11" name="Picture 8" descr="Image showing disadvantage of natural breaks">
            <a:extLst>
              <a:ext uri="{FF2B5EF4-FFF2-40B4-BE49-F238E27FC236}">
                <a16:creationId xmlns:a16="http://schemas.microsoft.com/office/drawing/2014/main" id="{63728EAD-176D-D807-42E5-34E2CBBAB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76782" y="5177338"/>
            <a:ext cx="5156414" cy="788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>
            <a:hlinkClick r:id="rId6"/>
            <a:extLst>
              <a:ext uri="{FF2B5EF4-FFF2-40B4-BE49-F238E27FC236}">
                <a16:creationId xmlns:a16="http://schemas.microsoft.com/office/drawing/2014/main" id="{93B10531-6527-5A05-0702-6112B31484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577" y="3109353"/>
            <a:ext cx="5019358" cy="150940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E146F54-0122-2585-889D-62622E9307D8}"/>
              </a:ext>
            </a:extLst>
          </p:cNvPr>
          <p:cNvSpPr txBox="1"/>
          <p:nvPr/>
        </p:nvSpPr>
        <p:spPr>
          <a:xfrm>
            <a:off x="8335478" y="2666198"/>
            <a:ext cx="3099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Mean- Standard deviation</a:t>
            </a:r>
            <a:endParaRPr lang="zh-CN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347F1C-07E4-0D23-0487-059C8FCC937A}"/>
              </a:ext>
            </a:extLst>
          </p:cNvPr>
          <p:cNvSpPr txBox="1"/>
          <p:nvPr/>
        </p:nvSpPr>
        <p:spPr>
          <a:xfrm>
            <a:off x="8660479" y="4737057"/>
            <a:ext cx="1831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Natural Breaks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4935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BBABDB-1FC7-4A84-44F6-577883AA4F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6197" y="167860"/>
            <a:ext cx="8972477" cy="32924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E6358-86B4-5572-E762-4FCE4867C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429" y="3429000"/>
            <a:ext cx="5158012" cy="300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737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1BE88-54CB-FB99-1AD1-E590AFEFD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6694"/>
            <a:ext cx="10515600" cy="1877906"/>
          </a:xfrm>
        </p:spPr>
        <p:txBody>
          <a:bodyPr>
            <a:normAutofit/>
          </a:bodyPr>
          <a:lstStyle/>
          <a:p>
            <a:r>
              <a:rPr lang="en-US" altLang="zh-CN" dirty="0"/>
              <a:t>Map projections allow us to view 2D surface on the 3D Earth. F</a:t>
            </a:r>
          </a:p>
          <a:p>
            <a:r>
              <a:rPr lang="en-US" altLang="zh-CN" dirty="0"/>
              <a:t>There are no distortions at standard lines.  T</a:t>
            </a:r>
          </a:p>
          <a:p>
            <a:r>
              <a:rPr lang="en-US" altLang="zh-CN" dirty="0"/>
              <a:t>There is a projection that produces no distortions. F</a:t>
            </a:r>
            <a:endParaRPr lang="zh-CN" altLang="en-US" dirty="0"/>
          </a:p>
          <a:p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92936F-90BA-A047-E940-3306787C3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470" y="3318947"/>
            <a:ext cx="6726309" cy="3297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9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F07EE-6166-8E5C-ECFF-612A7E19D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608" y="527177"/>
            <a:ext cx="10515600" cy="1146175"/>
          </a:xfrm>
        </p:spPr>
        <p:txBody>
          <a:bodyPr/>
          <a:lstStyle/>
          <a:p>
            <a:r>
              <a:rPr lang="en-US" altLang="zh-CN" dirty="0"/>
              <a:t>8. Azimuthal projections can maintain certain directions over the entire globe. F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0DC415-455F-2241-A7A0-25826FCDC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471" y="1673352"/>
            <a:ext cx="5997558" cy="331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359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CA297-86C3-902D-67F0-06FDB9929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208" y="399161"/>
            <a:ext cx="10515600" cy="1228471"/>
          </a:xfrm>
        </p:spPr>
        <p:txBody>
          <a:bodyPr/>
          <a:lstStyle/>
          <a:p>
            <a:r>
              <a:rPr lang="en-US" altLang="zh-CN" dirty="0"/>
              <a:t>The process of grouping numeric data values into ranges or categories is called ___classification (discretization)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DFB31D-EBC1-AAD4-AE74-EA18A15F1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495" y="2414050"/>
            <a:ext cx="7833518" cy="383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686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14611F-A408-9AA3-AE93-E3E346197E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3931" y="660221"/>
            <a:ext cx="9588058" cy="4673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C66C7A-CB7C-FEE4-F2BF-4DB7513FD9CE}"/>
              </a:ext>
            </a:extLst>
          </p:cNvPr>
          <p:cNvSpPr txBox="1"/>
          <p:nvPr/>
        </p:nvSpPr>
        <p:spPr>
          <a:xfrm>
            <a:off x="1099947" y="1798243"/>
            <a:ext cx="99921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Name three types of data that can be stored in </a:t>
            </a:r>
            <a:r>
              <a:rPr lang="en-US" altLang="zh-CN" dirty="0" err="1"/>
              <a:t>geodatabase_this</a:t>
            </a:r>
            <a:r>
              <a:rPr lang="en-US" altLang="zh-CN" dirty="0"/>
              <a:t> is field type, not data type (</a:t>
            </a:r>
            <a:r>
              <a:rPr lang="en-US" altLang="zh-CN" b="1" i="1" dirty="0">
                <a:solidFill>
                  <a:schemeClr val="accent1">
                    <a:lumMod val="75000"/>
                  </a:schemeClr>
                </a:solidFill>
              </a:rPr>
              <a:t>short integer, long integer, text)</a:t>
            </a:r>
            <a:r>
              <a:rPr lang="en-US" altLang="zh-CN" dirty="0"/>
              <a:t>_</a:t>
            </a:r>
            <a:endParaRPr lang="zh-CN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04B9C8-5829-4A33-7E22-0D3E73DF1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857" y="2662588"/>
            <a:ext cx="6122063" cy="353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635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118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等线</vt:lpstr>
      <vt:lpstr>等线 Light</vt:lpstr>
      <vt:lpstr>Arial</vt:lpstr>
      <vt:lpstr>Office Theme</vt:lpstr>
      <vt:lpstr>Midterm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Yanan Wu</dc:creator>
  <cp:lastModifiedBy>Yanan Wu</cp:lastModifiedBy>
  <cp:revision>10</cp:revision>
  <dcterms:created xsi:type="dcterms:W3CDTF">2025-11-12T22:54:52Z</dcterms:created>
  <dcterms:modified xsi:type="dcterms:W3CDTF">2025-11-13T16:28:02Z</dcterms:modified>
</cp:coreProperties>
</file>